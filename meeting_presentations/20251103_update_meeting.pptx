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31" r:id="rId5"/>
  </p:sldMasterIdLst>
  <p:notesMasterIdLst>
    <p:notesMasterId r:id="rId22"/>
  </p:notesMasterIdLst>
  <p:handoutMasterIdLst>
    <p:handoutMasterId r:id="rId23"/>
  </p:handoutMasterIdLst>
  <p:sldIdLst>
    <p:sldId id="333" r:id="rId6"/>
    <p:sldId id="344" r:id="rId7"/>
    <p:sldId id="358" r:id="rId8"/>
    <p:sldId id="359" r:id="rId9"/>
    <p:sldId id="360" r:id="rId10"/>
    <p:sldId id="361" r:id="rId11"/>
    <p:sldId id="365" r:id="rId12"/>
    <p:sldId id="367" r:id="rId13"/>
    <p:sldId id="368" r:id="rId14"/>
    <p:sldId id="366" r:id="rId15"/>
    <p:sldId id="362" r:id="rId16"/>
    <p:sldId id="363" r:id="rId17"/>
    <p:sldId id="369" r:id="rId18"/>
    <p:sldId id="364" r:id="rId19"/>
    <p:sldId id="357" r:id="rId20"/>
    <p:sldId id="345" r:id="rId21"/>
  </p:sldIdLst>
  <p:sldSz cx="12169775" cy="6840538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34"/>
    <a:srgbClr val="969696"/>
    <a:srgbClr val="92D050"/>
    <a:srgbClr val="00B0F0"/>
    <a:srgbClr val="FFC000"/>
    <a:srgbClr val="7030A0"/>
    <a:srgbClr val="000000"/>
    <a:srgbClr val="CC0000"/>
    <a:srgbClr val="E4E4E4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40725C-8265-4C48-99A5-AB5147091C12}" v="8" dt="2025-10-17T05:51:16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6247" autoAdjust="0"/>
  </p:normalViewPr>
  <p:slideViewPr>
    <p:cSldViewPr snapToObjects="1">
      <p:cViewPr>
        <p:scale>
          <a:sx n="100" d="100"/>
          <a:sy n="100" d="100"/>
        </p:scale>
        <p:origin x="840" y="228"/>
      </p:cViewPr>
      <p:guideLst>
        <p:guide orient="horz" pos="2155"/>
        <p:guide pos="38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Objects="1">
      <p:cViewPr varScale="1">
        <p:scale>
          <a:sx n="78" d="100"/>
          <a:sy n="78" d="100"/>
        </p:scale>
        <p:origin x="406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as Aaron Clemett" userId="184f1440-b1a5-4a11-afd7-3d264db8bc34" providerId="ADAL" clId="{5E8AE679-6C67-4BA1-8E1C-ADD721C795C8}"/>
    <pc:docChg chg="custSel addSld delSld modSld sldOrd">
      <pc:chgData name="Nicholas Aaron Clemett" userId="184f1440-b1a5-4a11-afd7-3d264db8bc34" providerId="ADAL" clId="{5E8AE679-6C67-4BA1-8E1C-ADD721C795C8}" dt="2025-10-17T05:52:01.982" v="667" actId="20577"/>
      <pc:docMkLst>
        <pc:docMk/>
      </pc:docMkLst>
      <pc:sldChg chg="modSp mod">
        <pc:chgData name="Nicholas Aaron Clemett" userId="184f1440-b1a5-4a11-afd7-3d264db8bc34" providerId="ADAL" clId="{5E8AE679-6C67-4BA1-8E1C-ADD721C795C8}" dt="2025-10-17T05:20:57.981" v="42" actId="20577"/>
        <pc:sldMkLst>
          <pc:docMk/>
          <pc:sldMk cId="941888367" sldId="333"/>
        </pc:sldMkLst>
        <pc:spChg chg="mod">
          <ac:chgData name="Nicholas Aaron Clemett" userId="184f1440-b1a5-4a11-afd7-3d264db8bc34" providerId="ADAL" clId="{5E8AE679-6C67-4BA1-8E1C-ADD721C795C8}" dt="2025-10-17T05:20:57.981" v="42" actId="20577"/>
          <ac:spMkLst>
            <pc:docMk/>
            <pc:sldMk cId="941888367" sldId="333"/>
            <ac:spMk id="3" creationId="{6031377C-2515-4502-0A4D-C58C8B9EE0DB}"/>
          </ac:spMkLst>
        </pc:spChg>
      </pc:sldChg>
      <pc:sldChg chg="del">
        <pc:chgData name="Nicholas Aaron Clemett" userId="184f1440-b1a5-4a11-afd7-3d264db8bc34" providerId="ADAL" clId="{5E8AE679-6C67-4BA1-8E1C-ADD721C795C8}" dt="2025-10-17T05:21:45.968" v="43" actId="47"/>
        <pc:sldMkLst>
          <pc:docMk/>
          <pc:sldMk cId="1249999191" sldId="337"/>
        </pc:sldMkLst>
      </pc:sldChg>
      <pc:sldChg chg="del">
        <pc:chgData name="Nicholas Aaron Clemett" userId="184f1440-b1a5-4a11-afd7-3d264db8bc34" providerId="ADAL" clId="{5E8AE679-6C67-4BA1-8E1C-ADD721C795C8}" dt="2025-10-17T05:21:45.968" v="43" actId="47"/>
        <pc:sldMkLst>
          <pc:docMk/>
          <pc:sldMk cId="2069961841" sldId="349"/>
        </pc:sldMkLst>
      </pc:sldChg>
      <pc:sldChg chg="del">
        <pc:chgData name="Nicholas Aaron Clemett" userId="184f1440-b1a5-4a11-afd7-3d264db8bc34" providerId="ADAL" clId="{5E8AE679-6C67-4BA1-8E1C-ADD721C795C8}" dt="2025-10-17T05:39:06.425" v="59" actId="2696"/>
        <pc:sldMkLst>
          <pc:docMk/>
          <pc:sldMk cId="2381091753" sldId="350"/>
        </pc:sldMkLst>
      </pc:sldChg>
      <pc:sldChg chg="delSp modSp del mod">
        <pc:chgData name="Nicholas Aaron Clemett" userId="184f1440-b1a5-4a11-afd7-3d264db8bc34" providerId="ADAL" clId="{5E8AE679-6C67-4BA1-8E1C-ADD721C795C8}" dt="2025-10-17T05:40:07.385" v="89" actId="47"/>
        <pc:sldMkLst>
          <pc:docMk/>
          <pc:sldMk cId="4024638938" sldId="351"/>
        </pc:sldMkLst>
        <pc:spChg chg="mod">
          <ac:chgData name="Nicholas Aaron Clemett" userId="184f1440-b1a5-4a11-afd7-3d264db8bc34" providerId="ADAL" clId="{5E8AE679-6C67-4BA1-8E1C-ADD721C795C8}" dt="2025-10-17T05:39:55.545" v="85" actId="20577"/>
          <ac:spMkLst>
            <pc:docMk/>
            <pc:sldMk cId="4024638938" sldId="351"/>
            <ac:spMk id="4" creationId="{80A45618-42BD-F629-3935-1670E2AF7082}"/>
          </ac:spMkLst>
        </pc:spChg>
        <pc:picChg chg="del mod">
          <ac:chgData name="Nicholas Aaron Clemett" userId="184f1440-b1a5-4a11-afd7-3d264db8bc34" providerId="ADAL" clId="{5E8AE679-6C67-4BA1-8E1C-ADD721C795C8}" dt="2025-10-17T05:39:58.703" v="86" actId="478"/>
          <ac:picMkLst>
            <pc:docMk/>
            <pc:sldMk cId="4024638938" sldId="351"/>
            <ac:picMk id="6" creationId="{7D0BE283-4B61-40A4-F268-B5F6D95D14BD}"/>
          </ac:picMkLst>
        </pc:picChg>
      </pc:sldChg>
      <pc:sldChg chg="addSp modSp mod ord">
        <pc:chgData name="Nicholas Aaron Clemett" userId="184f1440-b1a5-4a11-afd7-3d264db8bc34" providerId="ADAL" clId="{5E8AE679-6C67-4BA1-8E1C-ADD721C795C8}" dt="2025-10-17T05:49:11.646" v="526" actId="20577"/>
        <pc:sldMkLst>
          <pc:docMk/>
          <pc:sldMk cId="786447708" sldId="352"/>
        </pc:sldMkLst>
        <pc:spChg chg="add mod">
          <ac:chgData name="Nicholas Aaron Clemett" userId="184f1440-b1a5-4a11-afd7-3d264db8bc34" providerId="ADAL" clId="{5E8AE679-6C67-4BA1-8E1C-ADD721C795C8}" dt="2025-10-17T05:49:11.646" v="526" actId="20577"/>
          <ac:spMkLst>
            <pc:docMk/>
            <pc:sldMk cId="786447708" sldId="352"/>
            <ac:spMk id="2" creationId="{C2842743-FF8C-E2EC-325C-2AA471D94847}"/>
          </ac:spMkLst>
        </pc:spChg>
        <pc:spChg chg="mod">
          <ac:chgData name="Nicholas Aaron Clemett" userId="184f1440-b1a5-4a11-afd7-3d264db8bc34" providerId="ADAL" clId="{5E8AE679-6C67-4BA1-8E1C-ADD721C795C8}" dt="2025-10-17T05:40:15.676" v="105" actId="20577"/>
          <ac:spMkLst>
            <pc:docMk/>
            <pc:sldMk cId="786447708" sldId="352"/>
            <ac:spMk id="4" creationId="{47801349-CE20-2DD8-7659-9746AE16E9B0}"/>
          </ac:spMkLst>
        </pc:spChg>
        <pc:spChg chg="mod">
          <ac:chgData name="Nicholas Aaron Clemett" userId="184f1440-b1a5-4a11-afd7-3d264db8bc34" providerId="ADAL" clId="{5E8AE679-6C67-4BA1-8E1C-ADD721C795C8}" dt="2025-10-17T05:40:21.682" v="113" actId="1035"/>
          <ac:spMkLst>
            <pc:docMk/>
            <pc:sldMk cId="786447708" sldId="352"/>
            <ac:spMk id="5" creationId="{F87BC963-DB0F-C929-C103-714C904A4171}"/>
          </ac:spMkLst>
        </pc:spChg>
        <pc:spChg chg="mod">
          <ac:chgData name="Nicholas Aaron Clemett" userId="184f1440-b1a5-4a11-afd7-3d264db8bc34" providerId="ADAL" clId="{5E8AE679-6C67-4BA1-8E1C-ADD721C795C8}" dt="2025-10-17T05:40:21.682" v="113" actId="1035"/>
          <ac:spMkLst>
            <pc:docMk/>
            <pc:sldMk cId="786447708" sldId="352"/>
            <ac:spMk id="7" creationId="{CB7EA47F-CCC7-8185-0C25-1E9C1C911C88}"/>
          </ac:spMkLst>
        </pc:spChg>
        <pc:spChg chg="mod">
          <ac:chgData name="Nicholas Aaron Clemett" userId="184f1440-b1a5-4a11-afd7-3d264db8bc34" providerId="ADAL" clId="{5E8AE679-6C67-4BA1-8E1C-ADD721C795C8}" dt="2025-10-17T05:40:21.682" v="113" actId="1035"/>
          <ac:spMkLst>
            <pc:docMk/>
            <pc:sldMk cId="786447708" sldId="352"/>
            <ac:spMk id="8" creationId="{25C46AC3-FC77-FEC9-119C-3084709E41F9}"/>
          </ac:spMkLst>
        </pc:spChg>
        <pc:spChg chg="mod">
          <ac:chgData name="Nicholas Aaron Clemett" userId="184f1440-b1a5-4a11-afd7-3d264db8bc34" providerId="ADAL" clId="{5E8AE679-6C67-4BA1-8E1C-ADD721C795C8}" dt="2025-10-17T05:41:21.460" v="123" actId="14100"/>
          <ac:spMkLst>
            <pc:docMk/>
            <pc:sldMk cId="786447708" sldId="352"/>
            <ac:spMk id="12" creationId="{D31E5CFD-5CAC-C0E0-3455-3842959914E4}"/>
          </ac:spMkLst>
        </pc:spChg>
        <pc:spChg chg="mod">
          <ac:chgData name="Nicholas Aaron Clemett" userId="184f1440-b1a5-4a11-afd7-3d264db8bc34" providerId="ADAL" clId="{5E8AE679-6C67-4BA1-8E1C-ADD721C795C8}" dt="2025-10-17T05:40:21.682" v="113" actId="1035"/>
          <ac:spMkLst>
            <pc:docMk/>
            <pc:sldMk cId="786447708" sldId="352"/>
            <ac:spMk id="13" creationId="{1DAA88F6-C7C6-C9C8-E89E-6D4173589F98}"/>
          </ac:spMkLst>
        </pc:spChg>
        <pc:spChg chg="mod">
          <ac:chgData name="Nicholas Aaron Clemett" userId="184f1440-b1a5-4a11-afd7-3d264db8bc34" providerId="ADAL" clId="{5E8AE679-6C67-4BA1-8E1C-ADD721C795C8}" dt="2025-10-17T05:40:21.682" v="113" actId="1035"/>
          <ac:spMkLst>
            <pc:docMk/>
            <pc:sldMk cId="786447708" sldId="352"/>
            <ac:spMk id="14" creationId="{6927E068-452E-FC3C-E3BB-98645528F5C8}"/>
          </ac:spMkLst>
        </pc:spChg>
        <pc:picChg chg="mod">
          <ac:chgData name="Nicholas Aaron Clemett" userId="184f1440-b1a5-4a11-afd7-3d264db8bc34" providerId="ADAL" clId="{5E8AE679-6C67-4BA1-8E1C-ADD721C795C8}" dt="2025-10-17T05:40:21.682" v="113" actId="1035"/>
          <ac:picMkLst>
            <pc:docMk/>
            <pc:sldMk cId="786447708" sldId="352"/>
            <ac:picMk id="3" creationId="{8965A696-A999-CC2E-15E3-82D90BAA2E95}"/>
          </ac:picMkLst>
        </pc:picChg>
        <pc:picChg chg="mod">
          <ac:chgData name="Nicholas Aaron Clemett" userId="184f1440-b1a5-4a11-afd7-3d264db8bc34" providerId="ADAL" clId="{5E8AE679-6C67-4BA1-8E1C-ADD721C795C8}" dt="2025-10-17T05:40:21.682" v="113" actId="1035"/>
          <ac:picMkLst>
            <pc:docMk/>
            <pc:sldMk cId="786447708" sldId="352"/>
            <ac:picMk id="11" creationId="{407022BE-AEF9-507E-216B-76D8FA235CD2}"/>
          </ac:picMkLst>
        </pc:picChg>
      </pc:sldChg>
      <pc:sldChg chg="del">
        <pc:chgData name="Nicholas Aaron Clemett" userId="184f1440-b1a5-4a11-afd7-3d264db8bc34" providerId="ADAL" clId="{5E8AE679-6C67-4BA1-8E1C-ADD721C795C8}" dt="2025-10-17T05:20:38.718" v="0" actId="2696"/>
        <pc:sldMkLst>
          <pc:docMk/>
          <pc:sldMk cId="2255990717" sldId="355"/>
        </pc:sldMkLst>
      </pc:sldChg>
      <pc:sldChg chg="addSp delSp modSp new mod">
        <pc:chgData name="Nicholas Aaron Clemett" userId="184f1440-b1a5-4a11-afd7-3d264db8bc34" providerId="ADAL" clId="{5E8AE679-6C67-4BA1-8E1C-ADD721C795C8}" dt="2025-10-17T05:38:40.383" v="57" actId="1037"/>
        <pc:sldMkLst>
          <pc:docMk/>
          <pc:sldMk cId="2661194910" sldId="355"/>
        </pc:sldMkLst>
        <pc:spChg chg="del">
          <ac:chgData name="Nicholas Aaron Clemett" userId="184f1440-b1a5-4a11-afd7-3d264db8bc34" providerId="ADAL" clId="{5E8AE679-6C67-4BA1-8E1C-ADD721C795C8}" dt="2025-10-17T05:35:24.910" v="46" actId="478"/>
          <ac:spMkLst>
            <pc:docMk/>
            <pc:sldMk cId="2661194910" sldId="355"/>
            <ac:spMk id="2" creationId="{5815B2D3-A0AD-DC02-43CE-A3A928183A45}"/>
          </ac:spMkLst>
        </pc:spChg>
        <pc:spChg chg="del">
          <ac:chgData name="Nicholas Aaron Clemett" userId="184f1440-b1a5-4a11-afd7-3d264db8bc34" providerId="ADAL" clId="{5E8AE679-6C67-4BA1-8E1C-ADD721C795C8}" dt="2025-10-17T05:35:23.590" v="45" actId="478"/>
          <ac:spMkLst>
            <pc:docMk/>
            <pc:sldMk cId="2661194910" sldId="355"/>
            <ac:spMk id="3" creationId="{08D01B31-2638-C124-011A-392534F0C30A}"/>
          </ac:spMkLst>
        </pc:spChg>
        <pc:picChg chg="add mod">
          <ac:chgData name="Nicholas Aaron Clemett" userId="184f1440-b1a5-4a11-afd7-3d264db8bc34" providerId="ADAL" clId="{5E8AE679-6C67-4BA1-8E1C-ADD721C795C8}" dt="2025-10-17T05:38:35.877" v="51" actId="1076"/>
          <ac:picMkLst>
            <pc:docMk/>
            <pc:sldMk cId="2661194910" sldId="355"/>
            <ac:picMk id="6" creationId="{CCC0FA46-9C87-2576-9C19-95D44FCC255C}"/>
          </ac:picMkLst>
        </pc:picChg>
        <pc:picChg chg="add mod">
          <ac:chgData name="Nicholas Aaron Clemett" userId="184f1440-b1a5-4a11-afd7-3d264db8bc34" providerId="ADAL" clId="{5E8AE679-6C67-4BA1-8E1C-ADD721C795C8}" dt="2025-10-17T05:38:40.383" v="57" actId="1037"/>
          <ac:picMkLst>
            <pc:docMk/>
            <pc:sldMk cId="2661194910" sldId="355"/>
            <ac:picMk id="8" creationId="{0DC4C7A2-9397-D9FE-DBFC-87E07155A1B6}"/>
          </ac:picMkLst>
        </pc:picChg>
      </pc:sldChg>
      <pc:sldChg chg="addSp delSp modSp new mod">
        <pc:chgData name="Nicholas Aaron Clemett" userId="184f1440-b1a5-4a11-afd7-3d264db8bc34" providerId="ADAL" clId="{5E8AE679-6C67-4BA1-8E1C-ADD721C795C8}" dt="2025-10-17T05:52:01.982" v="667" actId="20577"/>
        <pc:sldMkLst>
          <pc:docMk/>
          <pc:sldMk cId="1043475667" sldId="356"/>
        </pc:sldMkLst>
        <pc:spChg chg="del">
          <ac:chgData name="Nicholas Aaron Clemett" userId="184f1440-b1a5-4a11-afd7-3d264db8bc34" providerId="ADAL" clId="{5E8AE679-6C67-4BA1-8E1C-ADD721C795C8}" dt="2025-10-17T05:44:51.585" v="408" actId="478"/>
          <ac:spMkLst>
            <pc:docMk/>
            <pc:sldMk cId="1043475667" sldId="356"/>
            <ac:spMk id="2" creationId="{1A302942-3DA7-63A1-FD09-B46C6D78B1B1}"/>
          </ac:spMkLst>
        </pc:spChg>
        <pc:spChg chg="del">
          <ac:chgData name="Nicholas Aaron Clemett" userId="184f1440-b1a5-4a11-afd7-3d264db8bc34" providerId="ADAL" clId="{5E8AE679-6C67-4BA1-8E1C-ADD721C795C8}" dt="2025-10-17T05:44:54.283" v="409" actId="478"/>
          <ac:spMkLst>
            <pc:docMk/>
            <pc:sldMk cId="1043475667" sldId="356"/>
            <ac:spMk id="3" creationId="{4EB40188-62A9-CF93-D3ED-A38580D813D9}"/>
          </ac:spMkLst>
        </pc:spChg>
        <pc:spChg chg="mod">
          <ac:chgData name="Nicholas Aaron Clemett" userId="184f1440-b1a5-4a11-afd7-3d264db8bc34" providerId="ADAL" clId="{5E8AE679-6C67-4BA1-8E1C-ADD721C795C8}" dt="2025-10-17T05:49:53.547" v="569" actId="20577"/>
          <ac:spMkLst>
            <pc:docMk/>
            <pc:sldMk cId="1043475667" sldId="356"/>
            <ac:spMk id="4" creationId="{1AB7F245-431D-D015-373E-B802C98F4913}"/>
          </ac:spMkLst>
        </pc:spChg>
        <pc:spChg chg="add mod">
          <ac:chgData name="Nicholas Aaron Clemett" userId="184f1440-b1a5-4a11-afd7-3d264db8bc34" providerId="ADAL" clId="{5E8AE679-6C67-4BA1-8E1C-ADD721C795C8}" dt="2025-10-17T05:52:01.982" v="667" actId="20577"/>
          <ac:spMkLst>
            <pc:docMk/>
            <pc:sldMk cId="1043475667" sldId="356"/>
            <ac:spMk id="9" creationId="{3F178462-61BD-5607-01E7-7FB3C3CDE043}"/>
          </ac:spMkLst>
        </pc:spChg>
        <pc:picChg chg="add del mod">
          <ac:chgData name="Nicholas Aaron Clemett" userId="184f1440-b1a5-4a11-afd7-3d264db8bc34" providerId="ADAL" clId="{5E8AE679-6C67-4BA1-8E1C-ADD721C795C8}" dt="2025-10-17T05:45:50.753" v="413" actId="478"/>
          <ac:picMkLst>
            <pc:docMk/>
            <pc:sldMk cId="1043475667" sldId="356"/>
            <ac:picMk id="6" creationId="{72DAD8A5-8652-EDE6-D769-9FE3F48DFE8B}"/>
          </ac:picMkLst>
        </pc:picChg>
        <pc:picChg chg="add mod">
          <ac:chgData name="Nicholas Aaron Clemett" userId="184f1440-b1a5-4a11-afd7-3d264db8bc34" providerId="ADAL" clId="{5E8AE679-6C67-4BA1-8E1C-ADD721C795C8}" dt="2025-10-17T05:47:11.341" v="421" actId="14100"/>
          <ac:picMkLst>
            <pc:docMk/>
            <pc:sldMk cId="1043475667" sldId="356"/>
            <ac:picMk id="8" creationId="{C6F03B31-A05F-8EC7-73C7-DEC426DE940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30A3966-C9DD-4B3B-880C-4FE8DCE50841}" type="datetimeFigureOut">
              <a:rPr lang="de-DE"/>
              <a:pPr>
                <a:defRPr/>
              </a:pPr>
              <a:t>03.11.2025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4AF7639-78D4-40B5-9FD0-31ADF45C8B0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3156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1AB5578-CC26-43A4-89CD-E9A8B892F524}" type="datetimeFigureOut">
              <a:rPr lang="de-DE"/>
              <a:pPr>
                <a:defRPr/>
              </a:pPr>
              <a:t>03.11.2025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B972F9A-03C1-4F6D-967E-9CCBC4F2825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7061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ölfel-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hl\Desktop\Powerpoint-Vorlagen\Power-Point-Bilder\Schwingung-kle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12172950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6"/>
          <p:cNvSpPr>
            <a:spLocks/>
          </p:cNvSpPr>
          <p:nvPr/>
        </p:nvSpPr>
        <p:spPr>
          <a:xfrm>
            <a:off x="0" y="3959225"/>
            <a:ext cx="12169775" cy="144145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" y="4068501"/>
            <a:ext cx="9829302" cy="1223976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5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8606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 Individu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19491" y="35893"/>
            <a:ext cx="12169775" cy="684053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pic>
        <p:nvPicPr>
          <p:cNvPr id="7" name="Bildplatzhalter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3" b="7843"/>
          <a:stretch>
            <a:fillRect/>
          </a:stretch>
        </p:blipFill>
        <p:spPr bwMode="auto">
          <a:xfrm>
            <a:off x="2" y="0"/>
            <a:ext cx="12208755" cy="685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6"/>
          <p:cNvSpPr>
            <a:spLocks/>
          </p:cNvSpPr>
          <p:nvPr/>
        </p:nvSpPr>
        <p:spPr>
          <a:xfrm>
            <a:off x="-19491" y="3852317"/>
            <a:ext cx="12247741" cy="180020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-19491" y="3924546"/>
            <a:ext cx="9829302" cy="1045380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6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 dirty="0"/>
              <a:t>Titel der Arbeit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46E2C84-B091-DCF8-F36E-95EB21974D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814" y="4243097"/>
            <a:ext cx="1566939" cy="1125547"/>
          </a:xfrm>
          <a:prstGeom prst="rect">
            <a:avLst/>
          </a:prstGeom>
        </p:spPr>
      </p:pic>
      <p:sp>
        <p:nvSpPr>
          <p:cNvPr id="27" name="Textplatzhalter 32">
            <a:extLst>
              <a:ext uri="{FF2B5EF4-FFF2-40B4-BE49-F238E27FC236}">
                <a16:creationId xmlns:a16="http://schemas.microsoft.com/office/drawing/2014/main" id="{66AA9F20-053C-03EB-E0DB-D8611C3EE1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1884" y="5111991"/>
            <a:ext cx="9829304" cy="513305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    Autoren und weitere Info</a:t>
            </a:r>
          </a:p>
        </p:txBody>
      </p:sp>
    </p:spTree>
    <p:extLst>
      <p:ext uri="{BB962C8B-B14F-4D97-AF65-F5344CB8AC3E}">
        <p14:creationId xmlns:p14="http://schemas.microsoft.com/office/powerpoint/2010/main" val="99981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97172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F260251-00DE-C81E-CCE9-36C086CCE3A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51508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DAC636-4291-90D7-A2D4-CCD1B992923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11425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6320661" y="1044086"/>
            <a:ext cx="5400675" cy="507526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701CA59-EC79-449D-605E-CE88F43A804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08225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/>
          <p:cNvSpPr>
            <a:spLocks noGrp="1"/>
          </p:cNvSpPr>
          <p:nvPr>
            <p:ph idx="13"/>
          </p:nvPr>
        </p:nvSpPr>
        <p:spPr>
          <a:xfrm>
            <a:off x="6320661" y="104354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5164F5-704F-A74E-DCD1-8CCCED8DA1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3194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831490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37264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20"/>
          </p:nvPr>
        </p:nvSpPr>
        <p:spPr>
          <a:xfrm>
            <a:off x="425750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21"/>
          </p:nvPr>
        </p:nvSpPr>
        <p:spPr>
          <a:xfrm>
            <a:off x="4359797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2"/>
          </p:nvPr>
        </p:nvSpPr>
        <p:spPr>
          <a:xfrm>
            <a:off x="8304476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6E1DB91-C0FA-B971-7C66-9263112FA82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72784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20"/>
          </p:nvPr>
        </p:nvSpPr>
        <p:spPr>
          <a:xfrm>
            <a:off x="9155682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6245704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3335727" y="1048349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25"/>
          </p:nvPr>
        </p:nvSpPr>
        <p:spPr>
          <a:xfrm>
            <a:off x="333572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26"/>
          </p:nvPr>
        </p:nvSpPr>
        <p:spPr>
          <a:xfrm>
            <a:off x="401141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sz="quarter" idx="27"/>
          </p:nvPr>
        </p:nvSpPr>
        <p:spPr>
          <a:xfrm>
            <a:off x="6249048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8"/>
          </p:nvPr>
        </p:nvSpPr>
        <p:spPr>
          <a:xfrm>
            <a:off x="915173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E7100E3-45CC-826A-3EA8-D8EE82C8DD3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793557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>
          <a:xfrm>
            <a:off x="-6541" y="899989"/>
            <a:ext cx="12169775" cy="5400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AA63D2-0FE4-0C99-DB21-FA84B57A8E9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8767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de-DE" altLang="de-DE" noProof="0" dirty="0"/>
              <a:t>Kontakt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13676B4-B155-5F8F-6057-DF3B869FEA30}"/>
              </a:ext>
            </a:extLst>
          </p:cNvPr>
          <p:cNvSpPr txBox="1"/>
          <p:nvPr userDrawn="1"/>
        </p:nvSpPr>
        <p:spPr>
          <a:xfrm>
            <a:off x="6876975" y="313862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Bild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09195FD-226E-2A90-AAD0-AB25507E38E6}"/>
              </a:ext>
            </a:extLst>
          </p:cNvPr>
          <p:cNvSpPr txBox="1"/>
          <p:nvPr userDrawn="1"/>
        </p:nvSpPr>
        <p:spPr>
          <a:xfrm>
            <a:off x="3420591" y="1980109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b="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Musterman</a:t>
            </a:r>
            <a:r>
              <a:rPr lang="de-DE" sz="1400" b="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Müller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B15629-97F5-8BEC-9D1E-B728357B0DB2}"/>
              </a:ext>
            </a:extLst>
          </p:cNvPr>
          <p:cNvSpPr txBox="1"/>
          <p:nvPr userDrawn="1"/>
        </p:nvSpPr>
        <p:spPr>
          <a:xfrm>
            <a:off x="3420591" y="2850597"/>
            <a:ext cx="23762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Adresse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Holstenhofweg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85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22043 Hamburg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0CE536-3EEC-B47C-951C-BEC73BC30E57}"/>
              </a:ext>
            </a:extLst>
          </p:cNvPr>
          <p:cNvSpPr txBox="1"/>
          <p:nvPr userDrawn="1"/>
        </p:nvSpPr>
        <p:spPr>
          <a:xfrm>
            <a:off x="3387564" y="3721085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E-Mail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x.x@hsu-hh.de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BE5B3DF-488A-D766-82B1-FBFC746DE7C8}"/>
              </a:ext>
            </a:extLst>
          </p:cNvPr>
          <p:cNvSpPr txBox="1"/>
          <p:nvPr userDrawn="1"/>
        </p:nvSpPr>
        <p:spPr>
          <a:xfrm>
            <a:off x="3387564" y="4591573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Nummer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+4940</a:t>
            </a:r>
          </a:p>
        </p:txBody>
      </p:sp>
    </p:spTree>
    <p:extLst>
      <p:ext uri="{BB962C8B-B14F-4D97-AF65-F5344CB8AC3E}">
        <p14:creationId xmlns:p14="http://schemas.microsoft.com/office/powerpoint/2010/main" val="2984051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ölfel-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hl\Desktop\Powerpoint-Vorlagen\Power-Point-Bilder\Schwingung-kle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12172950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6"/>
          <p:cNvSpPr>
            <a:spLocks/>
          </p:cNvSpPr>
          <p:nvPr/>
        </p:nvSpPr>
        <p:spPr>
          <a:xfrm>
            <a:off x="0" y="3959225"/>
            <a:ext cx="12169775" cy="144145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" y="4068501"/>
            <a:ext cx="9829302" cy="1223976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5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496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Individu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19491" y="35893"/>
            <a:ext cx="12169775" cy="684053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pic>
        <p:nvPicPr>
          <p:cNvPr id="7" name="Bildplatzhalter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3" b="7843"/>
          <a:stretch>
            <a:fillRect/>
          </a:stretch>
        </p:blipFill>
        <p:spPr bwMode="auto">
          <a:xfrm>
            <a:off x="2" y="0"/>
            <a:ext cx="12208755" cy="685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6"/>
          <p:cNvSpPr>
            <a:spLocks/>
          </p:cNvSpPr>
          <p:nvPr/>
        </p:nvSpPr>
        <p:spPr>
          <a:xfrm>
            <a:off x="-19491" y="3852317"/>
            <a:ext cx="12247741" cy="1800200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600" tIns="202800" rIns="405600" bIns="202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-19491" y="3924546"/>
            <a:ext cx="9829302" cy="1045380"/>
          </a:xfrm>
          <a:prstGeom prst="rect">
            <a:avLst/>
          </a:prstGeom>
        </p:spPr>
        <p:txBody>
          <a:bodyPr lIns="432000" bIns="36000">
            <a:normAutofit/>
          </a:bodyPr>
          <a:lstStyle>
            <a:lvl1pPr algn="l">
              <a:defRPr sz="3600" b="0">
                <a:ln>
                  <a:noFill/>
                </a:ln>
                <a:solidFill>
                  <a:srgbClr val="333333"/>
                </a:solidFill>
                <a:latin typeface="Futura LT Pro Book" panose="020B0502020204020303" pitchFamily="34" charset="0"/>
              </a:defRPr>
            </a:lvl1pPr>
          </a:lstStyle>
          <a:p>
            <a:r>
              <a:rPr lang="de-DE" dirty="0"/>
              <a:t>Titel der Arbeit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46E2C84-B091-DCF8-F36E-95EB21974D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814" y="4243097"/>
            <a:ext cx="1566939" cy="1125547"/>
          </a:xfrm>
          <a:prstGeom prst="rect">
            <a:avLst/>
          </a:prstGeom>
        </p:spPr>
      </p:pic>
      <p:sp>
        <p:nvSpPr>
          <p:cNvPr id="27" name="Textplatzhalter 32">
            <a:extLst>
              <a:ext uri="{FF2B5EF4-FFF2-40B4-BE49-F238E27FC236}">
                <a16:creationId xmlns:a16="http://schemas.microsoft.com/office/drawing/2014/main" id="{66AA9F20-053C-03EB-E0DB-D8611C3EE1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1884" y="5111991"/>
            <a:ext cx="9829304" cy="513305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    Autoren und weitere Info</a:t>
            </a:r>
          </a:p>
        </p:txBody>
      </p:sp>
    </p:spTree>
    <p:extLst>
      <p:ext uri="{BB962C8B-B14F-4D97-AF65-F5344CB8AC3E}">
        <p14:creationId xmlns:p14="http://schemas.microsoft.com/office/powerpoint/2010/main" val="1264746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11718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Futura LT Pro Book" pitchFamily="34" charset="0"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541E96-A906-4926-15A3-EE69C7A2A8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348776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eschreibung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488"/>
            <a:ext cx="11312077" cy="648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feld 3"/>
          <p:cNvSpPr txBox="1">
            <a:spLocks noChangeArrowheads="1"/>
          </p:cNvSpPr>
          <p:nvPr/>
        </p:nvSpPr>
        <p:spPr bwMode="auto">
          <a:xfrm>
            <a:off x="431800" y="1925638"/>
            <a:ext cx="1131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de-DE" altLang="de-DE">
              <a:latin typeface="Futura Lt BT" pitchFamily="34" charset="0"/>
            </a:endParaRPr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/>
          </p:nvPr>
        </p:nvSpPr>
        <p:spPr>
          <a:xfrm>
            <a:off x="432000" y="2150688"/>
            <a:ext cx="11312078" cy="3969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3"/>
          </p:nvPr>
        </p:nvSpPr>
        <p:spPr>
          <a:xfrm>
            <a:off x="432000" y="1790648"/>
            <a:ext cx="11312077" cy="360040"/>
          </a:xfrm>
        </p:spPr>
        <p:txBody>
          <a:bodyPr/>
          <a:lstStyle>
            <a:lvl1pPr marL="0" indent="0">
              <a:buNone/>
              <a:defRPr b="1"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734CAE5-A7CA-9279-E4CE-C90205BB051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956759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6320661" y="1044086"/>
            <a:ext cx="5400675" cy="507526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AF9CD7D-AA18-5F2D-B11F-17C0F451D29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31543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/>
          <p:cNvSpPr>
            <a:spLocks noGrp="1"/>
          </p:cNvSpPr>
          <p:nvPr>
            <p:ph idx="13"/>
          </p:nvPr>
        </p:nvSpPr>
        <p:spPr>
          <a:xfrm>
            <a:off x="6320661" y="104354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idx="1"/>
          </p:nvPr>
        </p:nvSpPr>
        <p:spPr>
          <a:xfrm>
            <a:off x="432001" y="1044005"/>
            <a:ext cx="5400000" cy="507580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B247082-1AB1-98A9-23EC-10ED40B8E8D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2129876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831490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372643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3420000" cy="2772308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20"/>
          </p:nvPr>
        </p:nvSpPr>
        <p:spPr>
          <a:xfrm>
            <a:off x="425750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21"/>
          </p:nvPr>
        </p:nvSpPr>
        <p:spPr>
          <a:xfrm>
            <a:off x="4359797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2"/>
          </p:nvPr>
        </p:nvSpPr>
        <p:spPr>
          <a:xfrm>
            <a:off x="8304476" y="4039093"/>
            <a:ext cx="3420000" cy="72331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AF9EAB8-C767-8577-9E5F-24AD159313A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066476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25750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20"/>
          </p:nvPr>
        </p:nvSpPr>
        <p:spPr>
          <a:xfrm>
            <a:off x="9155682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6245704" y="1044005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3335727" y="1048349"/>
            <a:ext cx="2574000" cy="2606563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25"/>
          </p:nvPr>
        </p:nvSpPr>
        <p:spPr>
          <a:xfrm>
            <a:off x="333572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26"/>
          </p:nvPr>
        </p:nvSpPr>
        <p:spPr>
          <a:xfrm>
            <a:off x="401141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sz="quarter" idx="27"/>
          </p:nvPr>
        </p:nvSpPr>
        <p:spPr>
          <a:xfrm>
            <a:off x="6249048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8"/>
          </p:nvPr>
        </p:nvSpPr>
        <p:spPr>
          <a:xfrm>
            <a:off x="9151737" y="3869420"/>
            <a:ext cx="2607266" cy="66697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833868A-0AB3-338E-58E9-87EBE88F1CB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4267590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>
          <a:xfrm>
            <a:off x="-6541" y="899989"/>
            <a:ext cx="12169775" cy="5400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C107058-1257-058E-D650-4D6D0163B6A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Mastertitelformat bearbeiten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658611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32"/>
          <p:cNvSpPr>
            <a:spLocks noGrp="1"/>
          </p:cNvSpPr>
          <p:nvPr>
            <p:ph type="body" sz="quarter" idx="18"/>
          </p:nvPr>
        </p:nvSpPr>
        <p:spPr>
          <a:xfrm>
            <a:off x="432000" y="1044005"/>
            <a:ext cx="11312077" cy="4896544"/>
          </a:xfrm>
        </p:spPr>
        <p:txBody>
          <a:bodyPr/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1CDEB0A-749B-129D-B9A1-E2F47A4FB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de-DE" altLang="de-DE" noProof="0" dirty="0"/>
              <a:t>Kontakt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13676B4-B155-5F8F-6057-DF3B869FEA30}"/>
              </a:ext>
            </a:extLst>
          </p:cNvPr>
          <p:cNvSpPr txBox="1"/>
          <p:nvPr userDrawn="1"/>
        </p:nvSpPr>
        <p:spPr>
          <a:xfrm>
            <a:off x="6876975" y="313862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Bild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09195FD-226E-2A90-AAD0-AB25507E38E6}"/>
              </a:ext>
            </a:extLst>
          </p:cNvPr>
          <p:cNvSpPr txBox="1"/>
          <p:nvPr userDrawn="1"/>
        </p:nvSpPr>
        <p:spPr>
          <a:xfrm>
            <a:off x="3420591" y="1980109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b="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Musterman</a:t>
            </a:r>
            <a:r>
              <a:rPr lang="de-DE" sz="1400" b="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Müller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B15629-97F5-8BEC-9D1E-B728357B0DB2}"/>
              </a:ext>
            </a:extLst>
          </p:cNvPr>
          <p:cNvSpPr txBox="1"/>
          <p:nvPr userDrawn="1"/>
        </p:nvSpPr>
        <p:spPr>
          <a:xfrm>
            <a:off x="3420591" y="2850597"/>
            <a:ext cx="23762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Adresse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Holstenhofweg</a:t>
            </a: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85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22043 Hamburg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0CE536-3EEC-B47C-951C-BEC73BC30E57}"/>
              </a:ext>
            </a:extLst>
          </p:cNvPr>
          <p:cNvSpPr txBox="1"/>
          <p:nvPr userDrawn="1"/>
        </p:nvSpPr>
        <p:spPr>
          <a:xfrm>
            <a:off x="3387564" y="3721085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E-Mail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x.x@hsu-hh.de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BE5B3DF-488A-D766-82B1-FBFC746DE7C8}"/>
              </a:ext>
            </a:extLst>
          </p:cNvPr>
          <p:cNvSpPr txBox="1"/>
          <p:nvPr userDrawn="1"/>
        </p:nvSpPr>
        <p:spPr>
          <a:xfrm>
            <a:off x="3387564" y="4591573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de-DE" sz="1800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Nummer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+4940</a:t>
            </a:r>
          </a:p>
        </p:txBody>
      </p:sp>
    </p:spTree>
    <p:extLst>
      <p:ext uri="{BB962C8B-B14F-4D97-AF65-F5344CB8AC3E}">
        <p14:creationId xmlns:p14="http://schemas.microsoft.com/office/powerpoint/2010/main" val="221752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 err="1"/>
              <a:t>Folientiel</a:t>
            </a:r>
            <a:r>
              <a:rPr lang="de-DE" altLang="de-DE" noProof="0" dirty="0"/>
              <a:t> (Hauptaussage der Folie)</a:t>
            </a:r>
          </a:p>
        </p:txBody>
      </p:sp>
      <p:sp>
        <p:nvSpPr>
          <p:cNvPr id="1028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1800" y="969133"/>
            <a:ext cx="11312525" cy="504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Textmasterformat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  <a:fld id="{B83DA5D8-7131-4301-8D10-8A8E68711562}" type="slidenum">
              <a:rPr lang="de-DE" sz="1400" smtClean="0">
                <a:latin typeface="Futura LT Pro Light" panose="020B0402020204020303"/>
              </a:rPr>
              <a:pPr/>
              <a:t>‹Nr.›</a:t>
            </a:fld>
            <a:endParaRPr lang="de-DE" altLang="de-DE" noProof="0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295" y="65086"/>
            <a:ext cx="936104" cy="672412"/>
          </a:xfrm>
          <a:prstGeom prst="rect">
            <a:avLst/>
          </a:prstGeom>
        </p:spPr>
      </p:pic>
      <p:cxnSp>
        <p:nvCxnSpPr>
          <p:cNvPr id="6" name="Gerade Verbindung 9">
            <a:extLst>
              <a:ext uri="{FF2B5EF4-FFF2-40B4-BE49-F238E27FC236}">
                <a16:creationId xmlns:a16="http://schemas.microsoft.com/office/drawing/2014/main" id="{86C9092A-B764-C02C-81AA-6DDBC66C874A}"/>
              </a:ext>
            </a:extLst>
          </p:cNvPr>
          <p:cNvCxnSpPr>
            <a:cxnSpLocks/>
          </p:cNvCxnSpPr>
          <p:nvPr userDrawn="1"/>
        </p:nvCxnSpPr>
        <p:spPr>
          <a:xfrm>
            <a:off x="431800" y="789570"/>
            <a:ext cx="11318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9">
            <a:extLst>
              <a:ext uri="{FF2B5EF4-FFF2-40B4-BE49-F238E27FC236}">
                <a16:creationId xmlns:a16="http://schemas.microsoft.com/office/drawing/2014/main" id="{4130A57A-8A70-B176-27B3-D3CDA3E91685}"/>
              </a:ext>
            </a:extLst>
          </p:cNvPr>
          <p:cNvCxnSpPr>
            <a:cxnSpLocks/>
          </p:cNvCxnSpPr>
          <p:nvPr userDrawn="1"/>
        </p:nvCxnSpPr>
        <p:spPr>
          <a:xfrm>
            <a:off x="428624" y="6300589"/>
            <a:ext cx="113125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76FED74E-6A41-22E9-9385-D7EF28545870}"/>
              </a:ext>
            </a:extLst>
          </p:cNvPr>
          <p:cNvSpPr txBox="1"/>
          <p:nvPr userDrawn="1"/>
        </p:nvSpPr>
        <p:spPr>
          <a:xfrm>
            <a:off x="4302687" y="6350241"/>
            <a:ext cx="356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Promotion Update </a:t>
            </a:r>
          </a:p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Nicholas Clemett, 09.07.2025  </a:t>
            </a:r>
            <a:endParaRPr lang="de-DE" sz="1000" dirty="0">
              <a:solidFill>
                <a:srgbClr val="333333"/>
              </a:solidFill>
              <a:latin typeface="Futura LT Pro Light" panose="020B0402020204020303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A543B6-D9F9-83B5-BE45-2680583BF74F}"/>
              </a:ext>
            </a:extLst>
          </p:cNvPr>
          <p:cNvSpPr txBox="1"/>
          <p:nvPr userDrawn="1"/>
        </p:nvSpPr>
        <p:spPr>
          <a:xfrm>
            <a:off x="11053439" y="6504130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Folie </a:t>
            </a:r>
            <a:fld id="{A0A23BBC-0FAD-4C23-98D3-6CFBA32CD3CA}" type="slidenum">
              <a:rPr lang="de-DE" sz="1000" smtClean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‹Nr.›</a:t>
            </a:fld>
            <a:endParaRPr lang="de-DE" sz="1000" dirty="0">
              <a:solidFill>
                <a:srgbClr val="333333"/>
              </a:solidFill>
              <a:latin typeface="Century Gothic" panose="020B0502020202020204" pitchFamily="34" charset="0"/>
              <a:cs typeface="+mn-cs"/>
            </a:endParaRPr>
          </a:p>
        </p:txBody>
      </p:sp>
      <p:pic>
        <p:nvPicPr>
          <p:cNvPr id="5" name="Grafik 4" descr="Ein Bild, das Grafiken, Design enthält.&#10;&#10;KI-generierte Inhalte können fehlerhaft sein.">
            <a:extLst>
              <a:ext uri="{FF2B5EF4-FFF2-40B4-BE49-F238E27FC236}">
                <a16:creationId xmlns:a16="http://schemas.microsoft.com/office/drawing/2014/main" id="{247CEBD7-6333-F783-5620-9469F122711C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246" y="39352"/>
            <a:ext cx="846192" cy="6849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25" r:id="rId2"/>
    <p:sldLayoutId id="2147483714" r:id="rId3"/>
    <p:sldLayoutId id="2147483729" r:id="rId4"/>
    <p:sldLayoutId id="2147483716" r:id="rId5"/>
    <p:sldLayoutId id="2147483717" r:id="rId6"/>
    <p:sldLayoutId id="2147483728" r:id="rId7"/>
    <p:sldLayoutId id="2147483726" r:id="rId8"/>
    <p:sldLayoutId id="2147483727" r:id="rId9"/>
    <p:sldLayoutId id="2147483719" r:id="rId10"/>
    <p:sldLayoutId id="214748374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333333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20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1pPr>
      <a:lvl2pPr marL="895350" indent="-43815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6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2pPr>
      <a:lvl3pPr marL="13716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3pPr>
      <a:lvl4pPr marL="18288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4pPr>
      <a:lvl5pPr marL="22860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auto">
          <a:xfrm>
            <a:off x="431800" y="288725"/>
            <a:ext cx="113125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 err="1"/>
              <a:t>Folientiel</a:t>
            </a:r>
            <a:r>
              <a:rPr lang="de-DE" altLang="de-DE" noProof="0" dirty="0"/>
              <a:t> (Hauptaussage der Folie)</a:t>
            </a:r>
          </a:p>
        </p:txBody>
      </p:sp>
      <p:sp>
        <p:nvSpPr>
          <p:cNvPr id="1028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1800" y="969133"/>
            <a:ext cx="11312525" cy="504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Textmasterformat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  <a:fld id="{B83DA5D8-7131-4301-8D10-8A8E68711562}" type="slidenum">
              <a:rPr lang="de-DE" sz="1400" smtClean="0">
                <a:latin typeface="Futura LT Pro Light" panose="020B0402020204020303"/>
              </a:rPr>
              <a:pPr/>
              <a:t>‹Nr.›</a:t>
            </a:fld>
            <a:endParaRPr lang="de-DE" altLang="de-DE" noProof="0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407" y="65086"/>
            <a:ext cx="936104" cy="672412"/>
          </a:xfrm>
          <a:prstGeom prst="rect">
            <a:avLst/>
          </a:prstGeom>
        </p:spPr>
      </p:pic>
      <p:cxnSp>
        <p:nvCxnSpPr>
          <p:cNvPr id="6" name="Gerade Verbindung 9">
            <a:extLst>
              <a:ext uri="{FF2B5EF4-FFF2-40B4-BE49-F238E27FC236}">
                <a16:creationId xmlns:a16="http://schemas.microsoft.com/office/drawing/2014/main" id="{86C9092A-B764-C02C-81AA-6DDBC66C874A}"/>
              </a:ext>
            </a:extLst>
          </p:cNvPr>
          <p:cNvCxnSpPr>
            <a:cxnSpLocks/>
          </p:cNvCxnSpPr>
          <p:nvPr userDrawn="1"/>
        </p:nvCxnSpPr>
        <p:spPr>
          <a:xfrm>
            <a:off x="431800" y="789570"/>
            <a:ext cx="11318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9">
            <a:extLst>
              <a:ext uri="{FF2B5EF4-FFF2-40B4-BE49-F238E27FC236}">
                <a16:creationId xmlns:a16="http://schemas.microsoft.com/office/drawing/2014/main" id="{4130A57A-8A70-B176-27B3-D3CDA3E91685}"/>
              </a:ext>
            </a:extLst>
          </p:cNvPr>
          <p:cNvCxnSpPr>
            <a:cxnSpLocks/>
          </p:cNvCxnSpPr>
          <p:nvPr userDrawn="1"/>
        </p:nvCxnSpPr>
        <p:spPr>
          <a:xfrm>
            <a:off x="428624" y="6300589"/>
            <a:ext cx="113125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76FED74E-6A41-22E9-9385-D7EF28545870}"/>
              </a:ext>
            </a:extLst>
          </p:cNvPr>
          <p:cNvSpPr txBox="1"/>
          <p:nvPr userDrawn="1"/>
        </p:nvSpPr>
        <p:spPr>
          <a:xfrm>
            <a:off x="4302687" y="6350241"/>
            <a:ext cx="356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Titel der Arbeit</a:t>
            </a:r>
          </a:p>
          <a:p>
            <a:pPr algn="ctr"/>
            <a:r>
              <a:rPr lang="de-DE" sz="10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Namen, Datum  </a:t>
            </a:r>
            <a:endParaRPr lang="de-DE" sz="1000" dirty="0">
              <a:solidFill>
                <a:srgbClr val="333333"/>
              </a:solidFill>
              <a:latin typeface="Futura LT Pro Light" panose="020B0402020204020303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A543B6-D9F9-83B5-BE45-2680583BF74F}"/>
              </a:ext>
            </a:extLst>
          </p:cNvPr>
          <p:cNvSpPr txBox="1"/>
          <p:nvPr userDrawn="1"/>
        </p:nvSpPr>
        <p:spPr>
          <a:xfrm>
            <a:off x="11053439" y="6504130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Folie </a:t>
            </a:r>
            <a:fld id="{A0A23BBC-0FAD-4C23-98D3-6CFBA32CD3CA}" type="slidenum">
              <a:rPr lang="de-DE" sz="1000" smtClean="0">
                <a:solidFill>
                  <a:srgbClr val="333333"/>
                </a:solidFill>
                <a:latin typeface="Century Gothic" panose="020B0502020202020204" pitchFamily="34" charset="0"/>
                <a:cs typeface="+mn-cs"/>
              </a:rPr>
              <a:t>‹Nr.›</a:t>
            </a:fld>
            <a:endParaRPr lang="de-DE" sz="1000" dirty="0">
              <a:solidFill>
                <a:srgbClr val="333333"/>
              </a:solidFill>
              <a:latin typeface="Century Gothic" panose="020B0502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639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5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333333"/>
          </a:solidFill>
          <a:latin typeface="Century Gothic" panose="020B0502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333333"/>
          </a:solidFill>
          <a:latin typeface="Futura LT Pro Book" pitchFamily="34" charset="0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20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1pPr>
      <a:lvl2pPr marL="895350" indent="-43815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6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2pPr>
      <a:lvl3pPr marL="13716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3pPr>
      <a:lvl4pPr marL="18288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4pPr>
      <a:lvl5pPr marL="2286000" indent="-457200" algn="l" rtl="0" eaLnBrk="1" fontAlgn="base" hangingPunct="1">
        <a:spcBef>
          <a:spcPct val="20000"/>
        </a:spcBef>
        <a:spcAft>
          <a:spcPct val="0"/>
        </a:spcAft>
        <a:buFont typeface="Futura LT Pro Book" pitchFamily="34" charset="0"/>
        <a:buAutoNum type="arabicPeriod"/>
        <a:defRPr sz="1400" kern="1200">
          <a:solidFill>
            <a:srgbClr val="333333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innoseis.ntua.gr/deliverables.php?deliverable=records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785/0120090400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D47B7A2B-5E0C-9953-3B10-4D7EC340E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031377C-2515-4502-0A4D-C58C8B9EE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491" y="4212357"/>
            <a:ext cx="9829302" cy="1045380"/>
          </a:xfrm>
        </p:spPr>
        <p:txBody>
          <a:bodyPr>
            <a:normAutofit/>
          </a:bodyPr>
          <a:lstStyle/>
          <a:p>
            <a:r>
              <a:rPr lang="de-DE" dirty="0"/>
              <a:t>Promotion Update - 03.11.2025</a:t>
            </a:r>
            <a:br>
              <a:rPr lang="de-DE" dirty="0"/>
            </a:br>
            <a:r>
              <a:rPr lang="de-DE" sz="2400" dirty="0"/>
              <a:t>Zeitverläufe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1888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4DE69-1D82-2A64-2F08-F4E0E573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EF1C8B3-3942-5C1D-9C91-30447112E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Ideen / Vorarbeit zur Auswahl Zeitverläufe für IDA</a:t>
            </a:r>
          </a:p>
        </p:txBody>
      </p:sp>
    </p:spTree>
    <p:extLst>
      <p:ext uri="{BB962C8B-B14F-4D97-AF65-F5344CB8AC3E}">
        <p14:creationId xmlns:p14="http://schemas.microsoft.com/office/powerpoint/2010/main" val="2100042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5C6DE68-D212-19A0-F6DB-865B0BA4D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Auswahl Zeitverläufe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C891679-3268-6FDA-8EF1-043C14A3699C}"/>
              </a:ext>
            </a:extLst>
          </p:cNvPr>
          <p:cNvSpPr txBox="1"/>
          <p:nvPr/>
        </p:nvSpPr>
        <p:spPr>
          <a:xfrm>
            <a:off x="459417" y="1116013"/>
            <a:ext cx="1088205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Ziele:</a:t>
            </a:r>
          </a:p>
          <a:p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Auswahl eine (oder </a:t>
            </a:r>
            <a:r>
              <a:rPr lang="de-DE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vllt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. mehrere) Gruppe(n) von Zeitverläufen, die die Besonderheiten von verschiedenen Regionen in Europa (z.B. ggf. tektonische Regionen, Bodenklasse, </a:t>
            </a:r>
            <a:r>
              <a:rPr lang="de-DE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Gefährdungsniveauen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) decken, um eine Sensitivitätsuntersuchung durchzuführen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Auswahl / Vorschlag eine (oder </a:t>
            </a:r>
            <a:r>
              <a:rPr lang="de-DE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vllt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. mehrere) Gruppe(n) von Zeitverläufen, die für die Ermittlung der Fragilitätskurven für Zuverlässigkeits-basierte Erdbebenbemessung geeignet sind.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Die Auswahl der Zeitverlaufe soll auf dem neusten paneuropäisch Erdbebengefährdungsmodell entsprechen (ESHM20)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So weit wie möglich nur europäische Zeitverläufe sind zu verwenden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5528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B0560B0-7AB9-00F0-5780-24508EBC5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Auswahl Zeitverläufe: INNOSEIS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B02D322-8F82-9D2D-939B-918C084B2B26}"/>
              </a:ext>
            </a:extLst>
          </p:cNvPr>
          <p:cNvSpPr txBox="1"/>
          <p:nvPr/>
        </p:nvSpPr>
        <p:spPr>
          <a:xfrm>
            <a:off x="431800" y="1116013"/>
            <a:ext cx="79573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Zeitverläufe verwendet um Risk-</a:t>
            </a:r>
            <a:r>
              <a:rPr lang="de-DE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based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  <a:r>
              <a:rPr lang="de-DE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Behaviour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  <a:r>
              <a:rPr lang="de-DE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Factors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zu ermitteln nach Vamvatsikos et al. (2020)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Bezogen von 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hlinkClick r:id="rId2"/>
              </a:rPr>
              <a:t>http://innoseis.ntua.gr/deliverables.php?deliverable=records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Eine Gruppe für hohe Seismizität und eine Gruppe für mittlere Seismizität</a:t>
            </a:r>
          </a:p>
          <a:p>
            <a:pPr lvl="1"/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Multi-site Auswahl mit IM = Avg.SA 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 </a:t>
            </a:r>
            <a:r>
              <a:rPr lang="de-DE" b="1" dirty="0">
                <a:solidFill>
                  <a:srgbClr val="00B050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Gut!</a:t>
            </a:r>
            <a:endParaRPr lang="de-DE" b="1" dirty="0">
              <a:solidFill>
                <a:srgbClr val="00B050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4F6E55D-4BBD-7C2E-E611-C171DB3F6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063" y="1191947"/>
            <a:ext cx="4111348" cy="258836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18A8BC5-8E97-1A42-9941-214BB485DC73}"/>
              </a:ext>
            </a:extLst>
          </p:cNvPr>
          <p:cNvSpPr txBox="1"/>
          <p:nvPr/>
        </p:nvSpPr>
        <p:spPr>
          <a:xfrm>
            <a:off x="431799" y="4068341"/>
            <a:ext cx="114857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Nur Fels-Standorte 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 keine Berücksichtigung von Bodenklasse / tektonische Regionen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Basierte auf </a:t>
            </a:r>
            <a:r>
              <a:rPr lang="de-DE" b="1" dirty="0">
                <a:solidFill>
                  <a:srgbClr val="FF0000"/>
                </a:solidFill>
                <a:latin typeface="Futura LT Pro Light" panose="020B0402020204020303" pitchFamily="34" charset="0"/>
                <a:cs typeface="+mn-cs"/>
              </a:rPr>
              <a:t>ESHM13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Gefährdungsmodell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Fast </a:t>
            </a:r>
            <a:r>
              <a:rPr lang="de-DE" b="1" dirty="0">
                <a:solidFill>
                  <a:srgbClr val="FF0000"/>
                </a:solidFill>
                <a:latin typeface="Futura LT Pro Light" panose="020B0402020204020303" pitchFamily="34" charset="0"/>
                <a:cs typeface="+mn-cs"/>
              </a:rPr>
              <a:t>keine Europäische Erdbeben 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 meistens aus den USA oder Taiwan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Für unsere Studie geeignet? 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  <a:sym typeface="Wingdings" panose="05000000000000000000" pitchFamily="2" charset="2"/>
              </a:rPr>
              <a:t> Evtl. nicht  dann wir müssen unser eigene Zeitverläufe auswählen</a:t>
            </a:r>
            <a:endParaRPr lang="de-DE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387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EF244C2-4CBF-13BB-1575-7E649C6C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Auswahl Zeitverläufe: Verfahren für einen Standort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41CCD508-EFD9-4A6A-36F0-5CA28199E44A}"/>
                  </a:ext>
                </a:extLst>
              </p:cNvPr>
              <p:cNvSpPr txBox="1"/>
              <p:nvPr/>
            </p:nvSpPr>
            <p:spPr>
              <a:xfrm>
                <a:off x="396255" y="1116013"/>
                <a:ext cx="11320123" cy="4575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Name für das Verfahren der Stand der Technik sind: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de-DE" i="1" u="sng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Conditional</a:t>
                </a:r>
                <a:r>
                  <a:rPr lang="de-DE" i="1" u="sng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:r>
                  <a:rPr lang="de-DE" i="1" u="sng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Spectrum</a:t>
                </a:r>
                <a:r>
                  <a:rPr lang="de-DE" i="1" u="sng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(CS) </a:t>
                </a:r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  <a:sym typeface="Wingdings" panose="05000000000000000000" pitchFamily="2" charset="2"/>
                  </a:rPr>
                  <a:t> nur SA IMs e.g. AvgSA, SA(T)</a:t>
                </a:r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de-DE" i="1" u="sng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Generalised</a:t>
                </a:r>
                <a:r>
                  <a:rPr lang="de-DE" i="1" u="sng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</a:t>
                </a:r>
                <a:r>
                  <a:rPr lang="de-DE" i="1" u="sng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Conditional</a:t>
                </a:r>
                <a:r>
                  <a:rPr lang="de-DE" i="1" u="sng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IM </a:t>
                </a:r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  <a:sym typeface="Wingdings" panose="05000000000000000000" pitchFamily="2" charset="2"/>
                  </a:rPr>
                  <a:t> SA IMs und auch andere z.B. Arias Int., Sig. Duration, usw.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de-DE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  <a:sym typeface="Wingdings" panose="05000000000000000000" pitchFamily="2" charset="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</a:rPr>
                  <a:t>Die Auswahl basiert auf der Zielverteilung der IMs von Interesse, bedingt durch den Wert eines bedingten IM (z. B. SA(T1)).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dirty="0">
                  <a:solidFill>
                    <a:srgbClr val="333333"/>
                  </a:solidFill>
                  <a:latin typeface="Futura LT Pro Light" panose="020B04020202040203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</a:rPr>
                  <a:t>Eine Gruppe von Zeitverläufe wird ausgewählt, damit für jede IM die Verteilung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de-DE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func>
                              <m:funcPr>
                                <m:ctrlPr>
                                  <a:rPr lang="de-DE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de-DE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de-DE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𝐼𝑀</m:t>
                                </m:r>
                              </m:e>
                            </m:func>
                          </m:sub>
                        </m:sSub>
                      </m:e>
                      <m:sub>
                        <m:r>
                          <a:rPr lang="de-DE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</a:rPr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func>
                          <m:funcPr>
                            <m:ctrlPr>
                              <a:rPr lang="de-DE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de-DE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𝐼𝑀</m:t>
                            </m:r>
                          </m:e>
                        </m:func>
                      </m:sub>
                    </m:sSub>
                  </m:oMath>
                </a14:m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</a:rPr>
                  <a:t>) stimmt mit der Zielverteilung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de-DE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  <a:sym typeface="Wingdings" panose="05000000000000000000" pitchFamily="2" charset="2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de-DE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  <a:sym typeface="Wingdings" panose="05000000000000000000" pitchFamily="2" charset="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  <a:sym typeface="Wingdings" panose="05000000000000000000" pitchFamily="2" charset="2"/>
                  </a:rPr>
                  <a:t>Vorteil gegenüber UHS/</a:t>
                </a:r>
                <a:r>
                  <a:rPr lang="de-DE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  <a:sym typeface="Wingdings" panose="05000000000000000000" pitchFamily="2" charset="2"/>
                  </a:rPr>
                  <a:t>Bemessungspektrum</a:t>
                </a:r>
                <a:endParaRPr lang="de-DE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  <a:sym typeface="Wingdings" panose="05000000000000000000" pitchFamily="2" charset="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  <a:sym typeface="Wingdings" panose="05000000000000000000" pitchFamily="2" charset="2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  <a:sym typeface="Wingdings" panose="05000000000000000000" pitchFamily="2" charset="2"/>
                  </a:rPr>
                  <a:t>CS/GCIM liefern realistischer </a:t>
                </a:r>
                <a:r>
                  <a:rPr lang="de-DE" dirty="0" err="1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  <a:sym typeface="Wingdings" panose="05000000000000000000" pitchFamily="2" charset="2"/>
                  </a:rPr>
                  <a:t>Zielspektra</a:t>
                </a:r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  <a:sym typeface="Wingdings" panose="05000000000000000000" pitchFamily="2" charset="2"/>
                  </a:rPr>
                  <a:t> (</a:t>
                </a:r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in Bezug auf den Spektralinhalt) im Vergleich zu UHS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Die Korrelation zw. die SA werte wird berücksichtigt.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Die Streuung der Erdbeben wird berücksichtigt, 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de-DE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func>
                              <m:funcPr>
                                <m:ctrlPr>
                                  <a:rPr lang="de-DE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de-DE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de-DE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𝐼𝑀</m:t>
                                </m:r>
                              </m:e>
                            </m:func>
                          </m:sub>
                        </m:sSub>
                      </m:e>
                      <m:sub>
                        <m:r>
                          <a:rPr lang="de-DE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</a:rPr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func>
                          <m:funcPr>
                            <m:ctrlPr>
                              <a:rPr lang="de-DE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de-DE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𝐼𝑀</m:t>
                            </m:r>
                          </m:e>
                        </m:func>
                      </m:sub>
                    </m:sSub>
                  </m:oMath>
                </a14:m>
                <a:r>
                  <a:rPr lang="de-DE" dirty="0">
                    <a:solidFill>
                      <a:srgbClr val="333333"/>
                    </a:solidFill>
                    <a:latin typeface="Futura LT Pro Light" panose="020B0402020204020303" pitchFamily="34" charset="0"/>
                    <a:cs typeface="+mn-cs"/>
                  </a:rPr>
                  <a:t> abgeglichen wird</a:t>
                </a:r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41CCD508-EFD9-4A6A-36F0-5CA28199E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55" y="1116013"/>
                <a:ext cx="11320123" cy="4575612"/>
              </a:xfrm>
              <a:prstGeom prst="rect">
                <a:avLst/>
              </a:prstGeom>
              <a:blipFill>
                <a:blip r:embed="rId2"/>
                <a:stretch>
                  <a:fillRect l="-323" t="-666" b="-39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007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01E9432-DFC2-C19A-853B-AB4F2E24A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Auswahl Zeitverläufe: Verfahren für einen Standort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F04ED7E-5F74-4BA1-26AD-1C978239E03C}"/>
              </a:ext>
            </a:extLst>
          </p:cNvPr>
          <p:cNvSpPr txBox="1"/>
          <p:nvPr/>
        </p:nvSpPr>
        <p:spPr>
          <a:xfrm>
            <a:off x="431800" y="971997"/>
            <a:ext cx="4284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1. PSHA und </a:t>
            </a:r>
            <a:r>
              <a:rPr lang="de-DE" b="1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Disaggregation</a:t>
            </a:r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der Ergebnisse für einen Standort.</a:t>
            </a:r>
          </a:p>
          <a:p>
            <a:endParaRPr lang="de-DE" b="1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SA(T1=0.35), H(IM) = 0.00213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9A9FF40-828A-F99A-5367-70771E5C1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71" y="2547494"/>
            <a:ext cx="3057952" cy="3177031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6A0D245-E3F1-7690-5DFC-0E501838A874}"/>
              </a:ext>
            </a:extLst>
          </p:cNvPr>
          <p:cNvGrpSpPr/>
          <p:nvPr/>
        </p:nvGrpSpPr>
        <p:grpSpPr>
          <a:xfrm>
            <a:off x="3884305" y="2547494"/>
            <a:ext cx="2200582" cy="743054"/>
            <a:chOff x="4284687" y="2640851"/>
            <a:chExt cx="2200582" cy="743054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8E4C99C1-023B-9960-6E4A-7AA34E288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4687" y="2640851"/>
              <a:ext cx="2200582" cy="743054"/>
            </a:xfrm>
            <a:prstGeom prst="rect">
              <a:avLst/>
            </a:prstGeom>
          </p:spPr>
        </p:pic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E2BB0D2-765C-103A-3B68-98AC5BBB0AE8}"/>
                </a:ext>
              </a:extLst>
            </p:cNvPr>
            <p:cNvSpPr/>
            <p:nvPr/>
          </p:nvSpPr>
          <p:spPr>
            <a:xfrm>
              <a:off x="4284687" y="2640851"/>
              <a:ext cx="1008112" cy="74305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CBEED33E-0AB0-CC15-209E-0CFBE9121711}"/>
              </a:ext>
            </a:extLst>
          </p:cNvPr>
          <p:cNvSpPr txBox="1"/>
          <p:nvPr/>
        </p:nvSpPr>
        <p:spPr>
          <a:xfrm>
            <a:off x="3798465" y="3802051"/>
            <a:ext cx="23722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Parameter für die Bestimmung des Zielspektrums mittels eines GMMs und eines Korrelationsmodells</a:t>
            </a:r>
          </a:p>
        </p:txBody>
      </p:sp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B8346601-D5DC-919E-D5D2-81C68F41167D}"/>
              </a:ext>
            </a:extLst>
          </p:cNvPr>
          <p:cNvSpPr/>
          <p:nvPr/>
        </p:nvSpPr>
        <p:spPr>
          <a:xfrm rot="19315197">
            <a:off x="2597498" y="3640263"/>
            <a:ext cx="1440160" cy="288032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32EB231C-7843-6315-3493-2D01920BD7BF}"/>
              </a:ext>
            </a:extLst>
          </p:cNvPr>
          <p:cNvCxnSpPr>
            <a:cxnSpLocks/>
          </p:cNvCxnSpPr>
          <p:nvPr/>
        </p:nvCxnSpPr>
        <p:spPr>
          <a:xfrm flipV="1">
            <a:off x="4644727" y="3413770"/>
            <a:ext cx="0" cy="3967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54CC6322-D179-A922-CB37-84C4C7ADE33F}"/>
              </a:ext>
            </a:extLst>
          </p:cNvPr>
          <p:cNvSpPr txBox="1"/>
          <p:nvPr/>
        </p:nvSpPr>
        <p:spPr>
          <a:xfrm>
            <a:off x="7525047" y="974215"/>
            <a:ext cx="42849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2. Ermittlung der Wert der Bedingungs-IM mittels GMM/GMPE</a:t>
            </a:r>
          </a:p>
          <a:p>
            <a:endParaRPr lang="de-DE" b="1" dirty="0">
              <a:solidFill>
                <a:srgbClr val="333333"/>
              </a:solidFill>
              <a:latin typeface="Futura LT Pro Light" panose="020B0402020204020303" pitchFamily="34" charset="0"/>
              <a:cs typeface="+mn-cs"/>
            </a:endParaRPr>
          </a:p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E.g. IM = SA(T1=0.35)</a:t>
            </a:r>
          </a:p>
          <a:p>
            <a:r>
              <a:rPr lang="de-DE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Kotha</a:t>
            </a:r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et al. (2020)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E12DDA1E-4B71-D424-4C56-839172AD3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063" y="2874040"/>
            <a:ext cx="4271262" cy="3291212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F4E06960-F321-952E-91C5-AF033091B6FE}"/>
              </a:ext>
            </a:extLst>
          </p:cNvPr>
          <p:cNvSpPr txBox="1"/>
          <p:nvPr/>
        </p:nvSpPr>
        <p:spPr>
          <a:xfrm>
            <a:off x="8029103" y="5416748"/>
            <a:ext cx="2372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hier: GMM = BJF97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A96AC70-B14D-1923-3296-554A2003BBAC}"/>
              </a:ext>
            </a:extLst>
          </p:cNvPr>
          <p:cNvSpPr txBox="1"/>
          <p:nvPr/>
        </p:nvSpPr>
        <p:spPr>
          <a:xfrm>
            <a:off x="8173119" y="4527924"/>
            <a:ext cx="237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Bedingungs-IM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AA1B45AF-FBAC-719A-AFB8-089D06B9C7F9}"/>
              </a:ext>
            </a:extLst>
          </p:cNvPr>
          <p:cNvCxnSpPr>
            <a:cxnSpLocks/>
          </p:cNvCxnSpPr>
          <p:nvPr/>
        </p:nvCxnSpPr>
        <p:spPr>
          <a:xfrm flipV="1">
            <a:off x="9075784" y="3858705"/>
            <a:ext cx="432048" cy="6692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Geschweifte Klammer rechts 25">
            <a:extLst>
              <a:ext uri="{FF2B5EF4-FFF2-40B4-BE49-F238E27FC236}">
                <a16:creationId xmlns:a16="http://schemas.microsoft.com/office/drawing/2014/main" id="{7D67DF6E-4629-4BBD-5C3B-24C8B71A7398}"/>
              </a:ext>
            </a:extLst>
          </p:cNvPr>
          <p:cNvSpPr/>
          <p:nvPr/>
        </p:nvSpPr>
        <p:spPr>
          <a:xfrm>
            <a:off x="9685287" y="3784279"/>
            <a:ext cx="194320" cy="302918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D807BE6F-F263-10AB-C629-15961F7621B6}"/>
                  </a:ext>
                </a:extLst>
              </p:cNvPr>
              <p:cNvSpPr txBox="1"/>
              <p:nvPr/>
            </p:nvSpPr>
            <p:spPr>
              <a:xfrm>
                <a:off x="9792119" y="3674039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𝜀</m:t>
                      </m:r>
                    </m:oMath>
                  </m:oMathPara>
                </a14:m>
                <a:endParaRPr lang="de-DE" dirty="0">
                  <a:solidFill>
                    <a:srgbClr val="333333"/>
                  </a:solidFill>
                  <a:latin typeface="Futura LT Pro Light" panose="020B0402020204020303" pitchFamily="34" charset="0"/>
                  <a:cs typeface="+mn-cs"/>
                </a:endParaRPr>
              </a:p>
            </p:txBody>
          </p:sp>
        </mc:Choice>
        <mc:Fallback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D807BE6F-F263-10AB-C629-15961F762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2119" y="3674039"/>
                <a:ext cx="4320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feld 27">
            <a:extLst>
              <a:ext uri="{FF2B5EF4-FFF2-40B4-BE49-F238E27FC236}">
                <a16:creationId xmlns:a16="http://schemas.microsoft.com/office/drawing/2014/main" id="{C7C3935D-BFC7-BA2A-FC45-98F222D8D408}"/>
              </a:ext>
            </a:extLst>
          </p:cNvPr>
          <p:cNvSpPr txBox="1"/>
          <p:nvPr/>
        </p:nvSpPr>
        <p:spPr>
          <a:xfrm>
            <a:off x="572539" y="2720151"/>
            <a:ext cx="2372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hier: Tailfingen</a:t>
            </a:r>
          </a:p>
        </p:txBody>
      </p:sp>
    </p:spTree>
    <p:extLst>
      <p:ext uri="{BB962C8B-B14F-4D97-AF65-F5344CB8AC3E}">
        <p14:creationId xmlns:p14="http://schemas.microsoft.com/office/powerpoint/2010/main" val="3837555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C4101BD-345D-1172-32B5-41C43D85A34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b="1" dirty="0">
                <a:latin typeface="Futura LT Pro Light" panose="020B0402020204020303" pitchFamily="34" charset="0"/>
              </a:rPr>
              <a:t>4. Erdbeben statistisch simulieren</a:t>
            </a:r>
          </a:p>
          <a:p>
            <a:endParaRPr lang="de-DE" b="1" dirty="0">
              <a:latin typeface="Futura LT Pro Light" panose="020B04020202040203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>
                <a:latin typeface="Futura LT Pro Light" panose="020B0402020204020303" pitchFamily="34" charset="0"/>
              </a:rPr>
              <a:t>Zufällige Stichprobeziehung aus der multivariaten Normalverteilung von 3.</a:t>
            </a:r>
          </a:p>
          <a:p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825E483-DDE0-BE43-D217-4A801B375B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b="1" dirty="0">
                    <a:latin typeface="Futura LT Pro Light" panose="020B0402020204020303" pitchFamily="34" charset="0"/>
                  </a:rPr>
                  <a:t>3. Ermittlung des Zielspektrums anhand ein Korrelationsmodel.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func>
                          <m:funcPr>
                            <m:ctrlP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sz="18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𝑆𝐴</m:t>
                            </m:r>
                            <m:d>
                              <m:dPr>
                                <m:ctrl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e>
                        </m:func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de-DE" sz="18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⁡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𝑆𝐴</m:t>
                        </m:r>
                        <m:d>
                          <m:dPr>
                            <m:ctrlP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sub>
                    </m:sSub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𝜀</m:t>
                    </m:r>
                    <m:sSub>
                      <m:sSub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func>
                          <m:funcPr>
                            <m:ctrlP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sz="18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𝑆𝐴</m:t>
                            </m:r>
                            <m:d>
                              <m:dPr>
                                <m:ctrl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e>
                        </m:func>
                      </m:sub>
                    </m:sSub>
                  </m:oMath>
                </a14:m>
                <a:r>
                  <a:rPr lang="de-DE" sz="18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func>
                          <m:func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sz="18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𝑆𝐴</m:t>
                            </m:r>
                            <m:d>
                              <m:dPr>
                                <m:ctrlPr>
                                  <a:rPr lang="de-DE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e>
                        </m:func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func>
                          <m:funcPr>
                            <m:ctrlP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sz="18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𝑆𝐴</m:t>
                            </m:r>
                          </m:e>
                        </m:func>
                        <m:d>
                          <m:dPr>
                            <m:ctrlP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sub>
                    </m:sSub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func>
                          <m:funcPr>
                            <m:ctrlP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sz="18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𝑆𝐴</m:t>
                            </m:r>
                            <m:d>
                              <m:dPr>
                                <m:ctrl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e>
                        </m:func>
                      </m:sub>
                    </m:sSub>
                    <m:rad>
                      <m:radPr>
                        <m:degHide m:val="on"/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DE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8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de-DE" sz="1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de-DE" sz="1800" dirty="0"/>
                  <a:t> </a:t>
                </a:r>
              </a:p>
              <a:p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825E483-DDE0-BE43-D217-4A801B375B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2" t="-600" r="-21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>
            <a:extLst>
              <a:ext uri="{FF2B5EF4-FFF2-40B4-BE49-F238E27FC236}">
                <a16:creationId xmlns:a16="http://schemas.microsoft.com/office/drawing/2014/main" id="{A92BA1CE-1410-7C02-F207-FE74C3165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Auswahl Zeitverläufe: Verfahren für einen Standort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2EC08BC-768A-7064-CACB-A70B32645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343" y="2991893"/>
            <a:ext cx="4032448" cy="311787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E8CC1CC-FE9D-AF5C-DC6A-07A6AAB14B56}"/>
              </a:ext>
            </a:extLst>
          </p:cNvPr>
          <p:cNvSpPr txBox="1"/>
          <p:nvPr/>
        </p:nvSpPr>
        <p:spPr>
          <a:xfrm>
            <a:off x="1692399" y="5364485"/>
            <a:ext cx="2372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hier: KM= BJ08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A39060B-3863-300C-A54A-4767699A2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343" y="2772196"/>
            <a:ext cx="3744416" cy="281459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47FEE9B-898D-D026-08DB-C7A818FFA646}"/>
              </a:ext>
            </a:extLst>
          </p:cNvPr>
          <p:cNvSpPr txBox="1"/>
          <p:nvPr/>
        </p:nvSpPr>
        <p:spPr>
          <a:xfrm>
            <a:off x="7741071" y="5518373"/>
            <a:ext cx="2258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von Baker und </a:t>
            </a:r>
            <a:r>
              <a:rPr lang="de-DE" sz="11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Jayaram</a:t>
            </a:r>
            <a:r>
              <a:rPr lang="de-DE" sz="11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2011</a:t>
            </a:r>
          </a:p>
        </p:txBody>
      </p:sp>
    </p:spTree>
    <p:extLst>
      <p:ext uri="{BB962C8B-B14F-4D97-AF65-F5344CB8AC3E}">
        <p14:creationId xmlns:p14="http://schemas.microsoft.com/office/powerpoint/2010/main" val="3055265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70C7-FF4D-1C16-2057-1C363F7E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Inhaltsplatzhalter 2">
                <a:extLst>
                  <a:ext uri="{FF2B5EF4-FFF2-40B4-BE49-F238E27FC236}">
                    <a16:creationId xmlns:a16="http://schemas.microsoft.com/office/drawing/2014/main" id="{B3D946EC-D950-45B7-27C0-FE4FCC8F660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228903" y="1044004"/>
                <a:ext cx="5400000" cy="50758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rmAutofit/>
              </a:bodyPr>
              <a:lstStyle>
                <a:lvl1pPr marL="0" indent="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Futura LT Pro Book" pitchFamily="34" charset="0"/>
                  <a:buNone/>
                  <a:defRPr sz="2000" kern="1200">
                    <a:solidFill>
                      <a:srgbClr val="333333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1pPr>
                <a:lvl2pPr marL="895350" indent="-4381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Futura LT Pro Book" pitchFamily="34" charset="0"/>
                  <a:buAutoNum type="arabicPeriod"/>
                  <a:defRPr sz="1600" kern="1200">
                    <a:solidFill>
                      <a:srgbClr val="333333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2pPr>
                <a:lvl3pPr marL="1371600" indent="-4572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Futura LT Pro Book" pitchFamily="34" charset="0"/>
                  <a:buAutoNum type="arabicPeriod"/>
                  <a:defRPr sz="1400" kern="1200">
                    <a:solidFill>
                      <a:srgbClr val="333333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3pPr>
                <a:lvl4pPr marL="1828800" indent="-4572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Futura LT Pro Book" pitchFamily="34" charset="0"/>
                  <a:buAutoNum type="arabicPeriod"/>
                  <a:defRPr sz="1400" kern="1200">
                    <a:solidFill>
                      <a:srgbClr val="333333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4pPr>
                <a:lvl5pPr marL="2286000" indent="-4572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Futura LT Pro Book" pitchFamily="34" charset="0"/>
                  <a:buAutoNum type="arabicPeriod"/>
                  <a:defRPr sz="1400" kern="1200">
                    <a:solidFill>
                      <a:srgbClr val="333333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DE" b="1" dirty="0"/>
                  <a:t>6. </a:t>
                </a:r>
                <a:r>
                  <a:rPr lang="de-DE" b="1" dirty="0" err="1"/>
                  <a:t>Asgewählte</a:t>
                </a:r>
                <a:r>
                  <a:rPr lang="de-DE" b="1" dirty="0"/>
                  <a:t> Zeitverläufe optimieren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dirty="0"/>
                  <a:t> wenn </a:t>
                </a:r>
                <a14:m>
                  <m:oMath xmlns:m="http://schemas.openxmlformats.org/officeDocument/2006/math">
                    <m:r>
                      <a:rPr lang="de-DE" sz="180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de-DE" sz="1800" dirty="0"/>
                  <a:t> und </a:t>
                </a:r>
                <a14:m>
                  <m:oMath xmlns:m="http://schemas.openxmlformats.org/officeDocument/2006/math">
                    <m:r>
                      <a:rPr lang="de-DE" sz="180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de-DE" sz="1800" dirty="0"/>
                  <a:t> nicht innerhalb Toleranz sind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dirty="0"/>
                  <a:t>„</a:t>
                </a:r>
                <a:r>
                  <a:rPr lang="de-DE" sz="1800" dirty="0" err="1"/>
                  <a:t>Greedy</a:t>
                </a:r>
                <a:r>
                  <a:rPr lang="de-DE" sz="1800" dirty="0"/>
                  <a:t>“ (lokal) Optimierungsalgorithmen</a:t>
                </a:r>
              </a:p>
              <a:p>
                <a:endParaRPr lang="de-DE" dirty="0"/>
              </a:p>
            </p:txBody>
          </p:sp>
        </mc:Choice>
        <mc:Fallback>
          <p:sp>
            <p:nvSpPr>
              <p:cNvPr id="14" name="Inhaltsplatzhalter 2">
                <a:extLst>
                  <a:ext uri="{FF2B5EF4-FFF2-40B4-BE49-F238E27FC236}">
                    <a16:creationId xmlns:a16="http://schemas.microsoft.com/office/drawing/2014/main" id="{B3D946EC-D950-45B7-27C0-FE4FCC8F6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28903" y="1044004"/>
                <a:ext cx="5400000" cy="5075809"/>
              </a:xfrm>
              <a:prstGeom prst="rect">
                <a:avLst/>
              </a:prstGeom>
              <a:blipFill>
                <a:blip r:embed="rId2"/>
                <a:stretch>
                  <a:fillRect l="-1242" t="-6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D09ACB8-F22D-F26B-6F1F-B1FC2AE443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b="1" dirty="0">
                    <a:latin typeface="Futura LT Pro Light" panose="020B0402020204020303" pitchFamily="34" charset="0"/>
                  </a:rPr>
                  <a:t>5. Zeitverläufe von Datenbank mit Spektren ähnlich wie die Stichproben auswählen.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de-DE" sz="18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de-DE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p>
                          <m:sSupPr>
                            <m:ctrlP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de-DE" sz="1800" b="0" i="0" smtClean="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de-DE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e-DE" sz="18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lang="de-DE" sz="18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  <m:r>
                                  <a:rPr lang="de-DE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de-DE" sz="180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sSubSup>
                                      <m:sSubSupPr>
                                        <m:ctrlP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de-DE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de-DE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e-DE" sz="18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lang="de-DE" sz="18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de-DE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de-DE" sz="1800" b="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dirty="0">
                    <a:latin typeface="Futura LT Pro Light" panose="020B0402020204020303" pitchFamily="34" charset="0"/>
                  </a:rPr>
                  <a:t>Kleinste SSE passt am besten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D09ACB8-F22D-F26B-6F1F-B1FC2AE443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2" t="-6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>
            <a:extLst>
              <a:ext uri="{FF2B5EF4-FFF2-40B4-BE49-F238E27FC236}">
                <a16:creationId xmlns:a16="http://schemas.microsoft.com/office/drawing/2014/main" id="{6EF8BF91-43C1-1AF2-E2E8-48F7CD5E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Auswahl Zeitverläufe: Verfahren für einen Standort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669DD13-1B56-CA8E-91B3-B278F454D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80" y="2484165"/>
            <a:ext cx="5725324" cy="2343477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A30A1013-25E5-2145-25FF-B911F1721A86}"/>
              </a:ext>
            </a:extLst>
          </p:cNvPr>
          <p:cNvSpPr txBox="1"/>
          <p:nvPr/>
        </p:nvSpPr>
        <p:spPr>
          <a:xfrm>
            <a:off x="7885087" y="4799325"/>
            <a:ext cx="2258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von Baker und </a:t>
            </a:r>
            <a:r>
              <a:rPr lang="de-DE" sz="1100" dirty="0" err="1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Jayaram</a:t>
            </a:r>
            <a:r>
              <a:rPr lang="de-DE" sz="1100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 2011</a:t>
            </a:r>
          </a:p>
        </p:txBody>
      </p:sp>
    </p:spTree>
    <p:extLst>
      <p:ext uri="{BB962C8B-B14F-4D97-AF65-F5344CB8AC3E}">
        <p14:creationId xmlns:p14="http://schemas.microsoft.com/office/powerpoint/2010/main" val="2797862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F5E63-DE26-DE49-0AC9-EB1EE027C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537B29A-0997-5EB1-8147-8B86238DA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Auswahl Zeitverläufe: Die andere Darstellung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5EDFCB-4AD7-963A-38A2-2FFB13605C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641"/>
          <a:stretch>
            <a:fillRect/>
          </a:stretch>
        </p:blipFill>
        <p:spPr>
          <a:xfrm>
            <a:off x="0" y="865509"/>
            <a:ext cx="7102050" cy="266429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1B56154-2227-8551-A367-D7D0E5A385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345" b="10023"/>
          <a:stretch>
            <a:fillRect/>
          </a:stretch>
        </p:blipFill>
        <p:spPr>
          <a:xfrm>
            <a:off x="11720" y="3800068"/>
            <a:ext cx="7092999" cy="242951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1CF8972-2B3F-212C-5509-A89D081FF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541" y="3924325"/>
            <a:ext cx="2992228" cy="231942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81FF50F-A2CE-1282-1B5C-B9C0F86C3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191" y="1011480"/>
            <a:ext cx="2793911" cy="2160240"/>
          </a:xfrm>
          <a:prstGeom prst="rect">
            <a:avLst/>
          </a:prstGeom>
        </p:spPr>
      </p:pic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E5FCD1DA-0781-A08F-0AA3-C29E45607DD4}"/>
              </a:ext>
            </a:extLst>
          </p:cNvPr>
          <p:cNvCxnSpPr>
            <a:cxnSpLocks/>
          </p:cNvCxnSpPr>
          <p:nvPr/>
        </p:nvCxnSpPr>
        <p:spPr>
          <a:xfrm>
            <a:off x="9573087" y="1249981"/>
            <a:ext cx="0" cy="937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836B95FA-499C-08C4-B78C-97590AF3D47E}"/>
              </a:ext>
            </a:extLst>
          </p:cNvPr>
          <p:cNvCxnSpPr/>
          <p:nvPr/>
        </p:nvCxnSpPr>
        <p:spPr>
          <a:xfrm flipH="1">
            <a:off x="6012879" y="1260029"/>
            <a:ext cx="356020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46899B2B-94D3-5310-C292-D0F84E922611}"/>
              </a:ext>
            </a:extLst>
          </p:cNvPr>
          <p:cNvSpPr txBox="1"/>
          <p:nvPr/>
        </p:nvSpPr>
        <p:spPr>
          <a:xfrm>
            <a:off x="7135272" y="3474085"/>
            <a:ext cx="395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333333"/>
                </a:solidFill>
                <a:latin typeface="Futura LT Pro Light" panose="020B0402020204020303" pitchFamily="34" charset="0"/>
                <a:cs typeface="+mn-cs"/>
              </a:rPr>
              <a:t>ECDF für die Zeitverlaufsgruppe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C912E820-3A94-2A05-AD6A-9373AFCA439B}"/>
              </a:ext>
            </a:extLst>
          </p:cNvPr>
          <p:cNvCxnSpPr>
            <a:cxnSpLocks/>
          </p:cNvCxnSpPr>
          <p:nvPr/>
        </p:nvCxnSpPr>
        <p:spPr>
          <a:xfrm>
            <a:off x="9177672" y="3795935"/>
            <a:ext cx="571390" cy="5129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469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4BDF-C457-796B-A066-60D6A81F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5E9701-804B-6C84-EFDD-461E7AC0C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1" y="1044005"/>
            <a:ext cx="10117382" cy="507580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ESHM20 verwendet Europäische GMM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 err="1"/>
              <a:t>Kotha</a:t>
            </a:r>
            <a:r>
              <a:rPr lang="de-DE" dirty="0"/>
              <a:t> et al. (2020) für „</a:t>
            </a:r>
            <a:r>
              <a:rPr lang="de-DE" dirty="0" err="1"/>
              <a:t>Active</a:t>
            </a:r>
            <a:r>
              <a:rPr lang="de-DE" dirty="0"/>
              <a:t> </a:t>
            </a:r>
            <a:r>
              <a:rPr lang="de-DE" dirty="0" err="1"/>
              <a:t>Shallow</a:t>
            </a:r>
            <a:r>
              <a:rPr lang="de-DE" dirty="0"/>
              <a:t> </a:t>
            </a:r>
            <a:r>
              <a:rPr lang="de-DE" dirty="0" err="1"/>
              <a:t>Crust</a:t>
            </a:r>
            <a:r>
              <a:rPr lang="de-DE" dirty="0"/>
              <a:t>“ Erdbeben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 err="1"/>
              <a:t>Kotha</a:t>
            </a:r>
            <a:r>
              <a:rPr lang="de-DE" dirty="0"/>
              <a:t> et al. (2020) wurde von Erdbeben in der ESM-Datenbank hergeleitet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Diese GMMs soll ich für Schritt 2. verwenden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Korrelationsmodell soll zur Erdbebendaten Bank und GMM passen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D.h. wir brauchen eine Korrelationsmodell zwischen alle unser IMs die mit </a:t>
            </a:r>
            <a:r>
              <a:rPr lang="de-DE" dirty="0" err="1"/>
              <a:t>Kotha</a:t>
            </a:r>
            <a:r>
              <a:rPr lang="de-DE" dirty="0"/>
              <a:t> et al. 2020 und ESM passen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F5F0942-FB4A-9AF1-DFF6-66D6D0C7B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Auswahl Zeitverläufe: Wichtige Punkte zu Berück.</a:t>
            </a:r>
          </a:p>
        </p:txBody>
      </p:sp>
    </p:spTree>
    <p:extLst>
      <p:ext uri="{BB962C8B-B14F-4D97-AF65-F5344CB8AC3E}">
        <p14:creationId xmlns:p14="http://schemas.microsoft.com/office/powerpoint/2010/main" val="2843077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AF5AE1-C6E4-9FD7-339C-45FA436D2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1" y="827981"/>
            <a:ext cx="9469310" cy="5075809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Papers zu ESHM20 lesen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Mit Graeme Weatherill (GFZ) sprechen bzgl.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 err="1"/>
              <a:t>Kotha</a:t>
            </a:r>
            <a:r>
              <a:rPr lang="de-DE" dirty="0"/>
              <a:t> et al. (2020) und Korrelationsmodelle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 err="1"/>
              <a:t>tectonische</a:t>
            </a:r>
            <a:r>
              <a:rPr lang="de-DE" dirty="0"/>
              <a:t> Berieche in ESHM20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Ein Weg mögliche </a:t>
            </a:r>
            <a:r>
              <a:rPr lang="de-DE" dirty="0" err="1"/>
              <a:t>Ständorte</a:t>
            </a:r>
            <a:r>
              <a:rPr lang="de-DE" dirty="0"/>
              <a:t> zu bestimmen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Literatur zur andere Regionale Risiko-Projekte (e.g. </a:t>
            </a:r>
            <a:r>
              <a:rPr lang="de-DE" dirty="0" err="1"/>
              <a:t>Caltrans</a:t>
            </a:r>
            <a:r>
              <a:rPr lang="de-DE" dirty="0"/>
              <a:t> Brücken?) lesen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Literature</a:t>
            </a:r>
            <a:r>
              <a:rPr lang="de-DE" dirty="0"/>
              <a:t> zur Multi-Site </a:t>
            </a:r>
            <a:r>
              <a:rPr lang="de-DE" dirty="0" err="1"/>
              <a:t>Record</a:t>
            </a:r>
            <a:r>
              <a:rPr lang="de-DE" dirty="0"/>
              <a:t> </a:t>
            </a:r>
            <a:r>
              <a:rPr lang="de-DE" dirty="0" err="1"/>
              <a:t>Selection</a:t>
            </a:r>
            <a:r>
              <a:rPr lang="de-DE" dirty="0"/>
              <a:t> lesen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Genauere Ziele / </a:t>
            </a:r>
            <a:r>
              <a:rPr lang="de-DE" dirty="0" err="1"/>
              <a:t>Skope</a:t>
            </a:r>
            <a:r>
              <a:rPr lang="de-DE" dirty="0"/>
              <a:t> meiner Studie definieren…</a:t>
            </a:r>
          </a:p>
          <a:p>
            <a:pPr marL="1238250" lvl="1" indent="-342900">
              <a:buFont typeface="Arial" panose="020B0604020202020204" pitchFamily="34" charset="0"/>
              <a:buChar char="•"/>
            </a:pPr>
            <a:r>
              <a:rPr lang="de-DE" dirty="0"/>
              <a:t>Worauf soll ich fokussieren…</a:t>
            </a:r>
          </a:p>
          <a:p>
            <a:pPr marL="1714500" lvl="2" indent="-342900">
              <a:buFont typeface="Arial" panose="020B0604020202020204" pitchFamily="34" charset="0"/>
              <a:buChar char="•"/>
            </a:pPr>
            <a:r>
              <a:rPr lang="de-DE" dirty="0"/>
              <a:t>Bodenklassen</a:t>
            </a:r>
          </a:p>
          <a:p>
            <a:pPr marL="1714500" lvl="2" indent="-342900">
              <a:buFont typeface="Arial" panose="020B0604020202020204" pitchFamily="34" charset="0"/>
              <a:buChar char="•"/>
            </a:pPr>
            <a:r>
              <a:rPr lang="de-DE" dirty="0" err="1"/>
              <a:t>tectonische</a:t>
            </a:r>
            <a:r>
              <a:rPr lang="de-DE" dirty="0"/>
              <a:t> </a:t>
            </a:r>
            <a:r>
              <a:rPr lang="de-DE" dirty="0" err="1"/>
              <a:t>bereiche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EDCF027-1574-BB4C-AD73-D90629C6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Auswahl Zeitverläufe: Nächste Schritte</a:t>
            </a:r>
          </a:p>
        </p:txBody>
      </p:sp>
    </p:spTree>
    <p:extLst>
      <p:ext uri="{BB962C8B-B14F-4D97-AF65-F5344CB8AC3E}">
        <p14:creationId xmlns:p14="http://schemas.microsoft.com/office/powerpoint/2010/main" val="2690076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515ED-1ED0-3532-B729-043B669A6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2B4B9B5-72EB-AD51-859F-1401DF504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Zugriff zu Papers über RWTH Aachen</a:t>
            </a:r>
          </a:p>
        </p:txBody>
      </p:sp>
    </p:spTree>
    <p:extLst>
      <p:ext uri="{BB962C8B-B14F-4D97-AF65-F5344CB8AC3E}">
        <p14:creationId xmlns:p14="http://schemas.microsoft.com/office/powerpoint/2010/main" val="1087683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D1FC-8802-AF91-526D-D98AEB97F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EFF7B-D4AF-8E7C-C831-FA4344975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1" y="1044005"/>
            <a:ext cx="9469310" cy="5075809"/>
          </a:xfrm>
        </p:spPr>
        <p:txBody>
          <a:bodyPr/>
          <a:lstStyle/>
          <a:p>
            <a:r>
              <a:rPr lang="en-US" i="1" dirty="0"/>
              <a:t>Bulletin of the Seismological Society of America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800" dirty="0"/>
              <a:t>Boore (2010), </a:t>
            </a:r>
            <a:r>
              <a:rPr lang="en-US" sz="1800" dirty="0"/>
              <a:t>Orientation-Independent, Nongeometric-Mean Measures of Seismic Intensity from Two Horizontal Components of Motion, </a:t>
            </a:r>
            <a:r>
              <a:rPr lang="en-US" sz="1800" i="1" dirty="0"/>
              <a:t>Bulletin of the Seismological Society of America, </a:t>
            </a:r>
            <a:r>
              <a:rPr lang="en-US" sz="1800" dirty="0"/>
              <a:t>100 (4): 1830–1835. </a:t>
            </a:r>
            <a:r>
              <a:rPr lang="de-DE" sz="1800" dirty="0">
                <a:hlinkClick r:id="rId2"/>
              </a:rPr>
              <a:t>https://doi.org/10.1785/0120090400</a:t>
            </a:r>
            <a:endParaRPr lang="de-DE" sz="1800" dirty="0"/>
          </a:p>
          <a:p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8D6DB2E-5396-FED8-A35F-8F6BA86CD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Papers</a:t>
            </a:r>
          </a:p>
        </p:txBody>
      </p:sp>
    </p:spTree>
    <p:extLst>
      <p:ext uri="{BB962C8B-B14F-4D97-AF65-F5344CB8AC3E}">
        <p14:creationId xmlns:p14="http://schemas.microsoft.com/office/powerpoint/2010/main" val="1717165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9DEDC-15BA-7172-3909-AF0FA4AAB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D32D0E2-EE62-81EB-60B8-3DF7EF4E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Besprechung mit Benno</a:t>
            </a:r>
          </a:p>
        </p:txBody>
      </p:sp>
    </p:spTree>
    <p:extLst>
      <p:ext uri="{BB962C8B-B14F-4D97-AF65-F5344CB8AC3E}">
        <p14:creationId xmlns:p14="http://schemas.microsoft.com/office/powerpoint/2010/main" val="882582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817B5-473F-F423-B934-06018D6EA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0909725-9971-D80B-8B6A-CC2704D2D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Vertrag Verlängerung</a:t>
            </a:r>
          </a:p>
        </p:txBody>
      </p:sp>
    </p:spTree>
    <p:extLst>
      <p:ext uri="{BB962C8B-B14F-4D97-AF65-F5344CB8AC3E}">
        <p14:creationId xmlns:p14="http://schemas.microsoft.com/office/powerpoint/2010/main" val="2757927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765C-1D5C-F2CC-11E1-FA555563A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98F5396-93A7-160C-3149-3D485BB7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1" y="2988221"/>
            <a:ext cx="11312525" cy="576263"/>
          </a:xfrm>
        </p:spPr>
        <p:txBody>
          <a:bodyPr/>
          <a:lstStyle/>
          <a:p>
            <a:r>
              <a:rPr lang="de-DE" dirty="0"/>
              <a:t>ECEE Paper</a:t>
            </a:r>
          </a:p>
        </p:txBody>
      </p:sp>
    </p:spTree>
    <p:extLst>
      <p:ext uri="{BB962C8B-B14F-4D97-AF65-F5344CB8AC3E}">
        <p14:creationId xmlns:p14="http://schemas.microsoft.com/office/powerpoint/2010/main" val="847381423"/>
      </p:ext>
    </p:extLst>
  </p:cSld>
  <p:clrMapOvr>
    <a:masterClrMapping/>
  </p:clrMapOvr>
</p:sld>
</file>

<file path=ppt/theme/theme1.xml><?xml version="1.0" encoding="utf-8"?>
<a:theme xmlns:a="http://schemas.openxmlformats.org/drawingml/2006/main" name="Wölfel-Master16x9_de_rev01">
  <a:themeElements>
    <a:clrScheme name="HSU Farben">
      <a:dk1>
        <a:srgbClr val="000000"/>
      </a:dk1>
      <a:lt1>
        <a:srgbClr val="FFFFFF"/>
      </a:lt1>
      <a:dk2>
        <a:srgbClr val="C00000"/>
      </a:dk2>
      <a:lt2>
        <a:srgbClr val="8C8279"/>
      </a:lt2>
      <a:accent1>
        <a:srgbClr val="FFC845"/>
      </a:accent1>
      <a:accent2>
        <a:srgbClr val="00263E"/>
      </a:accent2>
      <a:accent3>
        <a:srgbClr val="00685E"/>
      </a:accent3>
      <a:accent4>
        <a:srgbClr val="9F912A"/>
      </a:accent4>
      <a:accent5>
        <a:srgbClr val="BE6A14"/>
      </a:accent5>
      <a:accent6>
        <a:srgbClr val="BE3A34"/>
      </a:accent6>
      <a:hlink>
        <a:srgbClr val="7F7F7F"/>
      </a:hlink>
      <a:folHlink>
        <a:srgbClr val="595959"/>
      </a:folHlink>
    </a:clrScheme>
    <a:fontScheme name="Wölfel">
      <a:majorFont>
        <a:latin typeface="Futura LT Pro Book"/>
        <a:ea typeface=""/>
        <a:cs typeface=""/>
      </a:majorFont>
      <a:minorFont>
        <a:latin typeface="Futura LT Pro Book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333333"/>
            </a:solidFill>
            <a:latin typeface="Futura LT Pro Light" panose="020B0402020204020303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VL (002).pptx  -  Schreibgeschützt" id="{45838681-CEEC-43E9-93E0-6AC7B7F2B798}" vid="{92A8DBD5-76BA-4CE2-8716-ECAE39623A2C}"/>
    </a:ext>
  </a:extLst>
</a:theme>
</file>

<file path=ppt/theme/theme2.xml><?xml version="1.0" encoding="utf-8"?>
<a:theme xmlns:a="http://schemas.openxmlformats.org/drawingml/2006/main" name="1_Wölfel-Master16x9_de_rev01">
  <a:themeElements>
    <a:clrScheme name="HSU Farben">
      <a:dk1>
        <a:srgbClr val="000000"/>
      </a:dk1>
      <a:lt1>
        <a:srgbClr val="FFFFFF"/>
      </a:lt1>
      <a:dk2>
        <a:srgbClr val="C00000"/>
      </a:dk2>
      <a:lt2>
        <a:srgbClr val="8C8279"/>
      </a:lt2>
      <a:accent1>
        <a:srgbClr val="FFC845"/>
      </a:accent1>
      <a:accent2>
        <a:srgbClr val="00263E"/>
      </a:accent2>
      <a:accent3>
        <a:srgbClr val="00685E"/>
      </a:accent3>
      <a:accent4>
        <a:srgbClr val="9F912A"/>
      </a:accent4>
      <a:accent5>
        <a:srgbClr val="BE6A14"/>
      </a:accent5>
      <a:accent6>
        <a:srgbClr val="BE3A34"/>
      </a:accent6>
      <a:hlink>
        <a:srgbClr val="7F7F7F"/>
      </a:hlink>
      <a:folHlink>
        <a:srgbClr val="595959"/>
      </a:folHlink>
    </a:clrScheme>
    <a:fontScheme name="Wölfel">
      <a:majorFont>
        <a:latin typeface="Futura LT Pro Book"/>
        <a:ea typeface=""/>
        <a:cs typeface=""/>
      </a:majorFont>
      <a:minorFont>
        <a:latin typeface="Futura LT Pro Book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333333"/>
            </a:solidFill>
            <a:latin typeface="Futura LT Pro Light" panose="020B0402020204020303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VL (002).pptx  -  Schreibgeschützt" id="{45838681-CEEC-43E9-93E0-6AC7B7F2B798}" vid="{92A8DBD5-76BA-4CE2-8716-ECAE39623A2C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27ad31-1248-408e-b004-32fcbe738ee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6142BBD614E004F9123C843775B9053" ma:contentTypeVersion="18" ma:contentTypeDescription="Ein neues Dokument erstellen." ma:contentTypeScope="" ma:versionID="9eba075c07c7b8e10710dbd5a9b10a17">
  <xsd:schema xmlns:xsd="http://www.w3.org/2001/XMLSchema" xmlns:xs="http://www.w3.org/2001/XMLSchema" xmlns:p="http://schemas.microsoft.com/office/2006/metadata/properties" xmlns:ns3="b8438a74-1baf-41ed-a764-db03f5cc8e77" xmlns:ns4="7f27ad31-1248-408e-b004-32fcbe738eec" targetNamespace="http://schemas.microsoft.com/office/2006/metadata/properties" ma:root="true" ma:fieldsID="834b5a3e6853755301f6034dd0745b55" ns3:_="" ns4:_="">
    <xsd:import namespace="b8438a74-1baf-41ed-a764-db03f5cc8e77"/>
    <xsd:import namespace="7f27ad31-1248-408e-b004-32fcbe738ee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ServiceOCR" minOccurs="0"/>
                <xsd:element ref="ns4:_activity" minOccurs="0"/>
                <xsd:element ref="ns4:MediaLengthInSeconds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438a74-1baf-41ed-a764-db03f5cc8e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27ad31-1248-408e-b004-32fcbe738e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B87DA4-4E89-46EC-8CB1-8FFB00DB3D5B}">
  <ds:schemaRefs>
    <ds:schemaRef ds:uri="http://schemas.microsoft.com/office/2006/documentManagement/types"/>
    <ds:schemaRef ds:uri="http://purl.org/dc/dcmitype/"/>
    <ds:schemaRef ds:uri="http://www.w3.org/XML/1998/namespace"/>
    <ds:schemaRef ds:uri="b8438a74-1baf-41ed-a764-db03f5cc8e77"/>
    <ds:schemaRef ds:uri="http://purl.org/dc/elements/1.1/"/>
    <ds:schemaRef ds:uri="7f27ad31-1248-408e-b004-32fcbe738eec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72F2107-4D11-4E68-9AE7-DE82C7C5E3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BEDDF7-0120-4A39-8B12-FCBC9CB59C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438a74-1baf-41ed-a764-db03f5cc8e77"/>
    <ds:schemaRef ds:uri="7f27ad31-1248-408e-b004-32fcbe738e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771</Words>
  <Application>Microsoft Office PowerPoint</Application>
  <PresentationFormat>Benutzerdefiniert</PresentationFormat>
  <Paragraphs>106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16</vt:i4>
      </vt:variant>
    </vt:vector>
  </HeadingPairs>
  <TitlesOfParts>
    <vt:vector size="25" baseType="lpstr">
      <vt:lpstr>Arial</vt:lpstr>
      <vt:lpstr>Calibri</vt:lpstr>
      <vt:lpstr>Cambria Math</vt:lpstr>
      <vt:lpstr>Century Gothic</vt:lpstr>
      <vt:lpstr>Futura Lt BT</vt:lpstr>
      <vt:lpstr>Futura LT Pro Book</vt:lpstr>
      <vt:lpstr>Futura LT Pro Light</vt:lpstr>
      <vt:lpstr>Wölfel-Master16x9_de_rev01</vt:lpstr>
      <vt:lpstr>1_Wölfel-Master16x9_de_rev01</vt:lpstr>
      <vt:lpstr>Promotion Update - 03.11.2025 Zeitverläufe</vt:lpstr>
      <vt:lpstr>Ideen / Vorarbeit zur Auswahl Zeitverläufe für IDA</vt:lpstr>
      <vt:lpstr>Auswahl Zeitverläufe</vt:lpstr>
      <vt:lpstr>Auswahl Zeitverläufe: INNOSEIS </vt:lpstr>
      <vt:lpstr>Auswahl Zeitverläufe: Verfahren für einen Standort</vt:lpstr>
      <vt:lpstr>Auswahl Zeitverläufe: Verfahren für einen Standort </vt:lpstr>
      <vt:lpstr>Auswahl Zeitverläufe: Verfahren für einen Standort </vt:lpstr>
      <vt:lpstr>Auswahl Zeitverläufe: Verfahren für einen Standort </vt:lpstr>
      <vt:lpstr>Auswahl Zeitverläufe: Die andere Darstellung</vt:lpstr>
      <vt:lpstr>Auswahl Zeitverläufe: Wichtige Punkte zu Berück.</vt:lpstr>
      <vt:lpstr>Auswahl Zeitverläufe: Nächste Schritte</vt:lpstr>
      <vt:lpstr>Zugriff zu Papers über RWTH Aachen</vt:lpstr>
      <vt:lpstr>Papers</vt:lpstr>
      <vt:lpstr>Besprechung mit Benno</vt:lpstr>
      <vt:lpstr>Vertrag Verlängerung</vt:lpstr>
      <vt:lpstr>ECEE Paper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Jiangnan Chen</dc:creator>
  <cp:lastModifiedBy>Nicholas Aaron Clemett</cp:lastModifiedBy>
  <cp:revision>17</cp:revision>
  <cp:lastPrinted>2017-04-05T11:06:27Z</cp:lastPrinted>
  <dcterms:created xsi:type="dcterms:W3CDTF">2024-12-05T10:31:18Z</dcterms:created>
  <dcterms:modified xsi:type="dcterms:W3CDTF">2025-11-03T14:00:37Z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fd2079b-6d85-4185-8122-5cca51dad164_Enabled">
    <vt:lpwstr>true</vt:lpwstr>
  </property>
  <property fmtid="{D5CDD505-2E9C-101B-9397-08002B2CF9AE}" pid="3" name="MSIP_Label_8fd2079b-6d85-4185-8122-5cca51dad164_SetDate">
    <vt:lpwstr>2024-07-30T15:30:36Z</vt:lpwstr>
  </property>
  <property fmtid="{D5CDD505-2E9C-101B-9397-08002B2CF9AE}" pid="4" name="MSIP_Label_8fd2079b-6d85-4185-8122-5cca51dad164_Method">
    <vt:lpwstr>Standard</vt:lpwstr>
  </property>
  <property fmtid="{D5CDD505-2E9C-101B-9397-08002B2CF9AE}" pid="5" name="MSIP_Label_8fd2079b-6d85-4185-8122-5cca51dad164_Name">
    <vt:lpwstr>Öffentlich</vt:lpwstr>
  </property>
  <property fmtid="{D5CDD505-2E9C-101B-9397-08002B2CF9AE}" pid="6" name="MSIP_Label_8fd2079b-6d85-4185-8122-5cca51dad164_SiteId">
    <vt:lpwstr>5832f73f-b0fa-45a0-80d9-7e32bd7fa822</vt:lpwstr>
  </property>
  <property fmtid="{D5CDD505-2E9C-101B-9397-08002B2CF9AE}" pid="7" name="MSIP_Label_8fd2079b-6d85-4185-8122-5cca51dad164_ActionId">
    <vt:lpwstr>2a9a2add-c76e-44bf-a6d3-b7db089b7e11</vt:lpwstr>
  </property>
  <property fmtid="{D5CDD505-2E9C-101B-9397-08002B2CF9AE}" pid="8" name="MSIP_Label_8fd2079b-6d85-4185-8122-5cca51dad164_ContentBits">
    <vt:lpwstr>0</vt:lpwstr>
  </property>
  <property fmtid="{D5CDD505-2E9C-101B-9397-08002B2CF9AE}" pid="9" name="ContentTypeId">
    <vt:lpwstr>0x01010026142BBD614E004F9123C843775B9053</vt:lpwstr>
  </property>
</Properties>
</file>