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31" r:id="rId5"/>
  </p:sldMasterIdLst>
  <p:notesMasterIdLst>
    <p:notesMasterId r:id="rId19"/>
  </p:notesMasterIdLst>
  <p:handoutMasterIdLst>
    <p:handoutMasterId r:id="rId20"/>
  </p:handoutMasterIdLst>
  <p:sldIdLst>
    <p:sldId id="333" r:id="rId6"/>
    <p:sldId id="362" r:id="rId7"/>
    <p:sldId id="344" r:id="rId8"/>
    <p:sldId id="388" r:id="rId9"/>
    <p:sldId id="386" r:id="rId10"/>
    <p:sldId id="385" r:id="rId11"/>
    <p:sldId id="387" r:id="rId12"/>
    <p:sldId id="389" r:id="rId13"/>
    <p:sldId id="391" r:id="rId14"/>
    <p:sldId id="396" r:id="rId15"/>
    <p:sldId id="394" r:id="rId16"/>
    <p:sldId id="392" r:id="rId17"/>
    <p:sldId id="395" r:id="rId18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A50034"/>
    <a:srgbClr val="969696"/>
    <a:srgbClr val="92D050"/>
    <a:srgbClr val="00B0F0"/>
    <a:srgbClr val="FFC000"/>
    <a:srgbClr val="7030A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6247" autoAdjust="0"/>
  </p:normalViewPr>
  <p:slideViewPr>
    <p:cSldViewPr snapToObjects="1">
      <p:cViewPr varScale="1">
        <p:scale>
          <a:sx n="95" d="100"/>
          <a:sy n="95" d="100"/>
        </p:scale>
        <p:origin x="1038" y="306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01.12.2025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01.12.2025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– 01.12.2025</a:t>
            </a:r>
            <a:br>
              <a:rPr lang="de-DE" dirty="0"/>
            </a:br>
            <a:r>
              <a:rPr lang="de-DE" sz="2400" dirty="0"/>
              <a:t>Zeitverläufe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F5AE1-C6E4-9FD7-339C-45FA436D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80764"/>
            <a:ext cx="9469310" cy="507580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Andere Arbeitspakete Ausarbeiten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Erstmal Verschoben</a:t>
            </a:r>
            <a:endParaRPr lang="de-DE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Abstracts für ECEE schreiben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Diese Woche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AP1 anfangen </a:t>
            </a:r>
            <a:r>
              <a:rPr lang="de-DE" dirty="0">
                <a:solidFill>
                  <a:srgbClr val="00B050"/>
                </a:solidFill>
                <a:sym typeface="Wingdings" panose="05000000000000000000" pitchFamily="2" charset="2"/>
              </a:rPr>
              <a:t> Ja</a:t>
            </a:r>
            <a:endParaRPr lang="de-DE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EDCF027-1574-BB4C-AD73-D90629C6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Von letzten Mal:</a:t>
            </a:r>
          </a:p>
        </p:txBody>
      </p:sp>
    </p:spTree>
    <p:extLst>
      <p:ext uri="{BB962C8B-B14F-4D97-AF65-F5344CB8AC3E}">
        <p14:creationId xmlns:p14="http://schemas.microsoft.com/office/powerpoint/2010/main" val="269007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AP1: </a:t>
            </a:r>
            <a:r>
              <a:rPr lang="en-US" dirty="0"/>
              <a:t>Selection of an EU Record Set for Reliability-based design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1291-D967-C489-C953-CA6CD9E0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1CFDFD8-3A12-4F35-7711-8C7E9FD7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AP1.1: Auswahl IMs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5EF87C5-255C-2818-0EEC-A9D7B3C4540B}"/>
              </a:ext>
            </a:extLst>
          </p:cNvPr>
          <p:cNvSpPr txBox="1">
            <a:spLocks/>
          </p:cNvSpPr>
          <p:nvPr/>
        </p:nvSpPr>
        <p:spPr bwMode="auto">
          <a:xfrm>
            <a:off x="432001" y="1080764"/>
            <a:ext cx="9469310" cy="507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None/>
              <a:defRPr sz="20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895350" indent="-43815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6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8288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2860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Anforderungen an IMs:</a:t>
            </a:r>
          </a:p>
          <a:p>
            <a:endParaRPr lang="de-DE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Effizienter Prädiktor Kollaps (und wenn möglich auch PFA)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In </a:t>
            </a:r>
            <a:r>
              <a:rPr lang="de-DE" dirty="0" err="1"/>
              <a:t>OpenQuake</a:t>
            </a:r>
            <a:r>
              <a:rPr lang="de-DE" dirty="0"/>
              <a:t> müssen GMMs verfügbar sein, um die PSHA durchführen zu können. 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09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D989-0B25-68E4-2269-9999C6AE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B90E09-6212-AE60-126C-DC4CEF76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AP1.1: Auswahl IMs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66F2CCC3-32F3-6246-84CE-933EB8ED53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2001" y="1080764"/>
                <a:ext cx="9469310" cy="5075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 fontScale="77500" lnSpcReduction="20000"/>
              </a:bodyPr>
              <a:lstStyle>
                <a:lvl1pPr marL="0" indent="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None/>
                  <a:defRPr sz="20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895350" indent="-4381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6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3pPr>
                <a:lvl4pPr marL="18288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4pPr>
                <a:lvl5pPr marL="22860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b="1" dirty="0"/>
                  <a:t>IMs für Prädiktion von Kollaps</a:t>
                </a:r>
              </a:p>
              <a:p>
                <a:endParaRPr lang="de-DE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Spektralbeschleunigung, SA(T)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Bauwerkabhängig </a:t>
                </a:r>
                <a:r>
                  <a:rPr lang="de-DE" dirty="0">
                    <a:sym typeface="Wingdings" panose="05000000000000000000" pitchFamily="2" charset="2"/>
                  </a:rPr>
                  <a:t> T1</a:t>
                </a: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Average Spektralbeschleunigung, Avg.SA([T</a:t>
                </a:r>
                <a:r>
                  <a:rPr lang="de-DE" baseline="-25000" dirty="0"/>
                  <a:t>i</a:t>
                </a:r>
                <a:r>
                  <a:rPr lang="de-DE" dirty="0"/>
                  <a:t>, </a:t>
                </a:r>
                <a:r>
                  <a:rPr lang="de-DE" dirty="0" err="1"/>
                  <a:t>T</a:t>
                </a:r>
                <a:r>
                  <a:rPr lang="de-DE" baseline="-25000" dirty="0" err="1"/>
                  <a:t>j</a:t>
                </a:r>
                <a:r>
                  <a:rPr lang="de-DE" dirty="0"/>
                  <a:t>])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Gut Prädiktor – effizienter als SA(T</a:t>
                </a:r>
                <a:r>
                  <a:rPr lang="de-DE" baseline="-25000" dirty="0"/>
                  <a:t>1</a:t>
                </a:r>
                <a:r>
                  <a:rPr lang="de-DE" dirty="0"/>
                  <a:t>)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 err="1"/>
                  <a:t>Significant</a:t>
                </a:r>
                <a:r>
                  <a:rPr lang="de-DE" dirty="0"/>
                  <a:t> Duration, D</a:t>
                </a:r>
                <a:r>
                  <a:rPr lang="de-DE" baseline="-25000" dirty="0"/>
                  <a:t>S5-95%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wichtig für Bauwerke mit zyklischer Degradation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 err="1"/>
                  <a:t>SARatio</a:t>
                </a:r>
                <a:endParaRPr lang="de-DE" dirty="0"/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𝑎𝑣𝑔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de-DE" dirty="0"/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Kein GMMs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 err="1"/>
                  <a:t>Filtered</a:t>
                </a:r>
                <a:r>
                  <a:rPr lang="de-DE" dirty="0"/>
                  <a:t> </a:t>
                </a:r>
                <a:r>
                  <a:rPr lang="de-DE" dirty="0" err="1"/>
                  <a:t>Incremental</a:t>
                </a:r>
                <a:r>
                  <a:rPr lang="de-DE" dirty="0"/>
                  <a:t> Velocity, FIV3(T1)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Möglicherweise die effizienteste Prädiktor Kollaps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Kaum GMMs, keine für Europa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 err="1"/>
                  <a:t>IMcomb</a:t>
                </a:r>
                <a:endParaRPr lang="de-DE" dirty="0"/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Sehr bauwerkabhängig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𝑐𝑜𝑚𝑏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𝑑𝑢𝑟</m:t>
                        </m:r>
                      </m:sub>
                      <m:sup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𝑑𝑢𝑟</m:t>
                            </m:r>
                          </m:sub>
                        </m:sSub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𝑠h𝑎𝑝𝑒</m:t>
                        </m:r>
                      </m:sub>
                      <m:sup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𝑠h𝑎𝑝𝑒</m:t>
                            </m:r>
                          </m:sub>
                        </m:sSub>
                      </m:sup>
                    </m:sSubSup>
                  </m:oMath>
                </a14:m>
                <a:endParaRPr lang="de-DE" dirty="0"/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endParaRPr lang="de-DE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66F2CCC3-32F3-6246-84CE-933EB8ED5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001" y="1080764"/>
                <a:ext cx="9469310" cy="5075809"/>
              </a:xfrm>
              <a:prstGeom prst="rect">
                <a:avLst/>
              </a:prstGeom>
              <a:blipFill>
                <a:blip r:embed="rId2"/>
                <a:stretch>
                  <a:fillRect l="-386" t="-13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43556CD8-4731-D3A5-A3D2-84F91E1A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048" y="1080764"/>
            <a:ext cx="3904109" cy="1855600"/>
          </a:xfrm>
          <a:prstGeom prst="rect">
            <a:avLst/>
          </a:prstGeom>
        </p:spPr>
      </p:pic>
      <p:pic>
        <p:nvPicPr>
          <p:cNvPr id="10" name="Grafik 9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1C949B42-62F6-28F3-99F0-1367E0AFC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777" y="3749334"/>
            <a:ext cx="4572009" cy="204826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05FCA09-0872-5996-6EC0-D9297548C019}"/>
              </a:ext>
            </a:extLst>
          </p:cNvPr>
          <p:cNvSpPr txBox="1"/>
          <p:nvPr/>
        </p:nvSpPr>
        <p:spPr>
          <a:xfrm>
            <a:off x="7597055" y="5856683"/>
            <a:ext cx="390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Davalos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and Miranda 2019: </a:t>
            </a:r>
            <a:r>
              <a:rPr lang="en-US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Filtered incremental velocity: A novel approach in intensity measures for seismic collapse estimation</a:t>
            </a: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94D610-230A-4B64-69DE-9AE7776C8561}"/>
              </a:ext>
            </a:extLst>
          </p:cNvPr>
          <p:cNvSpPr txBox="1"/>
          <p:nvPr/>
        </p:nvSpPr>
        <p:spPr>
          <a:xfrm>
            <a:off x="7481726" y="2936364"/>
            <a:ext cx="390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Asfahri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and Stewart 2016: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Physically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parameterised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prediction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equations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for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significant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duration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in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active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crustal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regions</a:t>
            </a:r>
            <a:endParaRPr lang="en-US" sz="9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31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Diagramm, Text, Reihe, Plan enthält.&#10;&#10;KI-generierte Inhalte können fehlerhaft sein.">
            <a:extLst>
              <a:ext uri="{FF2B5EF4-FFF2-40B4-BE49-F238E27FC236}">
                <a16:creationId xmlns:a16="http://schemas.microsoft.com/office/drawing/2014/main" id="{31FF73BA-10EE-C641-441F-8BDBA79C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181" y="1116013"/>
            <a:ext cx="4549664" cy="4790934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78A9A5D3-32FD-3E4E-BCF7-723C2667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AP1.1: Auswahl IMs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30FFE1F-7E0B-AE0B-CC70-FF77B62C46A1}"/>
              </a:ext>
            </a:extLst>
          </p:cNvPr>
          <p:cNvSpPr txBox="1">
            <a:spLocks/>
          </p:cNvSpPr>
          <p:nvPr/>
        </p:nvSpPr>
        <p:spPr bwMode="auto">
          <a:xfrm>
            <a:off x="432001" y="1080764"/>
            <a:ext cx="9469310" cy="507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None/>
              <a:defRPr sz="20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895350" indent="-43815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6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8288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2860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IMs für Prädiktion von Spitzenstockwerkbeschleunigung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Spitzenbodenbeschleunigung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Nur für kurze Gebäuden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Spektralbeschleunigung (kurze Periode)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SA(0.2T1)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Average Spektralbeschleunigung, Avg.SA([T</a:t>
            </a:r>
            <a:r>
              <a:rPr lang="de-DE" baseline="-25000" dirty="0"/>
              <a:t>i</a:t>
            </a:r>
            <a:r>
              <a:rPr lang="de-DE" dirty="0"/>
              <a:t>, </a:t>
            </a:r>
            <a:r>
              <a:rPr lang="de-DE" dirty="0" err="1"/>
              <a:t>T</a:t>
            </a:r>
            <a:r>
              <a:rPr lang="de-DE" baseline="-25000" dirty="0" err="1"/>
              <a:t>j</a:t>
            </a:r>
            <a:r>
              <a:rPr lang="de-DE" dirty="0"/>
              <a:t>])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Viel besser als SA(T1) und fast so gut wie SA(0.2T1)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869BB8C-D436-2769-D95F-0EE7163E6F64}"/>
              </a:ext>
            </a:extLst>
          </p:cNvPr>
          <p:cNvSpPr txBox="1"/>
          <p:nvPr/>
        </p:nvSpPr>
        <p:spPr>
          <a:xfrm>
            <a:off x="7546815" y="5911161"/>
            <a:ext cx="390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Kohrangi</a:t>
            </a:r>
            <a:r>
              <a:rPr lang="de-DE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et al. 2017: </a:t>
            </a:r>
            <a:r>
              <a:rPr lang="en-US" sz="9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Conditional spectrum-based ground motion record selection using average spectral acceleration</a:t>
            </a:r>
            <a:endParaRPr lang="de-DE" sz="900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34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477E-2B2E-66DC-A35A-9B20175D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59579D1-497B-1149-7CDB-1D18BD0B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AP1.1: Auswahl IMs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31FB5D97-3A09-E577-9C17-AF7133E259A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2001" y="1080764"/>
                <a:ext cx="8245174" cy="5075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/>
              </a:bodyPr>
              <a:lstStyle>
                <a:lvl1pPr marL="0" indent="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None/>
                  <a:defRPr sz="20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895350" indent="-4381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6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3pPr>
                <a:lvl4pPr marL="18288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4pPr>
                <a:lvl5pPr marL="22860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b="1" dirty="0"/>
              </a:p>
              <a:p>
                <a:r>
                  <a:rPr lang="de-DE" b="1" dirty="0"/>
                  <a:t>Hauptprädiktor IM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Average Spektralbeschleunigung, Avg.SA([T</a:t>
                </a:r>
                <a:r>
                  <a:rPr lang="de-DE" baseline="-25000" dirty="0"/>
                  <a:t>i</a:t>
                </a:r>
                <a:r>
                  <a:rPr lang="de-DE" dirty="0"/>
                  <a:t>, </a:t>
                </a:r>
                <a:r>
                  <a:rPr lang="de-DE" dirty="0" err="1"/>
                  <a:t>T</a:t>
                </a:r>
                <a:r>
                  <a:rPr lang="de-DE" baseline="-25000" dirty="0" err="1"/>
                  <a:t>j</a:t>
                </a:r>
                <a:r>
                  <a:rPr lang="de-DE" dirty="0"/>
                  <a:t>])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Ein effizienter Prädiktor, der nur leicht abhängig von dem Bauwerk ist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Gut für Kollapse und PFA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Normalerweise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 dirty="0" smtClean="0">
                        <a:latin typeface="Cambria Math" panose="02040503050406030204" pitchFamily="18" charset="0"/>
                      </a:rPr>
                      <m:t> = 0.2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i="1" dirty="0" smtClean="0">
                        <a:latin typeface="Cambria Math" panose="02040503050406030204" pitchFamily="18" charset="0"/>
                      </a:rPr>
                      <m:t> = 3.0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aber laut Eads(2013) 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effizienter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/>
                  <a:t>Unterschiedliche Werte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de-DE" dirty="0"/>
                  <a:t> für kurze Perioden und mittlere Perioden</a:t>
                </a:r>
              </a:p>
              <a:p>
                <a:pPr marL="1714500" lvl="2" indent="-342900">
                  <a:buFont typeface="Arial" panose="020B0604020202020204" pitchFamily="34" charset="0"/>
                  <a:buChar char="•"/>
                </a:pPr>
                <a:r>
                  <a:rPr lang="de-DE" b="1" dirty="0"/>
                  <a:t>SA[0, 0.33, 0.66, 0.99, 1.33, 1.67, 2.0, 2.33, 2.66, 3.00]</a:t>
                </a:r>
                <a:r>
                  <a:rPr lang="de-DE" dirty="0"/>
                  <a:t> </a:t>
                </a:r>
                <a:r>
                  <a:rPr lang="de-DE" dirty="0">
                    <a:sym typeface="Wingdings" panose="05000000000000000000" pitchFamily="2" charset="2"/>
                  </a:rPr>
                  <a:t>  T1 bis zu 1s</a:t>
                </a:r>
                <a:endParaRPr lang="de-DE" dirty="0"/>
              </a:p>
              <a:p>
                <a:pPr marL="1714500" lvl="2" indent="-342900">
                  <a:buFont typeface="Arial" panose="020B0604020202020204" pitchFamily="34" charset="0"/>
                  <a:buChar char="•"/>
                </a:pPr>
                <a:r>
                  <a:rPr lang="de-DE" b="1" dirty="0"/>
                  <a:t>SA[0, 0.66, 1.33, 2.00, 2.67, 3.34, 4.00, 4.67, 5.33, 6.00]  </a:t>
                </a:r>
                <a:r>
                  <a:rPr lang="de-DE" dirty="0">
                    <a:sym typeface="Wingdings" panose="05000000000000000000" pitchFamily="2" charset="2"/>
                  </a:rPr>
                  <a:t> T1 bis zu 2s</a:t>
                </a:r>
              </a:p>
              <a:p>
                <a:pPr marL="1714500" lvl="2" indent="-342900">
                  <a:buFont typeface="Arial" panose="020B0604020202020204" pitchFamily="34" charset="0"/>
                  <a:buChar char="•"/>
                </a:pPr>
                <a:endParaRPr lang="de-DE" dirty="0">
                  <a:sym typeface="Wingdings" panose="05000000000000000000" pitchFamily="2" charset="2"/>
                </a:endParaRPr>
              </a:p>
              <a:p>
                <a:r>
                  <a:rPr lang="de-DE" b="1" dirty="0">
                    <a:sym typeface="Wingdings" panose="05000000000000000000" pitchFamily="2" charset="2"/>
                  </a:rPr>
                  <a:t>Andere IMs für GM-Auswahl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 err="1">
                    <a:sym typeface="Wingdings" panose="05000000000000000000" pitchFamily="2" charset="2"/>
                  </a:rPr>
                  <a:t>Significant</a:t>
                </a:r>
                <a:r>
                  <a:rPr lang="de-DE" dirty="0">
                    <a:sym typeface="Wingdings" panose="05000000000000000000" pitchFamily="2" charset="2"/>
                  </a:rPr>
                  <a:t> Duration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dirty="0">
                    <a:sym typeface="Wingdings" panose="05000000000000000000" pitchFamily="2" charset="2"/>
                  </a:rPr>
                  <a:t>Spektralbeschleunigung</a:t>
                </a:r>
              </a:p>
              <a:p>
                <a:pPr marL="1238250" lvl="1" indent="-342900">
                  <a:buFont typeface="Arial" panose="020B0604020202020204" pitchFamily="34" charset="0"/>
                  <a:buChar char="•"/>
                </a:pPr>
                <a:r>
                  <a:rPr lang="de-DE" dirty="0">
                    <a:sym typeface="Wingdings" panose="05000000000000000000" pitchFamily="2" charset="2"/>
                  </a:rPr>
                  <a:t>30 Perioden zw. 0.01s und 10s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31FB5D97-3A09-E577-9C17-AF7133E25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001" y="1080764"/>
                <a:ext cx="8245174" cy="5075809"/>
              </a:xfrm>
              <a:prstGeom prst="rect">
                <a:avLst/>
              </a:prstGeom>
              <a:blipFill>
                <a:blip r:embed="rId2"/>
                <a:stretch>
                  <a:fillRect l="-8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39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4886E95-ADDE-5FD7-15E1-81A4250E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AP1.2: Standorte Auswählen</a:t>
            </a:r>
          </a:p>
        </p:txBody>
      </p:sp>
      <p:pic>
        <p:nvPicPr>
          <p:cNvPr id="10" name="Grafik 9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03AC638D-EFC8-0C9B-D48B-63B1FC2E5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79" y="1404045"/>
            <a:ext cx="5532131" cy="4233680"/>
          </a:xfrm>
          <a:prstGeom prst="rect">
            <a:avLst/>
          </a:prstGeom>
        </p:spPr>
      </p:pic>
      <p:pic>
        <p:nvPicPr>
          <p:cNvPr id="12" name="Grafik 11" descr="Ein Bild, das Text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B34F1D44-A546-B8BD-309D-CDD73A85A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889" y="1372040"/>
            <a:ext cx="5239522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5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CA2F-D754-5A9D-182D-46D363B6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01E7E82-0AAA-80E5-86CE-2771DD3A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AP1.2: Standorte Auswählen</a:t>
            </a:r>
          </a:p>
        </p:txBody>
      </p:sp>
      <p:pic>
        <p:nvPicPr>
          <p:cNvPr id="3" name="Grafik 2" descr="Ein Bild, das Text, Kart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1533EF6-D943-8E42-60A3-53343286E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325495"/>
            <a:ext cx="5239522" cy="4297689"/>
          </a:xfrm>
          <a:prstGeom prst="rect">
            <a:avLst/>
          </a:prstGeom>
        </p:spPr>
      </p:pic>
      <p:pic>
        <p:nvPicPr>
          <p:cNvPr id="6" name="Grafik 5" descr="Ein Bild, das Text, Kart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AF1C810-B23A-701C-73CB-370293977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887" y="1342712"/>
            <a:ext cx="5239522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4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827C90C-DFDD-3649-6BAF-D6AB9869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AP1.2: Standorte Auswählen</a:t>
            </a:r>
          </a:p>
        </p:txBody>
      </p:sp>
      <p:pic>
        <p:nvPicPr>
          <p:cNvPr id="6" name="Grafik 5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168158A5-9633-7844-E752-AC3DAA604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84" y="860591"/>
            <a:ext cx="6595542" cy="520118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1FE7B0B-C292-8226-787B-F135132AD576}"/>
              </a:ext>
            </a:extLst>
          </p:cNvPr>
          <p:cNvSpPr txBox="1"/>
          <p:nvPr/>
        </p:nvSpPr>
        <p:spPr>
          <a:xfrm>
            <a:off x="756295" y="2397056"/>
            <a:ext cx="43204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AvgSA(0s,3s) berechnet von ESHM20 Gefährdungskarten von EFEHR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MAFE 0.04%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RTP 2475 Jahre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Näher zur Versagenskapazität als RTP 475 Jahre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2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E569-94C7-5D0B-46FE-CC7EB0D3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Kart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BAFB7C85-9FA6-70FE-C0BC-08A505FD1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71" y="2102341"/>
            <a:ext cx="5760731" cy="4270256"/>
          </a:xfrm>
          <a:prstGeom prst="rect">
            <a:avLst/>
          </a:prstGeom>
        </p:spPr>
      </p:pic>
      <p:pic>
        <p:nvPicPr>
          <p:cNvPr id="7" name="Grafik 6" descr="Ein Bild, das Text, Karte, Atlas, Screenshot enthält.&#10;&#10;KI-generierte Inhalte können fehlerhaft sein.">
            <a:extLst>
              <a:ext uri="{FF2B5EF4-FFF2-40B4-BE49-F238E27FC236}">
                <a16:creationId xmlns:a16="http://schemas.microsoft.com/office/drawing/2014/main" id="{03D4B74D-A421-1BB6-D512-3AB35934C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733" y="2341683"/>
            <a:ext cx="5328592" cy="3806137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BEA6E7C8-3FED-F02F-6E7C-0144C527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AP1.2: Standorte Auswählen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E37FFA3-535D-EDD3-0F1E-418AF8032B1F}"/>
              </a:ext>
            </a:extLst>
          </p:cNvPr>
          <p:cNvSpPr txBox="1">
            <a:spLocks/>
          </p:cNvSpPr>
          <p:nvPr/>
        </p:nvSpPr>
        <p:spPr bwMode="auto">
          <a:xfrm>
            <a:off x="432001" y="1080764"/>
            <a:ext cx="5652886" cy="89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None/>
              <a:defRPr sz="20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895350" indent="-43815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6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8288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2860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60 Standorte 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30 pro </a:t>
            </a:r>
            <a:r>
              <a:rPr lang="de-DE" dirty="0" err="1">
                <a:sym typeface="Wingdings" panose="05000000000000000000" pitchFamily="2" charset="2"/>
              </a:rPr>
              <a:t>Seismizitätsstufe</a:t>
            </a:r>
            <a:endParaRPr lang="de-DE" dirty="0">
              <a:sym typeface="Wingdings" panose="05000000000000000000" pitchFamily="2" charset="2"/>
            </a:endParaRP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5 pro Dämpfungsregion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60B5A1C-A27A-A8AD-F8EB-101834A4F97A}"/>
              </a:ext>
            </a:extLst>
          </p:cNvPr>
          <p:cNvSpPr txBox="1">
            <a:spLocks/>
          </p:cNvSpPr>
          <p:nvPr/>
        </p:nvSpPr>
        <p:spPr bwMode="auto">
          <a:xfrm>
            <a:off x="6415733" y="1083000"/>
            <a:ext cx="5652886" cy="89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None/>
              <a:defRPr sz="20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895350" indent="-43815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6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8288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286000" indent="-457200" algn="l" rtl="0" eaLnBrk="1" fontAlgn="base" hangingPunct="1">
              <a:spcBef>
                <a:spcPct val="20000"/>
              </a:spcBef>
              <a:spcAft>
                <a:spcPct val="0"/>
              </a:spcAft>
              <a:buFont typeface="Futura LT Pro Book" pitchFamily="34" charset="0"/>
              <a:buAutoNum type="arabicPeriod"/>
              <a:defRPr sz="1400" kern="1200">
                <a:solidFill>
                  <a:srgbClr val="333333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Gut verteilt mit Bezug auf den tektonischen Regionen</a:t>
            </a:r>
          </a:p>
        </p:txBody>
      </p:sp>
    </p:spTree>
    <p:extLst>
      <p:ext uri="{BB962C8B-B14F-4D97-AF65-F5344CB8AC3E}">
        <p14:creationId xmlns:p14="http://schemas.microsoft.com/office/powerpoint/2010/main" val="76444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B902-5246-7FE7-7E01-DD517B79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FD7B19A-5F33-D44E-D50C-2E4A9872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AP1.2: Standorte Auswählen</a:t>
            </a:r>
          </a:p>
        </p:txBody>
      </p:sp>
      <p:pic>
        <p:nvPicPr>
          <p:cNvPr id="3" name="Grafik 2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9CF6578D-2DEE-121E-BB62-530C9FB45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454" y="864988"/>
            <a:ext cx="7044865" cy="540479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EBA052D-1653-D810-8B46-8F2387A3F428}"/>
              </a:ext>
            </a:extLst>
          </p:cNvPr>
          <p:cNvSpPr txBox="1"/>
          <p:nvPr/>
        </p:nvSpPr>
        <p:spPr>
          <a:xfrm>
            <a:off x="3636615" y="359116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Ausgewählte Standorte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1178C39-7CF1-8B2D-0B25-F2E39F6382B0}"/>
              </a:ext>
            </a:extLst>
          </p:cNvPr>
          <p:cNvSpPr txBox="1"/>
          <p:nvPr/>
        </p:nvSpPr>
        <p:spPr>
          <a:xfrm>
            <a:off x="5675697" y="2880042"/>
            <a:ext cx="18917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Mittelwert ausgewählter Standorte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C5AEC63-5BCA-1232-8699-1E74590428BC}"/>
              </a:ext>
            </a:extLst>
          </p:cNvPr>
          <p:cNvCxnSpPr>
            <a:cxnSpLocks/>
          </p:cNvCxnSpPr>
          <p:nvPr/>
        </p:nvCxnSpPr>
        <p:spPr>
          <a:xfrm>
            <a:off x="4644727" y="3996333"/>
            <a:ext cx="360040" cy="1080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45A6EE4-1233-FE57-5D3D-F6F205673809}"/>
              </a:ext>
            </a:extLst>
          </p:cNvPr>
          <p:cNvCxnSpPr>
            <a:cxnSpLocks/>
          </p:cNvCxnSpPr>
          <p:nvPr/>
        </p:nvCxnSpPr>
        <p:spPr>
          <a:xfrm flipH="1">
            <a:off x="5832859" y="3591164"/>
            <a:ext cx="396044" cy="15030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7D33353-2753-90EF-23AD-FF8735938D3E}"/>
              </a:ext>
            </a:extLst>
          </p:cNvPr>
          <p:cNvSpPr txBox="1"/>
          <p:nvPr/>
        </p:nvSpPr>
        <p:spPr>
          <a:xfrm>
            <a:off x="3384586" y="1092319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Verteilung der AvgSA innerhalb der Regionen</a:t>
            </a:r>
          </a:p>
        </p:txBody>
      </p:sp>
    </p:spTree>
    <p:extLst>
      <p:ext uri="{BB962C8B-B14F-4D97-AF65-F5344CB8AC3E}">
        <p14:creationId xmlns:p14="http://schemas.microsoft.com/office/powerpoint/2010/main" val="3365877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DC28-AC52-C43D-04DA-FBD428AD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24B5FEF-01D0-287A-E2B0-13A849E3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AP1.1 Zeitplan</a:t>
            </a:r>
          </a:p>
        </p:txBody>
      </p:sp>
      <p:pic>
        <p:nvPicPr>
          <p:cNvPr id="5" name="Grafik 4" descr="Ein Bild, das Text, Zahl, Software, Reihe enthält.&#10;&#10;KI-generierte Inhalte können fehlerhaft sein.">
            <a:extLst>
              <a:ext uri="{FF2B5EF4-FFF2-40B4-BE49-F238E27FC236}">
                <a16:creationId xmlns:a16="http://schemas.microsoft.com/office/drawing/2014/main" id="{7F5BC88C-FB92-3997-5283-E9E38259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96" y="1105339"/>
            <a:ext cx="11136279" cy="4610743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C44F9260-25A7-A719-7508-ECF530698FA5}"/>
              </a:ext>
            </a:extLst>
          </p:cNvPr>
          <p:cNvSpPr/>
          <p:nvPr/>
        </p:nvSpPr>
        <p:spPr>
          <a:xfrm>
            <a:off x="2149576" y="4120253"/>
            <a:ext cx="576064" cy="216024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DFD79E-EF93-DFFD-75B8-F7EB5F504322}"/>
              </a:ext>
            </a:extLst>
          </p:cNvPr>
          <p:cNvSpPr txBox="1"/>
          <p:nvPr/>
        </p:nvSpPr>
        <p:spPr>
          <a:xfrm>
            <a:off x="1717528" y="404359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1.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1C58492B-2C23-1120-2563-1C25B5A86F8F}"/>
              </a:ext>
            </a:extLst>
          </p:cNvPr>
          <p:cNvSpPr/>
          <p:nvPr/>
        </p:nvSpPr>
        <p:spPr>
          <a:xfrm>
            <a:off x="2149576" y="4437258"/>
            <a:ext cx="576064" cy="21602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rgbClr val="FFC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B624F0E-57CD-F2C9-1DED-A9EBC9F608A3}"/>
              </a:ext>
            </a:extLst>
          </p:cNvPr>
          <p:cNvSpPr txBox="1"/>
          <p:nvPr/>
        </p:nvSpPr>
        <p:spPr>
          <a:xfrm>
            <a:off x="1717528" y="43606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  <a:latin typeface="Futura LT Pro Light" panose="020B0402020204020303" pitchFamily="34" charset="0"/>
                <a:cs typeface="+mn-cs"/>
              </a:rPr>
              <a:t>2.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DAA1E8C1-D45F-E700-3C6B-104DE0E8BC24}"/>
              </a:ext>
            </a:extLst>
          </p:cNvPr>
          <p:cNvSpPr/>
          <p:nvPr/>
        </p:nvSpPr>
        <p:spPr>
          <a:xfrm>
            <a:off x="2149576" y="4930238"/>
            <a:ext cx="576064" cy="216024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0608073-623D-851D-14A1-265AA29F7A6B}"/>
              </a:ext>
            </a:extLst>
          </p:cNvPr>
          <p:cNvSpPr txBox="1"/>
          <p:nvPr/>
        </p:nvSpPr>
        <p:spPr>
          <a:xfrm>
            <a:off x="1717528" y="48535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92D050"/>
                </a:solidFill>
                <a:latin typeface="Futura LT Pro Light" panose="020B0402020204020303" pitchFamily="34" charset="0"/>
                <a:cs typeface="+mn-cs"/>
              </a:rPr>
              <a:t>3.</a:t>
            </a:r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EB9EDE18-8F73-E2D9-10EF-26460C6DAADC}"/>
              </a:ext>
            </a:extLst>
          </p:cNvPr>
          <p:cNvSpPr/>
          <p:nvPr/>
        </p:nvSpPr>
        <p:spPr>
          <a:xfrm>
            <a:off x="2149576" y="3794882"/>
            <a:ext cx="576064" cy="216024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501198-C0AB-6129-D385-4F5CE368D445}"/>
              </a:ext>
            </a:extLst>
          </p:cNvPr>
          <p:cNvSpPr txBox="1"/>
          <p:nvPr/>
        </p:nvSpPr>
        <p:spPr>
          <a:xfrm>
            <a:off x="1717528" y="371822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92D050"/>
                </a:solidFill>
                <a:latin typeface="Futura LT Pro Light" panose="020B0402020204020303" pitchFamily="34" charset="0"/>
                <a:cs typeface="+mn-cs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364028589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142BBD614E004F9123C843775B9053" ma:contentTypeVersion="18" ma:contentTypeDescription="Ein neues Dokument erstellen." ma:contentTypeScope="" ma:versionID="9eba075c07c7b8e10710dbd5a9b10a17">
  <xsd:schema xmlns:xsd="http://www.w3.org/2001/XMLSchema" xmlns:xs="http://www.w3.org/2001/XMLSchema" xmlns:p="http://schemas.microsoft.com/office/2006/metadata/properties" xmlns:ns3="b8438a74-1baf-41ed-a764-db03f5cc8e77" xmlns:ns4="7f27ad31-1248-408e-b004-32fcbe738eec" targetNamespace="http://schemas.microsoft.com/office/2006/metadata/properties" ma:root="true" ma:fieldsID="834b5a3e6853755301f6034dd0745b55" ns3:_="" ns4:_="">
    <xsd:import namespace="b8438a74-1baf-41ed-a764-db03f5cc8e77"/>
    <xsd:import namespace="7f27ad31-1248-408e-b004-32fcbe738ee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38a74-1baf-41ed-a764-db03f5cc8e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7ad31-1248-408e-b004-32fcbe738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7ad31-1248-408e-b004-32fcbe738eec" xsi:nil="true"/>
  </documentManagement>
</p:properties>
</file>

<file path=customXml/itemProps1.xml><?xml version="1.0" encoding="utf-8"?>
<ds:datastoreItem xmlns:ds="http://schemas.openxmlformats.org/officeDocument/2006/customXml" ds:itemID="{F72F2107-4D11-4E68-9AE7-DE82C7C5E3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BEDDF7-0120-4A39-8B12-FCBC9CB59C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38a74-1baf-41ed-a764-db03f5cc8e77"/>
    <ds:schemaRef ds:uri="7f27ad31-1248-408e-b004-32fcbe738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B87DA4-4E89-46EC-8CB1-8FFB00DB3D5B}">
  <ds:schemaRefs>
    <ds:schemaRef ds:uri="http://schemas.microsoft.com/office/2006/documentManagement/types"/>
    <ds:schemaRef ds:uri="http://purl.org/dc/dcmitype/"/>
    <ds:schemaRef ds:uri="http://www.w3.org/XML/1998/namespace"/>
    <ds:schemaRef ds:uri="b8438a74-1baf-41ed-a764-db03f5cc8e77"/>
    <ds:schemaRef ds:uri="http://purl.org/dc/elements/1.1/"/>
    <ds:schemaRef ds:uri="7f27ad31-1248-408e-b004-32fcbe738ee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474</Words>
  <Application>Microsoft Office PowerPoint</Application>
  <PresentationFormat>Benutzerdefiniert</PresentationFormat>
  <Paragraphs>87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Wingdings</vt:lpstr>
      <vt:lpstr>Wölfel-Master16x9_de_rev01</vt:lpstr>
      <vt:lpstr>1_Wölfel-Master16x9_de_rev01</vt:lpstr>
      <vt:lpstr>Promotion Update – 01.12.2025 Zeitverläufe</vt:lpstr>
      <vt:lpstr>Von letzten Mal:</vt:lpstr>
      <vt:lpstr>AP1: Selection of an EU Record Set for Reliability-based design</vt:lpstr>
      <vt:lpstr>AP1.1: Auswahl IMs</vt:lpstr>
      <vt:lpstr>AP1.1: Auswahl IMs</vt:lpstr>
      <vt:lpstr>AP1.1: Auswahl IMs</vt:lpstr>
      <vt:lpstr>AP1.1: Auswahl IMs</vt:lpstr>
      <vt:lpstr>AP1.2: Standorte Auswählen</vt:lpstr>
      <vt:lpstr>AP1.2: Standorte Auswählen</vt:lpstr>
      <vt:lpstr>AP1.2: Standorte Auswählen</vt:lpstr>
      <vt:lpstr>AP1.2: Standorte Auswählen</vt:lpstr>
      <vt:lpstr>AP1.2: Standorte Auswählen</vt:lpstr>
      <vt:lpstr>AP1.1 Zeitplan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27</cp:revision>
  <cp:lastPrinted>2017-04-05T11:06:27Z</cp:lastPrinted>
  <dcterms:created xsi:type="dcterms:W3CDTF">2024-12-05T10:31:18Z</dcterms:created>
  <dcterms:modified xsi:type="dcterms:W3CDTF">2025-12-01T08:02:13Z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  <property fmtid="{D5CDD505-2E9C-101B-9397-08002B2CF9AE}" pid="9" name="ContentTypeId">
    <vt:lpwstr>0x01010026142BBD614E004F9123C843775B9053</vt:lpwstr>
  </property>
</Properties>
</file>