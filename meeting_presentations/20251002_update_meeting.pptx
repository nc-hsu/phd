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731" r:id="rId2"/>
  </p:sldMasterIdLst>
  <p:notesMasterIdLst>
    <p:notesMasterId r:id="rId17"/>
  </p:notesMasterIdLst>
  <p:handoutMasterIdLst>
    <p:handoutMasterId r:id="rId18"/>
  </p:handoutMasterIdLst>
  <p:sldIdLst>
    <p:sldId id="333" r:id="rId3"/>
    <p:sldId id="355" r:id="rId4"/>
    <p:sldId id="340" r:id="rId5"/>
    <p:sldId id="337" r:id="rId6"/>
    <p:sldId id="349" r:id="rId7"/>
    <p:sldId id="350" r:id="rId8"/>
    <p:sldId id="351" r:id="rId9"/>
    <p:sldId id="352" r:id="rId10"/>
    <p:sldId id="354" r:id="rId11"/>
    <p:sldId id="343" r:id="rId12"/>
    <p:sldId id="346" r:id="rId13"/>
    <p:sldId id="353" r:id="rId14"/>
    <p:sldId id="344" r:id="rId15"/>
    <p:sldId id="345" r:id="rId16"/>
  </p:sldIdLst>
  <p:sldSz cx="12169775" cy="6840538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55" userDrawn="1">
          <p15:clr>
            <a:srgbClr val="A4A3A4"/>
          </p15:clr>
        </p15:guide>
        <p15:guide id="2" pos="383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50034"/>
    <a:srgbClr val="969696"/>
    <a:srgbClr val="92D050"/>
    <a:srgbClr val="00B0F0"/>
    <a:srgbClr val="FFC000"/>
    <a:srgbClr val="7030A0"/>
    <a:srgbClr val="000000"/>
    <a:srgbClr val="CC0000"/>
    <a:srgbClr val="E4E4E4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6247" autoAdjust="0"/>
  </p:normalViewPr>
  <p:slideViewPr>
    <p:cSldViewPr snapToObjects="1">
      <p:cViewPr varScale="1">
        <p:scale>
          <a:sx n="95" d="100"/>
          <a:sy n="95" d="100"/>
        </p:scale>
        <p:origin x="1038" y="306"/>
      </p:cViewPr>
      <p:guideLst>
        <p:guide orient="horz" pos="2155"/>
        <p:guide pos="38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Objects="1">
      <p:cViewPr varScale="1">
        <p:scale>
          <a:sx n="78" d="100"/>
          <a:sy n="78" d="100"/>
        </p:scale>
        <p:origin x="406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30A3966-C9DD-4B3B-880C-4FE8DCE50841}" type="datetimeFigureOut">
              <a:rPr lang="de-DE"/>
              <a:pPr>
                <a:defRPr/>
              </a:pPr>
              <a:t>02.10.2025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4AF7639-78D4-40B5-9FD0-31ADF45C8B0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43156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1AB5578-CC26-43A4-89CD-E9A8B892F524}" type="datetimeFigureOut">
              <a:rPr lang="de-DE"/>
              <a:pPr>
                <a:defRPr/>
              </a:pPr>
              <a:t>02.10.2025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B972F9A-03C1-4F6D-967E-9CCBC4F2825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87061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Wölfel-Grup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hl\Desktop\Powerpoint-Vorlagen\Power-Point-Bilder\Schwingung-klei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" y="0"/>
            <a:ext cx="12172950" cy="683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hteck 6"/>
          <p:cNvSpPr>
            <a:spLocks/>
          </p:cNvSpPr>
          <p:nvPr/>
        </p:nvSpPr>
        <p:spPr>
          <a:xfrm>
            <a:off x="0" y="3959225"/>
            <a:ext cx="12169775" cy="1441450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5600" tIns="202800" rIns="405600" bIns="202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" y="4068501"/>
            <a:ext cx="9829302" cy="1223976"/>
          </a:xfrm>
          <a:prstGeom prst="rect">
            <a:avLst/>
          </a:prstGeom>
        </p:spPr>
        <p:txBody>
          <a:bodyPr lIns="432000" bIns="36000">
            <a:normAutofit/>
          </a:bodyPr>
          <a:lstStyle>
            <a:lvl1pPr algn="l">
              <a:defRPr sz="3500" b="0">
                <a:ln>
                  <a:noFill/>
                </a:ln>
                <a:solidFill>
                  <a:srgbClr val="333333"/>
                </a:solidFill>
                <a:latin typeface="Futura LT Pro Book" panose="020B05020202040203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68606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 Individu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>
          <a:xfrm>
            <a:off x="19491" y="35893"/>
            <a:ext cx="12169775" cy="684053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pic>
        <p:nvPicPr>
          <p:cNvPr id="7" name="Bildplatzhalter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3" b="7843"/>
          <a:stretch>
            <a:fillRect/>
          </a:stretch>
        </p:blipFill>
        <p:spPr bwMode="auto">
          <a:xfrm>
            <a:off x="2" y="0"/>
            <a:ext cx="12208755" cy="685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hteck 6"/>
          <p:cNvSpPr>
            <a:spLocks/>
          </p:cNvSpPr>
          <p:nvPr/>
        </p:nvSpPr>
        <p:spPr>
          <a:xfrm>
            <a:off x="-19491" y="3852317"/>
            <a:ext cx="12247741" cy="1800200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5600" tIns="202800" rIns="405600" bIns="202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-19491" y="3924546"/>
            <a:ext cx="9829302" cy="1045380"/>
          </a:xfrm>
          <a:prstGeom prst="rect">
            <a:avLst/>
          </a:prstGeom>
        </p:spPr>
        <p:txBody>
          <a:bodyPr lIns="432000" bIns="36000">
            <a:normAutofit/>
          </a:bodyPr>
          <a:lstStyle>
            <a:lvl1pPr algn="l">
              <a:defRPr sz="3600" b="0">
                <a:ln>
                  <a:noFill/>
                </a:ln>
                <a:solidFill>
                  <a:srgbClr val="333333"/>
                </a:solidFill>
                <a:latin typeface="Futura LT Pro Book" panose="020B0502020204020303" pitchFamily="34" charset="0"/>
              </a:defRPr>
            </a:lvl1pPr>
          </a:lstStyle>
          <a:p>
            <a:r>
              <a:rPr lang="de-DE" dirty="0"/>
              <a:t>Titel der Arbeit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46E2C84-B091-DCF8-F36E-95EB21974D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814" y="4243097"/>
            <a:ext cx="1566939" cy="1125547"/>
          </a:xfrm>
          <a:prstGeom prst="rect">
            <a:avLst/>
          </a:prstGeom>
        </p:spPr>
      </p:pic>
      <p:sp>
        <p:nvSpPr>
          <p:cNvPr id="27" name="Textplatzhalter 32">
            <a:extLst>
              <a:ext uri="{FF2B5EF4-FFF2-40B4-BE49-F238E27FC236}">
                <a16:creationId xmlns:a16="http://schemas.microsoft.com/office/drawing/2014/main" id="{66AA9F20-053C-03EB-E0DB-D8611C3EE1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1884" y="5111991"/>
            <a:ext cx="9829304" cy="513305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    Autoren und weitere Info</a:t>
            </a:r>
          </a:p>
        </p:txBody>
      </p:sp>
    </p:spTree>
    <p:extLst>
      <p:ext uri="{BB962C8B-B14F-4D97-AF65-F5344CB8AC3E}">
        <p14:creationId xmlns:p14="http://schemas.microsoft.com/office/powerpoint/2010/main" val="999813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005"/>
            <a:ext cx="11312077" cy="4896544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21CDEB0A-749B-129D-B9A1-E2F47A4FB68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971722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+ Beschreibung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488"/>
            <a:ext cx="11312077" cy="6480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feld 3"/>
          <p:cNvSpPr txBox="1">
            <a:spLocks noChangeArrowheads="1"/>
          </p:cNvSpPr>
          <p:nvPr/>
        </p:nvSpPr>
        <p:spPr bwMode="auto">
          <a:xfrm>
            <a:off x="431800" y="1925638"/>
            <a:ext cx="1131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de-DE" altLang="de-DE">
              <a:latin typeface="Futura Lt BT" pitchFamily="34" charset="0"/>
            </a:endParaRPr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2"/>
          </p:nvPr>
        </p:nvSpPr>
        <p:spPr>
          <a:xfrm>
            <a:off x="432000" y="2150688"/>
            <a:ext cx="11312078" cy="3969125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Futura LT Pro Book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Futura LT Pro Book" pitchFamily="34" charset="0"/>
              <a:buNone/>
              <a:tabLst/>
              <a:defRPr/>
            </a:pPr>
            <a:r>
              <a:rPr lang="de-DE"/>
              <a:t>Mastertextformat bearbeiten</a:t>
            </a:r>
          </a:p>
        </p:txBody>
      </p:sp>
      <p:sp>
        <p:nvSpPr>
          <p:cNvPr id="29" name="Textplatzhalter 28"/>
          <p:cNvSpPr>
            <a:spLocks noGrp="1"/>
          </p:cNvSpPr>
          <p:nvPr>
            <p:ph type="body" sz="quarter" idx="13"/>
          </p:nvPr>
        </p:nvSpPr>
        <p:spPr>
          <a:xfrm>
            <a:off x="432000" y="1790648"/>
            <a:ext cx="11312077" cy="360040"/>
          </a:xfr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F260251-00DE-C81E-CCE9-36C086CCE3A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2515080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Beschreibung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488"/>
            <a:ext cx="11312077" cy="6480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feld 3"/>
          <p:cNvSpPr txBox="1">
            <a:spLocks noChangeArrowheads="1"/>
          </p:cNvSpPr>
          <p:nvPr/>
        </p:nvSpPr>
        <p:spPr bwMode="auto">
          <a:xfrm>
            <a:off x="431800" y="1925638"/>
            <a:ext cx="1131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de-DE" altLang="de-DE">
              <a:latin typeface="Futura Lt BT" pitchFamily="34" charset="0"/>
            </a:endParaRPr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2"/>
          </p:nvPr>
        </p:nvSpPr>
        <p:spPr>
          <a:xfrm>
            <a:off x="432000" y="2150688"/>
            <a:ext cx="11312078" cy="39691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9" name="Textplatzhalter 28"/>
          <p:cNvSpPr>
            <a:spLocks noGrp="1"/>
          </p:cNvSpPr>
          <p:nvPr>
            <p:ph type="body" sz="quarter" idx="13"/>
          </p:nvPr>
        </p:nvSpPr>
        <p:spPr>
          <a:xfrm>
            <a:off x="432000" y="1790648"/>
            <a:ext cx="11312077" cy="360040"/>
          </a:xfr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7DAC636-4291-90D7-A2D4-CCD1B992923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4211425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2"/>
          <p:cNvSpPr>
            <a:spLocks noGrp="1"/>
          </p:cNvSpPr>
          <p:nvPr>
            <p:ph idx="1"/>
          </p:nvPr>
        </p:nvSpPr>
        <p:spPr>
          <a:xfrm>
            <a:off x="432001" y="104400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>
          <a:xfrm>
            <a:off x="6320661" y="1044086"/>
            <a:ext cx="5400675" cy="507526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701CA59-EC79-449D-605E-CE88F43A804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4082258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2"/>
          <p:cNvSpPr>
            <a:spLocks noGrp="1"/>
          </p:cNvSpPr>
          <p:nvPr>
            <p:ph idx="13"/>
          </p:nvPr>
        </p:nvSpPr>
        <p:spPr>
          <a:xfrm>
            <a:off x="6320661" y="104354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idx="1"/>
          </p:nvPr>
        </p:nvSpPr>
        <p:spPr>
          <a:xfrm>
            <a:off x="432001" y="104400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25164F5-704F-A74E-DCD1-8CCCED8DA14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2331941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2"/>
          <p:cNvSpPr>
            <a:spLocks noGrp="1"/>
          </p:cNvSpPr>
          <p:nvPr>
            <p:ph type="pic" sz="quarter" idx="16"/>
          </p:nvPr>
        </p:nvSpPr>
        <p:spPr>
          <a:xfrm>
            <a:off x="8314903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8" name="Bildplatzhalter 2"/>
          <p:cNvSpPr>
            <a:spLocks noGrp="1"/>
          </p:cNvSpPr>
          <p:nvPr>
            <p:ph type="pic" sz="quarter" idx="17"/>
          </p:nvPr>
        </p:nvSpPr>
        <p:spPr>
          <a:xfrm>
            <a:off x="4372643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9" name="Bildplatzhalter 2"/>
          <p:cNvSpPr>
            <a:spLocks noGrp="1"/>
          </p:cNvSpPr>
          <p:nvPr>
            <p:ph type="pic" sz="quarter" idx="18"/>
          </p:nvPr>
        </p:nvSpPr>
        <p:spPr>
          <a:xfrm>
            <a:off x="425750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4" name="Textplatzhalter 2"/>
          <p:cNvSpPr>
            <a:spLocks noGrp="1"/>
          </p:cNvSpPr>
          <p:nvPr>
            <p:ph type="body" sz="quarter" idx="20"/>
          </p:nvPr>
        </p:nvSpPr>
        <p:spPr>
          <a:xfrm>
            <a:off x="425750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type="body" sz="quarter" idx="21"/>
          </p:nvPr>
        </p:nvSpPr>
        <p:spPr>
          <a:xfrm>
            <a:off x="4359797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platzhalter 2"/>
          <p:cNvSpPr>
            <a:spLocks noGrp="1"/>
          </p:cNvSpPr>
          <p:nvPr>
            <p:ph type="body" sz="quarter" idx="22"/>
          </p:nvPr>
        </p:nvSpPr>
        <p:spPr>
          <a:xfrm>
            <a:off x="8304476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6E1DB91-C0FA-B971-7C66-9263112FA82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727847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2"/>
          <p:cNvSpPr>
            <a:spLocks noGrp="1"/>
          </p:cNvSpPr>
          <p:nvPr>
            <p:ph type="pic" sz="quarter" idx="18"/>
          </p:nvPr>
        </p:nvSpPr>
        <p:spPr>
          <a:xfrm>
            <a:off x="425750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7" name="Bildplatzhalter 2"/>
          <p:cNvSpPr>
            <a:spLocks noGrp="1"/>
          </p:cNvSpPr>
          <p:nvPr>
            <p:ph type="pic" sz="quarter" idx="20"/>
          </p:nvPr>
        </p:nvSpPr>
        <p:spPr>
          <a:xfrm>
            <a:off x="9155682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1" name="Bildplatzhalter 2"/>
          <p:cNvSpPr>
            <a:spLocks noGrp="1"/>
          </p:cNvSpPr>
          <p:nvPr>
            <p:ph type="pic" sz="quarter" idx="22"/>
          </p:nvPr>
        </p:nvSpPr>
        <p:spPr>
          <a:xfrm>
            <a:off x="6245704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3" name="Bildplatzhalter 2"/>
          <p:cNvSpPr>
            <a:spLocks noGrp="1"/>
          </p:cNvSpPr>
          <p:nvPr>
            <p:ph type="pic" sz="quarter" idx="24"/>
          </p:nvPr>
        </p:nvSpPr>
        <p:spPr>
          <a:xfrm>
            <a:off x="3335727" y="1048349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3" name="Textplatzhalter 2"/>
          <p:cNvSpPr>
            <a:spLocks noGrp="1"/>
          </p:cNvSpPr>
          <p:nvPr>
            <p:ph type="body" sz="quarter" idx="25"/>
          </p:nvPr>
        </p:nvSpPr>
        <p:spPr>
          <a:xfrm>
            <a:off x="3335727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 2"/>
          <p:cNvSpPr>
            <a:spLocks noGrp="1"/>
          </p:cNvSpPr>
          <p:nvPr>
            <p:ph type="body" sz="quarter" idx="26"/>
          </p:nvPr>
        </p:nvSpPr>
        <p:spPr>
          <a:xfrm>
            <a:off x="401141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extplatzhalter 2"/>
          <p:cNvSpPr>
            <a:spLocks noGrp="1"/>
          </p:cNvSpPr>
          <p:nvPr>
            <p:ph type="body" sz="quarter" idx="27"/>
          </p:nvPr>
        </p:nvSpPr>
        <p:spPr>
          <a:xfrm>
            <a:off x="6249048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2"/>
          <p:cNvSpPr>
            <a:spLocks noGrp="1"/>
          </p:cNvSpPr>
          <p:nvPr>
            <p:ph type="body" sz="quarter" idx="28"/>
          </p:nvPr>
        </p:nvSpPr>
        <p:spPr>
          <a:xfrm>
            <a:off x="9151737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E7100E3-45CC-826A-3EA8-D8EE82C8DD3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793557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/>
          <p:cNvSpPr>
            <a:spLocks noGrp="1"/>
          </p:cNvSpPr>
          <p:nvPr>
            <p:ph sz="quarter" idx="11"/>
          </p:nvPr>
        </p:nvSpPr>
        <p:spPr>
          <a:xfrm>
            <a:off x="-6541" y="899989"/>
            <a:ext cx="12169775" cy="54006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7AA63D2-0FE4-0C99-DB21-FA84B57A8E9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87674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005"/>
            <a:ext cx="11312077" cy="4896544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21CDEB0A-749B-129D-B9A1-E2F47A4FB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de-DE" altLang="de-DE" noProof="0" dirty="0"/>
              <a:t>Kontakt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13676B4-B155-5F8F-6057-DF3B869FEA30}"/>
              </a:ext>
            </a:extLst>
          </p:cNvPr>
          <p:cNvSpPr txBox="1"/>
          <p:nvPr userDrawn="1"/>
        </p:nvSpPr>
        <p:spPr>
          <a:xfrm>
            <a:off x="6876975" y="3138629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Bild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09195FD-226E-2A90-AAD0-AB25507E38E6}"/>
              </a:ext>
            </a:extLst>
          </p:cNvPr>
          <p:cNvSpPr txBox="1"/>
          <p:nvPr userDrawn="1"/>
        </p:nvSpPr>
        <p:spPr>
          <a:xfrm>
            <a:off x="3420591" y="1980109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Name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b="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Musterman</a:t>
            </a:r>
            <a:r>
              <a:rPr lang="de-DE" sz="1400" b="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Müller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4B15629-97F5-8BEC-9D1E-B728357B0DB2}"/>
              </a:ext>
            </a:extLst>
          </p:cNvPr>
          <p:cNvSpPr txBox="1"/>
          <p:nvPr userDrawn="1"/>
        </p:nvSpPr>
        <p:spPr>
          <a:xfrm>
            <a:off x="3420591" y="2850597"/>
            <a:ext cx="237626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Adresse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Holstenhofweg</a:t>
            </a: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85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22043 Hamburg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0CE536-3EEC-B47C-951C-BEC73BC30E57}"/>
              </a:ext>
            </a:extLst>
          </p:cNvPr>
          <p:cNvSpPr txBox="1"/>
          <p:nvPr userDrawn="1"/>
        </p:nvSpPr>
        <p:spPr>
          <a:xfrm>
            <a:off x="3387564" y="3721085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E-Mail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x.x@hsu-hh.de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BE5B3DF-488A-D766-82B1-FBFC746DE7C8}"/>
              </a:ext>
            </a:extLst>
          </p:cNvPr>
          <p:cNvSpPr txBox="1"/>
          <p:nvPr userDrawn="1"/>
        </p:nvSpPr>
        <p:spPr>
          <a:xfrm>
            <a:off x="3387564" y="4591573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Nummer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+4940</a:t>
            </a:r>
          </a:p>
        </p:txBody>
      </p:sp>
    </p:spTree>
    <p:extLst>
      <p:ext uri="{BB962C8B-B14F-4D97-AF65-F5344CB8AC3E}">
        <p14:creationId xmlns:p14="http://schemas.microsoft.com/office/powerpoint/2010/main" val="2984051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Wölfel-Grup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hl\Desktop\Powerpoint-Vorlagen\Power-Point-Bilder\Schwingung-klei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" y="0"/>
            <a:ext cx="12172950" cy="683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hteck 6"/>
          <p:cNvSpPr>
            <a:spLocks/>
          </p:cNvSpPr>
          <p:nvPr/>
        </p:nvSpPr>
        <p:spPr>
          <a:xfrm>
            <a:off x="0" y="3959225"/>
            <a:ext cx="12169775" cy="1441450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5600" tIns="202800" rIns="405600" bIns="202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" y="4068501"/>
            <a:ext cx="9829302" cy="1223976"/>
          </a:xfrm>
          <a:prstGeom prst="rect">
            <a:avLst/>
          </a:prstGeom>
        </p:spPr>
        <p:txBody>
          <a:bodyPr lIns="432000" bIns="36000">
            <a:normAutofit/>
          </a:bodyPr>
          <a:lstStyle>
            <a:lvl1pPr algn="l">
              <a:defRPr sz="3500" b="0">
                <a:ln>
                  <a:noFill/>
                </a:ln>
                <a:solidFill>
                  <a:srgbClr val="333333"/>
                </a:solidFill>
                <a:latin typeface="Futura LT Pro Book" panose="020B05020202040203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04969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Individu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>
          <a:xfrm>
            <a:off x="19491" y="35893"/>
            <a:ext cx="12169775" cy="684053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pic>
        <p:nvPicPr>
          <p:cNvPr id="7" name="Bildplatzhalter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3" b="7843"/>
          <a:stretch>
            <a:fillRect/>
          </a:stretch>
        </p:blipFill>
        <p:spPr bwMode="auto">
          <a:xfrm>
            <a:off x="2" y="0"/>
            <a:ext cx="12208755" cy="685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hteck 6"/>
          <p:cNvSpPr>
            <a:spLocks/>
          </p:cNvSpPr>
          <p:nvPr/>
        </p:nvSpPr>
        <p:spPr>
          <a:xfrm>
            <a:off x="-19491" y="3852317"/>
            <a:ext cx="12247741" cy="1800200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5600" tIns="202800" rIns="405600" bIns="202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-19491" y="3924546"/>
            <a:ext cx="9829302" cy="1045380"/>
          </a:xfrm>
          <a:prstGeom prst="rect">
            <a:avLst/>
          </a:prstGeom>
        </p:spPr>
        <p:txBody>
          <a:bodyPr lIns="432000" bIns="36000">
            <a:normAutofit/>
          </a:bodyPr>
          <a:lstStyle>
            <a:lvl1pPr algn="l">
              <a:defRPr sz="3600" b="0">
                <a:ln>
                  <a:noFill/>
                </a:ln>
                <a:solidFill>
                  <a:srgbClr val="333333"/>
                </a:solidFill>
                <a:latin typeface="Futura LT Pro Book" panose="020B0502020204020303" pitchFamily="34" charset="0"/>
              </a:defRPr>
            </a:lvl1pPr>
          </a:lstStyle>
          <a:p>
            <a:r>
              <a:rPr lang="de-DE" dirty="0"/>
              <a:t>Titel der Arbeit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46E2C84-B091-DCF8-F36E-95EB21974D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814" y="4243097"/>
            <a:ext cx="1566939" cy="1125547"/>
          </a:xfrm>
          <a:prstGeom prst="rect">
            <a:avLst/>
          </a:prstGeom>
        </p:spPr>
      </p:pic>
      <p:sp>
        <p:nvSpPr>
          <p:cNvPr id="27" name="Textplatzhalter 32">
            <a:extLst>
              <a:ext uri="{FF2B5EF4-FFF2-40B4-BE49-F238E27FC236}">
                <a16:creationId xmlns:a16="http://schemas.microsoft.com/office/drawing/2014/main" id="{66AA9F20-053C-03EB-E0DB-D8611C3EE1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1884" y="5111991"/>
            <a:ext cx="9829304" cy="513305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    Autoren und weitere Info</a:t>
            </a:r>
          </a:p>
        </p:txBody>
      </p:sp>
    </p:spTree>
    <p:extLst>
      <p:ext uri="{BB962C8B-B14F-4D97-AF65-F5344CB8AC3E}">
        <p14:creationId xmlns:p14="http://schemas.microsoft.com/office/powerpoint/2010/main" val="12647467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005"/>
            <a:ext cx="11312077" cy="4896544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21CDEB0A-749B-129D-B9A1-E2F47A4FB68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2311718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+ Beschreibung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488"/>
            <a:ext cx="11312077" cy="6480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feld 3"/>
          <p:cNvSpPr txBox="1">
            <a:spLocks noChangeArrowheads="1"/>
          </p:cNvSpPr>
          <p:nvPr/>
        </p:nvSpPr>
        <p:spPr bwMode="auto">
          <a:xfrm>
            <a:off x="431800" y="1925638"/>
            <a:ext cx="1131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de-DE" altLang="de-DE">
              <a:latin typeface="Futura Lt BT" pitchFamily="34" charset="0"/>
            </a:endParaRPr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2"/>
          </p:nvPr>
        </p:nvSpPr>
        <p:spPr>
          <a:xfrm>
            <a:off x="432000" y="2150688"/>
            <a:ext cx="11312078" cy="3969125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Futura LT Pro Book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Futura LT Pro Book" pitchFamily="34" charset="0"/>
              <a:buNone/>
              <a:tabLst/>
              <a:defRPr/>
            </a:pPr>
            <a:r>
              <a:rPr lang="de-DE"/>
              <a:t>Mastertextformat bearbeiten</a:t>
            </a:r>
          </a:p>
        </p:txBody>
      </p:sp>
      <p:sp>
        <p:nvSpPr>
          <p:cNvPr id="29" name="Textplatzhalter 28"/>
          <p:cNvSpPr>
            <a:spLocks noGrp="1"/>
          </p:cNvSpPr>
          <p:nvPr>
            <p:ph type="body" sz="quarter" idx="13"/>
          </p:nvPr>
        </p:nvSpPr>
        <p:spPr>
          <a:xfrm>
            <a:off x="432000" y="1790648"/>
            <a:ext cx="11312077" cy="360040"/>
          </a:xfr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5541E96-A906-4926-15A3-EE69C7A2A81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2348776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Beschreibung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488"/>
            <a:ext cx="11312077" cy="6480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feld 3"/>
          <p:cNvSpPr txBox="1">
            <a:spLocks noChangeArrowheads="1"/>
          </p:cNvSpPr>
          <p:nvPr/>
        </p:nvSpPr>
        <p:spPr bwMode="auto">
          <a:xfrm>
            <a:off x="431800" y="1925638"/>
            <a:ext cx="1131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de-DE" altLang="de-DE">
              <a:latin typeface="Futura Lt BT" pitchFamily="34" charset="0"/>
            </a:endParaRPr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2"/>
          </p:nvPr>
        </p:nvSpPr>
        <p:spPr>
          <a:xfrm>
            <a:off x="432000" y="2150688"/>
            <a:ext cx="11312078" cy="39691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9" name="Textplatzhalter 28"/>
          <p:cNvSpPr>
            <a:spLocks noGrp="1"/>
          </p:cNvSpPr>
          <p:nvPr>
            <p:ph type="body" sz="quarter" idx="13"/>
          </p:nvPr>
        </p:nvSpPr>
        <p:spPr>
          <a:xfrm>
            <a:off x="432000" y="1790648"/>
            <a:ext cx="11312077" cy="360040"/>
          </a:xfr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734CAE5-A7CA-9279-E4CE-C90205BB051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9567595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2"/>
          <p:cNvSpPr>
            <a:spLocks noGrp="1"/>
          </p:cNvSpPr>
          <p:nvPr>
            <p:ph idx="1"/>
          </p:nvPr>
        </p:nvSpPr>
        <p:spPr>
          <a:xfrm>
            <a:off x="432001" y="104400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>
          <a:xfrm>
            <a:off x="6320661" y="1044086"/>
            <a:ext cx="5400675" cy="507526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AF9CD7D-AA18-5F2D-B11F-17C0F451D29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4231543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2"/>
          <p:cNvSpPr>
            <a:spLocks noGrp="1"/>
          </p:cNvSpPr>
          <p:nvPr>
            <p:ph idx="13"/>
          </p:nvPr>
        </p:nvSpPr>
        <p:spPr>
          <a:xfrm>
            <a:off x="6320661" y="104354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idx="1"/>
          </p:nvPr>
        </p:nvSpPr>
        <p:spPr>
          <a:xfrm>
            <a:off x="432001" y="104400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B247082-1AB1-98A9-23EC-10ED40B8E8D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2129876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2"/>
          <p:cNvSpPr>
            <a:spLocks noGrp="1"/>
          </p:cNvSpPr>
          <p:nvPr>
            <p:ph type="pic" sz="quarter" idx="16"/>
          </p:nvPr>
        </p:nvSpPr>
        <p:spPr>
          <a:xfrm>
            <a:off x="8314903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8" name="Bildplatzhalter 2"/>
          <p:cNvSpPr>
            <a:spLocks noGrp="1"/>
          </p:cNvSpPr>
          <p:nvPr>
            <p:ph type="pic" sz="quarter" idx="17"/>
          </p:nvPr>
        </p:nvSpPr>
        <p:spPr>
          <a:xfrm>
            <a:off x="4372643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9" name="Bildplatzhalter 2"/>
          <p:cNvSpPr>
            <a:spLocks noGrp="1"/>
          </p:cNvSpPr>
          <p:nvPr>
            <p:ph type="pic" sz="quarter" idx="18"/>
          </p:nvPr>
        </p:nvSpPr>
        <p:spPr>
          <a:xfrm>
            <a:off x="425750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4" name="Textplatzhalter 2"/>
          <p:cNvSpPr>
            <a:spLocks noGrp="1"/>
          </p:cNvSpPr>
          <p:nvPr>
            <p:ph type="body" sz="quarter" idx="20"/>
          </p:nvPr>
        </p:nvSpPr>
        <p:spPr>
          <a:xfrm>
            <a:off x="425750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type="body" sz="quarter" idx="21"/>
          </p:nvPr>
        </p:nvSpPr>
        <p:spPr>
          <a:xfrm>
            <a:off x="4359797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platzhalter 2"/>
          <p:cNvSpPr>
            <a:spLocks noGrp="1"/>
          </p:cNvSpPr>
          <p:nvPr>
            <p:ph type="body" sz="quarter" idx="22"/>
          </p:nvPr>
        </p:nvSpPr>
        <p:spPr>
          <a:xfrm>
            <a:off x="8304476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AF9EAB8-C767-8577-9E5F-24AD159313A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0664769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2"/>
          <p:cNvSpPr>
            <a:spLocks noGrp="1"/>
          </p:cNvSpPr>
          <p:nvPr>
            <p:ph type="pic" sz="quarter" idx="18"/>
          </p:nvPr>
        </p:nvSpPr>
        <p:spPr>
          <a:xfrm>
            <a:off x="425750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7" name="Bildplatzhalter 2"/>
          <p:cNvSpPr>
            <a:spLocks noGrp="1"/>
          </p:cNvSpPr>
          <p:nvPr>
            <p:ph type="pic" sz="quarter" idx="20"/>
          </p:nvPr>
        </p:nvSpPr>
        <p:spPr>
          <a:xfrm>
            <a:off x="9155682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1" name="Bildplatzhalter 2"/>
          <p:cNvSpPr>
            <a:spLocks noGrp="1"/>
          </p:cNvSpPr>
          <p:nvPr>
            <p:ph type="pic" sz="quarter" idx="22"/>
          </p:nvPr>
        </p:nvSpPr>
        <p:spPr>
          <a:xfrm>
            <a:off x="6245704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3" name="Bildplatzhalter 2"/>
          <p:cNvSpPr>
            <a:spLocks noGrp="1"/>
          </p:cNvSpPr>
          <p:nvPr>
            <p:ph type="pic" sz="quarter" idx="24"/>
          </p:nvPr>
        </p:nvSpPr>
        <p:spPr>
          <a:xfrm>
            <a:off x="3335727" y="1048349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3" name="Textplatzhalter 2"/>
          <p:cNvSpPr>
            <a:spLocks noGrp="1"/>
          </p:cNvSpPr>
          <p:nvPr>
            <p:ph type="body" sz="quarter" idx="25"/>
          </p:nvPr>
        </p:nvSpPr>
        <p:spPr>
          <a:xfrm>
            <a:off x="3335727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 2"/>
          <p:cNvSpPr>
            <a:spLocks noGrp="1"/>
          </p:cNvSpPr>
          <p:nvPr>
            <p:ph type="body" sz="quarter" idx="26"/>
          </p:nvPr>
        </p:nvSpPr>
        <p:spPr>
          <a:xfrm>
            <a:off x="401141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extplatzhalter 2"/>
          <p:cNvSpPr>
            <a:spLocks noGrp="1"/>
          </p:cNvSpPr>
          <p:nvPr>
            <p:ph type="body" sz="quarter" idx="27"/>
          </p:nvPr>
        </p:nvSpPr>
        <p:spPr>
          <a:xfrm>
            <a:off x="6249048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2"/>
          <p:cNvSpPr>
            <a:spLocks noGrp="1"/>
          </p:cNvSpPr>
          <p:nvPr>
            <p:ph type="body" sz="quarter" idx="28"/>
          </p:nvPr>
        </p:nvSpPr>
        <p:spPr>
          <a:xfrm>
            <a:off x="9151737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833868A-0AB3-338E-58E9-87EBE88F1CB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42675902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/>
          <p:cNvSpPr>
            <a:spLocks noGrp="1"/>
          </p:cNvSpPr>
          <p:nvPr>
            <p:ph sz="quarter" idx="11"/>
          </p:nvPr>
        </p:nvSpPr>
        <p:spPr>
          <a:xfrm>
            <a:off x="-6541" y="899989"/>
            <a:ext cx="12169775" cy="54006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C107058-1257-058E-D650-4D6D0163B6A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6586112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005"/>
            <a:ext cx="11312077" cy="4896544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21CDEB0A-749B-129D-B9A1-E2F47A4FB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de-DE" altLang="de-DE" noProof="0" dirty="0"/>
              <a:t>Kontakt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13676B4-B155-5F8F-6057-DF3B869FEA30}"/>
              </a:ext>
            </a:extLst>
          </p:cNvPr>
          <p:cNvSpPr txBox="1"/>
          <p:nvPr userDrawn="1"/>
        </p:nvSpPr>
        <p:spPr>
          <a:xfrm>
            <a:off x="6876975" y="3138629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Bild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09195FD-226E-2A90-AAD0-AB25507E38E6}"/>
              </a:ext>
            </a:extLst>
          </p:cNvPr>
          <p:cNvSpPr txBox="1"/>
          <p:nvPr userDrawn="1"/>
        </p:nvSpPr>
        <p:spPr>
          <a:xfrm>
            <a:off x="3420591" y="1980109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Name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b="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Musterman</a:t>
            </a:r>
            <a:r>
              <a:rPr lang="de-DE" sz="1400" b="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Müller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4B15629-97F5-8BEC-9D1E-B728357B0DB2}"/>
              </a:ext>
            </a:extLst>
          </p:cNvPr>
          <p:cNvSpPr txBox="1"/>
          <p:nvPr userDrawn="1"/>
        </p:nvSpPr>
        <p:spPr>
          <a:xfrm>
            <a:off x="3420591" y="2850597"/>
            <a:ext cx="237626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Adresse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Holstenhofweg</a:t>
            </a: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85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22043 Hamburg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0CE536-3EEC-B47C-951C-BEC73BC30E57}"/>
              </a:ext>
            </a:extLst>
          </p:cNvPr>
          <p:cNvSpPr txBox="1"/>
          <p:nvPr userDrawn="1"/>
        </p:nvSpPr>
        <p:spPr>
          <a:xfrm>
            <a:off x="3387564" y="3721085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E-Mail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x.x@hsu-hh.de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BE5B3DF-488A-D766-82B1-FBFC746DE7C8}"/>
              </a:ext>
            </a:extLst>
          </p:cNvPr>
          <p:cNvSpPr txBox="1"/>
          <p:nvPr userDrawn="1"/>
        </p:nvSpPr>
        <p:spPr>
          <a:xfrm>
            <a:off x="3387564" y="4591573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Nummer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+4940</a:t>
            </a:r>
          </a:p>
        </p:txBody>
      </p:sp>
    </p:spTree>
    <p:extLst>
      <p:ext uri="{BB962C8B-B14F-4D97-AF65-F5344CB8AC3E}">
        <p14:creationId xmlns:p14="http://schemas.microsoft.com/office/powerpoint/2010/main" val="2217526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 err="1"/>
              <a:t>Folientiel</a:t>
            </a:r>
            <a:r>
              <a:rPr lang="de-DE" altLang="de-DE" noProof="0" dirty="0"/>
              <a:t> (Hauptaussage der Folie)</a:t>
            </a:r>
          </a:p>
        </p:txBody>
      </p:sp>
      <p:sp>
        <p:nvSpPr>
          <p:cNvPr id="1028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31800" y="969133"/>
            <a:ext cx="11312525" cy="504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/>
              <a:t>Textmasterformat bearbeiten</a:t>
            </a:r>
          </a:p>
          <a:p>
            <a:pPr lvl="1"/>
            <a:r>
              <a:rPr lang="de-DE" altLang="de-DE" noProof="0" dirty="0"/>
              <a:t>Zweite Ebene</a:t>
            </a:r>
          </a:p>
          <a:p>
            <a:pPr lvl="2"/>
            <a:r>
              <a:rPr lang="de-DE" altLang="de-DE" noProof="0" dirty="0"/>
              <a:t>Dritte Ebene</a:t>
            </a:r>
          </a:p>
          <a:p>
            <a:pPr lvl="3"/>
            <a:r>
              <a:rPr lang="de-DE" altLang="de-DE" noProof="0" dirty="0"/>
              <a:t>Vierte Ebene</a:t>
            </a:r>
          </a:p>
          <a:p>
            <a:pPr lvl="4"/>
            <a:r>
              <a:rPr lang="de-DE" altLang="de-DE" noProof="0" dirty="0"/>
              <a:t>Fünfte Ebene</a:t>
            </a:r>
            <a:fld id="{B83DA5D8-7131-4301-8D10-8A8E68711562}" type="slidenum">
              <a:rPr lang="de-DE" sz="1400" smtClean="0">
                <a:latin typeface="Futura LT Pro Light" panose="020B0402020204020303"/>
              </a:rPr>
              <a:pPr/>
              <a:t>‹Nr.›</a:t>
            </a:fld>
            <a:endParaRPr lang="de-DE" altLang="de-DE" noProof="0" dirty="0"/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295" y="65086"/>
            <a:ext cx="936104" cy="672412"/>
          </a:xfrm>
          <a:prstGeom prst="rect">
            <a:avLst/>
          </a:prstGeom>
        </p:spPr>
      </p:pic>
      <p:cxnSp>
        <p:nvCxnSpPr>
          <p:cNvPr id="6" name="Gerade Verbindung 9">
            <a:extLst>
              <a:ext uri="{FF2B5EF4-FFF2-40B4-BE49-F238E27FC236}">
                <a16:creationId xmlns:a16="http://schemas.microsoft.com/office/drawing/2014/main" id="{86C9092A-B764-C02C-81AA-6DDBC66C874A}"/>
              </a:ext>
            </a:extLst>
          </p:cNvPr>
          <p:cNvCxnSpPr>
            <a:cxnSpLocks/>
          </p:cNvCxnSpPr>
          <p:nvPr userDrawn="1"/>
        </p:nvCxnSpPr>
        <p:spPr>
          <a:xfrm>
            <a:off x="431800" y="789570"/>
            <a:ext cx="1131824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9">
            <a:extLst>
              <a:ext uri="{FF2B5EF4-FFF2-40B4-BE49-F238E27FC236}">
                <a16:creationId xmlns:a16="http://schemas.microsoft.com/office/drawing/2014/main" id="{4130A57A-8A70-B176-27B3-D3CDA3E91685}"/>
              </a:ext>
            </a:extLst>
          </p:cNvPr>
          <p:cNvCxnSpPr>
            <a:cxnSpLocks/>
          </p:cNvCxnSpPr>
          <p:nvPr userDrawn="1"/>
        </p:nvCxnSpPr>
        <p:spPr>
          <a:xfrm>
            <a:off x="428624" y="6300589"/>
            <a:ext cx="1131252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76FED74E-6A41-22E9-9385-D7EF28545870}"/>
              </a:ext>
            </a:extLst>
          </p:cNvPr>
          <p:cNvSpPr txBox="1"/>
          <p:nvPr userDrawn="1"/>
        </p:nvSpPr>
        <p:spPr>
          <a:xfrm>
            <a:off x="4302687" y="6350241"/>
            <a:ext cx="3564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Promotion Update </a:t>
            </a:r>
          </a:p>
          <a:p>
            <a:pPr algn="ctr"/>
            <a:r>
              <a:rPr lang="de-DE" sz="10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Nicholas Clemett, 09.07.2025  </a:t>
            </a:r>
            <a:endParaRPr lang="de-DE" sz="1000" dirty="0">
              <a:solidFill>
                <a:srgbClr val="333333"/>
              </a:solidFill>
              <a:latin typeface="Futura LT Pro Light" panose="020B0402020204020303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FA543B6-D9F9-83B5-BE45-2680583BF74F}"/>
              </a:ext>
            </a:extLst>
          </p:cNvPr>
          <p:cNvSpPr txBox="1"/>
          <p:nvPr userDrawn="1"/>
        </p:nvSpPr>
        <p:spPr>
          <a:xfrm>
            <a:off x="11053439" y="6504130"/>
            <a:ext cx="792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rgbClr val="333333"/>
                </a:solidFill>
                <a:latin typeface="Century Gothic" panose="020B0502020202020204" pitchFamily="34" charset="0"/>
                <a:cs typeface="+mn-cs"/>
              </a:rPr>
              <a:t>Folie </a:t>
            </a:r>
            <a:fld id="{A0A23BBC-0FAD-4C23-98D3-6CFBA32CD3CA}" type="slidenum">
              <a:rPr lang="de-DE" sz="1000" smtClean="0">
                <a:solidFill>
                  <a:srgbClr val="333333"/>
                </a:solidFill>
                <a:latin typeface="Century Gothic" panose="020B0502020202020204" pitchFamily="34" charset="0"/>
                <a:cs typeface="+mn-cs"/>
              </a:rPr>
              <a:t>‹Nr.›</a:t>
            </a:fld>
            <a:endParaRPr lang="de-DE" sz="1000" dirty="0">
              <a:solidFill>
                <a:srgbClr val="333333"/>
              </a:solidFill>
              <a:latin typeface="Century Gothic" panose="020B0502020202020204" pitchFamily="34" charset="0"/>
              <a:cs typeface="+mn-cs"/>
            </a:endParaRPr>
          </a:p>
        </p:txBody>
      </p:sp>
      <p:pic>
        <p:nvPicPr>
          <p:cNvPr id="5" name="Grafik 4" descr="Ein Bild, das Grafiken, Design enthält.&#10;&#10;KI-generierte Inhalte können fehlerhaft sein.">
            <a:extLst>
              <a:ext uri="{FF2B5EF4-FFF2-40B4-BE49-F238E27FC236}">
                <a16:creationId xmlns:a16="http://schemas.microsoft.com/office/drawing/2014/main" id="{247CEBD7-6333-F783-5620-9469F122711C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246" y="39352"/>
            <a:ext cx="846192" cy="6849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25" r:id="rId2"/>
    <p:sldLayoutId id="2147483714" r:id="rId3"/>
    <p:sldLayoutId id="2147483729" r:id="rId4"/>
    <p:sldLayoutId id="2147483716" r:id="rId5"/>
    <p:sldLayoutId id="2147483717" r:id="rId6"/>
    <p:sldLayoutId id="2147483728" r:id="rId7"/>
    <p:sldLayoutId id="2147483726" r:id="rId8"/>
    <p:sldLayoutId id="2147483727" r:id="rId9"/>
    <p:sldLayoutId id="2147483719" r:id="rId10"/>
    <p:sldLayoutId id="2147483744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1200">
          <a:solidFill>
            <a:srgbClr val="333333"/>
          </a:solidFill>
          <a:latin typeface="Century Gothic" panose="020B050202020202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9pPr>
    </p:titleStyle>
    <p:bodyStyle>
      <a:lvl1pPr marL="447675" indent="-447675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20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1pPr>
      <a:lvl2pPr marL="895350" indent="-43815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6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2pPr>
      <a:lvl3pPr marL="13716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3pPr>
      <a:lvl4pPr marL="18288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4pPr>
      <a:lvl5pPr marL="22860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 err="1"/>
              <a:t>Folientiel</a:t>
            </a:r>
            <a:r>
              <a:rPr lang="de-DE" altLang="de-DE" noProof="0" dirty="0"/>
              <a:t> (Hauptaussage der Folie)</a:t>
            </a:r>
          </a:p>
        </p:txBody>
      </p:sp>
      <p:sp>
        <p:nvSpPr>
          <p:cNvPr id="1028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31800" y="969133"/>
            <a:ext cx="11312525" cy="504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/>
              <a:t>Textmasterformat bearbeiten</a:t>
            </a:r>
          </a:p>
          <a:p>
            <a:pPr lvl="1"/>
            <a:r>
              <a:rPr lang="de-DE" altLang="de-DE" noProof="0" dirty="0"/>
              <a:t>Zweite Ebene</a:t>
            </a:r>
          </a:p>
          <a:p>
            <a:pPr lvl="2"/>
            <a:r>
              <a:rPr lang="de-DE" altLang="de-DE" noProof="0" dirty="0"/>
              <a:t>Dritte Ebene</a:t>
            </a:r>
          </a:p>
          <a:p>
            <a:pPr lvl="3"/>
            <a:r>
              <a:rPr lang="de-DE" altLang="de-DE" noProof="0" dirty="0"/>
              <a:t>Vierte Ebene</a:t>
            </a:r>
          </a:p>
          <a:p>
            <a:pPr lvl="4"/>
            <a:r>
              <a:rPr lang="de-DE" altLang="de-DE" noProof="0" dirty="0"/>
              <a:t>Fünfte Ebene</a:t>
            </a:r>
            <a:fld id="{B83DA5D8-7131-4301-8D10-8A8E68711562}" type="slidenum">
              <a:rPr lang="de-DE" sz="1400" smtClean="0">
                <a:latin typeface="Futura LT Pro Light" panose="020B0402020204020303"/>
              </a:rPr>
              <a:pPr/>
              <a:t>‹Nr.›</a:t>
            </a:fld>
            <a:endParaRPr lang="de-DE" altLang="de-DE" noProof="0" dirty="0"/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407" y="65086"/>
            <a:ext cx="936104" cy="672412"/>
          </a:xfrm>
          <a:prstGeom prst="rect">
            <a:avLst/>
          </a:prstGeom>
        </p:spPr>
      </p:pic>
      <p:cxnSp>
        <p:nvCxnSpPr>
          <p:cNvPr id="6" name="Gerade Verbindung 9">
            <a:extLst>
              <a:ext uri="{FF2B5EF4-FFF2-40B4-BE49-F238E27FC236}">
                <a16:creationId xmlns:a16="http://schemas.microsoft.com/office/drawing/2014/main" id="{86C9092A-B764-C02C-81AA-6DDBC66C874A}"/>
              </a:ext>
            </a:extLst>
          </p:cNvPr>
          <p:cNvCxnSpPr>
            <a:cxnSpLocks/>
          </p:cNvCxnSpPr>
          <p:nvPr userDrawn="1"/>
        </p:nvCxnSpPr>
        <p:spPr>
          <a:xfrm>
            <a:off x="431800" y="789570"/>
            <a:ext cx="1131824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9">
            <a:extLst>
              <a:ext uri="{FF2B5EF4-FFF2-40B4-BE49-F238E27FC236}">
                <a16:creationId xmlns:a16="http://schemas.microsoft.com/office/drawing/2014/main" id="{4130A57A-8A70-B176-27B3-D3CDA3E91685}"/>
              </a:ext>
            </a:extLst>
          </p:cNvPr>
          <p:cNvCxnSpPr>
            <a:cxnSpLocks/>
          </p:cNvCxnSpPr>
          <p:nvPr userDrawn="1"/>
        </p:nvCxnSpPr>
        <p:spPr>
          <a:xfrm>
            <a:off x="428624" y="6300589"/>
            <a:ext cx="1131252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76FED74E-6A41-22E9-9385-D7EF28545870}"/>
              </a:ext>
            </a:extLst>
          </p:cNvPr>
          <p:cNvSpPr txBox="1"/>
          <p:nvPr userDrawn="1"/>
        </p:nvSpPr>
        <p:spPr>
          <a:xfrm>
            <a:off x="4302687" y="6350241"/>
            <a:ext cx="3564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Titel der Arbeit</a:t>
            </a:r>
          </a:p>
          <a:p>
            <a:pPr algn="ctr"/>
            <a:r>
              <a:rPr lang="de-DE" sz="10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Namen, Datum  </a:t>
            </a:r>
            <a:endParaRPr lang="de-DE" sz="1000" dirty="0">
              <a:solidFill>
                <a:srgbClr val="333333"/>
              </a:solidFill>
              <a:latin typeface="Futura LT Pro Light" panose="020B0402020204020303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FA543B6-D9F9-83B5-BE45-2680583BF74F}"/>
              </a:ext>
            </a:extLst>
          </p:cNvPr>
          <p:cNvSpPr txBox="1"/>
          <p:nvPr userDrawn="1"/>
        </p:nvSpPr>
        <p:spPr>
          <a:xfrm>
            <a:off x="11053439" y="6504130"/>
            <a:ext cx="792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rgbClr val="333333"/>
                </a:solidFill>
                <a:latin typeface="Century Gothic" panose="020B0502020202020204" pitchFamily="34" charset="0"/>
                <a:cs typeface="+mn-cs"/>
              </a:rPr>
              <a:t>Folie </a:t>
            </a:r>
            <a:fld id="{A0A23BBC-0FAD-4C23-98D3-6CFBA32CD3CA}" type="slidenum">
              <a:rPr lang="de-DE" sz="1000" smtClean="0">
                <a:solidFill>
                  <a:srgbClr val="333333"/>
                </a:solidFill>
                <a:latin typeface="Century Gothic" panose="020B0502020202020204" pitchFamily="34" charset="0"/>
                <a:cs typeface="+mn-cs"/>
              </a:rPr>
              <a:t>‹Nr.›</a:t>
            </a:fld>
            <a:endParaRPr lang="de-DE" sz="1000" dirty="0">
              <a:solidFill>
                <a:srgbClr val="333333"/>
              </a:solidFill>
              <a:latin typeface="Century Gothic" panose="020B0502020202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7639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5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1200">
          <a:solidFill>
            <a:srgbClr val="333333"/>
          </a:solidFill>
          <a:latin typeface="Century Gothic" panose="020B050202020202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9pPr>
    </p:titleStyle>
    <p:bodyStyle>
      <a:lvl1pPr marL="447675" indent="-447675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20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1pPr>
      <a:lvl2pPr marL="895350" indent="-43815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6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2pPr>
      <a:lvl3pPr marL="13716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3pPr>
      <a:lvl4pPr marL="18288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4pPr>
      <a:lvl5pPr marL="22860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9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D47B7A2B-5E0C-9953-3B10-4D7EC340E6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031377C-2515-4502-0A4D-C58C8B9EE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9491" y="4212357"/>
            <a:ext cx="9829302" cy="1045380"/>
          </a:xfrm>
        </p:spPr>
        <p:txBody>
          <a:bodyPr>
            <a:normAutofit/>
          </a:bodyPr>
          <a:lstStyle/>
          <a:p>
            <a:r>
              <a:rPr lang="de-DE" dirty="0"/>
              <a:t>Promotion Update - 02.10.2025</a:t>
            </a:r>
            <a:br>
              <a:rPr lang="de-DE" dirty="0"/>
            </a:br>
            <a:r>
              <a:rPr lang="de-DE" sz="2400" dirty="0"/>
              <a:t>NLTHA /Dämpfungsmodelle und Zufallsvariablen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1888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54EE9-7354-A068-79D0-AB90D1CAD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02E9C3D-E100-5F55-3991-EBD8F8D31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1" y="2988221"/>
            <a:ext cx="11312525" cy="576263"/>
          </a:xfrm>
        </p:spPr>
        <p:txBody>
          <a:bodyPr/>
          <a:lstStyle/>
          <a:p>
            <a:r>
              <a:rPr lang="de-DE" dirty="0"/>
              <a:t>ECEE Besprechung</a:t>
            </a:r>
          </a:p>
        </p:txBody>
      </p:sp>
    </p:spTree>
    <p:extLst>
      <p:ext uri="{BB962C8B-B14F-4D97-AF65-F5344CB8AC3E}">
        <p14:creationId xmlns:p14="http://schemas.microsoft.com/office/powerpoint/2010/main" val="2255990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2331C47-742E-0F0C-D962-3AFF8D9BE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1" y="2988221"/>
            <a:ext cx="11312525" cy="576263"/>
          </a:xfrm>
        </p:spPr>
        <p:txBody>
          <a:bodyPr/>
          <a:lstStyle/>
          <a:p>
            <a:r>
              <a:rPr lang="de-DE" dirty="0"/>
              <a:t>Inspektion NLTHA Ergebnisse</a:t>
            </a:r>
          </a:p>
        </p:txBody>
      </p:sp>
    </p:spTree>
    <p:extLst>
      <p:ext uri="{BB962C8B-B14F-4D97-AF65-F5344CB8AC3E}">
        <p14:creationId xmlns:p14="http://schemas.microsoft.com/office/powerpoint/2010/main" val="3920712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D8F6955-2F4B-5229-E6AF-4DFD94A2B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Stand nach der letzten Besprechung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3785BF1-267B-AA75-7BAE-CA6CC316E716}"/>
              </a:ext>
            </a:extLst>
          </p:cNvPr>
          <p:cNvSpPr txBox="1"/>
          <p:nvPr/>
        </p:nvSpPr>
        <p:spPr>
          <a:xfrm>
            <a:off x="431800" y="1069709"/>
            <a:ext cx="58538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Modell bildet das Verhalten der Bauteile gut 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Stockwerkverschiebung bei Versagen der Verbände ist ähnlich wie Karamanci et al. (2014)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CD5FB45-1D5A-4AC3-FCE0-8520222C4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7502" y="920225"/>
            <a:ext cx="2503936" cy="2009146"/>
          </a:xfrm>
          <a:prstGeom prst="rect">
            <a:avLst/>
          </a:prstGeom>
        </p:spPr>
      </p:pic>
      <p:pic>
        <p:nvPicPr>
          <p:cNvPr id="9" name="Grafik 8" descr="Ein Bild, das Text, Diagramm, Reihe, parallel enthält.&#10;&#10;KI-generierte Inhalte können fehlerhaft sein.">
            <a:extLst>
              <a:ext uri="{FF2B5EF4-FFF2-40B4-BE49-F238E27FC236}">
                <a16:creationId xmlns:a16="http://schemas.microsoft.com/office/drawing/2014/main" id="{F09798F3-2DF8-78BC-1308-07FD266D6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925" y="1006923"/>
            <a:ext cx="2503936" cy="1765274"/>
          </a:xfrm>
          <a:prstGeom prst="rect">
            <a:avLst/>
          </a:prstGeom>
          <a:noFill/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D13CF47-37BA-B361-652F-101967781D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9893" y="3238482"/>
            <a:ext cx="2924583" cy="2648320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E64703C9-12DB-1AA8-3F05-437D088272BA}"/>
              </a:ext>
            </a:extLst>
          </p:cNvPr>
          <p:cNvSpPr txBox="1"/>
          <p:nvPr/>
        </p:nvSpPr>
        <p:spPr>
          <a:xfrm>
            <a:off x="314820" y="2556173"/>
            <a:ext cx="6086474" cy="2662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Die Versagens-kapazität könnte ein bisschen hoch sein (7,5x).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b="1" dirty="0">
                <a:solidFill>
                  <a:srgbClr val="FF0000"/>
                </a:solidFill>
                <a:latin typeface="Futura LT Pro Light" panose="020B0402020204020303" pitchFamily="34" charset="0"/>
                <a:cs typeface="+mn-cs"/>
              </a:rPr>
              <a:t>Muss noch mit Literatur geprüft werden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i="1" u="sng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Mögliche Ursache: </a:t>
            </a:r>
            <a:r>
              <a:rPr lang="de-DE" b="1" dirty="0">
                <a:solidFill>
                  <a:srgbClr val="FF0000"/>
                </a:solidFill>
                <a:latin typeface="Futura LT Pro Light" panose="020B0402020204020303" pitchFamily="34" charset="0"/>
                <a:cs typeface="+mn-cs"/>
              </a:rPr>
              <a:t>Dämpfungsmodel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, weil ein Teil ist auf </a:t>
            </a:r>
            <a:r>
              <a:rPr lang="de-DE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K</a:t>
            </a:r>
            <a:r>
              <a:rPr lang="de-DE" baseline="-250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init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basiert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Karamanci et al. (2014) haben eine Art von Tangent-Dämpfung verwendet 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  <a:sym typeface="Wingdings" panose="05000000000000000000" pitchFamily="2" charset="2"/>
              </a:rPr>
              <a:t> Kann einen großen Einfluss haben</a:t>
            </a: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2B27C4A-E274-0492-5F03-55A76943B694}"/>
              </a:ext>
            </a:extLst>
          </p:cNvPr>
          <p:cNvSpPr txBox="1"/>
          <p:nvPr/>
        </p:nvSpPr>
        <p:spPr>
          <a:xfrm>
            <a:off x="453135" y="5265477"/>
            <a:ext cx="7647975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Mit einer Änderung der Analyse Parameter kann Non-Konvergent-Analyse doch konvergieren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Alle Non-Konvergent-Analyse sollte neu berechnet werden</a:t>
            </a:r>
          </a:p>
        </p:txBody>
      </p:sp>
    </p:spTree>
    <p:extLst>
      <p:ext uri="{BB962C8B-B14F-4D97-AF65-F5344CB8AC3E}">
        <p14:creationId xmlns:p14="http://schemas.microsoft.com/office/powerpoint/2010/main" val="1249999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3280F5D-CA8C-9E68-87D9-E03F06CDF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Vergleich Median Versagenskapazität</a:t>
            </a:r>
          </a:p>
        </p:txBody>
      </p:sp>
      <p:pic>
        <p:nvPicPr>
          <p:cNvPr id="6" name="Grafik 5" descr="Ein Bild, das Text, Diagramm, Reihe, parallel enthält.&#10;&#10;KI-generierte Inhalte können fehlerhaft sein.">
            <a:extLst>
              <a:ext uri="{FF2B5EF4-FFF2-40B4-BE49-F238E27FC236}">
                <a16:creationId xmlns:a16="http://schemas.microsoft.com/office/drawing/2014/main" id="{567738B8-5435-66AC-D64E-DD116C2B7B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999" y="1116013"/>
            <a:ext cx="4515480" cy="3734321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F697A9BF-779E-2058-A45F-B68D1DF93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47" y="4385136"/>
            <a:ext cx="5401429" cy="1619476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6FDEC838-FE1D-1778-2C6A-8B61546A3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604" y="2334826"/>
            <a:ext cx="5896798" cy="1581371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2C5B0448-D16E-61B5-5993-65BEE2134FE9}"/>
              </a:ext>
            </a:extLst>
          </p:cNvPr>
          <p:cNvSpPr txBox="1"/>
          <p:nvPr/>
        </p:nvSpPr>
        <p:spPr>
          <a:xfrm>
            <a:off x="805604" y="1965494"/>
            <a:ext cx="6084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latin typeface="+mn-lt"/>
              </a:rPr>
              <a:t>Chen und Mahin (2010) 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943736BA-0C2C-368E-6D46-D6B1D24DE12A}"/>
              </a:ext>
            </a:extLst>
          </p:cNvPr>
          <p:cNvSpPr txBox="1"/>
          <p:nvPr/>
        </p:nvSpPr>
        <p:spPr>
          <a:xfrm>
            <a:off x="805604" y="4034671"/>
            <a:ext cx="6084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latin typeface="+mn-lt"/>
              </a:rPr>
              <a:t>Hwang und </a:t>
            </a:r>
            <a:r>
              <a:rPr lang="de-DE" dirty="0" err="1">
                <a:latin typeface="+mn-lt"/>
              </a:rPr>
              <a:t>Lignos</a:t>
            </a:r>
            <a:r>
              <a:rPr lang="de-DE" dirty="0">
                <a:latin typeface="+mn-lt"/>
              </a:rPr>
              <a:t> (2014)</a:t>
            </a:r>
          </a:p>
        </p:txBody>
      </p:sp>
      <p:sp>
        <p:nvSpPr>
          <p:cNvPr id="23" name="Inhaltsplatzhalter 22">
            <a:extLst>
              <a:ext uri="{FF2B5EF4-FFF2-40B4-BE49-F238E27FC236}">
                <a16:creationId xmlns:a16="http://schemas.microsoft.com/office/drawing/2014/main" id="{D852DCF2-AAF9-E20D-348C-F11C11B67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1" y="1044005"/>
            <a:ext cx="5896798" cy="507580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4 CBF-Rahmen wurde in der USA Bemessen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610F1131-2E6A-9113-56C3-E3BA87FE8ADD}"/>
              </a:ext>
            </a:extLst>
          </p:cNvPr>
          <p:cNvSpPr txBox="1"/>
          <p:nvPr/>
        </p:nvSpPr>
        <p:spPr>
          <a:xfrm>
            <a:off x="7216919" y="4870477"/>
            <a:ext cx="4515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3s_CBF_DC2_41: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Ratio Se = </a:t>
            </a:r>
            <a:r>
              <a:rPr lang="de-DE" b="1" dirty="0">
                <a:solidFill>
                  <a:srgbClr val="FF0000"/>
                </a:solidFill>
                <a:latin typeface="Futura LT Pro Light" panose="020B0402020204020303" pitchFamily="34" charset="0"/>
                <a:cs typeface="+mn-cs"/>
              </a:rPr>
              <a:t>3,75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Cs = 0.25</a:t>
            </a: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A17DA203-D8CC-8A7C-050D-C2212890E3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9106" y="5017773"/>
            <a:ext cx="1076475" cy="628738"/>
          </a:xfrm>
          <a:prstGeom prst="rect">
            <a:avLst/>
          </a:prstGeom>
        </p:spPr>
      </p:pic>
      <p:sp>
        <p:nvSpPr>
          <p:cNvPr id="27" name="Rechteck 26">
            <a:extLst>
              <a:ext uri="{FF2B5EF4-FFF2-40B4-BE49-F238E27FC236}">
                <a16:creationId xmlns:a16="http://schemas.microsoft.com/office/drawing/2014/main" id="{DE6FF675-341F-F8D8-0E4F-9925F90DB831}"/>
              </a:ext>
            </a:extLst>
          </p:cNvPr>
          <p:cNvSpPr/>
          <p:nvPr/>
        </p:nvSpPr>
        <p:spPr>
          <a:xfrm>
            <a:off x="5580831" y="2628181"/>
            <a:ext cx="1080120" cy="6281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D207A039-F601-4014-C28D-69CF1536BE4B}"/>
              </a:ext>
            </a:extLst>
          </p:cNvPr>
          <p:cNvSpPr/>
          <p:nvPr/>
        </p:nvSpPr>
        <p:spPr>
          <a:xfrm>
            <a:off x="5086274" y="4715892"/>
            <a:ext cx="1080120" cy="6281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68441889-41E2-7B28-A700-F9A301562B7E}"/>
              </a:ext>
            </a:extLst>
          </p:cNvPr>
          <p:cNvSpPr txBox="1"/>
          <p:nvPr/>
        </p:nvSpPr>
        <p:spPr>
          <a:xfrm>
            <a:off x="7309023" y="5868541"/>
            <a:ext cx="4423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  <a:sym typeface="Wingdings" panose="05000000000000000000" pitchFamily="2" charset="2"/>
              </a:rPr>
              <a:t> erscheint Ok. zu sein</a:t>
            </a: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9961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D2BD1AF-DBDA-D62B-47AA-F2C897EDD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Dämpfungsmodell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D1F07C2A-88C6-D4FD-97DA-B84F6DDE02BB}"/>
              </a:ext>
            </a:extLst>
          </p:cNvPr>
          <p:cNvGrpSpPr/>
          <p:nvPr/>
        </p:nvGrpSpPr>
        <p:grpSpPr>
          <a:xfrm>
            <a:off x="330551" y="1911721"/>
            <a:ext cx="4793278" cy="4388868"/>
            <a:chOff x="420739" y="890116"/>
            <a:chExt cx="4793278" cy="4388868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72D0ABC9-3C16-8B1F-6E59-62DC837EDE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739" y="1044005"/>
              <a:ext cx="4734586" cy="2010056"/>
            </a:xfrm>
            <a:prstGeom prst="rect">
              <a:avLst/>
            </a:prstGeom>
          </p:spPr>
        </p:pic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1EBFEFC8-58CA-0FE1-5EF1-112C4AED73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1800" y="3211771"/>
              <a:ext cx="4782217" cy="2067213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30096365-E282-9944-FBCD-ACB8D35D533F}"/>
                </a:ext>
              </a:extLst>
            </p:cNvPr>
            <p:cNvSpPr txBox="1"/>
            <p:nvPr/>
          </p:nvSpPr>
          <p:spPr>
            <a:xfrm>
              <a:off x="1116335" y="890116"/>
              <a:ext cx="19442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b="1" dirty="0">
                  <a:solidFill>
                    <a:srgbClr val="333333"/>
                  </a:solidFill>
                  <a:latin typeface="Futura LT Pro Light" panose="020B0402020204020303" pitchFamily="34" charset="0"/>
                  <a:cs typeface="+mn-cs"/>
                </a:rPr>
                <a:t>Rayleigh Initial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62FA00F0-3058-1098-2637-A8FF12A5CE26}"/>
                </a:ext>
              </a:extLst>
            </p:cNvPr>
            <p:cNvSpPr txBox="1"/>
            <p:nvPr/>
          </p:nvSpPr>
          <p:spPr>
            <a:xfrm>
              <a:off x="1044327" y="3112492"/>
              <a:ext cx="23042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b="1" dirty="0">
                  <a:solidFill>
                    <a:srgbClr val="333333"/>
                  </a:solidFill>
                  <a:latin typeface="Futura LT Pro Light" panose="020B0402020204020303" pitchFamily="34" charset="0"/>
                  <a:cs typeface="+mn-cs"/>
                </a:rPr>
                <a:t>Rayleigh Tangent (</a:t>
              </a:r>
              <a:r>
                <a:rPr lang="de-DE" sz="1400" b="1" dirty="0" err="1">
                  <a:solidFill>
                    <a:srgbClr val="333333"/>
                  </a:solidFill>
                  <a:latin typeface="Futura LT Pro Light" panose="020B0402020204020303" pitchFamily="34" charset="0"/>
                  <a:cs typeface="+mn-cs"/>
                </a:rPr>
                <a:t>mod</a:t>
              </a:r>
              <a:r>
                <a:rPr lang="de-DE" sz="1400" b="1" dirty="0">
                  <a:solidFill>
                    <a:srgbClr val="333333"/>
                  </a:solidFill>
                  <a:latin typeface="Futura LT Pro Light" panose="020B0402020204020303" pitchFamily="34" charset="0"/>
                  <a:cs typeface="+mn-cs"/>
                </a:rPr>
                <a:t>)</a:t>
              </a:r>
            </a:p>
          </p:txBody>
        </p:sp>
      </p:grpSp>
      <p:sp>
        <p:nvSpPr>
          <p:cNvPr id="12" name="Textfeld 11">
            <a:extLst>
              <a:ext uri="{FF2B5EF4-FFF2-40B4-BE49-F238E27FC236}">
                <a16:creationId xmlns:a16="http://schemas.microsoft.com/office/drawing/2014/main" id="{0D4387EF-4AA7-CD0B-A7AD-5E7CEFEC6CE8}"/>
              </a:ext>
            </a:extLst>
          </p:cNvPr>
          <p:cNvSpPr txBox="1"/>
          <p:nvPr/>
        </p:nvSpPr>
        <p:spPr>
          <a:xfrm>
            <a:off x="1186547" y="1620969"/>
            <a:ext cx="4143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From</a:t>
            </a: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Karamanci and </a:t>
            </a:r>
            <a:r>
              <a:rPr lang="de-DE" sz="14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Lignos</a:t>
            </a: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(2014)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D7A5414F-E03B-5DAD-6D25-3AC178C5B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2959" y="1219687"/>
            <a:ext cx="6230219" cy="2200582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DF2725C5-2CA0-084A-3547-D62991DFEE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7439" y="3567990"/>
            <a:ext cx="5253790" cy="2729348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07254F06-AE17-4FB7-98A6-96FDD85C1464}"/>
              </a:ext>
            </a:extLst>
          </p:cNvPr>
          <p:cNvSpPr txBox="1"/>
          <p:nvPr/>
        </p:nvSpPr>
        <p:spPr>
          <a:xfrm>
            <a:off x="7165007" y="1219687"/>
            <a:ext cx="4176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From</a:t>
            </a: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Chopra and McKenna (2016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0064702-9CB4-14B6-1B72-FA099A72DE88}"/>
              </a:ext>
            </a:extLst>
          </p:cNvPr>
          <p:cNvSpPr txBox="1"/>
          <p:nvPr/>
        </p:nvSpPr>
        <p:spPr>
          <a:xfrm>
            <a:off x="357015" y="923419"/>
            <a:ext cx="62302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Zu große </a:t>
            </a:r>
            <a:r>
              <a:rPr lang="de-DE" b="1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Dämfungskräfte</a:t>
            </a:r>
            <a:r>
              <a:rPr lang="de-DE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wegen Steifigkeitsänderung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Ziel: prüfe das Dämpfungsmodell, die ich verwende</a:t>
            </a:r>
          </a:p>
        </p:txBody>
      </p:sp>
    </p:spTree>
    <p:extLst>
      <p:ext uri="{BB962C8B-B14F-4D97-AF65-F5344CB8AC3E}">
        <p14:creationId xmlns:p14="http://schemas.microsoft.com/office/powerpoint/2010/main" val="2381091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0A45618-42BD-F629-3935-1670E2AF7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Dämpfüngsmodell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D0BE283-4B61-40A4-F268-B5F6D95D1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535" y="1260029"/>
            <a:ext cx="601980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38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447C5-F439-60C1-F1E8-D4D48044A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8965A696-A999-CC2E-15E3-82D90BAA2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1" y="2245410"/>
            <a:ext cx="5400000" cy="2672999"/>
          </a:xfrm>
          <a:prstGeom prst="rect">
            <a:avLst/>
          </a:prstGeom>
          <a:noFill/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47801349-CE20-2DD8-7659-9746AE16E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288725"/>
            <a:ext cx="11312525" cy="576263"/>
          </a:xfrm>
        </p:spPr>
        <p:txBody>
          <a:bodyPr wrap="square" anchor="t">
            <a:normAutofit/>
          </a:bodyPr>
          <a:lstStyle/>
          <a:p>
            <a:r>
              <a:rPr lang="de-DE" dirty="0" err="1"/>
              <a:t>Dämpfüngsmodell</a:t>
            </a: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87BC963-DB0F-C929-C103-714C904A4171}"/>
              </a:ext>
            </a:extLst>
          </p:cNvPr>
          <p:cNvSpPr txBox="1"/>
          <p:nvPr/>
        </p:nvSpPr>
        <p:spPr>
          <a:xfrm>
            <a:off x="2489551" y="1566316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u="sng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Rayleigh Initial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B7EA47F-CCC7-8185-0C25-1E9C1C911C88}"/>
              </a:ext>
            </a:extLst>
          </p:cNvPr>
          <p:cNvSpPr txBox="1"/>
          <p:nvPr/>
        </p:nvSpPr>
        <p:spPr>
          <a:xfrm>
            <a:off x="1764407" y="2055892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SF = 2.0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5C46AC3-FC77-FEC9-119C-3084709E41F9}"/>
              </a:ext>
            </a:extLst>
          </p:cNvPr>
          <p:cNvSpPr txBox="1"/>
          <p:nvPr/>
        </p:nvSpPr>
        <p:spPr>
          <a:xfrm>
            <a:off x="4202631" y="2055891"/>
            <a:ext cx="874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SF = 3.46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07022BE-AEF9-507E-216B-76D8FA235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887" y="2245410"/>
            <a:ext cx="5402838" cy="2676836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D31E5CFD-5CAC-C0E0-3455-3842959914E4}"/>
              </a:ext>
            </a:extLst>
          </p:cNvPr>
          <p:cNvSpPr txBox="1"/>
          <p:nvPr/>
        </p:nvSpPr>
        <p:spPr>
          <a:xfrm>
            <a:off x="8245127" y="1574355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u="sng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Modal (12)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DAA88F6-C7C6-C9C8-E89E-6D4173589F98}"/>
              </a:ext>
            </a:extLst>
          </p:cNvPr>
          <p:cNvSpPr txBox="1"/>
          <p:nvPr/>
        </p:nvSpPr>
        <p:spPr>
          <a:xfrm>
            <a:off x="7519983" y="2063931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SF = 2.0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927E068-452E-FC3C-E3BB-98645528F5C8}"/>
              </a:ext>
            </a:extLst>
          </p:cNvPr>
          <p:cNvSpPr txBox="1"/>
          <p:nvPr/>
        </p:nvSpPr>
        <p:spPr>
          <a:xfrm>
            <a:off x="9958207" y="2063930"/>
            <a:ext cx="874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SF = 3.46</a:t>
            </a:r>
          </a:p>
        </p:txBody>
      </p:sp>
    </p:spTree>
    <p:extLst>
      <p:ext uri="{BB962C8B-B14F-4D97-AF65-F5344CB8AC3E}">
        <p14:creationId xmlns:p14="http://schemas.microsoft.com/office/powerpoint/2010/main" val="786447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8A67404-44FF-55EB-BBE0-AC20FC4BD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A973D6A-B1AF-BAB3-A15B-FAA5134BD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279" y="1476053"/>
            <a:ext cx="4695825" cy="43434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B67E721-9A10-7C4D-B25F-AD30E104C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831" y="1548061"/>
            <a:ext cx="5894946" cy="3497002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36697B1A-6BD3-AA13-F7F1-94045F58B1B4}"/>
              </a:ext>
            </a:extLst>
          </p:cNvPr>
          <p:cNvSpPr txBox="1"/>
          <p:nvPr/>
        </p:nvSpPr>
        <p:spPr>
          <a:xfrm>
            <a:off x="6012879" y="1291387"/>
            <a:ext cx="2952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From</a:t>
            </a: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Qian et al. (2020)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6D8C1F4E-1AFC-4211-CD49-03EE95486920}"/>
                  </a:ext>
                </a:extLst>
              </p:cNvPr>
              <p:cNvSpPr txBox="1"/>
              <p:nvPr/>
            </p:nvSpPr>
            <p:spPr>
              <a:xfrm>
                <a:off x="5004767" y="5311871"/>
                <a:ext cx="2952328" cy="7579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400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Ideale: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14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14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de-DE" sz="140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𝑉</m:t>
                            </m:r>
                          </m:e>
                          <m:sub>
                            <m:r>
                              <a:rPr lang="de-DE" sz="14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14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de-DE" sz="140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𝑉</m:t>
                            </m:r>
                          </m:e>
                          <m:sub>
                            <m:r>
                              <a:rPr lang="de-DE" sz="14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𝑆</m:t>
                            </m:r>
                          </m:sub>
                        </m:sSub>
                      </m:den>
                    </m:f>
                    <m:r>
                      <a:rPr lang="de-DE" sz="1400" b="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+mn-cs"/>
                      </a:rPr>
                      <m:t>≅</m:t>
                    </m:r>
                    <m:r>
                      <a:rPr lang="de-DE" sz="140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+mn-cs"/>
                      </a:rPr>
                      <m:t> 2</m:t>
                    </m:r>
                    <m:r>
                      <a:rPr lang="de-DE" sz="1400" b="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+mn-cs"/>
                      </a:rPr>
                      <m:t>∙</m:t>
                    </m:r>
                    <m:r>
                      <a:rPr lang="de-DE" sz="1400" b="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+mn-cs"/>
                      </a:rPr>
                      <m:t>𝜉</m:t>
                    </m:r>
                    <m:r>
                      <a:rPr lang="de-DE" sz="1400" b="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+mn-cs"/>
                      </a:rPr>
                      <m:t>=0,1</m:t>
                    </m:r>
                  </m:oMath>
                </a14:m>
                <a:endParaRPr lang="de-DE" sz="1400" b="0" dirty="0">
                  <a:solidFill>
                    <a:srgbClr val="333333"/>
                  </a:solidFill>
                  <a:latin typeface="Futura LT Pro Light" panose="020B0402020204020303" pitchFamily="34" charset="0"/>
                  <a:cs typeface="+mn-cs"/>
                </a:endParaRPr>
              </a:p>
              <a:p>
                <a:r>
                  <a:rPr lang="de-DE" sz="1400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Realistisch (?):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140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1400" i="1" dirty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i="1" dirty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sz="1400" i="1" dirty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1400" i="1" dirty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i="1" dirty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sz="1400" i="1" dirty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den>
                    </m:f>
                    <m:r>
                      <a:rPr lang="de-DE" sz="140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≅</m:t>
                    </m:r>
                    <m:r>
                      <a:rPr lang="de-DE" sz="1400" b="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4,5</m:t>
                    </m:r>
                    <m:r>
                      <a:rPr lang="de-DE" sz="140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a:rPr lang="de-DE" sz="140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𝜉</m:t>
                    </m:r>
                    <m:r>
                      <a:rPr lang="de-DE" sz="1400" b="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=22,5?</m:t>
                    </m:r>
                  </m:oMath>
                </a14:m>
                <a:endParaRPr lang="de-DE" sz="1400" dirty="0">
                  <a:solidFill>
                    <a:srgbClr val="333333"/>
                  </a:solidFill>
                  <a:latin typeface="Futura LT Pro Light" panose="020B0402020204020303" pitchFamily="34" charset="0"/>
                  <a:cs typeface="+mn-cs"/>
                </a:endParaRPr>
              </a:p>
            </p:txBody>
          </p:sp>
        </mc:Choice>
        <mc:Fallback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6D8C1F4E-1AFC-4211-CD49-03EE95486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767" y="5311871"/>
                <a:ext cx="2952328" cy="757900"/>
              </a:xfrm>
              <a:prstGeom prst="rect">
                <a:avLst/>
              </a:prstGeom>
              <a:blipFill>
                <a:blip r:embed="rId4"/>
                <a:stretch>
                  <a:fillRect l="-62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DC08EC22-ACE0-CBDC-07EF-936A09D40EE1}"/>
                  </a:ext>
                </a:extLst>
              </p:cNvPr>
              <p:cNvSpPr txBox="1"/>
              <p:nvPr/>
            </p:nvSpPr>
            <p:spPr>
              <a:xfrm>
                <a:off x="8588725" y="5331107"/>
                <a:ext cx="2952328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400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Karamanci and </a:t>
                </a:r>
                <a:r>
                  <a:rPr lang="de-DE" sz="1400" dirty="0" err="1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Lignos</a:t>
                </a:r>
                <a:r>
                  <a:rPr lang="de-DE" sz="1400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 </a:t>
                </a:r>
                <a:r>
                  <a:rPr lang="de-DE" sz="1400" dirty="0" err="1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did</a:t>
                </a:r>
                <a:r>
                  <a:rPr lang="de-DE" sz="1400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 not </a:t>
                </a:r>
                <a:r>
                  <a:rPr lang="de-DE" sz="1400" dirty="0" err="1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accept</a:t>
                </a:r>
                <a:r>
                  <a:rPr lang="de-DE" sz="1400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 </a:t>
                </a:r>
                <a:r>
                  <a:rPr lang="de-DE" sz="1400" dirty="0" err="1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damping</a:t>
                </a:r>
                <a:r>
                  <a:rPr lang="de-DE" sz="1400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 </a:t>
                </a:r>
                <a:r>
                  <a:rPr lang="de-DE" sz="1400" dirty="0" err="1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forces</a:t>
                </a:r>
                <a:r>
                  <a:rPr lang="de-DE" sz="1400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 </a:t>
                </a:r>
                <a:r>
                  <a:rPr lang="de-DE" sz="1400" dirty="0" err="1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that</a:t>
                </a:r>
                <a:r>
                  <a:rPr lang="de-DE" sz="1400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 high, </a:t>
                </a:r>
                <a:r>
                  <a:rPr lang="de-DE" sz="1400" dirty="0" err="1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although</a:t>
                </a:r>
                <a:r>
                  <a:rPr lang="de-DE" sz="1400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 </a:t>
                </a:r>
                <a:r>
                  <a:rPr lang="de-DE" sz="1400" dirty="0" err="1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the</a:t>
                </a:r>
                <a:r>
                  <a:rPr lang="de-DE" sz="1400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 </a:t>
                </a:r>
                <a:r>
                  <a:rPr lang="de-DE" sz="1400" dirty="0" err="1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had</a:t>
                </a:r>
                <a:r>
                  <a:rPr lang="de-DE" sz="1400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de-DE" sz="1400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+mn-cs"/>
                      </a:rPr>
                      <m:t>𝜉</m:t>
                    </m:r>
                    <m:r>
                      <a:rPr lang="de-DE" sz="1400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+mn-cs"/>
                      </a:rPr>
                      <m:t>=2%</m:t>
                    </m:r>
                  </m:oMath>
                </a14:m>
                <a:endParaRPr lang="de-DE" sz="1400" dirty="0">
                  <a:solidFill>
                    <a:srgbClr val="333333"/>
                  </a:solidFill>
                  <a:latin typeface="Futura LT Pro Light" panose="020B0402020204020303" pitchFamily="34" charset="0"/>
                  <a:cs typeface="+mn-cs"/>
                </a:endParaRPr>
              </a:p>
            </p:txBody>
          </p:sp>
        </mc:Choice>
        <mc:Fallback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DC08EC22-ACE0-CBDC-07EF-936A09D40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725" y="5331107"/>
                <a:ext cx="2952328" cy="738664"/>
              </a:xfrm>
              <a:prstGeom prst="rect">
                <a:avLst/>
              </a:prstGeom>
              <a:blipFill>
                <a:blip r:embed="rId5"/>
                <a:stretch>
                  <a:fillRect l="-620" t="-1653" b="-74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9148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02AEF-2E80-8BB5-AFC6-8D46B173D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15F4E7E-C027-957D-88DB-C243982A3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1" y="2988221"/>
            <a:ext cx="11312525" cy="576263"/>
          </a:xfrm>
        </p:spPr>
        <p:txBody>
          <a:bodyPr/>
          <a:lstStyle/>
          <a:p>
            <a:r>
              <a:rPr lang="de-DE" dirty="0"/>
              <a:t>Zufallsvariable für das Modell</a:t>
            </a:r>
          </a:p>
        </p:txBody>
      </p:sp>
    </p:spTree>
    <p:extLst>
      <p:ext uri="{BB962C8B-B14F-4D97-AF65-F5344CB8AC3E}">
        <p14:creationId xmlns:p14="http://schemas.microsoft.com/office/powerpoint/2010/main" val="454676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C49F7EC-B8FA-A3D3-1292-F809509E0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Zufallsvariable für das Modell</a:t>
            </a: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A81AE255-3D68-1566-70B2-3ED35505B141}"/>
              </a:ext>
            </a:extLst>
          </p:cNvPr>
          <p:cNvGrpSpPr/>
          <p:nvPr/>
        </p:nvGrpSpPr>
        <p:grpSpPr>
          <a:xfrm>
            <a:off x="6081702" y="1976289"/>
            <a:ext cx="2171457" cy="2866975"/>
            <a:chOff x="5905962" y="1407865"/>
            <a:chExt cx="2171457" cy="2866975"/>
          </a:xfrm>
        </p:grpSpPr>
        <p:sp>
          <p:nvSpPr>
            <p:cNvPr id="6" name="Geschweifte Klammer rechts 5">
              <a:extLst>
                <a:ext uri="{FF2B5EF4-FFF2-40B4-BE49-F238E27FC236}">
                  <a16:creationId xmlns:a16="http://schemas.microsoft.com/office/drawing/2014/main" id="{A04C31CC-EEF5-C312-57F2-586EE6DE86EE}"/>
                </a:ext>
              </a:extLst>
            </p:cNvPr>
            <p:cNvSpPr/>
            <p:nvPr/>
          </p:nvSpPr>
          <p:spPr>
            <a:xfrm>
              <a:off x="5905962" y="3842792"/>
              <a:ext cx="149603" cy="432048"/>
            </a:xfrm>
            <a:prstGeom prst="rightBrac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Geschweifte Klammer rechts 6">
              <a:extLst>
                <a:ext uri="{FF2B5EF4-FFF2-40B4-BE49-F238E27FC236}">
                  <a16:creationId xmlns:a16="http://schemas.microsoft.com/office/drawing/2014/main" id="{8B481F79-468B-7EAC-9C78-E51A478EC0BE}"/>
                </a:ext>
              </a:extLst>
            </p:cNvPr>
            <p:cNvSpPr/>
            <p:nvPr/>
          </p:nvSpPr>
          <p:spPr>
            <a:xfrm>
              <a:off x="5920376" y="1407865"/>
              <a:ext cx="149603" cy="432048"/>
            </a:xfrm>
            <a:prstGeom prst="rightBrac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B74C8792-F656-0F66-4532-08B3D827FB8D}"/>
                </a:ext>
              </a:extLst>
            </p:cNvPr>
            <p:cNvSpPr txBox="1"/>
            <p:nvPr/>
          </p:nvSpPr>
          <p:spPr>
            <a:xfrm>
              <a:off x="6055565" y="1439223"/>
              <a:ext cx="20162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  <a:latin typeface="Futura LT Pro Light" panose="020B0402020204020303" pitchFamily="34" charset="0"/>
                  <a:cs typeface="+mn-cs"/>
                </a:rPr>
                <a:t>Korrelation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C5E437E0-C93F-6E0F-6D89-F2AC8AF234D2}"/>
                </a:ext>
              </a:extLst>
            </p:cNvPr>
            <p:cNvSpPr txBox="1"/>
            <p:nvPr/>
          </p:nvSpPr>
          <p:spPr>
            <a:xfrm>
              <a:off x="6061195" y="3874150"/>
              <a:ext cx="20162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  <a:latin typeface="Futura LT Pro Light" panose="020B0402020204020303" pitchFamily="34" charset="0"/>
                  <a:cs typeface="+mn-cs"/>
                </a:rPr>
                <a:t>Korrelation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FEA21FFE-3210-3686-3D20-71C4EB4B322C}"/>
                  </a:ext>
                </a:extLst>
              </p:cNvPr>
              <p:cNvSpPr txBox="1"/>
              <p:nvPr/>
            </p:nvSpPr>
            <p:spPr>
              <a:xfrm>
                <a:off x="8304104" y="3852317"/>
                <a:ext cx="3253391" cy="298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𝑁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𝑣𝑎𝑟</m:t>
                          </m:r>
                        </m:sub>
                      </m:sSub>
                      <m:r>
                        <a:rPr lang="de-DE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2∙</m:t>
                          </m:r>
                          <m: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𝐴</m:t>
                          </m:r>
                          <m: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𝐵</m:t>
                          </m:r>
                        </m:e>
                      </m:d>
                      <m:r>
                        <a:rPr lang="de-DE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+mn-cs"/>
                        </a:rPr>
                        <m:t>∙</m:t>
                      </m:r>
                      <m:sSub>
                        <m:sSubPr>
                          <m:ctrlP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𝑠𝑡𝑜𝑟𝑒𝑦𝑠</m:t>
                          </m:r>
                        </m:sub>
                      </m:sSub>
                      <m:r>
                        <a:rPr lang="de-DE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lang="de-DE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𝐶</m:t>
                      </m:r>
                    </m:oMath>
                  </m:oMathPara>
                </a14:m>
                <a:endParaRPr lang="de-DE" dirty="0">
                  <a:solidFill>
                    <a:srgbClr val="333333"/>
                  </a:solidFill>
                  <a:latin typeface="Futura LT Pro Light" panose="020B0402020204020303" pitchFamily="34" charset="0"/>
                  <a:cs typeface="+mn-cs"/>
                </a:endParaRPr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FEA21FFE-3210-3686-3D20-71C4EB4B3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4104" y="3852317"/>
                <a:ext cx="3253391" cy="298928"/>
              </a:xfrm>
              <a:prstGeom prst="rect">
                <a:avLst/>
              </a:prstGeom>
              <a:blipFill>
                <a:blip r:embed="rId4"/>
                <a:stretch>
                  <a:fillRect l="-936" r="-936" b="-2244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C32E94CA-409E-D049-73F1-9940B4F376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136175"/>
              </p:ext>
            </p:extLst>
          </p:nvPr>
        </p:nvGraphicFramePr>
        <p:xfrm>
          <a:off x="8302814" y="4274840"/>
          <a:ext cx="3253391" cy="76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3677">
                  <a:extLst>
                    <a:ext uri="{9D8B030D-6E8A-4147-A177-3AD203B41FA5}">
                      <a16:colId xmlns:a16="http://schemas.microsoft.com/office/drawing/2014/main" val="265522320"/>
                    </a:ext>
                  </a:extLst>
                </a:gridCol>
                <a:gridCol w="401572">
                  <a:extLst>
                    <a:ext uri="{9D8B030D-6E8A-4147-A177-3AD203B41FA5}">
                      <a16:colId xmlns:a16="http://schemas.microsoft.com/office/drawing/2014/main" val="1385705963"/>
                    </a:ext>
                  </a:extLst>
                </a:gridCol>
                <a:gridCol w="644260">
                  <a:extLst>
                    <a:ext uri="{9D8B030D-6E8A-4147-A177-3AD203B41FA5}">
                      <a16:colId xmlns:a16="http://schemas.microsoft.com/office/drawing/2014/main" val="4269333671"/>
                    </a:ext>
                  </a:extLst>
                </a:gridCol>
                <a:gridCol w="673882">
                  <a:extLst>
                    <a:ext uri="{9D8B030D-6E8A-4147-A177-3AD203B41FA5}">
                      <a16:colId xmlns:a16="http://schemas.microsoft.com/office/drawing/2014/main" val="299973344"/>
                    </a:ext>
                  </a:extLst>
                </a:gridCol>
              </a:tblGrid>
              <a:tr h="108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DE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Anzahl Stockwerke</a:t>
                      </a:r>
                      <a:endParaRPr lang="de-DE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de-DE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de-DE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849067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DE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de-DE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de-DE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de-DE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364562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100" u="none" strike="noStrike" dirty="0">
                          <a:effectLst/>
                        </a:rPr>
                        <a:t>Alle Variablen</a:t>
                      </a:r>
                      <a:endParaRPr lang="de-DE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400" u="sng" strike="noStrike" dirty="0">
                          <a:solidFill>
                            <a:srgbClr val="FF0000"/>
                          </a:solidFill>
                          <a:effectLst/>
                        </a:rPr>
                        <a:t>35</a:t>
                      </a:r>
                      <a:endParaRPr lang="de-DE" sz="1400" b="0" i="0" u="sng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400" u="sng" strike="noStrike" dirty="0">
                          <a:solidFill>
                            <a:srgbClr val="FF0000"/>
                          </a:solidFill>
                          <a:effectLst/>
                        </a:rPr>
                        <a:t>57</a:t>
                      </a:r>
                      <a:endParaRPr lang="de-DE" sz="1400" b="0" i="0" u="sng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400" u="sng" strike="noStrike" dirty="0">
                          <a:solidFill>
                            <a:srgbClr val="FF0000"/>
                          </a:solidFill>
                          <a:effectLst/>
                        </a:rPr>
                        <a:t>79</a:t>
                      </a:r>
                      <a:endParaRPr lang="de-DE" sz="1400" b="0" i="0" u="sng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860634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100" u="none" strike="noStrike" dirty="0">
                          <a:effectLst/>
                        </a:rPr>
                        <a:t>(ohne Gewichte)</a:t>
                      </a:r>
                      <a:endParaRPr lang="de-D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100" u="none" strike="noStrike" dirty="0">
                          <a:effectLst/>
                        </a:rPr>
                        <a:t>29</a:t>
                      </a:r>
                      <a:endParaRPr lang="de-D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100" u="none" strike="noStrike" dirty="0">
                          <a:effectLst/>
                        </a:rPr>
                        <a:t>47</a:t>
                      </a:r>
                      <a:endParaRPr lang="de-D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100" u="none" strike="noStrike" dirty="0">
                          <a:effectLst/>
                        </a:rPr>
                        <a:t>65</a:t>
                      </a:r>
                      <a:endParaRPr lang="de-D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9106020"/>
                  </a:ext>
                </a:extLst>
              </a:tr>
            </a:tbl>
          </a:graphicData>
        </a:graphic>
      </p:graphicFrame>
      <p:sp>
        <p:nvSpPr>
          <p:cNvPr id="14" name="Textfeld 13">
            <a:extLst>
              <a:ext uri="{FF2B5EF4-FFF2-40B4-BE49-F238E27FC236}">
                <a16:creationId xmlns:a16="http://schemas.microsoft.com/office/drawing/2014/main" id="{202DC549-C20B-3EEA-4AC0-0E81D95B2207}"/>
              </a:ext>
            </a:extLst>
          </p:cNvPr>
          <p:cNvSpPr txBox="1"/>
          <p:nvPr/>
        </p:nvSpPr>
        <p:spPr>
          <a:xfrm>
            <a:off x="8660527" y="128552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B6B4849-9B1E-FBA8-2CE4-A7F6AA87CC13}"/>
              </a:ext>
            </a:extLst>
          </p:cNvPr>
          <p:cNvSpPr txBox="1"/>
          <p:nvPr/>
        </p:nvSpPr>
        <p:spPr>
          <a:xfrm>
            <a:off x="9728544" y="128552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B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BB49D80-9AF1-5985-736B-42AF4C93206D}"/>
              </a:ext>
            </a:extLst>
          </p:cNvPr>
          <p:cNvSpPr txBox="1"/>
          <p:nvPr/>
        </p:nvSpPr>
        <p:spPr>
          <a:xfrm>
            <a:off x="10754684" y="128552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C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B9E2472-ED55-559C-6C6B-C4D0250C64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212" y="1644804"/>
            <a:ext cx="5671445" cy="3493609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C899C846-F899-1A22-FDE3-9AC61F4FD8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612" y="1688827"/>
            <a:ext cx="2819794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364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7FDB14B-C251-4E0A-C0FD-C6D66C0BE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3025F33-300C-0118-2FAC-2404AAF0F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487" y="1510352"/>
            <a:ext cx="6989234" cy="381983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CF2AEED4-B324-B588-6241-7A879DD798D1}"/>
                  </a:ext>
                </a:extLst>
              </p:cNvPr>
              <p:cNvSpPr txBox="1"/>
              <p:nvPr/>
            </p:nvSpPr>
            <p:spPr>
              <a:xfrm>
                <a:off x="6444927" y="2052858"/>
                <a:ext cx="13681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𝜎</m:t>
                      </m:r>
                      <m:r>
                        <a:rPr lang="de-DE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=0.8</m:t>
                      </m:r>
                    </m:oMath>
                  </m:oMathPara>
                </a14:m>
                <a:endParaRPr lang="de-DE" dirty="0">
                  <a:solidFill>
                    <a:srgbClr val="333333"/>
                  </a:solidFill>
                  <a:latin typeface="Futura LT Pro Light" panose="020B0402020204020303" pitchFamily="34" charset="0"/>
                  <a:cs typeface="+mn-cs"/>
                </a:endParaRPr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CF2AEED4-B324-B588-6241-7A879DD79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4927" y="2052858"/>
                <a:ext cx="136815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feld 7">
            <a:extLst>
              <a:ext uri="{FF2B5EF4-FFF2-40B4-BE49-F238E27FC236}">
                <a16:creationId xmlns:a16="http://schemas.microsoft.com/office/drawing/2014/main" id="{DDAAC898-DF2A-222A-A58E-546CFBDAA917}"/>
              </a:ext>
            </a:extLst>
          </p:cNvPr>
          <p:cNvSpPr txBox="1"/>
          <p:nvPr/>
        </p:nvSpPr>
        <p:spPr>
          <a:xfrm>
            <a:off x="4284687" y="1356463"/>
            <a:ext cx="2952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From</a:t>
            </a: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Bernal et al. (2015)</a:t>
            </a:r>
          </a:p>
        </p:txBody>
      </p:sp>
    </p:spTree>
    <p:extLst>
      <p:ext uri="{BB962C8B-B14F-4D97-AF65-F5344CB8AC3E}">
        <p14:creationId xmlns:p14="http://schemas.microsoft.com/office/powerpoint/2010/main" val="3733418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4DE69-1D82-2A64-2F08-F4E0E573A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EF1C8B3-3942-5C1D-9C91-30447112E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1" y="2988221"/>
            <a:ext cx="11312525" cy="576263"/>
          </a:xfrm>
        </p:spPr>
        <p:txBody>
          <a:bodyPr/>
          <a:lstStyle/>
          <a:p>
            <a:r>
              <a:rPr lang="de-DE" dirty="0"/>
              <a:t>Ablaufplan</a:t>
            </a:r>
          </a:p>
        </p:txBody>
      </p:sp>
    </p:spTree>
    <p:extLst>
      <p:ext uri="{BB962C8B-B14F-4D97-AF65-F5344CB8AC3E}">
        <p14:creationId xmlns:p14="http://schemas.microsoft.com/office/powerpoint/2010/main" val="2100042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2765C-1D5C-F2CC-11E1-FA555563A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98F5396-93A7-160C-3149-3D485BB7B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1" y="2988221"/>
            <a:ext cx="11312525" cy="576263"/>
          </a:xfrm>
        </p:spPr>
        <p:txBody>
          <a:bodyPr/>
          <a:lstStyle/>
          <a:p>
            <a:r>
              <a:rPr lang="de-DE" dirty="0"/>
              <a:t>ECEE Paper</a:t>
            </a:r>
          </a:p>
        </p:txBody>
      </p:sp>
    </p:spTree>
    <p:extLst>
      <p:ext uri="{BB962C8B-B14F-4D97-AF65-F5344CB8AC3E}">
        <p14:creationId xmlns:p14="http://schemas.microsoft.com/office/powerpoint/2010/main" val="847381423"/>
      </p:ext>
    </p:extLst>
  </p:cSld>
  <p:clrMapOvr>
    <a:masterClrMapping/>
  </p:clrMapOvr>
</p:sld>
</file>

<file path=ppt/theme/theme1.xml><?xml version="1.0" encoding="utf-8"?>
<a:theme xmlns:a="http://schemas.openxmlformats.org/drawingml/2006/main" name="Wölfel-Master16x9_de_rev01">
  <a:themeElements>
    <a:clrScheme name="HSU Farben">
      <a:dk1>
        <a:srgbClr val="000000"/>
      </a:dk1>
      <a:lt1>
        <a:srgbClr val="FFFFFF"/>
      </a:lt1>
      <a:dk2>
        <a:srgbClr val="C00000"/>
      </a:dk2>
      <a:lt2>
        <a:srgbClr val="8C8279"/>
      </a:lt2>
      <a:accent1>
        <a:srgbClr val="FFC845"/>
      </a:accent1>
      <a:accent2>
        <a:srgbClr val="00263E"/>
      </a:accent2>
      <a:accent3>
        <a:srgbClr val="00685E"/>
      </a:accent3>
      <a:accent4>
        <a:srgbClr val="9F912A"/>
      </a:accent4>
      <a:accent5>
        <a:srgbClr val="BE6A14"/>
      </a:accent5>
      <a:accent6>
        <a:srgbClr val="BE3A34"/>
      </a:accent6>
      <a:hlink>
        <a:srgbClr val="7F7F7F"/>
      </a:hlink>
      <a:folHlink>
        <a:srgbClr val="595959"/>
      </a:folHlink>
    </a:clrScheme>
    <a:fontScheme name="Wölfel">
      <a:majorFont>
        <a:latin typeface="Futura LT Pro Book"/>
        <a:ea typeface=""/>
        <a:cs typeface=""/>
      </a:majorFont>
      <a:minorFont>
        <a:latin typeface="Futura LT Pro Book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  <a:ln>
          <a:noFill/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solidFill>
              <a:srgbClr val="333333"/>
            </a:solidFill>
            <a:latin typeface="Futura LT Pro Light" panose="020B0402020204020303" pitchFamily="34" charset="0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VL (002).pptx  -  Schreibgeschützt" id="{45838681-CEEC-43E9-93E0-6AC7B7F2B798}" vid="{92A8DBD5-76BA-4CE2-8716-ECAE39623A2C}"/>
    </a:ext>
  </a:extLst>
</a:theme>
</file>

<file path=ppt/theme/theme2.xml><?xml version="1.0" encoding="utf-8"?>
<a:theme xmlns:a="http://schemas.openxmlformats.org/drawingml/2006/main" name="1_Wölfel-Master16x9_de_rev01">
  <a:themeElements>
    <a:clrScheme name="HSU Farben">
      <a:dk1>
        <a:srgbClr val="000000"/>
      </a:dk1>
      <a:lt1>
        <a:srgbClr val="FFFFFF"/>
      </a:lt1>
      <a:dk2>
        <a:srgbClr val="C00000"/>
      </a:dk2>
      <a:lt2>
        <a:srgbClr val="8C8279"/>
      </a:lt2>
      <a:accent1>
        <a:srgbClr val="FFC845"/>
      </a:accent1>
      <a:accent2>
        <a:srgbClr val="00263E"/>
      </a:accent2>
      <a:accent3>
        <a:srgbClr val="00685E"/>
      </a:accent3>
      <a:accent4>
        <a:srgbClr val="9F912A"/>
      </a:accent4>
      <a:accent5>
        <a:srgbClr val="BE6A14"/>
      </a:accent5>
      <a:accent6>
        <a:srgbClr val="BE3A34"/>
      </a:accent6>
      <a:hlink>
        <a:srgbClr val="7F7F7F"/>
      </a:hlink>
      <a:folHlink>
        <a:srgbClr val="595959"/>
      </a:folHlink>
    </a:clrScheme>
    <a:fontScheme name="Wölfel">
      <a:majorFont>
        <a:latin typeface="Futura LT Pro Book"/>
        <a:ea typeface=""/>
        <a:cs typeface=""/>
      </a:majorFont>
      <a:minorFont>
        <a:latin typeface="Futura LT Pro Book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  <a:ln>
          <a:noFill/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solidFill>
              <a:srgbClr val="333333"/>
            </a:solidFill>
            <a:latin typeface="Futura LT Pro Light" panose="020B0402020204020303" pitchFamily="34" charset="0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VL (002).pptx  -  Schreibgeschützt" id="{45838681-CEEC-43E9-93E0-6AC7B7F2B798}" vid="{92A8DBD5-76BA-4CE2-8716-ECAE39623A2C}"/>
    </a:ext>
  </a:extLst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298</Words>
  <Application>Microsoft Office PowerPoint</Application>
  <PresentationFormat>Benutzerdefiniert</PresentationFormat>
  <Paragraphs>64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14</vt:i4>
      </vt:variant>
    </vt:vector>
  </HeadingPairs>
  <TitlesOfParts>
    <vt:vector size="24" baseType="lpstr">
      <vt:lpstr>Aptos Narrow</vt:lpstr>
      <vt:lpstr>Arial</vt:lpstr>
      <vt:lpstr>Calibri</vt:lpstr>
      <vt:lpstr>Cambria Math</vt:lpstr>
      <vt:lpstr>Century Gothic</vt:lpstr>
      <vt:lpstr>Futura Lt BT</vt:lpstr>
      <vt:lpstr>Futura LT Pro Book</vt:lpstr>
      <vt:lpstr>Futura LT Pro Light</vt:lpstr>
      <vt:lpstr>Wölfel-Master16x9_de_rev01</vt:lpstr>
      <vt:lpstr>1_Wölfel-Master16x9_de_rev01</vt:lpstr>
      <vt:lpstr>Promotion Update - 02.10.2025 NLTHA /Dämpfungsmodelle und Zufallsvariablen</vt:lpstr>
      <vt:lpstr>ECEE Besprechung</vt:lpstr>
      <vt:lpstr>Inspektion NLTHA Ergebnisse</vt:lpstr>
      <vt:lpstr>Stand nach der letzten Besprechung</vt:lpstr>
      <vt:lpstr>Vergleich Median Versagenskapazität</vt:lpstr>
      <vt:lpstr>Dämpfungsmodell</vt:lpstr>
      <vt:lpstr>Dämpfüngsmodell</vt:lpstr>
      <vt:lpstr>Dämpfüngsmodell</vt:lpstr>
      <vt:lpstr>PowerPoint-Präsentation</vt:lpstr>
      <vt:lpstr>Zufallsvariable für das Modell</vt:lpstr>
      <vt:lpstr>Zufallsvariable für das Modell</vt:lpstr>
      <vt:lpstr>PowerPoint-Präsentation</vt:lpstr>
      <vt:lpstr>Ablaufplan</vt:lpstr>
      <vt:lpstr>ECEE Paper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Jiangnan Chen</dc:creator>
  <cp:lastModifiedBy>Nicholas Aaron Clemett</cp:lastModifiedBy>
  <cp:revision>12</cp:revision>
  <cp:lastPrinted>2017-04-05T11:06:27Z</cp:lastPrinted>
  <dcterms:created xsi:type="dcterms:W3CDTF">2024-12-05T10:31:18Z</dcterms:created>
  <dcterms:modified xsi:type="dcterms:W3CDTF">2025-10-02T05:55:29Z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fd2079b-6d85-4185-8122-5cca51dad164_Enabled">
    <vt:lpwstr>true</vt:lpwstr>
  </property>
  <property fmtid="{D5CDD505-2E9C-101B-9397-08002B2CF9AE}" pid="3" name="MSIP_Label_8fd2079b-6d85-4185-8122-5cca51dad164_SetDate">
    <vt:lpwstr>2024-07-30T15:30:36Z</vt:lpwstr>
  </property>
  <property fmtid="{D5CDD505-2E9C-101B-9397-08002B2CF9AE}" pid="4" name="MSIP_Label_8fd2079b-6d85-4185-8122-5cca51dad164_Method">
    <vt:lpwstr>Standard</vt:lpwstr>
  </property>
  <property fmtid="{D5CDD505-2E9C-101B-9397-08002B2CF9AE}" pid="5" name="MSIP_Label_8fd2079b-6d85-4185-8122-5cca51dad164_Name">
    <vt:lpwstr>Öffentlich</vt:lpwstr>
  </property>
  <property fmtid="{D5CDD505-2E9C-101B-9397-08002B2CF9AE}" pid="6" name="MSIP_Label_8fd2079b-6d85-4185-8122-5cca51dad164_SiteId">
    <vt:lpwstr>5832f73f-b0fa-45a0-80d9-7e32bd7fa822</vt:lpwstr>
  </property>
  <property fmtid="{D5CDD505-2E9C-101B-9397-08002B2CF9AE}" pid="7" name="MSIP_Label_8fd2079b-6d85-4185-8122-5cca51dad164_ActionId">
    <vt:lpwstr>2a9a2add-c76e-44bf-a6d3-b7db089b7e11</vt:lpwstr>
  </property>
  <property fmtid="{D5CDD505-2E9C-101B-9397-08002B2CF9AE}" pid="8" name="MSIP_Label_8fd2079b-6d85-4185-8122-5cca51dad164_ContentBits">
    <vt:lpwstr>0</vt:lpwstr>
  </property>
</Properties>
</file>