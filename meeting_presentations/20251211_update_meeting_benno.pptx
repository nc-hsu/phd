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31" r:id="rId2"/>
  </p:sldMasterIdLst>
  <p:notesMasterIdLst>
    <p:notesMasterId r:id="rId63"/>
  </p:notesMasterIdLst>
  <p:handoutMasterIdLst>
    <p:handoutMasterId r:id="rId64"/>
  </p:handoutMasterIdLst>
  <p:sldIdLst>
    <p:sldId id="335" r:id="rId3"/>
    <p:sldId id="338" r:id="rId4"/>
    <p:sldId id="339" r:id="rId5"/>
    <p:sldId id="341" r:id="rId6"/>
    <p:sldId id="345" r:id="rId7"/>
    <p:sldId id="347" r:id="rId8"/>
    <p:sldId id="362" r:id="rId9"/>
    <p:sldId id="361" r:id="rId10"/>
    <p:sldId id="346" r:id="rId11"/>
    <p:sldId id="342" r:id="rId12"/>
    <p:sldId id="358" r:id="rId13"/>
    <p:sldId id="357" r:id="rId14"/>
    <p:sldId id="360" r:id="rId15"/>
    <p:sldId id="348" r:id="rId16"/>
    <p:sldId id="355" r:id="rId17"/>
    <p:sldId id="363" r:id="rId18"/>
    <p:sldId id="364" r:id="rId19"/>
    <p:sldId id="349" r:id="rId20"/>
    <p:sldId id="404" r:id="rId21"/>
    <p:sldId id="405" r:id="rId22"/>
    <p:sldId id="406" r:id="rId23"/>
    <p:sldId id="407" r:id="rId24"/>
    <p:sldId id="408" r:id="rId25"/>
    <p:sldId id="395" r:id="rId26"/>
    <p:sldId id="350" r:id="rId27"/>
    <p:sldId id="366" r:id="rId28"/>
    <p:sldId id="367" r:id="rId29"/>
    <p:sldId id="368" r:id="rId30"/>
    <p:sldId id="369" r:id="rId31"/>
    <p:sldId id="370" r:id="rId32"/>
    <p:sldId id="372" r:id="rId33"/>
    <p:sldId id="373" r:id="rId34"/>
    <p:sldId id="374" r:id="rId35"/>
    <p:sldId id="375" r:id="rId36"/>
    <p:sldId id="376" r:id="rId37"/>
    <p:sldId id="377" r:id="rId38"/>
    <p:sldId id="378" r:id="rId39"/>
    <p:sldId id="380" r:id="rId40"/>
    <p:sldId id="381" r:id="rId41"/>
    <p:sldId id="382" r:id="rId42"/>
    <p:sldId id="383" r:id="rId43"/>
    <p:sldId id="384" r:id="rId44"/>
    <p:sldId id="385" r:id="rId45"/>
    <p:sldId id="386" r:id="rId46"/>
    <p:sldId id="387" r:id="rId47"/>
    <p:sldId id="388" r:id="rId48"/>
    <p:sldId id="389" r:id="rId49"/>
    <p:sldId id="390" r:id="rId50"/>
    <p:sldId id="391" r:id="rId51"/>
    <p:sldId id="353" r:id="rId52"/>
    <p:sldId id="392" r:id="rId53"/>
    <p:sldId id="393" r:id="rId54"/>
    <p:sldId id="354" r:id="rId55"/>
    <p:sldId id="394" r:id="rId56"/>
    <p:sldId id="359" r:id="rId57"/>
    <p:sldId id="401" r:id="rId58"/>
    <p:sldId id="356" r:id="rId59"/>
    <p:sldId id="396" r:id="rId60"/>
    <p:sldId id="402" r:id="rId61"/>
    <p:sldId id="403" r:id="rId62"/>
  </p:sldIdLst>
  <p:sldSz cx="12169775" cy="6840538"/>
  <p:notesSz cx="6797675" cy="9926638"/>
  <p:defaultTextStyle>
    <a:defPPr>
      <a:defRPr lang="de-DE"/>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521415D9-36F7-43E2-AB2F-B90AF26B5E84}">
      <p14:sectionLst xmlns:p14="http://schemas.microsoft.com/office/powerpoint/2010/main">
        <p14:section name="Standardabschnitt" id="{4055E285-CB80-4D19-B086-08041B7CE403}">
          <p14:sldIdLst>
            <p14:sldId id="335"/>
          </p14:sldIdLst>
        </p14:section>
        <p14:section name="Motivation" id="{F72EF837-9295-4441-9EB0-B39352F8E10B}">
          <p14:sldIdLst>
            <p14:sldId id="338"/>
            <p14:sldId id="339"/>
            <p14:sldId id="341"/>
            <p14:sldId id="345"/>
            <p14:sldId id="347"/>
            <p14:sldId id="362"/>
            <p14:sldId id="361"/>
            <p14:sldId id="346"/>
            <p14:sldId id="342"/>
            <p14:sldId id="358"/>
            <p14:sldId id="357"/>
            <p14:sldId id="360"/>
            <p14:sldId id="348"/>
            <p14:sldId id="355"/>
          </p14:sldIdLst>
        </p14:section>
        <p14:section name="Work Packages" id="{7DF37D32-5BF7-4F45-8F2E-BBFA7EEF4852}">
          <p14:sldIdLst>
            <p14:sldId id="363"/>
            <p14:sldId id="364"/>
            <p14:sldId id="349"/>
            <p14:sldId id="404"/>
            <p14:sldId id="405"/>
            <p14:sldId id="406"/>
            <p14:sldId id="407"/>
            <p14:sldId id="408"/>
            <p14:sldId id="395"/>
            <p14:sldId id="350"/>
            <p14:sldId id="366"/>
            <p14:sldId id="367"/>
            <p14:sldId id="368"/>
            <p14:sldId id="369"/>
            <p14:sldId id="370"/>
            <p14:sldId id="372"/>
            <p14:sldId id="373"/>
            <p14:sldId id="374"/>
            <p14:sldId id="375"/>
            <p14:sldId id="376"/>
            <p14:sldId id="377"/>
            <p14:sldId id="378"/>
            <p14:sldId id="380"/>
            <p14:sldId id="381"/>
            <p14:sldId id="382"/>
            <p14:sldId id="383"/>
            <p14:sldId id="384"/>
            <p14:sldId id="385"/>
            <p14:sldId id="386"/>
            <p14:sldId id="387"/>
            <p14:sldId id="388"/>
            <p14:sldId id="389"/>
            <p14:sldId id="390"/>
            <p14:sldId id="391"/>
            <p14:sldId id="353"/>
            <p14:sldId id="392"/>
            <p14:sldId id="393"/>
            <p14:sldId id="354"/>
            <p14:sldId id="394"/>
            <p14:sldId id="359"/>
          </p14:sldIdLst>
        </p14:section>
        <p14:section name="Admin" id="{104C001E-8C67-452A-8BB9-5E1F68F4D7A3}">
          <p14:sldIdLst>
            <p14:sldId id="401"/>
            <p14:sldId id="356"/>
            <p14:sldId id="396"/>
            <p14:sldId id="402"/>
            <p14:sldId id="403"/>
          </p14:sldIdLst>
        </p14:section>
      </p14:sectionLst>
    </p:ext>
    <p:ext uri="{EFAFB233-063F-42B5-8137-9DF3F51BA10A}">
      <p15:sldGuideLst xmlns:p15="http://schemas.microsoft.com/office/powerpoint/2012/main">
        <p15:guide id="1" orient="horz" pos="2155" userDrawn="1">
          <p15:clr>
            <a:srgbClr val="A4A3A4"/>
          </p15:clr>
        </p15:guide>
        <p15:guide id="2" pos="383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BAE"/>
    <a:srgbClr val="00263E"/>
    <a:srgbClr val="A50034"/>
    <a:srgbClr val="969696"/>
    <a:srgbClr val="92D050"/>
    <a:srgbClr val="00B0F0"/>
    <a:srgbClr val="FFC000"/>
    <a:srgbClr val="7030A0"/>
    <a:srgbClr val="00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79419" autoAdjust="0"/>
  </p:normalViewPr>
  <p:slideViewPr>
    <p:cSldViewPr snapToObjects="1">
      <p:cViewPr varScale="1">
        <p:scale>
          <a:sx n="76" d="100"/>
          <a:sy n="76" d="100"/>
        </p:scale>
        <p:origin x="1800" y="294"/>
      </p:cViewPr>
      <p:guideLst>
        <p:guide orient="horz" pos="2155"/>
        <p:guide pos="3833"/>
      </p:guideLst>
    </p:cSldViewPr>
  </p:slideViewPr>
  <p:outlineViewPr>
    <p:cViewPr>
      <p:scale>
        <a:sx n="33" d="100"/>
        <a:sy n="33" d="100"/>
      </p:scale>
      <p:origin x="0" y="0"/>
    </p:cViewPr>
  </p:outlineViewPr>
  <p:notesTextViewPr>
    <p:cViewPr>
      <p:scale>
        <a:sx n="3" d="2"/>
        <a:sy n="3" d="2"/>
      </p:scale>
      <p:origin x="0" y="0"/>
    </p:cViewPr>
  </p:notesTextViewPr>
  <p:notesViewPr>
    <p:cSldViewPr snapToObjects="1">
      <p:cViewPr varScale="1">
        <p:scale>
          <a:sx n="78" d="100"/>
          <a:sy n="78" d="100"/>
        </p:scale>
        <p:origin x="4062"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de-DE"/>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30A3966-C9DD-4B3B-880C-4FE8DCE50841}" type="datetimeFigureOut">
              <a:rPr lang="de-DE"/>
              <a:pPr>
                <a:defRPr/>
              </a:pPr>
              <a:t>12.12.2025</a:t>
            </a:fld>
            <a:endParaRPr lang="de-DE"/>
          </a:p>
        </p:txBody>
      </p:sp>
      <p:sp>
        <p:nvSpPr>
          <p:cNvPr id="4" name="Fußzeilenplatzhalt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de-DE"/>
          </a:p>
        </p:txBody>
      </p:sp>
      <p:sp>
        <p:nvSpPr>
          <p:cNvPr id="5" name="Foliennummernplatzhalt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E4AF7639-78D4-40B5-9FD0-31ADF45C8B0F}" type="slidenum">
              <a:rPr lang="de-DE"/>
              <a:pPr>
                <a:defRPr/>
              </a:pPr>
              <a:t>‹Nr.›</a:t>
            </a:fld>
            <a:endParaRPr lang="de-DE"/>
          </a:p>
        </p:txBody>
      </p:sp>
    </p:spTree>
    <p:extLst>
      <p:ext uri="{BB962C8B-B14F-4D97-AF65-F5344CB8AC3E}">
        <p14:creationId xmlns:p14="http://schemas.microsoft.com/office/powerpoint/2010/main" val="11443156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de-DE"/>
          </a:p>
        </p:txBody>
      </p:sp>
      <p:sp>
        <p:nvSpPr>
          <p:cNvPr id="3" name="Datumsplatzhalter 2"/>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1AB5578-CC26-43A4-89CD-E9A8B892F524}" type="datetimeFigureOut">
              <a:rPr lang="de-DE"/>
              <a:pPr>
                <a:defRPr/>
              </a:pPr>
              <a:t>12.12.2025</a:t>
            </a:fld>
            <a:endParaRPr lang="de-DE"/>
          </a:p>
        </p:txBody>
      </p:sp>
      <p:sp>
        <p:nvSpPr>
          <p:cNvPr id="4" name="Folienbildplatzhalter 3"/>
          <p:cNvSpPr>
            <a:spLocks noGrp="1" noRot="1" noChangeAspect="1"/>
          </p:cNvSpPr>
          <p:nvPr>
            <p:ph type="sldImg" idx="2"/>
          </p:nvPr>
        </p:nvSpPr>
        <p:spPr>
          <a:xfrm>
            <a:off x="88900" y="744538"/>
            <a:ext cx="6619875" cy="3722687"/>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a:xfrm>
            <a:off x="679450" y="4714875"/>
            <a:ext cx="5438775" cy="4467225"/>
          </a:xfrm>
          <a:prstGeom prst="rect">
            <a:avLst/>
          </a:prstGeom>
        </p:spPr>
        <p:txBody>
          <a:bodyPr vert="horz" lIns="91440" tIns="45720" rIns="91440" bIns="45720"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de-DE"/>
          </a:p>
        </p:txBody>
      </p:sp>
      <p:sp>
        <p:nvSpPr>
          <p:cNvPr id="7" name="Foliennummernplatzhalter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BB972F9A-03C1-4F6D-967E-9CCBC4F28250}" type="slidenum">
              <a:rPr lang="de-DE"/>
              <a:pPr>
                <a:defRPr/>
              </a:pPr>
              <a:t>‹Nr.›</a:t>
            </a:fld>
            <a:endParaRPr lang="de-DE"/>
          </a:p>
        </p:txBody>
      </p:sp>
    </p:spTree>
    <p:extLst>
      <p:ext uri="{BB962C8B-B14F-4D97-AF65-F5344CB8AC3E}">
        <p14:creationId xmlns:p14="http://schemas.microsoft.com/office/powerpoint/2010/main" val="270870612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Gebäude muss bemessen worden sein</a:t>
            </a:r>
          </a:p>
        </p:txBody>
      </p:sp>
      <p:sp>
        <p:nvSpPr>
          <p:cNvPr id="4" name="Foliennummernplatzhalter 3"/>
          <p:cNvSpPr>
            <a:spLocks noGrp="1"/>
          </p:cNvSpPr>
          <p:nvPr>
            <p:ph type="sldNum" sz="quarter" idx="5"/>
          </p:nvPr>
        </p:nvSpPr>
        <p:spPr/>
        <p:txBody>
          <a:bodyPr/>
          <a:lstStyle/>
          <a:p>
            <a:pPr>
              <a:defRPr/>
            </a:pPr>
            <a:fld id="{BB972F9A-03C1-4F6D-967E-9CCBC4F28250}" type="slidenum">
              <a:rPr lang="de-DE" smtClean="0"/>
              <a:pPr>
                <a:defRPr/>
              </a:pPr>
              <a:t>4</a:t>
            </a:fld>
            <a:endParaRPr lang="de-DE"/>
          </a:p>
        </p:txBody>
      </p:sp>
    </p:spTree>
    <p:extLst>
      <p:ext uri="{BB962C8B-B14F-4D97-AF65-F5344CB8AC3E}">
        <p14:creationId xmlns:p14="http://schemas.microsoft.com/office/powerpoint/2010/main" val="508918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This </a:t>
            </a:r>
            <a:r>
              <a:rPr lang="de-DE" dirty="0" err="1"/>
              <a:t>equation</a:t>
            </a:r>
            <a:r>
              <a:rPr lang="de-DE" dirty="0"/>
              <a:t> </a:t>
            </a:r>
            <a:r>
              <a:rPr lang="de-DE" dirty="0" err="1"/>
              <a:t>forms</a:t>
            </a:r>
            <a:r>
              <a:rPr lang="de-DE" dirty="0"/>
              <a:t> </a:t>
            </a:r>
            <a:r>
              <a:rPr lang="de-DE" dirty="0" err="1"/>
              <a:t>the</a:t>
            </a:r>
            <a:r>
              <a:rPr lang="de-DE" dirty="0"/>
              <a:t> </a:t>
            </a:r>
            <a:r>
              <a:rPr lang="de-DE" dirty="0" err="1"/>
              <a:t>basis</a:t>
            </a:r>
            <a:r>
              <a:rPr lang="de-DE" dirty="0"/>
              <a:t> of all </a:t>
            </a:r>
            <a:r>
              <a:rPr lang="de-DE" dirty="0" err="1"/>
              <a:t>simplified</a:t>
            </a:r>
            <a:r>
              <a:rPr lang="de-DE" dirty="0"/>
              <a:t> </a:t>
            </a:r>
            <a:r>
              <a:rPr lang="de-DE" dirty="0" err="1"/>
              <a:t>risk-based</a:t>
            </a:r>
            <a:r>
              <a:rPr lang="de-DE" dirty="0"/>
              <a:t> design </a:t>
            </a:r>
            <a:r>
              <a:rPr lang="de-DE" dirty="0" err="1"/>
              <a:t>methods</a:t>
            </a:r>
            <a:r>
              <a:rPr lang="de-DE" dirty="0"/>
              <a:t>.</a:t>
            </a:r>
          </a:p>
        </p:txBody>
      </p:sp>
      <p:sp>
        <p:nvSpPr>
          <p:cNvPr id="4" name="Foliennummernplatzhalter 3"/>
          <p:cNvSpPr>
            <a:spLocks noGrp="1"/>
          </p:cNvSpPr>
          <p:nvPr>
            <p:ph type="sldNum" sz="quarter" idx="5"/>
          </p:nvPr>
        </p:nvSpPr>
        <p:spPr/>
        <p:txBody>
          <a:bodyPr/>
          <a:lstStyle/>
          <a:p>
            <a:pPr>
              <a:defRPr/>
            </a:pPr>
            <a:fld id="{BB972F9A-03C1-4F6D-967E-9CCBC4F28250}" type="slidenum">
              <a:rPr lang="de-DE" smtClean="0"/>
              <a:pPr>
                <a:defRPr/>
              </a:pPr>
              <a:t>5</a:t>
            </a:fld>
            <a:endParaRPr lang="de-DE"/>
          </a:p>
        </p:txBody>
      </p:sp>
    </p:spTree>
    <p:extLst>
      <p:ext uri="{BB962C8B-B14F-4D97-AF65-F5344CB8AC3E}">
        <p14:creationId xmlns:p14="http://schemas.microsoft.com/office/powerpoint/2010/main" val="4068574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 </a:t>
            </a:r>
            <a:r>
              <a:rPr lang="de-DE" dirty="0" err="1"/>
              <a:t>disadvantage</a:t>
            </a:r>
            <a:r>
              <a:rPr lang="de-DE" dirty="0"/>
              <a:t> of </a:t>
            </a:r>
            <a:r>
              <a:rPr lang="de-DE" dirty="0" err="1"/>
              <a:t>this</a:t>
            </a:r>
            <a:r>
              <a:rPr lang="de-DE" dirty="0"/>
              <a:t> </a:t>
            </a:r>
            <a:r>
              <a:rPr lang="de-DE" dirty="0" err="1"/>
              <a:t>proposed</a:t>
            </a:r>
            <a:r>
              <a:rPr lang="de-DE" dirty="0"/>
              <a:t> </a:t>
            </a:r>
            <a:r>
              <a:rPr lang="de-DE" dirty="0" err="1"/>
              <a:t>method</a:t>
            </a:r>
            <a:r>
              <a:rPr lang="de-DE" dirty="0"/>
              <a:t> </a:t>
            </a:r>
            <a:r>
              <a:rPr lang="de-DE" dirty="0" err="1"/>
              <a:t>is</a:t>
            </a:r>
            <a:r>
              <a:rPr lang="de-DE" dirty="0"/>
              <a:t> </a:t>
            </a:r>
            <a:r>
              <a:rPr lang="de-DE" dirty="0" err="1"/>
              <a:t>that</a:t>
            </a:r>
            <a:r>
              <a:rPr lang="de-DE" dirty="0"/>
              <a:t> </a:t>
            </a:r>
            <a:r>
              <a:rPr lang="de-DE" dirty="0" err="1"/>
              <a:t>it</a:t>
            </a:r>
            <a:r>
              <a:rPr lang="de-DE" dirty="0"/>
              <a:t> </a:t>
            </a:r>
            <a:r>
              <a:rPr lang="de-DE" dirty="0" err="1"/>
              <a:t>is</a:t>
            </a:r>
            <a:r>
              <a:rPr lang="de-DE" dirty="0"/>
              <a:t> </a:t>
            </a:r>
            <a:r>
              <a:rPr lang="de-DE" dirty="0" err="1"/>
              <a:t>quite</a:t>
            </a:r>
            <a:r>
              <a:rPr lang="de-DE" dirty="0"/>
              <a:t> </a:t>
            </a:r>
            <a:r>
              <a:rPr lang="de-DE" dirty="0" err="1"/>
              <a:t>dependent</a:t>
            </a:r>
            <a:r>
              <a:rPr lang="de-DE" dirty="0"/>
              <a:t> on </a:t>
            </a:r>
            <a:r>
              <a:rPr lang="de-DE" dirty="0" err="1"/>
              <a:t>the</a:t>
            </a:r>
            <a:r>
              <a:rPr lang="de-DE" dirty="0"/>
              <a:t> </a:t>
            </a:r>
            <a:r>
              <a:rPr lang="de-DE" dirty="0" err="1"/>
              <a:t>building</a:t>
            </a:r>
            <a:r>
              <a:rPr lang="de-DE" dirty="0"/>
              <a:t> geometries </a:t>
            </a:r>
            <a:r>
              <a:rPr lang="de-DE" dirty="0" err="1"/>
              <a:t>used</a:t>
            </a:r>
            <a:r>
              <a:rPr lang="de-DE" dirty="0"/>
              <a:t> </a:t>
            </a:r>
            <a:r>
              <a:rPr lang="de-DE" dirty="0" err="1"/>
              <a:t>to</a:t>
            </a:r>
            <a:r>
              <a:rPr lang="de-DE" dirty="0"/>
              <a:t> </a:t>
            </a:r>
            <a:r>
              <a:rPr lang="de-DE" dirty="0" err="1"/>
              <a:t>derive</a:t>
            </a:r>
            <a:r>
              <a:rPr lang="de-DE" dirty="0"/>
              <a:t> </a:t>
            </a:r>
            <a:r>
              <a:rPr lang="de-DE" dirty="0" err="1"/>
              <a:t>the</a:t>
            </a:r>
            <a:r>
              <a:rPr lang="de-DE" dirty="0"/>
              <a:t> </a:t>
            </a:r>
            <a:r>
              <a:rPr lang="de-DE" dirty="0" err="1"/>
              <a:t>relationships</a:t>
            </a:r>
            <a:r>
              <a:rPr lang="de-DE" dirty="0"/>
              <a:t>.</a:t>
            </a:r>
          </a:p>
          <a:p>
            <a:r>
              <a:rPr lang="de-DE" dirty="0"/>
              <a:t>This </a:t>
            </a:r>
            <a:r>
              <a:rPr lang="de-DE" dirty="0" err="1"/>
              <a:t>is</a:t>
            </a:r>
            <a:r>
              <a:rPr lang="de-DE" dirty="0"/>
              <a:t> in </a:t>
            </a:r>
            <a:r>
              <a:rPr lang="de-DE" dirty="0" err="1"/>
              <a:t>my</a:t>
            </a:r>
            <a:r>
              <a:rPr lang="de-DE" dirty="0"/>
              <a:t> </a:t>
            </a:r>
            <a:r>
              <a:rPr lang="de-DE" dirty="0" err="1"/>
              <a:t>opinion</a:t>
            </a:r>
            <a:r>
              <a:rPr lang="de-DE" dirty="0"/>
              <a:t> a trade off </a:t>
            </a:r>
            <a:r>
              <a:rPr lang="de-DE" dirty="0" err="1"/>
              <a:t>between</a:t>
            </a:r>
            <a:r>
              <a:rPr lang="de-DE" dirty="0"/>
              <a:t> a </a:t>
            </a:r>
            <a:r>
              <a:rPr lang="de-DE" dirty="0" err="1"/>
              <a:t>method</a:t>
            </a:r>
            <a:r>
              <a:rPr lang="de-DE" dirty="0"/>
              <a:t> </a:t>
            </a:r>
            <a:r>
              <a:rPr lang="de-DE" dirty="0" err="1"/>
              <a:t>that</a:t>
            </a:r>
            <a:r>
              <a:rPr lang="de-DE" dirty="0"/>
              <a:t> </a:t>
            </a:r>
            <a:r>
              <a:rPr lang="de-DE" dirty="0" err="1"/>
              <a:t>is</a:t>
            </a:r>
            <a:r>
              <a:rPr lang="de-DE" dirty="0"/>
              <a:t> </a:t>
            </a:r>
            <a:r>
              <a:rPr lang="de-DE" dirty="0" err="1"/>
              <a:t>accurate</a:t>
            </a:r>
            <a:r>
              <a:rPr lang="de-DE" dirty="0"/>
              <a:t> and easy </a:t>
            </a:r>
            <a:r>
              <a:rPr lang="de-DE" dirty="0" err="1"/>
              <a:t>to</a:t>
            </a:r>
            <a:r>
              <a:rPr lang="de-DE" dirty="0"/>
              <a:t> </a:t>
            </a:r>
            <a:r>
              <a:rPr lang="de-DE" dirty="0" err="1"/>
              <a:t>use</a:t>
            </a:r>
            <a:r>
              <a:rPr lang="de-DE" dirty="0"/>
              <a:t> vs. A </a:t>
            </a:r>
            <a:r>
              <a:rPr lang="de-DE" dirty="0" err="1"/>
              <a:t>procedure</a:t>
            </a:r>
            <a:r>
              <a:rPr lang="de-DE" dirty="0"/>
              <a:t> </a:t>
            </a:r>
            <a:r>
              <a:rPr lang="de-DE" dirty="0" err="1"/>
              <a:t>that</a:t>
            </a:r>
            <a:r>
              <a:rPr lang="de-DE" dirty="0"/>
              <a:t> </a:t>
            </a:r>
            <a:r>
              <a:rPr lang="de-DE" dirty="0" err="1"/>
              <a:t>is</a:t>
            </a:r>
            <a:r>
              <a:rPr lang="de-DE" dirty="0"/>
              <a:t> </a:t>
            </a:r>
            <a:r>
              <a:rPr lang="de-DE" dirty="0" err="1"/>
              <a:t>more</a:t>
            </a:r>
            <a:r>
              <a:rPr lang="de-DE" dirty="0"/>
              <a:t> </a:t>
            </a:r>
            <a:r>
              <a:rPr lang="de-DE" dirty="0" err="1"/>
              <a:t>generally</a:t>
            </a:r>
            <a:r>
              <a:rPr lang="de-DE" dirty="0"/>
              <a:t> </a:t>
            </a:r>
            <a:r>
              <a:rPr lang="de-DE" dirty="0" err="1"/>
              <a:t>applicable</a:t>
            </a:r>
            <a:r>
              <a:rPr lang="de-DE" dirty="0"/>
              <a:t> but </a:t>
            </a:r>
            <a:r>
              <a:rPr lang="de-DE" dirty="0" err="1"/>
              <a:t>complexer</a:t>
            </a:r>
            <a:r>
              <a:rPr lang="de-DE" dirty="0"/>
              <a:t> </a:t>
            </a:r>
            <a:r>
              <a:rPr lang="de-DE" dirty="0" err="1"/>
              <a:t>to</a:t>
            </a:r>
            <a:r>
              <a:rPr lang="de-DE" dirty="0"/>
              <a:t> </a:t>
            </a:r>
            <a:r>
              <a:rPr lang="de-DE" dirty="0" err="1"/>
              <a:t>use</a:t>
            </a:r>
            <a:endParaRPr lang="de-DE" dirty="0"/>
          </a:p>
        </p:txBody>
      </p:sp>
      <p:sp>
        <p:nvSpPr>
          <p:cNvPr id="4" name="Foliennummernplatzhalter 3"/>
          <p:cNvSpPr>
            <a:spLocks noGrp="1"/>
          </p:cNvSpPr>
          <p:nvPr>
            <p:ph type="sldNum" sz="quarter" idx="5"/>
          </p:nvPr>
        </p:nvSpPr>
        <p:spPr/>
        <p:txBody>
          <a:bodyPr/>
          <a:lstStyle/>
          <a:p>
            <a:pPr>
              <a:defRPr/>
            </a:pPr>
            <a:fld id="{BB972F9A-03C1-4F6D-967E-9CCBC4F28250}" type="slidenum">
              <a:rPr lang="de-DE" smtClean="0"/>
              <a:pPr>
                <a:defRPr/>
              </a:pPr>
              <a:t>8</a:t>
            </a:fld>
            <a:endParaRPr lang="de-DE"/>
          </a:p>
        </p:txBody>
      </p:sp>
    </p:spTree>
    <p:extLst>
      <p:ext uri="{BB962C8B-B14F-4D97-AF65-F5344CB8AC3E}">
        <p14:creationId xmlns:p14="http://schemas.microsoft.com/office/powerpoint/2010/main" val="1967342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BB972F9A-03C1-4F6D-967E-9CCBC4F28250}" type="slidenum">
              <a:rPr lang="de-DE" smtClean="0"/>
              <a:pPr>
                <a:defRPr/>
              </a:pPr>
              <a:t>30</a:t>
            </a:fld>
            <a:endParaRPr lang="de-DE"/>
          </a:p>
        </p:txBody>
      </p:sp>
    </p:spTree>
    <p:extLst>
      <p:ext uri="{BB962C8B-B14F-4D97-AF65-F5344CB8AC3E}">
        <p14:creationId xmlns:p14="http://schemas.microsoft.com/office/powerpoint/2010/main" val="1644452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887A4-B5FE-26A0-FEF4-23F8ED3C291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8ED9F1-4B7C-E7CA-C0D9-7BE8C1BC090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A5C8902-FDAB-7A21-AB6F-B9E9EC2E68D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87EFCEA-68DB-3D2C-29BD-7473EECED859}"/>
              </a:ext>
            </a:extLst>
          </p:cNvPr>
          <p:cNvSpPr>
            <a:spLocks noGrp="1"/>
          </p:cNvSpPr>
          <p:nvPr>
            <p:ph type="sldNum" sz="quarter" idx="5"/>
          </p:nvPr>
        </p:nvSpPr>
        <p:spPr/>
        <p:txBody>
          <a:bodyPr/>
          <a:lstStyle/>
          <a:p>
            <a:pPr>
              <a:defRPr/>
            </a:pPr>
            <a:fld id="{BB972F9A-03C1-4F6D-967E-9CCBC4F28250}" type="slidenum">
              <a:rPr lang="de-DE" smtClean="0"/>
              <a:pPr>
                <a:defRPr/>
              </a:pPr>
              <a:t>31</a:t>
            </a:fld>
            <a:endParaRPr lang="de-DE"/>
          </a:p>
        </p:txBody>
      </p:sp>
    </p:spTree>
    <p:extLst>
      <p:ext uri="{BB962C8B-B14F-4D97-AF65-F5344CB8AC3E}">
        <p14:creationId xmlns:p14="http://schemas.microsoft.com/office/powerpoint/2010/main" val="31242802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Wölfel-Gruppe">
    <p:spTree>
      <p:nvGrpSpPr>
        <p:cNvPr id="1" name=""/>
        <p:cNvGrpSpPr/>
        <p:nvPr/>
      </p:nvGrpSpPr>
      <p:grpSpPr>
        <a:xfrm>
          <a:off x="0" y="0"/>
          <a:ext cx="0" cy="0"/>
          <a:chOff x="0" y="0"/>
          <a:chExt cx="0" cy="0"/>
        </a:xfrm>
      </p:grpSpPr>
      <p:pic>
        <p:nvPicPr>
          <p:cNvPr id="3" name="Picture 2" descr="C:\Users\hl\Desktop\Powerpoint-Vorlagen\Power-Point-Bilder\Schwingung-kle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12172950" cy="683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hteck 6"/>
          <p:cNvSpPr>
            <a:spLocks/>
          </p:cNvSpPr>
          <p:nvPr/>
        </p:nvSpPr>
        <p:spPr>
          <a:xfrm>
            <a:off x="0" y="3959225"/>
            <a:ext cx="12169775" cy="1441450"/>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05600" tIns="202800" rIns="405600" bIns="202800" anchor="ctr"/>
          <a:lstStyle/>
          <a:p>
            <a:pPr algn="ctr" fontAlgn="auto">
              <a:spcBef>
                <a:spcPts val="0"/>
              </a:spcBef>
              <a:spcAft>
                <a:spcPts val="0"/>
              </a:spcAft>
              <a:defRPr/>
            </a:pPr>
            <a:endParaRPr lang="de-DE"/>
          </a:p>
        </p:txBody>
      </p:sp>
      <p:sp>
        <p:nvSpPr>
          <p:cNvPr id="2" name="Titel 1"/>
          <p:cNvSpPr>
            <a:spLocks noGrp="1"/>
          </p:cNvSpPr>
          <p:nvPr>
            <p:ph type="ctrTitle"/>
          </p:nvPr>
        </p:nvSpPr>
        <p:spPr>
          <a:xfrm>
            <a:off x="2" y="4068501"/>
            <a:ext cx="9829302" cy="1223976"/>
          </a:xfrm>
          <a:prstGeom prst="rect">
            <a:avLst/>
          </a:prstGeom>
        </p:spPr>
        <p:txBody>
          <a:bodyPr lIns="432000" bIns="36000">
            <a:normAutofit/>
          </a:bodyPr>
          <a:lstStyle>
            <a:lvl1pPr algn="l">
              <a:defRPr sz="3500" b="0">
                <a:ln>
                  <a:noFill/>
                </a:ln>
                <a:solidFill>
                  <a:srgbClr val="333333"/>
                </a:solidFill>
                <a:latin typeface="Futura LT Pro Book" panose="020B0502020204020303" pitchFamily="34" charset="0"/>
              </a:defRPr>
            </a:lvl1pPr>
          </a:lstStyle>
          <a:p>
            <a:r>
              <a:rPr lang="de-DE"/>
              <a:t>Mastertitelformat bearbeiten</a:t>
            </a:r>
            <a:endParaRPr lang="de-DE" dirty="0"/>
          </a:p>
        </p:txBody>
      </p:sp>
      <p:pic>
        <p:nvPicPr>
          <p:cNvPr id="5" name="Grafik 4">
            <a:extLst>
              <a:ext uri="{FF2B5EF4-FFF2-40B4-BE49-F238E27FC236}">
                <a16:creationId xmlns:a16="http://schemas.microsoft.com/office/drawing/2014/main" id="{FB110FC6-C8AB-074E-EFA9-DE818ACED43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89343" y="4094922"/>
            <a:ext cx="1566939" cy="1125547"/>
          </a:xfrm>
          <a:prstGeom prst="rect">
            <a:avLst/>
          </a:prstGeom>
        </p:spPr>
      </p:pic>
    </p:spTree>
    <p:extLst>
      <p:ext uri="{BB962C8B-B14F-4D97-AF65-F5344CB8AC3E}">
        <p14:creationId xmlns:p14="http://schemas.microsoft.com/office/powerpoint/2010/main" val="1968606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 Text">
    <p:spTree>
      <p:nvGrpSpPr>
        <p:cNvPr id="1" name=""/>
        <p:cNvGrpSpPr/>
        <p:nvPr/>
      </p:nvGrpSpPr>
      <p:grpSpPr>
        <a:xfrm>
          <a:off x="0" y="0"/>
          <a:ext cx="0" cy="0"/>
          <a:chOff x="0" y="0"/>
          <a:chExt cx="0" cy="0"/>
        </a:xfrm>
      </p:grpSpPr>
      <p:sp>
        <p:nvSpPr>
          <p:cNvPr id="13" name="Textplatzhalter 32"/>
          <p:cNvSpPr>
            <a:spLocks noGrp="1"/>
          </p:cNvSpPr>
          <p:nvPr>
            <p:ph type="body" sz="quarter" idx="18"/>
          </p:nvPr>
        </p:nvSpPr>
        <p:spPr>
          <a:xfrm>
            <a:off x="432000" y="1044005"/>
            <a:ext cx="11312077" cy="5400600"/>
          </a:xfrm>
        </p:spPr>
        <p:txBody>
          <a:bodyPr/>
          <a:lstStyle>
            <a:lvl1pPr marL="0" indent="0">
              <a:buFont typeface="+mj-lt"/>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4" name="Titelplatzhalter 1">
            <a:extLst>
              <a:ext uri="{FF2B5EF4-FFF2-40B4-BE49-F238E27FC236}">
                <a16:creationId xmlns:a16="http://schemas.microsoft.com/office/drawing/2014/main" id="{21CDEB0A-749B-129D-B9A1-E2F47A4FB682}"/>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1971722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 Beschreibung + Aufzählung">
    <p:spTree>
      <p:nvGrpSpPr>
        <p:cNvPr id="1" name=""/>
        <p:cNvGrpSpPr/>
        <p:nvPr/>
      </p:nvGrpSpPr>
      <p:grpSpPr>
        <a:xfrm>
          <a:off x="0" y="0"/>
          <a:ext cx="0" cy="0"/>
          <a:chOff x="0" y="0"/>
          <a:chExt cx="0" cy="0"/>
        </a:xfrm>
      </p:grpSpPr>
      <p:sp>
        <p:nvSpPr>
          <p:cNvPr id="11" name="Textplatzhalter 32"/>
          <p:cNvSpPr>
            <a:spLocks noGrp="1"/>
          </p:cNvSpPr>
          <p:nvPr>
            <p:ph type="body" sz="quarter" idx="18"/>
          </p:nvPr>
        </p:nvSpPr>
        <p:spPr>
          <a:xfrm>
            <a:off x="432000" y="1044488"/>
            <a:ext cx="11312077" cy="6480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7" name="Textfeld 3"/>
          <p:cNvSpPr txBox="1">
            <a:spLocks noChangeArrowheads="1"/>
          </p:cNvSpPr>
          <p:nvPr/>
        </p:nvSpPr>
        <p:spPr bwMode="auto">
          <a:xfrm>
            <a:off x="431800" y="1925638"/>
            <a:ext cx="1131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de-DE" altLang="de-DE">
              <a:latin typeface="Futura Lt BT" pitchFamily="34" charset="0"/>
            </a:endParaRPr>
          </a:p>
        </p:txBody>
      </p:sp>
      <p:sp>
        <p:nvSpPr>
          <p:cNvPr id="21" name="Textplatzhalter 20"/>
          <p:cNvSpPr>
            <a:spLocks noGrp="1"/>
          </p:cNvSpPr>
          <p:nvPr>
            <p:ph type="body" sz="quarter" idx="12"/>
          </p:nvPr>
        </p:nvSpPr>
        <p:spPr>
          <a:xfrm>
            <a:off x="432000" y="2150688"/>
            <a:ext cx="11312078" cy="3969125"/>
          </a:xfrm>
        </p:spPr>
        <p:txBody>
          <a:bodyPr/>
          <a:lstStyle>
            <a:lvl1pPr marL="0" marR="0" indent="0" algn="l" defTabSz="914400" rtl="0" eaLnBrk="1" fontAlgn="base" latinLnBrk="0" hangingPunct="1">
              <a:lnSpc>
                <a:spcPct val="100000"/>
              </a:lnSpc>
              <a:spcBef>
                <a:spcPct val="20000"/>
              </a:spcBef>
              <a:spcAft>
                <a:spcPct val="0"/>
              </a:spcAft>
              <a:buClrTx/>
              <a:buSzTx/>
              <a:buFont typeface="Futura LT Pro Book" pitchFamily="34" charset="0"/>
              <a:buNone/>
              <a:tabLst/>
              <a:defRPr/>
            </a:lvl1pPr>
          </a:lstStyle>
          <a:p>
            <a:pPr marL="0" marR="0" lvl="0" indent="0" algn="l" defTabSz="914400" rtl="0" eaLnBrk="1" fontAlgn="base" latinLnBrk="0" hangingPunct="1">
              <a:lnSpc>
                <a:spcPct val="100000"/>
              </a:lnSpc>
              <a:spcBef>
                <a:spcPct val="20000"/>
              </a:spcBef>
              <a:spcAft>
                <a:spcPct val="0"/>
              </a:spcAft>
              <a:buClrTx/>
              <a:buSzTx/>
              <a:buFont typeface="Futura LT Pro Book" pitchFamily="34" charset="0"/>
              <a:buNone/>
              <a:tabLst/>
              <a:defRPr/>
            </a:pPr>
            <a:r>
              <a:rPr lang="de-DE"/>
              <a:t>Mastertextformat bearbeiten</a:t>
            </a:r>
          </a:p>
        </p:txBody>
      </p:sp>
      <p:sp>
        <p:nvSpPr>
          <p:cNvPr id="29" name="Textplatzhalter 28"/>
          <p:cNvSpPr>
            <a:spLocks noGrp="1"/>
          </p:cNvSpPr>
          <p:nvPr>
            <p:ph type="body" sz="quarter" idx="13"/>
          </p:nvPr>
        </p:nvSpPr>
        <p:spPr>
          <a:xfrm>
            <a:off x="432000" y="1790648"/>
            <a:ext cx="11312077" cy="360040"/>
          </a:xfrm>
        </p:spPr>
        <p:txBody>
          <a:bodyPr/>
          <a:lstStyle>
            <a:lvl1pPr marL="0" indent="0">
              <a:buNone/>
              <a:defRPr b="1">
                <a:latin typeface="+mj-lt"/>
              </a:defRPr>
            </a:lvl1pPr>
          </a:lstStyle>
          <a:p>
            <a:pPr lvl="0"/>
            <a:r>
              <a:rPr lang="de-DE"/>
              <a:t>Mastertextformat bearbeiten</a:t>
            </a:r>
          </a:p>
        </p:txBody>
      </p:sp>
      <p:sp>
        <p:nvSpPr>
          <p:cNvPr id="2" name="Titelplatzhalter 1">
            <a:extLst>
              <a:ext uri="{FF2B5EF4-FFF2-40B4-BE49-F238E27FC236}">
                <a16:creationId xmlns:a16="http://schemas.microsoft.com/office/drawing/2014/main" id="{FF260251-00DE-C81E-CCE9-36C086CCE3A5}"/>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2515080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 Beschreibung + Aufzählung">
    <p:spTree>
      <p:nvGrpSpPr>
        <p:cNvPr id="1" name=""/>
        <p:cNvGrpSpPr/>
        <p:nvPr/>
      </p:nvGrpSpPr>
      <p:grpSpPr>
        <a:xfrm>
          <a:off x="0" y="0"/>
          <a:ext cx="0" cy="0"/>
          <a:chOff x="0" y="0"/>
          <a:chExt cx="0" cy="0"/>
        </a:xfrm>
      </p:grpSpPr>
      <p:sp>
        <p:nvSpPr>
          <p:cNvPr id="11" name="Textplatzhalter 32"/>
          <p:cNvSpPr>
            <a:spLocks noGrp="1"/>
          </p:cNvSpPr>
          <p:nvPr>
            <p:ph type="body" sz="quarter" idx="18"/>
          </p:nvPr>
        </p:nvSpPr>
        <p:spPr>
          <a:xfrm>
            <a:off x="432000" y="1044488"/>
            <a:ext cx="11312077" cy="6480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7" name="Textfeld 3"/>
          <p:cNvSpPr txBox="1">
            <a:spLocks noChangeArrowheads="1"/>
          </p:cNvSpPr>
          <p:nvPr/>
        </p:nvSpPr>
        <p:spPr bwMode="auto">
          <a:xfrm>
            <a:off x="431800" y="1925638"/>
            <a:ext cx="1131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de-DE" altLang="de-DE">
              <a:latin typeface="Futura Lt BT" pitchFamily="34" charset="0"/>
            </a:endParaRPr>
          </a:p>
        </p:txBody>
      </p:sp>
      <p:sp>
        <p:nvSpPr>
          <p:cNvPr id="21" name="Textplatzhalter 20"/>
          <p:cNvSpPr>
            <a:spLocks noGrp="1"/>
          </p:cNvSpPr>
          <p:nvPr>
            <p:ph type="body" sz="quarter" idx="12"/>
          </p:nvPr>
        </p:nvSpPr>
        <p:spPr>
          <a:xfrm>
            <a:off x="432000" y="2150688"/>
            <a:ext cx="11312078" cy="39691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9" name="Textplatzhalter 28"/>
          <p:cNvSpPr>
            <a:spLocks noGrp="1"/>
          </p:cNvSpPr>
          <p:nvPr>
            <p:ph type="body" sz="quarter" idx="13"/>
          </p:nvPr>
        </p:nvSpPr>
        <p:spPr>
          <a:xfrm>
            <a:off x="432000" y="1790648"/>
            <a:ext cx="11312077" cy="360040"/>
          </a:xfrm>
        </p:spPr>
        <p:txBody>
          <a:bodyPr/>
          <a:lstStyle>
            <a:lvl1pPr marL="0" indent="0">
              <a:buNone/>
              <a:defRPr b="1">
                <a:latin typeface="+mj-lt"/>
              </a:defRPr>
            </a:lvl1pPr>
          </a:lstStyle>
          <a:p>
            <a:pPr lvl="0"/>
            <a:r>
              <a:rPr lang="de-DE"/>
              <a:t>Mastertextformat bearbeiten</a:t>
            </a:r>
          </a:p>
        </p:txBody>
      </p:sp>
      <p:sp>
        <p:nvSpPr>
          <p:cNvPr id="2" name="Titelplatzhalter 1">
            <a:extLst>
              <a:ext uri="{FF2B5EF4-FFF2-40B4-BE49-F238E27FC236}">
                <a16:creationId xmlns:a16="http://schemas.microsoft.com/office/drawing/2014/main" id="{E7DAC636-4291-90D7-A2D4-CCD1B9929232}"/>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4211425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17" name="Textplatzhalter 2"/>
          <p:cNvSpPr>
            <a:spLocks noGrp="1"/>
          </p:cNvSpPr>
          <p:nvPr>
            <p:ph idx="1"/>
          </p:nvPr>
        </p:nvSpPr>
        <p:spPr>
          <a:xfrm>
            <a:off x="432001" y="1044005"/>
            <a:ext cx="5400000" cy="5075809"/>
          </a:xfrm>
          <a:prstGeom prst="rect">
            <a:avLst/>
          </a:prstGeom>
        </p:spPr>
        <p:txBody>
          <a:bodyPr rtlCol="0">
            <a:normAutofit/>
          </a:bodyPr>
          <a:lstStyle>
            <a:lvl1pPr marL="0" indent="0">
              <a:buNone/>
              <a:defRPr/>
            </a:lvl1pPr>
          </a:lstStyle>
          <a:p>
            <a:pPr lvl="0"/>
            <a:r>
              <a:rPr lang="de-DE"/>
              <a:t>Mastertextformat bearbeiten</a:t>
            </a:r>
          </a:p>
        </p:txBody>
      </p:sp>
      <p:sp>
        <p:nvSpPr>
          <p:cNvPr id="3" name="Textplatzhalter 2"/>
          <p:cNvSpPr>
            <a:spLocks noGrp="1"/>
          </p:cNvSpPr>
          <p:nvPr>
            <p:ph type="body" sz="quarter" idx="12"/>
          </p:nvPr>
        </p:nvSpPr>
        <p:spPr>
          <a:xfrm>
            <a:off x="6320661" y="1044086"/>
            <a:ext cx="5400675" cy="507526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itelplatzhalter 1">
            <a:extLst>
              <a:ext uri="{FF2B5EF4-FFF2-40B4-BE49-F238E27FC236}">
                <a16:creationId xmlns:a16="http://schemas.microsoft.com/office/drawing/2014/main" id="{6701CA59-EC79-449D-605E-CE88F43A804A}"/>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4082258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6" name="Textplatzhalter 2"/>
          <p:cNvSpPr>
            <a:spLocks noGrp="1"/>
          </p:cNvSpPr>
          <p:nvPr>
            <p:ph idx="13"/>
          </p:nvPr>
        </p:nvSpPr>
        <p:spPr>
          <a:xfrm>
            <a:off x="6320661" y="1043545"/>
            <a:ext cx="5400000" cy="5075809"/>
          </a:xfrm>
          <a:prstGeom prst="rect">
            <a:avLst/>
          </a:prstGeom>
        </p:spPr>
        <p:txBody>
          <a:bodyPr rtlCol="0">
            <a:normAutofit/>
          </a:bodyPr>
          <a:lstStyle>
            <a:lvl1pPr marL="0" indent="0">
              <a:buNone/>
              <a:defRPr/>
            </a:lvl1pPr>
          </a:lstStyle>
          <a:p>
            <a:pPr lvl="0"/>
            <a:r>
              <a:rPr lang="de-DE"/>
              <a:t>Mastertextformat bearbeiten</a:t>
            </a:r>
          </a:p>
        </p:txBody>
      </p:sp>
      <p:sp>
        <p:nvSpPr>
          <p:cNvPr id="17" name="Textplatzhalter 2"/>
          <p:cNvSpPr>
            <a:spLocks noGrp="1"/>
          </p:cNvSpPr>
          <p:nvPr>
            <p:ph idx="1"/>
          </p:nvPr>
        </p:nvSpPr>
        <p:spPr>
          <a:xfrm>
            <a:off x="432001" y="1044005"/>
            <a:ext cx="5400000" cy="5075809"/>
          </a:xfrm>
          <a:prstGeom prst="rect">
            <a:avLst/>
          </a:prstGeom>
        </p:spPr>
        <p:txBody>
          <a:bodyPr rtlCol="0">
            <a:normAutofit/>
          </a:bodyPr>
          <a:lstStyle>
            <a:lvl1pPr marL="0" indent="0">
              <a:buNone/>
              <a:defRPr/>
            </a:lvl1pPr>
          </a:lstStyle>
          <a:p>
            <a:pPr lvl="0"/>
            <a:r>
              <a:rPr lang="de-DE"/>
              <a:t>Mastertextformat bearbeiten</a:t>
            </a:r>
          </a:p>
        </p:txBody>
      </p:sp>
      <p:sp>
        <p:nvSpPr>
          <p:cNvPr id="2" name="Titelplatzhalter 1">
            <a:extLst>
              <a:ext uri="{FF2B5EF4-FFF2-40B4-BE49-F238E27FC236}">
                <a16:creationId xmlns:a16="http://schemas.microsoft.com/office/drawing/2014/main" id="{925164F5-704F-A74E-DCD1-8CCCED8DA148}"/>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2331941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 3 Personen">
    <p:spTree>
      <p:nvGrpSpPr>
        <p:cNvPr id="1" name=""/>
        <p:cNvGrpSpPr/>
        <p:nvPr/>
      </p:nvGrpSpPr>
      <p:grpSpPr>
        <a:xfrm>
          <a:off x="0" y="0"/>
          <a:ext cx="0" cy="0"/>
          <a:chOff x="0" y="0"/>
          <a:chExt cx="0" cy="0"/>
        </a:xfrm>
      </p:grpSpPr>
      <p:sp>
        <p:nvSpPr>
          <p:cNvPr id="15" name="Bildplatzhalter 2"/>
          <p:cNvSpPr>
            <a:spLocks noGrp="1"/>
          </p:cNvSpPr>
          <p:nvPr>
            <p:ph type="pic" sz="quarter" idx="16"/>
          </p:nvPr>
        </p:nvSpPr>
        <p:spPr>
          <a:xfrm>
            <a:off x="8314903" y="1044005"/>
            <a:ext cx="3420000" cy="2772308"/>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8" name="Bildplatzhalter 2"/>
          <p:cNvSpPr>
            <a:spLocks noGrp="1"/>
          </p:cNvSpPr>
          <p:nvPr>
            <p:ph type="pic" sz="quarter" idx="17"/>
          </p:nvPr>
        </p:nvSpPr>
        <p:spPr>
          <a:xfrm>
            <a:off x="4372643" y="1044005"/>
            <a:ext cx="3420000" cy="2772308"/>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9" name="Bildplatzhalter 2"/>
          <p:cNvSpPr>
            <a:spLocks noGrp="1"/>
          </p:cNvSpPr>
          <p:nvPr>
            <p:ph type="pic" sz="quarter" idx="18"/>
          </p:nvPr>
        </p:nvSpPr>
        <p:spPr>
          <a:xfrm>
            <a:off x="425750" y="1044005"/>
            <a:ext cx="3420000" cy="2772308"/>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4" name="Textplatzhalter 2"/>
          <p:cNvSpPr>
            <a:spLocks noGrp="1"/>
          </p:cNvSpPr>
          <p:nvPr>
            <p:ph type="body" sz="quarter" idx="20"/>
          </p:nvPr>
        </p:nvSpPr>
        <p:spPr>
          <a:xfrm>
            <a:off x="425750" y="4039093"/>
            <a:ext cx="3420000" cy="723316"/>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17" name="Textplatzhalter 2"/>
          <p:cNvSpPr>
            <a:spLocks noGrp="1"/>
          </p:cNvSpPr>
          <p:nvPr>
            <p:ph type="body" sz="quarter" idx="21"/>
          </p:nvPr>
        </p:nvSpPr>
        <p:spPr>
          <a:xfrm>
            <a:off x="4359797" y="4039093"/>
            <a:ext cx="3420000" cy="723316"/>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0" name="Textplatzhalter 2"/>
          <p:cNvSpPr>
            <a:spLocks noGrp="1"/>
          </p:cNvSpPr>
          <p:nvPr>
            <p:ph type="body" sz="quarter" idx="22"/>
          </p:nvPr>
        </p:nvSpPr>
        <p:spPr>
          <a:xfrm>
            <a:off x="8304476" y="4039093"/>
            <a:ext cx="3420000" cy="723316"/>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elplatzhalter 1">
            <a:extLst>
              <a:ext uri="{FF2B5EF4-FFF2-40B4-BE49-F238E27FC236}">
                <a16:creationId xmlns:a16="http://schemas.microsoft.com/office/drawing/2014/main" id="{26E1DB91-C0FA-B971-7C66-9263112FA821}"/>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172784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 4 Personen">
    <p:spTree>
      <p:nvGrpSpPr>
        <p:cNvPr id="1" name=""/>
        <p:cNvGrpSpPr/>
        <p:nvPr/>
      </p:nvGrpSpPr>
      <p:grpSpPr>
        <a:xfrm>
          <a:off x="0" y="0"/>
          <a:ext cx="0" cy="0"/>
          <a:chOff x="0" y="0"/>
          <a:chExt cx="0" cy="0"/>
        </a:xfrm>
      </p:grpSpPr>
      <p:sp>
        <p:nvSpPr>
          <p:cNvPr id="19" name="Bildplatzhalter 2"/>
          <p:cNvSpPr>
            <a:spLocks noGrp="1"/>
          </p:cNvSpPr>
          <p:nvPr>
            <p:ph type="pic" sz="quarter" idx="18"/>
          </p:nvPr>
        </p:nvSpPr>
        <p:spPr>
          <a:xfrm>
            <a:off x="425750" y="1044005"/>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7" name="Bildplatzhalter 2"/>
          <p:cNvSpPr>
            <a:spLocks noGrp="1"/>
          </p:cNvSpPr>
          <p:nvPr>
            <p:ph type="pic" sz="quarter" idx="20"/>
          </p:nvPr>
        </p:nvSpPr>
        <p:spPr>
          <a:xfrm>
            <a:off x="9155682" y="1044005"/>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21" name="Bildplatzhalter 2"/>
          <p:cNvSpPr>
            <a:spLocks noGrp="1"/>
          </p:cNvSpPr>
          <p:nvPr>
            <p:ph type="pic" sz="quarter" idx="22"/>
          </p:nvPr>
        </p:nvSpPr>
        <p:spPr>
          <a:xfrm>
            <a:off x="6245704" y="1044005"/>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23" name="Bildplatzhalter 2"/>
          <p:cNvSpPr>
            <a:spLocks noGrp="1"/>
          </p:cNvSpPr>
          <p:nvPr>
            <p:ph type="pic" sz="quarter" idx="24"/>
          </p:nvPr>
        </p:nvSpPr>
        <p:spPr>
          <a:xfrm>
            <a:off x="3335727" y="1048349"/>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3" name="Textplatzhalter 2"/>
          <p:cNvSpPr>
            <a:spLocks noGrp="1"/>
          </p:cNvSpPr>
          <p:nvPr>
            <p:ph type="body" sz="quarter" idx="25"/>
          </p:nvPr>
        </p:nvSpPr>
        <p:spPr>
          <a:xfrm>
            <a:off x="3335727"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15" name="Textplatzhalter 2"/>
          <p:cNvSpPr>
            <a:spLocks noGrp="1"/>
          </p:cNvSpPr>
          <p:nvPr>
            <p:ph type="body" sz="quarter" idx="26"/>
          </p:nvPr>
        </p:nvSpPr>
        <p:spPr>
          <a:xfrm>
            <a:off x="401141"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18" name="Textplatzhalter 2"/>
          <p:cNvSpPr>
            <a:spLocks noGrp="1"/>
          </p:cNvSpPr>
          <p:nvPr>
            <p:ph type="body" sz="quarter" idx="27"/>
          </p:nvPr>
        </p:nvSpPr>
        <p:spPr>
          <a:xfrm>
            <a:off x="6249048"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4" name="Textplatzhalter 2"/>
          <p:cNvSpPr>
            <a:spLocks noGrp="1"/>
          </p:cNvSpPr>
          <p:nvPr>
            <p:ph type="body" sz="quarter" idx="28"/>
          </p:nvPr>
        </p:nvSpPr>
        <p:spPr>
          <a:xfrm>
            <a:off x="9151737"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elplatzhalter 1">
            <a:extLst>
              <a:ext uri="{FF2B5EF4-FFF2-40B4-BE49-F238E27FC236}">
                <a16:creationId xmlns:a16="http://schemas.microsoft.com/office/drawing/2014/main" id="{AE7100E3-45CC-826A-3EA8-D8EE82C8DD3B}"/>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1793557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 Inhalt">
    <p:spTree>
      <p:nvGrpSpPr>
        <p:cNvPr id="1" name=""/>
        <p:cNvGrpSpPr/>
        <p:nvPr/>
      </p:nvGrpSpPr>
      <p:grpSpPr>
        <a:xfrm>
          <a:off x="0" y="0"/>
          <a:ext cx="0" cy="0"/>
          <a:chOff x="0" y="0"/>
          <a:chExt cx="0" cy="0"/>
        </a:xfrm>
      </p:grpSpPr>
      <p:sp>
        <p:nvSpPr>
          <p:cNvPr id="4" name="Inhaltsplatzhalter 3"/>
          <p:cNvSpPr>
            <a:spLocks noGrp="1"/>
          </p:cNvSpPr>
          <p:nvPr>
            <p:ph sz="quarter" idx="11"/>
          </p:nvPr>
        </p:nvSpPr>
        <p:spPr>
          <a:xfrm>
            <a:off x="-6541" y="899989"/>
            <a:ext cx="12169775" cy="54006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dirty="0"/>
              <a:t>Mastertextformat bearbeiten</a:t>
            </a:r>
          </a:p>
        </p:txBody>
      </p:sp>
      <p:sp>
        <p:nvSpPr>
          <p:cNvPr id="2" name="Titelplatzhalter 1">
            <a:extLst>
              <a:ext uri="{FF2B5EF4-FFF2-40B4-BE49-F238E27FC236}">
                <a16:creationId xmlns:a16="http://schemas.microsoft.com/office/drawing/2014/main" id="{07AA63D2-0FE4-0C99-DB21-FA84B57A8E9F}"/>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dirty="0"/>
              <a:t>Mastertitelformat bearbeiten</a:t>
            </a:r>
          </a:p>
        </p:txBody>
      </p:sp>
    </p:spTree>
    <p:extLst>
      <p:ext uri="{BB962C8B-B14F-4D97-AF65-F5344CB8AC3E}">
        <p14:creationId xmlns:p14="http://schemas.microsoft.com/office/powerpoint/2010/main" val="4087674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el + Text">
    <p:spTree>
      <p:nvGrpSpPr>
        <p:cNvPr id="1" name=""/>
        <p:cNvGrpSpPr/>
        <p:nvPr/>
      </p:nvGrpSpPr>
      <p:grpSpPr>
        <a:xfrm>
          <a:off x="0" y="0"/>
          <a:ext cx="0" cy="0"/>
          <a:chOff x="0" y="0"/>
          <a:chExt cx="0" cy="0"/>
        </a:xfrm>
      </p:grpSpPr>
      <p:sp>
        <p:nvSpPr>
          <p:cNvPr id="13" name="Textplatzhalter 32"/>
          <p:cNvSpPr>
            <a:spLocks noGrp="1"/>
          </p:cNvSpPr>
          <p:nvPr>
            <p:ph type="body" sz="quarter" idx="18"/>
          </p:nvPr>
        </p:nvSpPr>
        <p:spPr>
          <a:xfrm>
            <a:off x="432000" y="1044005"/>
            <a:ext cx="11312077" cy="4896544"/>
          </a:xfrm>
        </p:spPr>
        <p:txBody>
          <a:bodyPr/>
          <a:lstStyle>
            <a:lvl1pPr marL="0" indent="0">
              <a:buFont typeface="+mj-lt"/>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4" name="Titelplatzhalter 1">
            <a:extLst>
              <a:ext uri="{FF2B5EF4-FFF2-40B4-BE49-F238E27FC236}">
                <a16:creationId xmlns:a16="http://schemas.microsoft.com/office/drawing/2014/main" id="{21CDEB0A-749B-129D-B9A1-E2F47A4FB682}"/>
              </a:ext>
            </a:extLst>
          </p:cNvPr>
          <p:cNvSpPr>
            <a:spLocks noGrp="1"/>
          </p:cNvSpPr>
          <p:nvPr>
            <p:ph type="title" hasCustomPrompt="1"/>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lvl1pPr>
          </a:lstStyle>
          <a:p>
            <a:pPr lvl="0"/>
            <a:r>
              <a:rPr lang="de-DE" altLang="de-DE" noProof="0" dirty="0"/>
              <a:t>Kontakt</a:t>
            </a:r>
          </a:p>
        </p:txBody>
      </p:sp>
      <p:sp>
        <p:nvSpPr>
          <p:cNvPr id="2" name="Textfeld 1">
            <a:extLst>
              <a:ext uri="{FF2B5EF4-FFF2-40B4-BE49-F238E27FC236}">
                <a16:creationId xmlns:a16="http://schemas.microsoft.com/office/drawing/2014/main" id="{C13676B4-B155-5F8F-6057-DF3B869FEA30}"/>
              </a:ext>
            </a:extLst>
          </p:cNvPr>
          <p:cNvSpPr txBox="1"/>
          <p:nvPr userDrawn="1"/>
        </p:nvSpPr>
        <p:spPr>
          <a:xfrm>
            <a:off x="6876975" y="3138629"/>
            <a:ext cx="2376264" cy="923330"/>
          </a:xfrm>
          <a:prstGeom prst="rect">
            <a:avLst/>
          </a:prstGeom>
          <a:noFill/>
        </p:spPr>
        <p:txBody>
          <a:bodyPr wrap="square" rtlCol="0">
            <a:spAutoFit/>
          </a:bodyPr>
          <a:lstStyle/>
          <a:p>
            <a:pPr algn="ctr"/>
            <a:r>
              <a:rPr lang="de-DE" sz="5400" dirty="0">
                <a:solidFill>
                  <a:srgbClr val="333333"/>
                </a:solidFill>
                <a:latin typeface="Futura LT Pro Light" panose="020B0402020204020303" pitchFamily="34" charset="0"/>
                <a:cs typeface="+mn-cs"/>
              </a:rPr>
              <a:t>Bild</a:t>
            </a:r>
          </a:p>
        </p:txBody>
      </p:sp>
      <p:sp>
        <p:nvSpPr>
          <p:cNvPr id="3" name="Textfeld 2">
            <a:extLst>
              <a:ext uri="{FF2B5EF4-FFF2-40B4-BE49-F238E27FC236}">
                <a16:creationId xmlns:a16="http://schemas.microsoft.com/office/drawing/2014/main" id="{A09195FD-226E-2A90-AAD0-AB25507E38E6}"/>
              </a:ext>
            </a:extLst>
          </p:cNvPr>
          <p:cNvSpPr txBox="1"/>
          <p:nvPr userDrawn="1"/>
        </p:nvSpPr>
        <p:spPr>
          <a:xfrm>
            <a:off x="3420591" y="1980109"/>
            <a:ext cx="2376264" cy="584775"/>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Name</a:t>
            </a:r>
          </a:p>
          <a:p>
            <a:pPr marL="0" indent="0" algn="l">
              <a:buFont typeface="Arial" panose="020B0604020202020204" pitchFamily="34" charset="0"/>
              <a:buNone/>
            </a:pPr>
            <a:r>
              <a:rPr lang="de-DE" sz="1400" b="0" dirty="0" err="1">
                <a:solidFill>
                  <a:srgbClr val="333333"/>
                </a:solidFill>
                <a:latin typeface="Futura LT Pro Light" panose="020B0402020204020303" pitchFamily="34" charset="0"/>
                <a:cs typeface="+mn-cs"/>
              </a:rPr>
              <a:t>Musterman</a:t>
            </a:r>
            <a:r>
              <a:rPr lang="de-DE" sz="1400" b="0" dirty="0">
                <a:solidFill>
                  <a:srgbClr val="333333"/>
                </a:solidFill>
                <a:latin typeface="Futura LT Pro Light" panose="020B0402020204020303" pitchFamily="34" charset="0"/>
                <a:cs typeface="+mn-cs"/>
              </a:rPr>
              <a:t> Müller</a:t>
            </a:r>
          </a:p>
        </p:txBody>
      </p:sp>
      <p:sp>
        <p:nvSpPr>
          <p:cNvPr id="5" name="Textfeld 4">
            <a:extLst>
              <a:ext uri="{FF2B5EF4-FFF2-40B4-BE49-F238E27FC236}">
                <a16:creationId xmlns:a16="http://schemas.microsoft.com/office/drawing/2014/main" id="{E4B15629-97F5-8BEC-9D1E-B728357B0DB2}"/>
              </a:ext>
            </a:extLst>
          </p:cNvPr>
          <p:cNvSpPr txBox="1"/>
          <p:nvPr userDrawn="1"/>
        </p:nvSpPr>
        <p:spPr>
          <a:xfrm>
            <a:off x="3420591" y="2850597"/>
            <a:ext cx="2376264" cy="800219"/>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Adresse</a:t>
            </a:r>
          </a:p>
          <a:p>
            <a:pPr marL="0" indent="0" algn="l">
              <a:buFont typeface="Arial" panose="020B0604020202020204" pitchFamily="34" charset="0"/>
              <a:buNone/>
            </a:pPr>
            <a:r>
              <a:rPr lang="de-DE" sz="1400" dirty="0" err="1">
                <a:solidFill>
                  <a:srgbClr val="333333"/>
                </a:solidFill>
                <a:latin typeface="Futura LT Pro Light" panose="020B0402020204020303" pitchFamily="34" charset="0"/>
                <a:cs typeface="+mn-cs"/>
              </a:rPr>
              <a:t>Holstenhofweg</a:t>
            </a:r>
            <a:r>
              <a:rPr lang="de-DE" sz="1400" dirty="0">
                <a:solidFill>
                  <a:srgbClr val="333333"/>
                </a:solidFill>
                <a:latin typeface="Futura LT Pro Light" panose="020B0402020204020303" pitchFamily="34" charset="0"/>
                <a:cs typeface="+mn-cs"/>
              </a:rPr>
              <a:t> 85</a:t>
            </a:r>
          </a:p>
          <a:p>
            <a:pPr marL="0" indent="0" algn="l">
              <a:buFont typeface="Arial" panose="020B0604020202020204" pitchFamily="34" charset="0"/>
              <a:buNone/>
            </a:pPr>
            <a:r>
              <a:rPr lang="de-DE" sz="1400" dirty="0">
                <a:solidFill>
                  <a:srgbClr val="333333"/>
                </a:solidFill>
                <a:latin typeface="Futura LT Pro Light" panose="020B0402020204020303" pitchFamily="34" charset="0"/>
                <a:cs typeface="+mn-cs"/>
              </a:rPr>
              <a:t>22043 Hamburg</a:t>
            </a:r>
          </a:p>
        </p:txBody>
      </p:sp>
      <p:sp>
        <p:nvSpPr>
          <p:cNvPr id="6" name="Textfeld 5">
            <a:extLst>
              <a:ext uri="{FF2B5EF4-FFF2-40B4-BE49-F238E27FC236}">
                <a16:creationId xmlns:a16="http://schemas.microsoft.com/office/drawing/2014/main" id="{5F0CE536-3EEC-B47C-951C-BEC73BC30E57}"/>
              </a:ext>
            </a:extLst>
          </p:cNvPr>
          <p:cNvSpPr txBox="1"/>
          <p:nvPr userDrawn="1"/>
        </p:nvSpPr>
        <p:spPr>
          <a:xfrm>
            <a:off x="3387564" y="3721085"/>
            <a:ext cx="2376264" cy="584775"/>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E-Mail</a:t>
            </a:r>
          </a:p>
          <a:p>
            <a:pPr marL="0" indent="0" algn="l">
              <a:buFont typeface="Arial" panose="020B0604020202020204" pitchFamily="34" charset="0"/>
              <a:buNone/>
            </a:pPr>
            <a:r>
              <a:rPr lang="de-DE" sz="1400" dirty="0">
                <a:solidFill>
                  <a:srgbClr val="333333"/>
                </a:solidFill>
                <a:latin typeface="Futura LT Pro Light" panose="020B0402020204020303" pitchFamily="34" charset="0"/>
                <a:cs typeface="+mn-cs"/>
              </a:rPr>
              <a:t>x.x@hsu-hh.de</a:t>
            </a:r>
          </a:p>
        </p:txBody>
      </p:sp>
      <p:sp>
        <p:nvSpPr>
          <p:cNvPr id="7" name="Textfeld 6">
            <a:extLst>
              <a:ext uri="{FF2B5EF4-FFF2-40B4-BE49-F238E27FC236}">
                <a16:creationId xmlns:a16="http://schemas.microsoft.com/office/drawing/2014/main" id="{9BE5B3DF-488A-D766-82B1-FBFC746DE7C8}"/>
              </a:ext>
            </a:extLst>
          </p:cNvPr>
          <p:cNvSpPr txBox="1"/>
          <p:nvPr userDrawn="1"/>
        </p:nvSpPr>
        <p:spPr>
          <a:xfrm>
            <a:off x="3387564" y="4591573"/>
            <a:ext cx="2376264" cy="584775"/>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Nummer</a:t>
            </a:r>
          </a:p>
          <a:p>
            <a:pPr marL="0" indent="0" algn="l">
              <a:buFont typeface="Arial" panose="020B0604020202020204" pitchFamily="34" charset="0"/>
              <a:buNone/>
            </a:pPr>
            <a:r>
              <a:rPr lang="de-DE" sz="1400" dirty="0">
                <a:solidFill>
                  <a:srgbClr val="333333"/>
                </a:solidFill>
                <a:latin typeface="Futura LT Pro Light" panose="020B0402020204020303" pitchFamily="34" charset="0"/>
                <a:cs typeface="+mn-cs"/>
              </a:rPr>
              <a:t>+4940</a:t>
            </a:r>
          </a:p>
        </p:txBody>
      </p:sp>
    </p:spTree>
    <p:extLst>
      <p:ext uri="{BB962C8B-B14F-4D97-AF65-F5344CB8AC3E}">
        <p14:creationId xmlns:p14="http://schemas.microsoft.com/office/powerpoint/2010/main" val="2984051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folie Wölfel-Gruppe">
    <p:spTree>
      <p:nvGrpSpPr>
        <p:cNvPr id="1" name=""/>
        <p:cNvGrpSpPr/>
        <p:nvPr/>
      </p:nvGrpSpPr>
      <p:grpSpPr>
        <a:xfrm>
          <a:off x="0" y="0"/>
          <a:ext cx="0" cy="0"/>
          <a:chOff x="0" y="0"/>
          <a:chExt cx="0" cy="0"/>
        </a:xfrm>
      </p:grpSpPr>
      <p:pic>
        <p:nvPicPr>
          <p:cNvPr id="3" name="Picture 2" descr="C:\Users\hl\Desktop\Powerpoint-Vorlagen\Power-Point-Bilder\Schwingung-kle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12172950" cy="683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hteck 6"/>
          <p:cNvSpPr>
            <a:spLocks/>
          </p:cNvSpPr>
          <p:nvPr/>
        </p:nvSpPr>
        <p:spPr>
          <a:xfrm>
            <a:off x="0" y="3959225"/>
            <a:ext cx="12169775" cy="1441450"/>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05600" tIns="202800" rIns="405600" bIns="202800" anchor="ctr"/>
          <a:lstStyle/>
          <a:p>
            <a:pPr algn="ctr" fontAlgn="auto">
              <a:spcBef>
                <a:spcPts val="0"/>
              </a:spcBef>
              <a:spcAft>
                <a:spcPts val="0"/>
              </a:spcAft>
              <a:defRPr/>
            </a:pPr>
            <a:endParaRPr lang="de-DE"/>
          </a:p>
        </p:txBody>
      </p:sp>
      <p:sp>
        <p:nvSpPr>
          <p:cNvPr id="2" name="Titel 1"/>
          <p:cNvSpPr>
            <a:spLocks noGrp="1"/>
          </p:cNvSpPr>
          <p:nvPr>
            <p:ph type="ctrTitle"/>
          </p:nvPr>
        </p:nvSpPr>
        <p:spPr>
          <a:xfrm>
            <a:off x="2" y="4068501"/>
            <a:ext cx="9829302" cy="1223976"/>
          </a:xfrm>
          <a:prstGeom prst="rect">
            <a:avLst/>
          </a:prstGeom>
        </p:spPr>
        <p:txBody>
          <a:bodyPr lIns="432000" bIns="36000">
            <a:normAutofit/>
          </a:bodyPr>
          <a:lstStyle>
            <a:lvl1pPr algn="l">
              <a:defRPr sz="3500" b="0">
                <a:ln>
                  <a:noFill/>
                </a:ln>
                <a:solidFill>
                  <a:srgbClr val="333333"/>
                </a:solidFill>
                <a:latin typeface="Futura LT Pro Book" panose="020B0502020204020303" pitchFamily="34" charset="0"/>
              </a:defRPr>
            </a:lvl1pPr>
          </a:lstStyle>
          <a:p>
            <a:r>
              <a:rPr lang="de-DE"/>
              <a:t>Mastertitelformat bearbeiten</a:t>
            </a:r>
            <a:endParaRPr lang="de-DE" dirty="0"/>
          </a:p>
        </p:txBody>
      </p:sp>
    </p:spTree>
    <p:extLst>
      <p:ext uri="{BB962C8B-B14F-4D97-AF65-F5344CB8AC3E}">
        <p14:creationId xmlns:p14="http://schemas.microsoft.com/office/powerpoint/2010/main" val="110496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elfolie Individuell">
    <p:spTree>
      <p:nvGrpSpPr>
        <p:cNvPr id="1" name=""/>
        <p:cNvGrpSpPr/>
        <p:nvPr/>
      </p:nvGrpSpPr>
      <p:grpSpPr>
        <a:xfrm>
          <a:off x="0" y="0"/>
          <a:ext cx="0" cy="0"/>
          <a:chOff x="0" y="0"/>
          <a:chExt cx="0" cy="0"/>
        </a:xfrm>
      </p:grpSpPr>
      <p:sp>
        <p:nvSpPr>
          <p:cNvPr id="5" name="Bildplatzhalter 4"/>
          <p:cNvSpPr>
            <a:spLocks noGrp="1"/>
          </p:cNvSpPr>
          <p:nvPr>
            <p:ph type="pic" sz="quarter" idx="10"/>
          </p:nvPr>
        </p:nvSpPr>
        <p:spPr>
          <a:xfrm>
            <a:off x="19491" y="35893"/>
            <a:ext cx="12169775" cy="6840538"/>
          </a:xfrm>
        </p:spPr>
        <p:txBody>
          <a:bodyPr rtlCol="0">
            <a:normAutofit/>
          </a:bodyPr>
          <a:lstStyle>
            <a:lvl1pPr marL="0" indent="0">
              <a:buNone/>
              <a:defRPr/>
            </a:lvl1pPr>
          </a:lstStyle>
          <a:p>
            <a:pPr lvl="0"/>
            <a:r>
              <a:rPr lang="de-DE" noProof="0"/>
              <a:t>Bild durch Klicken auf Symbol hinzufügen</a:t>
            </a:r>
            <a:endParaRPr lang="de-DE" noProof="0" dirty="0"/>
          </a:p>
        </p:txBody>
      </p:sp>
      <p:pic>
        <p:nvPicPr>
          <p:cNvPr id="7" name="Bildplatzhalter 4"/>
          <p:cNvPicPr>
            <a:picLocks noChangeAspect="1"/>
          </p:cNvPicPr>
          <p:nvPr userDrawn="1"/>
        </p:nvPicPr>
        <p:blipFill>
          <a:blip r:embed="rId2">
            <a:extLst>
              <a:ext uri="{28A0092B-C50C-407E-A947-70E740481C1C}">
                <a14:useLocalDpi xmlns:a14="http://schemas.microsoft.com/office/drawing/2010/main" val="0"/>
              </a:ext>
            </a:extLst>
          </a:blip>
          <a:srcRect t="7843" b="7843"/>
          <a:stretch>
            <a:fillRect/>
          </a:stretch>
        </p:blipFill>
        <p:spPr bwMode="auto">
          <a:xfrm>
            <a:off x="2" y="0"/>
            <a:ext cx="12208755" cy="685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hteck 6"/>
          <p:cNvSpPr>
            <a:spLocks/>
          </p:cNvSpPr>
          <p:nvPr/>
        </p:nvSpPr>
        <p:spPr>
          <a:xfrm>
            <a:off x="-19491" y="3852317"/>
            <a:ext cx="12247741" cy="1800200"/>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05600" tIns="202800" rIns="405600" bIns="202800" anchor="ctr"/>
          <a:lstStyle/>
          <a:p>
            <a:pPr algn="ctr" fontAlgn="auto">
              <a:spcBef>
                <a:spcPts val="0"/>
              </a:spcBef>
              <a:spcAft>
                <a:spcPts val="0"/>
              </a:spcAft>
              <a:defRPr/>
            </a:pPr>
            <a:endParaRPr lang="de-DE"/>
          </a:p>
        </p:txBody>
      </p:sp>
      <p:sp>
        <p:nvSpPr>
          <p:cNvPr id="2" name="Titel 1"/>
          <p:cNvSpPr>
            <a:spLocks noGrp="1"/>
          </p:cNvSpPr>
          <p:nvPr>
            <p:ph type="ctrTitle" hasCustomPrompt="1"/>
          </p:nvPr>
        </p:nvSpPr>
        <p:spPr>
          <a:xfrm>
            <a:off x="-19491" y="3924546"/>
            <a:ext cx="9829302" cy="1045380"/>
          </a:xfrm>
          <a:prstGeom prst="rect">
            <a:avLst/>
          </a:prstGeom>
        </p:spPr>
        <p:txBody>
          <a:bodyPr lIns="432000" bIns="36000">
            <a:normAutofit/>
          </a:bodyPr>
          <a:lstStyle>
            <a:lvl1pPr algn="l">
              <a:defRPr sz="3600" b="0">
                <a:ln>
                  <a:noFill/>
                </a:ln>
                <a:solidFill>
                  <a:srgbClr val="333333"/>
                </a:solidFill>
                <a:latin typeface="Futura LT Pro Book" panose="020B0502020204020303" pitchFamily="34" charset="0"/>
              </a:defRPr>
            </a:lvl1pPr>
          </a:lstStyle>
          <a:p>
            <a:r>
              <a:rPr lang="de-DE" dirty="0"/>
              <a:t>Titel der Arbeit</a:t>
            </a:r>
            <a:br>
              <a:rPr lang="de-DE" dirty="0"/>
            </a:br>
            <a:br>
              <a:rPr lang="de-DE" dirty="0"/>
            </a:br>
            <a:br>
              <a:rPr lang="de-DE" dirty="0"/>
            </a:br>
            <a:endParaRPr lang="de-DE" dirty="0"/>
          </a:p>
        </p:txBody>
      </p:sp>
      <p:pic>
        <p:nvPicPr>
          <p:cNvPr id="3" name="Grafik 2">
            <a:extLst>
              <a:ext uri="{FF2B5EF4-FFF2-40B4-BE49-F238E27FC236}">
                <a16:creationId xmlns:a16="http://schemas.microsoft.com/office/drawing/2014/main" id="{A46E2C84-B091-DCF8-F36E-95EB21974D4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5814" y="4243097"/>
            <a:ext cx="1566939" cy="1125547"/>
          </a:xfrm>
          <a:prstGeom prst="rect">
            <a:avLst/>
          </a:prstGeom>
        </p:spPr>
      </p:pic>
      <p:sp>
        <p:nvSpPr>
          <p:cNvPr id="27" name="Textplatzhalter 32">
            <a:extLst>
              <a:ext uri="{FF2B5EF4-FFF2-40B4-BE49-F238E27FC236}">
                <a16:creationId xmlns:a16="http://schemas.microsoft.com/office/drawing/2014/main" id="{66AA9F20-053C-03EB-E0DB-D8611C3EE148}"/>
              </a:ext>
            </a:extLst>
          </p:cNvPr>
          <p:cNvSpPr>
            <a:spLocks noGrp="1"/>
          </p:cNvSpPr>
          <p:nvPr>
            <p:ph type="body" sz="quarter" idx="18" hasCustomPrompt="1"/>
          </p:nvPr>
        </p:nvSpPr>
        <p:spPr>
          <a:xfrm>
            <a:off x="-11884" y="5111991"/>
            <a:ext cx="9829304" cy="513305"/>
          </a:xfrm>
        </p:spPr>
        <p:txBody>
          <a:bodyPr/>
          <a:lstStyle>
            <a:lvl1pPr marL="0" indent="0">
              <a:buFont typeface="+mj-lt"/>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de-DE" dirty="0"/>
              <a:t>    Autoren und weitere Info</a:t>
            </a:r>
          </a:p>
        </p:txBody>
      </p:sp>
    </p:spTree>
    <p:extLst>
      <p:ext uri="{BB962C8B-B14F-4D97-AF65-F5344CB8AC3E}">
        <p14:creationId xmlns:p14="http://schemas.microsoft.com/office/powerpoint/2010/main" val="1264746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 Text">
    <p:spTree>
      <p:nvGrpSpPr>
        <p:cNvPr id="1" name=""/>
        <p:cNvGrpSpPr/>
        <p:nvPr/>
      </p:nvGrpSpPr>
      <p:grpSpPr>
        <a:xfrm>
          <a:off x="0" y="0"/>
          <a:ext cx="0" cy="0"/>
          <a:chOff x="0" y="0"/>
          <a:chExt cx="0" cy="0"/>
        </a:xfrm>
      </p:grpSpPr>
      <p:sp>
        <p:nvSpPr>
          <p:cNvPr id="13" name="Textplatzhalter 32"/>
          <p:cNvSpPr>
            <a:spLocks noGrp="1"/>
          </p:cNvSpPr>
          <p:nvPr>
            <p:ph type="body" sz="quarter" idx="18"/>
          </p:nvPr>
        </p:nvSpPr>
        <p:spPr>
          <a:xfrm>
            <a:off x="432000" y="1044005"/>
            <a:ext cx="11312077" cy="4896544"/>
          </a:xfrm>
        </p:spPr>
        <p:txBody>
          <a:bodyPr/>
          <a:lstStyle>
            <a:lvl1pPr marL="0" indent="0">
              <a:buFont typeface="+mj-lt"/>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4" name="Titelplatzhalter 1">
            <a:extLst>
              <a:ext uri="{FF2B5EF4-FFF2-40B4-BE49-F238E27FC236}">
                <a16:creationId xmlns:a16="http://schemas.microsoft.com/office/drawing/2014/main" id="{21CDEB0A-749B-129D-B9A1-E2F47A4FB682}"/>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2311718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el + Beschreibung + Aufzählung">
    <p:spTree>
      <p:nvGrpSpPr>
        <p:cNvPr id="1" name=""/>
        <p:cNvGrpSpPr/>
        <p:nvPr/>
      </p:nvGrpSpPr>
      <p:grpSpPr>
        <a:xfrm>
          <a:off x="0" y="0"/>
          <a:ext cx="0" cy="0"/>
          <a:chOff x="0" y="0"/>
          <a:chExt cx="0" cy="0"/>
        </a:xfrm>
      </p:grpSpPr>
      <p:sp>
        <p:nvSpPr>
          <p:cNvPr id="11" name="Textplatzhalter 32"/>
          <p:cNvSpPr>
            <a:spLocks noGrp="1"/>
          </p:cNvSpPr>
          <p:nvPr>
            <p:ph type="body" sz="quarter" idx="18"/>
          </p:nvPr>
        </p:nvSpPr>
        <p:spPr>
          <a:xfrm>
            <a:off x="432000" y="1044488"/>
            <a:ext cx="11312077" cy="6480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7" name="Textfeld 3"/>
          <p:cNvSpPr txBox="1">
            <a:spLocks noChangeArrowheads="1"/>
          </p:cNvSpPr>
          <p:nvPr/>
        </p:nvSpPr>
        <p:spPr bwMode="auto">
          <a:xfrm>
            <a:off x="431800" y="1925638"/>
            <a:ext cx="1131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de-DE" altLang="de-DE">
              <a:latin typeface="Futura Lt BT" pitchFamily="34" charset="0"/>
            </a:endParaRPr>
          </a:p>
        </p:txBody>
      </p:sp>
      <p:sp>
        <p:nvSpPr>
          <p:cNvPr id="21" name="Textplatzhalter 20"/>
          <p:cNvSpPr>
            <a:spLocks noGrp="1"/>
          </p:cNvSpPr>
          <p:nvPr>
            <p:ph type="body" sz="quarter" idx="12"/>
          </p:nvPr>
        </p:nvSpPr>
        <p:spPr>
          <a:xfrm>
            <a:off x="432000" y="2150688"/>
            <a:ext cx="11312078" cy="3969125"/>
          </a:xfrm>
        </p:spPr>
        <p:txBody>
          <a:bodyPr/>
          <a:lstStyle>
            <a:lvl1pPr marL="0" marR="0" indent="0" algn="l" defTabSz="914400" rtl="0" eaLnBrk="1" fontAlgn="base" latinLnBrk="0" hangingPunct="1">
              <a:lnSpc>
                <a:spcPct val="100000"/>
              </a:lnSpc>
              <a:spcBef>
                <a:spcPct val="20000"/>
              </a:spcBef>
              <a:spcAft>
                <a:spcPct val="0"/>
              </a:spcAft>
              <a:buClrTx/>
              <a:buSzTx/>
              <a:buFont typeface="Futura LT Pro Book" pitchFamily="34" charset="0"/>
              <a:buNone/>
              <a:tabLst/>
              <a:defRPr/>
            </a:lvl1pPr>
          </a:lstStyle>
          <a:p>
            <a:pPr marL="0" marR="0" lvl="0" indent="0" algn="l" defTabSz="914400" rtl="0" eaLnBrk="1" fontAlgn="base" latinLnBrk="0" hangingPunct="1">
              <a:lnSpc>
                <a:spcPct val="100000"/>
              </a:lnSpc>
              <a:spcBef>
                <a:spcPct val="20000"/>
              </a:spcBef>
              <a:spcAft>
                <a:spcPct val="0"/>
              </a:spcAft>
              <a:buClrTx/>
              <a:buSzTx/>
              <a:buFont typeface="Futura LT Pro Book" pitchFamily="34" charset="0"/>
              <a:buNone/>
              <a:tabLst/>
              <a:defRPr/>
            </a:pPr>
            <a:r>
              <a:rPr lang="de-DE"/>
              <a:t>Mastertextformat bearbeiten</a:t>
            </a:r>
          </a:p>
        </p:txBody>
      </p:sp>
      <p:sp>
        <p:nvSpPr>
          <p:cNvPr id="29" name="Textplatzhalter 28"/>
          <p:cNvSpPr>
            <a:spLocks noGrp="1"/>
          </p:cNvSpPr>
          <p:nvPr>
            <p:ph type="body" sz="quarter" idx="13"/>
          </p:nvPr>
        </p:nvSpPr>
        <p:spPr>
          <a:xfrm>
            <a:off x="432000" y="1790648"/>
            <a:ext cx="11312077" cy="360040"/>
          </a:xfrm>
        </p:spPr>
        <p:txBody>
          <a:bodyPr/>
          <a:lstStyle>
            <a:lvl1pPr marL="0" indent="0">
              <a:buNone/>
              <a:defRPr b="1">
                <a:latin typeface="+mj-lt"/>
              </a:defRPr>
            </a:lvl1pPr>
          </a:lstStyle>
          <a:p>
            <a:pPr lvl="0"/>
            <a:r>
              <a:rPr lang="de-DE"/>
              <a:t>Mastertextformat bearbeiten</a:t>
            </a:r>
          </a:p>
        </p:txBody>
      </p:sp>
      <p:sp>
        <p:nvSpPr>
          <p:cNvPr id="2" name="Titelplatzhalter 1">
            <a:extLst>
              <a:ext uri="{FF2B5EF4-FFF2-40B4-BE49-F238E27FC236}">
                <a16:creationId xmlns:a16="http://schemas.microsoft.com/office/drawing/2014/main" id="{C5541E96-A906-4926-15A3-EE69C7A2A81C}"/>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2348776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 Beschreibung + Aufzählung">
    <p:spTree>
      <p:nvGrpSpPr>
        <p:cNvPr id="1" name=""/>
        <p:cNvGrpSpPr/>
        <p:nvPr/>
      </p:nvGrpSpPr>
      <p:grpSpPr>
        <a:xfrm>
          <a:off x="0" y="0"/>
          <a:ext cx="0" cy="0"/>
          <a:chOff x="0" y="0"/>
          <a:chExt cx="0" cy="0"/>
        </a:xfrm>
      </p:grpSpPr>
      <p:sp>
        <p:nvSpPr>
          <p:cNvPr id="11" name="Textplatzhalter 32"/>
          <p:cNvSpPr>
            <a:spLocks noGrp="1"/>
          </p:cNvSpPr>
          <p:nvPr>
            <p:ph type="body" sz="quarter" idx="18"/>
          </p:nvPr>
        </p:nvSpPr>
        <p:spPr>
          <a:xfrm>
            <a:off x="432000" y="1044488"/>
            <a:ext cx="11312077" cy="6480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7" name="Textfeld 3"/>
          <p:cNvSpPr txBox="1">
            <a:spLocks noChangeArrowheads="1"/>
          </p:cNvSpPr>
          <p:nvPr/>
        </p:nvSpPr>
        <p:spPr bwMode="auto">
          <a:xfrm>
            <a:off x="431800" y="1925638"/>
            <a:ext cx="1131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de-DE" altLang="de-DE">
              <a:latin typeface="Futura Lt BT" pitchFamily="34" charset="0"/>
            </a:endParaRPr>
          </a:p>
        </p:txBody>
      </p:sp>
      <p:sp>
        <p:nvSpPr>
          <p:cNvPr id="21" name="Textplatzhalter 20"/>
          <p:cNvSpPr>
            <a:spLocks noGrp="1"/>
          </p:cNvSpPr>
          <p:nvPr>
            <p:ph type="body" sz="quarter" idx="12"/>
          </p:nvPr>
        </p:nvSpPr>
        <p:spPr>
          <a:xfrm>
            <a:off x="432000" y="2150688"/>
            <a:ext cx="11312078" cy="39691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9" name="Textplatzhalter 28"/>
          <p:cNvSpPr>
            <a:spLocks noGrp="1"/>
          </p:cNvSpPr>
          <p:nvPr>
            <p:ph type="body" sz="quarter" idx="13"/>
          </p:nvPr>
        </p:nvSpPr>
        <p:spPr>
          <a:xfrm>
            <a:off x="432000" y="1790648"/>
            <a:ext cx="11312077" cy="360040"/>
          </a:xfrm>
        </p:spPr>
        <p:txBody>
          <a:bodyPr/>
          <a:lstStyle>
            <a:lvl1pPr marL="0" indent="0">
              <a:buNone/>
              <a:defRPr b="1">
                <a:latin typeface="+mj-lt"/>
              </a:defRPr>
            </a:lvl1pPr>
          </a:lstStyle>
          <a:p>
            <a:pPr lvl="0"/>
            <a:r>
              <a:rPr lang="de-DE"/>
              <a:t>Mastertextformat bearbeiten</a:t>
            </a:r>
          </a:p>
        </p:txBody>
      </p:sp>
      <p:sp>
        <p:nvSpPr>
          <p:cNvPr id="2" name="Titelplatzhalter 1">
            <a:extLst>
              <a:ext uri="{FF2B5EF4-FFF2-40B4-BE49-F238E27FC236}">
                <a16:creationId xmlns:a16="http://schemas.microsoft.com/office/drawing/2014/main" id="{2734CAE5-A7CA-9279-E4CE-C90205BB051A}"/>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1956759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17" name="Textplatzhalter 2"/>
          <p:cNvSpPr>
            <a:spLocks noGrp="1"/>
          </p:cNvSpPr>
          <p:nvPr>
            <p:ph idx="1"/>
          </p:nvPr>
        </p:nvSpPr>
        <p:spPr>
          <a:xfrm>
            <a:off x="432001" y="1044005"/>
            <a:ext cx="5400000" cy="5075809"/>
          </a:xfrm>
          <a:prstGeom prst="rect">
            <a:avLst/>
          </a:prstGeom>
        </p:spPr>
        <p:txBody>
          <a:bodyPr rtlCol="0">
            <a:normAutofit/>
          </a:bodyPr>
          <a:lstStyle>
            <a:lvl1pPr marL="0" indent="0">
              <a:buNone/>
              <a:defRPr/>
            </a:lvl1pPr>
          </a:lstStyle>
          <a:p>
            <a:pPr lvl="0"/>
            <a:r>
              <a:rPr lang="de-DE"/>
              <a:t>Mastertextformat bearbeiten</a:t>
            </a:r>
          </a:p>
        </p:txBody>
      </p:sp>
      <p:sp>
        <p:nvSpPr>
          <p:cNvPr id="3" name="Textplatzhalter 2"/>
          <p:cNvSpPr>
            <a:spLocks noGrp="1"/>
          </p:cNvSpPr>
          <p:nvPr>
            <p:ph type="body" sz="quarter" idx="12"/>
          </p:nvPr>
        </p:nvSpPr>
        <p:spPr>
          <a:xfrm>
            <a:off x="6320661" y="1044086"/>
            <a:ext cx="5400675" cy="507526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itelplatzhalter 1">
            <a:extLst>
              <a:ext uri="{FF2B5EF4-FFF2-40B4-BE49-F238E27FC236}">
                <a16:creationId xmlns:a16="http://schemas.microsoft.com/office/drawing/2014/main" id="{AAF9CD7D-AA18-5F2D-B11F-17C0F451D290}"/>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4231543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6" name="Textplatzhalter 2"/>
          <p:cNvSpPr>
            <a:spLocks noGrp="1"/>
          </p:cNvSpPr>
          <p:nvPr>
            <p:ph idx="13"/>
          </p:nvPr>
        </p:nvSpPr>
        <p:spPr>
          <a:xfrm>
            <a:off x="6320661" y="1043545"/>
            <a:ext cx="5400000" cy="5075809"/>
          </a:xfrm>
          <a:prstGeom prst="rect">
            <a:avLst/>
          </a:prstGeom>
        </p:spPr>
        <p:txBody>
          <a:bodyPr rtlCol="0">
            <a:normAutofit/>
          </a:bodyPr>
          <a:lstStyle>
            <a:lvl1pPr marL="0" indent="0">
              <a:buNone/>
              <a:defRPr/>
            </a:lvl1pPr>
          </a:lstStyle>
          <a:p>
            <a:pPr lvl="0"/>
            <a:r>
              <a:rPr lang="de-DE"/>
              <a:t>Mastertextformat bearbeiten</a:t>
            </a:r>
          </a:p>
        </p:txBody>
      </p:sp>
      <p:sp>
        <p:nvSpPr>
          <p:cNvPr id="17" name="Textplatzhalter 2"/>
          <p:cNvSpPr>
            <a:spLocks noGrp="1"/>
          </p:cNvSpPr>
          <p:nvPr>
            <p:ph idx="1"/>
          </p:nvPr>
        </p:nvSpPr>
        <p:spPr>
          <a:xfrm>
            <a:off x="432001" y="1044005"/>
            <a:ext cx="5400000" cy="5075809"/>
          </a:xfrm>
          <a:prstGeom prst="rect">
            <a:avLst/>
          </a:prstGeom>
        </p:spPr>
        <p:txBody>
          <a:bodyPr rtlCol="0">
            <a:normAutofit/>
          </a:bodyPr>
          <a:lstStyle>
            <a:lvl1pPr marL="0" indent="0">
              <a:buNone/>
              <a:defRPr/>
            </a:lvl1pPr>
          </a:lstStyle>
          <a:p>
            <a:pPr lvl="0"/>
            <a:r>
              <a:rPr lang="de-DE"/>
              <a:t>Mastertextformat bearbeiten</a:t>
            </a:r>
          </a:p>
        </p:txBody>
      </p:sp>
      <p:sp>
        <p:nvSpPr>
          <p:cNvPr id="2" name="Titelplatzhalter 1">
            <a:extLst>
              <a:ext uri="{FF2B5EF4-FFF2-40B4-BE49-F238E27FC236}">
                <a16:creationId xmlns:a16="http://schemas.microsoft.com/office/drawing/2014/main" id="{2B247082-1AB1-98A9-23EC-10ED40B8E8D4}"/>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2129876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 3 Personen">
    <p:spTree>
      <p:nvGrpSpPr>
        <p:cNvPr id="1" name=""/>
        <p:cNvGrpSpPr/>
        <p:nvPr/>
      </p:nvGrpSpPr>
      <p:grpSpPr>
        <a:xfrm>
          <a:off x="0" y="0"/>
          <a:ext cx="0" cy="0"/>
          <a:chOff x="0" y="0"/>
          <a:chExt cx="0" cy="0"/>
        </a:xfrm>
      </p:grpSpPr>
      <p:sp>
        <p:nvSpPr>
          <p:cNvPr id="15" name="Bildplatzhalter 2"/>
          <p:cNvSpPr>
            <a:spLocks noGrp="1"/>
          </p:cNvSpPr>
          <p:nvPr>
            <p:ph type="pic" sz="quarter" idx="16"/>
          </p:nvPr>
        </p:nvSpPr>
        <p:spPr>
          <a:xfrm>
            <a:off x="8314903" y="1044005"/>
            <a:ext cx="3420000" cy="2772308"/>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8" name="Bildplatzhalter 2"/>
          <p:cNvSpPr>
            <a:spLocks noGrp="1"/>
          </p:cNvSpPr>
          <p:nvPr>
            <p:ph type="pic" sz="quarter" idx="17"/>
          </p:nvPr>
        </p:nvSpPr>
        <p:spPr>
          <a:xfrm>
            <a:off x="4372643" y="1044005"/>
            <a:ext cx="3420000" cy="2772308"/>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9" name="Bildplatzhalter 2"/>
          <p:cNvSpPr>
            <a:spLocks noGrp="1"/>
          </p:cNvSpPr>
          <p:nvPr>
            <p:ph type="pic" sz="quarter" idx="18"/>
          </p:nvPr>
        </p:nvSpPr>
        <p:spPr>
          <a:xfrm>
            <a:off x="425750" y="1044005"/>
            <a:ext cx="3420000" cy="2772308"/>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4" name="Textplatzhalter 2"/>
          <p:cNvSpPr>
            <a:spLocks noGrp="1"/>
          </p:cNvSpPr>
          <p:nvPr>
            <p:ph type="body" sz="quarter" idx="20"/>
          </p:nvPr>
        </p:nvSpPr>
        <p:spPr>
          <a:xfrm>
            <a:off x="425750" y="4039093"/>
            <a:ext cx="3420000" cy="723316"/>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17" name="Textplatzhalter 2"/>
          <p:cNvSpPr>
            <a:spLocks noGrp="1"/>
          </p:cNvSpPr>
          <p:nvPr>
            <p:ph type="body" sz="quarter" idx="21"/>
          </p:nvPr>
        </p:nvSpPr>
        <p:spPr>
          <a:xfrm>
            <a:off x="4359797" y="4039093"/>
            <a:ext cx="3420000" cy="723316"/>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0" name="Textplatzhalter 2"/>
          <p:cNvSpPr>
            <a:spLocks noGrp="1"/>
          </p:cNvSpPr>
          <p:nvPr>
            <p:ph type="body" sz="quarter" idx="22"/>
          </p:nvPr>
        </p:nvSpPr>
        <p:spPr>
          <a:xfrm>
            <a:off x="8304476" y="4039093"/>
            <a:ext cx="3420000" cy="723316"/>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elplatzhalter 1">
            <a:extLst>
              <a:ext uri="{FF2B5EF4-FFF2-40B4-BE49-F238E27FC236}">
                <a16:creationId xmlns:a16="http://schemas.microsoft.com/office/drawing/2014/main" id="{5AF9EAB8-C767-8577-9E5F-24AD159313AA}"/>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1066476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 4 Personen">
    <p:spTree>
      <p:nvGrpSpPr>
        <p:cNvPr id="1" name=""/>
        <p:cNvGrpSpPr/>
        <p:nvPr/>
      </p:nvGrpSpPr>
      <p:grpSpPr>
        <a:xfrm>
          <a:off x="0" y="0"/>
          <a:ext cx="0" cy="0"/>
          <a:chOff x="0" y="0"/>
          <a:chExt cx="0" cy="0"/>
        </a:xfrm>
      </p:grpSpPr>
      <p:sp>
        <p:nvSpPr>
          <p:cNvPr id="19" name="Bildplatzhalter 2"/>
          <p:cNvSpPr>
            <a:spLocks noGrp="1"/>
          </p:cNvSpPr>
          <p:nvPr>
            <p:ph type="pic" sz="quarter" idx="18"/>
          </p:nvPr>
        </p:nvSpPr>
        <p:spPr>
          <a:xfrm>
            <a:off x="425750" y="1044005"/>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7" name="Bildplatzhalter 2"/>
          <p:cNvSpPr>
            <a:spLocks noGrp="1"/>
          </p:cNvSpPr>
          <p:nvPr>
            <p:ph type="pic" sz="quarter" idx="20"/>
          </p:nvPr>
        </p:nvSpPr>
        <p:spPr>
          <a:xfrm>
            <a:off x="9155682" y="1044005"/>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21" name="Bildplatzhalter 2"/>
          <p:cNvSpPr>
            <a:spLocks noGrp="1"/>
          </p:cNvSpPr>
          <p:nvPr>
            <p:ph type="pic" sz="quarter" idx="22"/>
          </p:nvPr>
        </p:nvSpPr>
        <p:spPr>
          <a:xfrm>
            <a:off x="6245704" y="1044005"/>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23" name="Bildplatzhalter 2"/>
          <p:cNvSpPr>
            <a:spLocks noGrp="1"/>
          </p:cNvSpPr>
          <p:nvPr>
            <p:ph type="pic" sz="quarter" idx="24"/>
          </p:nvPr>
        </p:nvSpPr>
        <p:spPr>
          <a:xfrm>
            <a:off x="3335727" y="1048349"/>
            <a:ext cx="2574000" cy="2606563"/>
          </a:xfrm>
        </p:spPr>
        <p:txBody>
          <a:bodyPr rtlCol="0">
            <a:normAutofit/>
          </a:bodyPr>
          <a:lstStyle>
            <a:lvl1pPr marL="0" indent="0">
              <a:buNone/>
              <a:defRPr/>
            </a:lvl1pPr>
          </a:lstStyle>
          <a:p>
            <a:pPr lvl="0"/>
            <a:r>
              <a:rPr lang="de-DE" noProof="0"/>
              <a:t>Bild durch Klicken auf Symbol hinzufügen</a:t>
            </a:r>
            <a:endParaRPr lang="de-DE" noProof="0" dirty="0"/>
          </a:p>
        </p:txBody>
      </p:sp>
      <p:sp>
        <p:nvSpPr>
          <p:cNvPr id="13" name="Textplatzhalter 2"/>
          <p:cNvSpPr>
            <a:spLocks noGrp="1"/>
          </p:cNvSpPr>
          <p:nvPr>
            <p:ph type="body" sz="quarter" idx="25"/>
          </p:nvPr>
        </p:nvSpPr>
        <p:spPr>
          <a:xfrm>
            <a:off x="3335727"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15" name="Textplatzhalter 2"/>
          <p:cNvSpPr>
            <a:spLocks noGrp="1"/>
          </p:cNvSpPr>
          <p:nvPr>
            <p:ph type="body" sz="quarter" idx="26"/>
          </p:nvPr>
        </p:nvSpPr>
        <p:spPr>
          <a:xfrm>
            <a:off x="401141"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18" name="Textplatzhalter 2"/>
          <p:cNvSpPr>
            <a:spLocks noGrp="1"/>
          </p:cNvSpPr>
          <p:nvPr>
            <p:ph type="body" sz="quarter" idx="27"/>
          </p:nvPr>
        </p:nvSpPr>
        <p:spPr>
          <a:xfrm>
            <a:off x="6249048"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4" name="Textplatzhalter 2"/>
          <p:cNvSpPr>
            <a:spLocks noGrp="1"/>
          </p:cNvSpPr>
          <p:nvPr>
            <p:ph type="body" sz="quarter" idx="28"/>
          </p:nvPr>
        </p:nvSpPr>
        <p:spPr>
          <a:xfrm>
            <a:off x="9151737" y="3869420"/>
            <a:ext cx="2607266" cy="66697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elplatzhalter 1">
            <a:extLst>
              <a:ext uri="{FF2B5EF4-FFF2-40B4-BE49-F238E27FC236}">
                <a16:creationId xmlns:a16="http://schemas.microsoft.com/office/drawing/2014/main" id="{B833868A-0AB3-338E-58E9-87EBE88F1CB9}"/>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42675902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 Inhalt">
    <p:spTree>
      <p:nvGrpSpPr>
        <p:cNvPr id="1" name=""/>
        <p:cNvGrpSpPr/>
        <p:nvPr/>
      </p:nvGrpSpPr>
      <p:grpSpPr>
        <a:xfrm>
          <a:off x="0" y="0"/>
          <a:ext cx="0" cy="0"/>
          <a:chOff x="0" y="0"/>
          <a:chExt cx="0" cy="0"/>
        </a:xfrm>
      </p:grpSpPr>
      <p:sp>
        <p:nvSpPr>
          <p:cNvPr id="4" name="Inhaltsplatzhalter 3"/>
          <p:cNvSpPr>
            <a:spLocks noGrp="1"/>
          </p:cNvSpPr>
          <p:nvPr>
            <p:ph sz="quarter" idx="11"/>
          </p:nvPr>
        </p:nvSpPr>
        <p:spPr>
          <a:xfrm>
            <a:off x="-6541" y="899989"/>
            <a:ext cx="12169775" cy="54006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elplatzhalter 1">
            <a:extLst>
              <a:ext uri="{FF2B5EF4-FFF2-40B4-BE49-F238E27FC236}">
                <a16:creationId xmlns:a16="http://schemas.microsoft.com/office/drawing/2014/main" id="{CC107058-1257-058E-D650-4D6D0163B6A9}"/>
              </a:ext>
            </a:extLst>
          </p:cNvPr>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a:t>Mastertitelformat bearbeiten</a:t>
            </a:r>
            <a:endParaRPr lang="de-DE" altLang="de-DE" noProof="0" dirty="0"/>
          </a:p>
        </p:txBody>
      </p:sp>
    </p:spTree>
    <p:extLst>
      <p:ext uri="{BB962C8B-B14F-4D97-AF65-F5344CB8AC3E}">
        <p14:creationId xmlns:p14="http://schemas.microsoft.com/office/powerpoint/2010/main" val="6586112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el + Text">
    <p:spTree>
      <p:nvGrpSpPr>
        <p:cNvPr id="1" name=""/>
        <p:cNvGrpSpPr/>
        <p:nvPr/>
      </p:nvGrpSpPr>
      <p:grpSpPr>
        <a:xfrm>
          <a:off x="0" y="0"/>
          <a:ext cx="0" cy="0"/>
          <a:chOff x="0" y="0"/>
          <a:chExt cx="0" cy="0"/>
        </a:xfrm>
      </p:grpSpPr>
      <p:sp>
        <p:nvSpPr>
          <p:cNvPr id="13" name="Textplatzhalter 32"/>
          <p:cNvSpPr>
            <a:spLocks noGrp="1"/>
          </p:cNvSpPr>
          <p:nvPr>
            <p:ph type="body" sz="quarter" idx="18"/>
          </p:nvPr>
        </p:nvSpPr>
        <p:spPr>
          <a:xfrm>
            <a:off x="432000" y="1044005"/>
            <a:ext cx="11312077" cy="4896544"/>
          </a:xfrm>
        </p:spPr>
        <p:txBody>
          <a:bodyPr/>
          <a:lstStyle>
            <a:lvl1pPr marL="0" indent="0">
              <a:buFont typeface="+mj-lt"/>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4" name="Titelplatzhalter 1">
            <a:extLst>
              <a:ext uri="{FF2B5EF4-FFF2-40B4-BE49-F238E27FC236}">
                <a16:creationId xmlns:a16="http://schemas.microsoft.com/office/drawing/2014/main" id="{21CDEB0A-749B-129D-B9A1-E2F47A4FB682}"/>
              </a:ext>
            </a:extLst>
          </p:cNvPr>
          <p:cNvSpPr>
            <a:spLocks noGrp="1"/>
          </p:cNvSpPr>
          <p:nvPr>
            <p:ph type="title" hasCustomPrompt="1"/>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lvl1pPr>
          </a:lstStyle>
          <a:p>
            <a:pPr lvl="0"/>
            <a:r>
              <a:rPr lang="de-DE" altLang="de-DE" noProof="0" dirty="0"/>
              <a:t>Kontakt</a:t>
            </a:r>
          </a:p>
        </p:txBody>
      </p:sp>
      <p:sp>
        <p:nvSpPr>
          <p:cNvPr id="2" name="Textfeld 1">
            <a:extLst>
              <a:ext uri="{FF2B5EF4-FFF2-40B4-BE49-F238E27FC236}">
                <a16:creationId xmlns:a16="http://schemas.microsoft.com/office/drawing/2014/main" id="{C13676B4-B155-5F8F-6057-DF3B869FEA30}"/>
              </a:ext>
            </a:extLst>
          </p:cNvPr>
          <p:cNvSpPr txBox="1"/>
          <p:nvPr userDrawn="1"/>
        </p:nvSpPr>
        <p:spPr>
          <a:xfrm>
            <a:off x="6876975" y="3138629"/>
            <a:ext cx="2376264" cy="923330"/>
          </a:xfrm>
          <a:prstGeom prst="rect">
            <a:avLst/>
          </a:prstGeom>
          <a:noFill/>
        </p:spPr>
        <p:txBody>
          <a:bodyPr wrap="square" rtlCol="0">
            <a:spAutoFit/>
          </a:bodyPr>
          <a:lstStyle/>
          <a:p>
            <a:pPr algn="ctr"/>
            <a:r>
              <a:rPr lang="de-DE" sz="5400" dirty="0">
                <a:solidFill>
                  <a:srgbClr val="333333"/>
                </a:solidFill>
                <a:latin typeface="Futura LT Pro Light" panose="020B0402020204020303" pitchFamily="34" charset="0"/>
                <a:cs typeface="+mn-cs"/>
              </a:rPr>
              <a:t>Bild</a:t>
            </a:r>
          </a:p>
        </p:txBody>
      </p:sp>
      <p:sp>
        <p:nvSpPr>
          <p:cNvPr id="3" name="Textfeld 2">
            <a:extLst>
              <a:ext uri="{FF2B5EF4-FFF2-40B4-BE49-F238E27FC236}">
                <a16:creationId xmlns:a16="http://schemas.microsoft.com/office/drawing/2014/main" id="{A09195FD-226E-2A90-AAD0-AB25507E38E6}"/>
              </a:ext>
            </a:extLst>
          </p:cNvPr>
          <p:cNvSpPr txBox="1"/>
          <p:nvPr userDrawn="1"/>
        </p:nvSpPr>
        <p:spPr>
          <a:xfrm>
            <a:off x="3420591" y="1980109"/>
            <a:ext cx="2376264" cy="584775"/>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Name</a:t>
            </a:r>
          </a:p>
          <a:p>
            <a:pPr marL="0" indent="0" algn="l">
              <a:buFont typeface="Arial" panose="020B0604020202020204" pitchFamily="34" charset="0"/>
              <a:buNone/>
            </a:pPr>
            <a:r>
              <a:rPr lang="de-DE" sz="1400" b="0" dirty="0" err="1">
                <a:solidFill>
                  <a:srgbClr val="333333"/>
                </a:solidFill>
                <a:latin typeface="Futura LT Pro Light" panose="020B0402020204020303" pitchFamily="34" charset="0"/>
                <a:cs typeface="+mn-cs"/>
              </a:rPr>
              <a:t>Musterman</a:t>
            </a:r>
            <a:r>
              <a:rPr lang="de-DE" sz="1400" b="0" dirty="0">
                <a:solidFill>
                  <a:srgbClr val="333333"/>
                </a:solidFill>
                <a:latin typeface="Futura LT Pro Light" panose="020B0402020204020303" pitchFamily="34" charset="0"/>
                <a:cs typeface="+mn-cs"/>
              </a:rPr>
              <a:t> Müller</a:t>
            </a:r>
          </a:p>
        </p:txBody>
      </p:sp>
      <p:sp>
        <p:nvSpPr>
          <p:cNvPr id="5" name="Textfeld 4">
            <a:extLst>
              <a:ext uri="{FF2B5EF4-FFF2-40B4-BE49-F238E27FC236}">
                <a16:creationId xmlns:a16="http://schemas.microsoft.com/office/drawing/2014/main" id="{E4B15629-97F5-8BEC-9D1E-B728357B0DB2}"/>
              </a:ext>
            </a:extLst>
          </p:cNvPr>
          <p:cNvSpPr txBox="1"/>
          <p:nvPr userDrawn="1"/>
        </p:nvSpPr>
        <p:spPr>
          <a:xfrm>
            <a:off x="3420591" y="2850597"/>
            <a:ext cx="2376264" cy="800219"/>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Adresse</a:t>
            </a:r>
          </a:p>
          <a:p>
            <a:pPr marL="0" indent="0" algn="l">
              <a:buFont typeface="Arial" panose="020B0604020202020204" pitchFamily="34" charset="0"/>
              <a:buNone/>
            </a:pPr>
            <a:r>
              <a:rPr lang="de-DE" sz="1400" dirty="0" err="1">
                <a:solidFill>
                  <a:srgbClr val="333333"/>
                </a:solidFill>
                <a:latin typeface="Futura LT Pro Light" panose="020B0402020204020303" pitchFamily="34" charset="0"/>
                <a:cs typeface="+mn-cs"/>
              </a:rPr>
              <a:t>Holstenhofweg</a:t>
            </a:r>
            <a:r>
              <a:rPr lang="de-DE" sz="1400" dirty="0">
                <a:solidFill>
                  <a:srgbClr val="333333"/>
                </a:solidFill>
                <a:latin typeface="Futura LT Pro Light" panose="020B0402020204020303" pitchFamily="34" charset="0"/>
                <a:cs typeface="+mn-cs"/>
              </a:rPr>
              <a:t> 85</a:t>
            </a:r>
          </a:p>
          <a:p>
            <a:pPr marL="0" indent="0" algn="l">
              <a:buFont typeface="Arial" panose="020B0604020202020204" pitchFamily="34" charset="0"/>
              <a:buNone/>
            </a:pPr>
            <a:r>
              <a:rPr lang="de-DE" sz="1400" dirty="0">
                <a:solidFill>
                  <a:srgbClr val="333333"/>
                </a:solidFill>
                <a:latin typeface="Futura LT Pro Light" panose="020B0402020204020303" pitchFamily="34" charset="0"/>
                <a:cs typeface="+mn-cs"/>
              </a:rPr>
              <a:t>22043 Hamburg</a:t>
            </a:r>
          </a:p>
        </p:txBody>
      </p:sp>
      <p:sp>
        <p:nvSpPr>
          <p:cNvPr id="6" name="Textfeld 5">
            <a:extLst>
              <a:ext uri="{FF2B5EF4-FFF2-40B4-BE49-F238E27FC236}">
                <a16:creationId xmlns:a16="http://schemas.microsoft.com/office/drawing/2014/main" id="{5F0CE536-3EEC-B47C-951C-BEC73BC30E57}"/>
              </a:ext>
            </a:extLst>
          </p:cNvPr>
          <p:cNvSpPr txBox="1"/>
          <p:nvPr userDrawn="1"/>
        </p:nvSpPr>
        <p:spPr>
          <a:xfrm>
            <a:off x="3387564" y="3721085"/>
            <a:ext cx="2376264" cy="584775"/>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E-Mail</a:t>
            </a:r>
          </a:p>
          <a:p>
            <a:pPr marL="0" indent="0" algn="l">
              <a:buFont typeface="Arial" panose="020B0604020202020204" pitchFamily="34" charset="0"/>
              <a:buNone/>
            </a:pPr>
            <a:r>
              <a:rPr lang="de-DE" sz="1400" dirty="0">
                <a:solidFill>
                  <a:srgbClr val="333333"/>
                </a:solidFill>
                <a:latin typeface="Futura LT Pro Light" panose="020B0402020204020303" pitchFamily="34" charset="0"/>
                <a:cs typeface="+mn-cs"/>
              </a:rPr>
              <a:t>x.x@hsu-hh.de</a:t>
            </a:r>
          </a:p>
        </p:txBody>
      </p:sp>
      <p:sp>
        <p:nvSpPr>
          <p:cNvPr id="7" name="Textfeld 6">
            <a:extLst>
              <a:ext uri="{FF2B5EF4-FFF2-40B4-BE49-F238E27FC236}">
                <a16:creationId xmlns:a16="http://schemas.microsoft.com/office/drawing/2014/main" id="{9BE5B3DF-488A-D766-82B1-FBFC746DE7C8}"/>
              </a:ext>
            </a:extLst>
          </p:cNvPr>
          <p:cNvSpPr txBox="1"/>
          <p:nvPr userDrawn="1"/>
        </p:nvSpPr>
        <p:spPr>
          <a:xfrm>
            <a:off x="3387564" y="4591573"/>
            <a:ext cx="2376264" cy="584775"/>
          </a:xfrm>
          <a:prstGeom prst="rect">
            <a:avLst/>
          </a:prstGeom>
          <a:noFill/>
        </p:spPr>
        <p:txBody>
          <a:bodyPr wrap="square" rtlCol="0">
            <a:spAutoFit/>
          </a:bodyPr>
          <a:lstStyle/>
          <a:p>
            <a:pPr marL="0" indent="0" algn="l">
              <a:buFont typeface="Arial" panose="020B0604020202020204" pitchFamily="34" charset="0"/>
              <a:buNone/>
            </a:pPr>
            <a:r>
              <a:rPr lang="de-DE" sz="1800" b="1" dirty="0">
                <a:solidFill>
                  <a:srgbClr val="333333"/>
                </a:solidFill>
                <a:latin typeface="Futura LT Pro Light" panose="020B0402020204020303" pitchFamily="34" charset="0"/>
                <a:cs typeface="+mn-cs"/>
              </a:rPr>
              <a:t>Nummer</a:t>
            </a:r>
          </a:p>
          <a:p>
            <a:pPr marL="0" indent="0" algn="l">
              <a:buFont typeface="Arial" panose="020B0604020202020204" pitchFamily="34" charset="0"/>
              <a:buNone/>
            </a:pPr>
            <a:r>
              <a:rPr lang="de-DE" sz="1400" dirty="0">
                <a:solidFill>
                  <a:srgbClr val="333333"/>
                </a:solidFill>
                <a:latin typeface="Futura LT Pro Light" panose="020B0402020204020303" pitchFamily="34" charset="0"/>
                <a:cs typeface="+mn-cs"/>
              </a:rPr>
              <a:t>+4940</a:t>
            </a:r>
          </a:p>
        </p:txBody>
      </p:sp>
    </p:spTree>
    <p:extLst>
      <p:ext uri="{BB962C8B-B14F-4D97-AF65-F5344CB8AC3E}">
        <p14:creationId xmlns:p14="http://schemas.microsoft.com/office/powerpoint/2010/main" val="2217526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pn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itelplatzhalter 1"/>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noProof="0" dirty="0" err="1"/>
              <a:t>Folientiel</a:t>
            </a:r>
            <a:r>
              <a:rPr lang="en-AU" noProof="0" dirty="0"/>
              <a:t> (</a:t>
            </a:r>
            <a:r>
              <a:rPr lang="en-AU" noProof="0" dirty="0" err="1"/>
              <a:t>Hauptaussage</a:t>
            </a:r>
            <a:r>
              <a:rPr lang="en-AU" noProof="0" dirty="0"/>
              <a:t> der Folie)</a:t>
            </a:r>
          </a:p>
        </p:txBody>
      </p:sp>
      <p:sp>
        <p:nvSpPr>
          <p:cNvPr id="1028" name="Textplatzhalter 2"/>
          <p:cNvSpPr>
            <a:spLocks noGrp="1"/>
          </p:cNvSpPr>
          <p:nvPr>
            <p:ph type="body" idx="1"/>
          </p:nvPr>
        </p:nvSpPr>
        <p:spPr bwMode="auto">
          <a:xfrm>
            <a:off x="431800" y="969133"/>
            <a:ext cx="11312525" cy="5419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noProof="0" dirty="0" err="1"/>
              <a:t>Textmasterformat</a:t>
            </a:r>
            <a:r>
              <a:rPr lang="en-AU" noProof="0" dirty="0"/>
              <a:t> </a:t>
            </a:r>
            <a:r>
              <a:rPr lang="en-AU" noProof="0" dirty="0" err="1"/>
              <a:t>bearbeiten</a:t>
            </a:r>
            <a:endParaRPr lang="en-AU" noProof="0" dirty="0"/>
          </a:p>
          <a:p>
            <a:pPr lvl="1"/>
            <a:r>
              <a:rPr lang="en-AU" noProof="0" dirty="0"/>
              <a:t>Zweite Ebene</a:t>
            </a:r>
          </a:p>
          <a:p>
            <a:pPr lvl="2"/>
            <a:r>
              <a:rPr lang="en-AU" noProof="0" dirty="0" err="1"/>
              <a:t>Dritte</a:t>
            </a:r>
            <a:r>
              <a:rPr lang="en-AU" noProof="0" dirty="0"/>
              <a:t> Ebene</a:t>
            </a:r>
          </a:p>
          <a:p>
            <a:pPr lvl="3"/>
            <a:r>
              <a:rPr lang="en-AU" noProof="0" dirty="0" err="1"/>
              <a:t>Vierte</a:t>
            </a:r>
            <a:r>
              <a:rPr lang="en-AU" noProof="0" dirty="0"/>
              <a:t> Ebene</a:t>
            </a:r>
          </a:p>
          <a:p>
            <a:pPr lvl="4"/>
            <a:r>
              <a:rPr lang="en-AU" noProof="0" dirty="0" err="1"/>
              <a:t>Fünfte</a:t>
            </a:r>
            <a:r>
              <a:rPr lang="en-AU" noProof="0" dirty="0"/>
              <a:t> Ebene</a:t>
            </a:r>
            <a:fld id="{B83DA5D8-7131-4301-8D10-8A8E68711562}" type="slidenum">
              <a:rPr lang="en-AU" sz="1400" noProof="0" smtClean="0">
                <a:latin typeface="Futura LT Pro Light" panose="020B0402020204020303"/>
              </a:rPr>
              <a:pPr/>
              <a:t>‹Nr.›</a:t>
            </a:fld>
            <a:endParaRPr lang="en-AU" noProof="0" dirty="0"/>
          </a:p>
        </p:txBody>
      </p:sp>
      <p:pic>
        <p:nvPicPr>
          <p:cNvPr id="2" name="Grafik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757295" y="65086"/>
            <a:ext cx="936104" cy="672412"/>
          </a:xfrm>
          <a:prstGeom prst="rect">
            <a:avLst/>
          </a:prstGeom>
        </p:spPr>
      </p:pic>
      <p:cxnSp>
        <p:nvCxnSpPr>
          <p:cNvPr id="6" name="Gerade Verbindung 9">
            <a:extLst>
              <a:ext uri="{FF2B5EF4-FFF2-40B4-BE49-F238E27FC236}">
                <a16:creationId xmlns:a16="http://schemas.microsoft.com/office/drawing/2014/main" id="{86C9092A-B764-C02C-81AA-6DDBC66C874A}"/>
              </a:ext>
            </a:extLst>
          </p:cNvPr>
          <p:cNvCxnSpPr>
            <a:cxnSpLocks/>
          </p:cNvCxnSpPr>
          <p:nvPr userDrawn="1"/>
        </p:nvCxnSpPr>
        <p:spPr>
          <a:xfrm>
            <a:off x="431800" y="789570"/>
            <a:ext cx="1131824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 Verbindung 9">
            <a:extLst>
              <a:ext uri="{FF2B5EF4-FFF2-40B4-BE49-F238E27FC236}">
                <a16:creationId xmlns:a16="http://schemas.microsoft.com/office/drawing/2014/main" id="{4130A57A-8A70-B176-27B3-D3CDA3E91685}"/>
              </a:ext>
            </a:extLst>
          </p:cNvPr>
          <p:cNvCxnSpPr>
            <a:cxnSpLocks/>
          </p:cNvCxnSpPr>
          <p:nvPr userDrawn="1"/>
        </p:nvCxnSpPr>
        <p:spPr>
          <a:xfrm>
            <a:off x="428624" y="6516613"/>
            <a:ext cx="1131252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76FED74E-6A41-22E9-9385-D7EF28545870}"/>
              </a:ext>
            </a:extLst>
          </p:cNvPr>
          <p:cNvSpPr txBox="1"/>
          <p:nvPr userDrawn="1"/>
        </p:nvSpPr>
        <p:spPr>
          <a:xfrm>
            <a:off x="4302687" y="6516613"/>
            <a:ext cx="3564397" cy="246221"/>
          </a:xfrm>
          <a:prstGeom prst="rect">
            <a:avLst/>
          </a:prstGeom>
          <a:noFill/>
        </p:spPr>
        <p:txBody>
          <a:bodyPr wrap="square" rtlCol="0">
            <a:spAutoFit/>
          </a:bodyPr>
          <a:lstStyle/>
          <a:p>
            <a:pPr algn="ctr"/>
            <a:r>
              <a:rPr lang="en-AU" sz="1000" noProof="0" dirty="0">
                <a:solidFill>
                  <a:srgbClr val="333333"/>
                </a:solidFill>
                <a:latin typeface="Futura LT Pro Light" panose="020B0402020204020303" pitchFamily="34" charset="0"/>
                <a:cs typeface="+mn-cs"/>
              </a:rPr>
              <a:t>Reliability-based Seismic Design</a:t>
            </a:r>
          </a:p>
        </p:txBody>
      </p:sp>
      <p:sp>
        <p:nvSpPr>
          <p:cNvPr id="3" name="Textfeld 2">
            <a:extLst>
              <a:ext uri="{FF2B5EF4-FFF2-40B4-BE49-F238E27FC236}">
                <a16:creationId xmlns:a16="http://schemas.microsoft.com/office/drawing/2014/main" id="{1FA543B6-D9F9-83B5-BE45-2680583BF74F}"/>
              </a:ext>
            </a:extLst>
          </p:cNvPr>
          <p:cNvSpPr txBox="1"/>
          <p:nvPr userDrawn="1"/>
        </p:nvSpPr>
        <p:spPr>
          <a:xfrm>
            <a:off x="11053439" y="6504130"/>
            <a:ext cx="792088" cy="246221"/>
          </a:xfrm>
          <a:prstGeom prst="rect">
            <a:avLst/>
          </a:prstGeom>
          <a:noFill/>
        </p:spPr>
        <p:txBody>
          <a:bodyPr wrap="square" rtlCol="0">
            <a:spAutoFit/>
          </a:bodyPr>
          <a:lstStyle/>
          <a:p>
            <a:r>
              <a:rPr lang="en-AU" sz="1000" noProof="0" dirty="0">
                <a:solidFill>
                  <a:srgbClr val="333333"/>
                </a:solidFill>
                <a:latin typeface="Century Gothic" panose="020B0502020202020204" pitchFamily="34" charset="0"/>
                <a:cs typeface="+mn-cs"/>
              </a:rPr>
              <a:t>Folie </a:t>
            </a:r>
            <a:fld id="{A0A23BBC-0FAD-4C23-98D3-6CFBA32CD3CA}" type="slidenum">
              <a:rPr lang="en-AU" sz="1000" noProof="0" smtClean="0">
                <a:solidFill>
                  <a:srgbClr val="333333"/>
                </a:solidFill>
                <a:latin typeface="Century Gothic" panose="020B0502020202020204" pitchFamily="34" charset="0"/>
                <a:cs typeface="+mn-cs"/>
              </a:rPr>
              <a:t>‹Nr.›</a:t>
            </a:fld>
            <a:endParaRPr lang="en-AU" sz="1000" noProof="0" dirty="0">
              <a:solidFill>
                <a:srgbClr val="333333"/>
              </a:solidFill>
              <a:latin typeface="Century Gothic" panose="020B0502020202020204" pitchFamily="34" charset="0"/>
              <a:cs typeface="+mn-cs"/>
            </a:endParaRPr>
          </a:p>
        </p:txBody>
      </p:sp>
      <p:pic>
        <p:nvPicPr>
          <p:cNvPr id="5" name="Grafik 4" descr="Ein Bild, das Grafiken, Design enthält.&#10;&#10;KI-generierte Inhalte können fehlerhaft sein.">
            <a:extLst>
              <a:ext uri="{FF2B5EF4-FFF2-40B4-BE49-F238E27FC236}">
                <a16:creationId xmlns:a16="http://schemas.microsoft.com/office/drawing/2014/main" id="{247CEBD7-6333-F783-5620-9469F122711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805246" y="39352"/>
            <a:ext cx="846192" cy="684910"/>
          </a:xfrm>
          <a:prstGeom prst="rect">
            <a:avLst/>
          </a:prstGeom>
        </p:spPr>
      </p:pic>
      <p:sp>
        <p:nvSpPr>
          <p:cNvPr id="4" name="Textfeld 3">
            <a:extLst>
              <a:ext uri="{FF2B5EF4-FFF2-40B4-BE49-F238E27FC236}">
                <a16:creationId xmlns:a16="http://schemas.microsoft.com/office/drawing/2014/main" id="{E483E2E3-91AE-9DC2-CC60-3A5C8D45D4DE}"/>
              </a:ext>
            </a:extLst>
          </p:cNvPr>
          <p:cNvSpPr txBox="1"/>
          <p:nvPr userDrawn="1"/>
        </p:nvSpPr>
        <p:spPr>
          <a:xfrm>
            <a:off x="428624" y="6516613"/>
            <a:ext cx="2280885" cy="246221"/>
          </a:xfrm>
          <a:prstGeom prst="rect">
            <a:avLst/>
          </a:prstGeom>
          <a:noFill/>
        </p:spPr>
        <p:txBody>
          <a:bodyPr wrap="square" rtlCol="0">
            <a:spAutoFit/>
          </a:bodyPr>
          <a:lstStyle/>
          <a:p>
            <a:pPr algn="l"/>
            <a:r>
              <a:rPr lang="en-AU" sz="1000" noProof="0" dirty="0">
                <a:solidFill>
                  <a:srgbClr val="333333"/>
                </a:solidFill>
                <a:latin typeface="Futura LT Pro Light" panose="020B0402020204020303" pitchFamily="34" charset="0"/>
                <a:cs typeface="+mn-cs"/>
              </a:rPr>
              <a:t>N. Clemett, 11.12.2025</a:t>
            </a:r>
          </a:p>
        </p:txBody>
      </p:sp>
    </p:spTree>
  </p:cSld>
  <p:clrMap bg1="lt1" tx1="dk1" bg2="lt2" tx2="dk2" accent1="accent1" accent2="accent2" accent3="accent3" accent4="accent4" accent5="accent5" accent6="accent6" hlink="hlink" folHlink="folHlink"/>
  <p:sldLayoutIdLst>
    <p:sldLayoutId id="2147483706" r:id="rId1"/>
    <p:sldLayoutId id="2147483714" r:id="rId2"/>
    <p:sldLayoutId id="2147483729" r:id="rId3"/>
    <p:sldLayoutId id="2147483716" r:id="rId4"/>
    <p:sldLayoutId id="2147483717" r:id="rId5"/>
    <p:sldLayoutId id="2147483728" r:id="rId6"/>
    <p:sldLayoutId id="2147483726" r:id="rId7"/>
    <p:sldLayoutId id="2147483727" r:id="rId8"/>
    <p:sldLayoutId id="2147483719" r:id="rId9"/>
    <p:sldLayoutId id="2147483744" r:id="rId10"/>
  </p:sldLayoutIdLst>
  <p:hf hdr="0" ftr="0" dt="0"/>
  <p:txStyles>
    <p:titleStyle>
      <a:lvl1pPr algn="l" rtl="0" eaLnBrk="1" fontAlgn="base" hangingPunct="1">
        <a:spcBef>
          <a:spcPct val="0"/>
        </a:spcBef>
        <a:spcAft>
          <a:spcPct val="0"/>
        </a:spcAft>
        <a:defRPr sz="2800" kern="1200">
          <a:solidFill>
            <a:srgbClr val="333333"/>
          </a:solidFill>
          <a:latin typeface="Century Gothic" panose="020B0502020202020204" pitchFamily="34" charset="0"/>
          <a:ea typeface="+mj-ea"/>
          <a:cs typeface="+mj-cs"/>
        </a:defRPr>
      </a:lvl1pPr>
      <a:lvl2pPr algn="l" rtl="0" eaLnBrk="1" fontAlgn="base" hangingPunct="1">
        <a:spcBef>
          <a:spcPct val="0"/>
        </a:spcBef>
        <a:spcAft>
          <a:spcPct val="0"/>
        </a:spcAft>
        <a:defRPr sz="3000">
          <a:solidFill>
            <a:srgbClr val="333333"/>
          </a:solidFill>
          <a:latin typeface="Futura LT Pro Book" pitchFamily="34" charset="0"/>
        </a:defRPr>
      </a:lvl2pPr>
      <a:lvl3pPr algn="l" rtl="0" eaLnBrk="1" fontAlgn="base" hangingPunct="1">
        <a:spcBef>
          <a:spcPct val="0"/>
        </a:spcBef>
        <a:spcAft>
          <a:spcPct val="0"/>
        </a:spcAft>
        <a:defRPr sz="3000">
          <a:solidFill>
            <a:srgbClr val="333333"/>
          </a:solidFill>
          <a:latin typeface="Futura LT Pro Book" pitchFamily="34" charset="0"/>
        </a:defRPr>
      </a:lvl3pPr>
      <a:lvl4pPr algn="l" rtl="0" eaLnBrk="1" fontAlgn="base" hangingPunct="1">
        <a:spcBef>
          <a:spcPct val="0"/>
        </a:spcBef>
        <a:spcAft>
          <a:spcPct val="0"/>
        </a:spcAft>
        <a:defRPr sz="3000">
          <a:solidFill>
            <a:srgbClr val="333333"/>
          </a:solidFill>
          <a:latin typeface="Futura LT Pro Book" pitchFamily="34" charset="0"/>
        </a:defRPr>
      </a:lvl4pPr>
      <a:lvl5pPr algn="l" rtl="0" eaLnBrk="1" fontAlgn="base" hangingPunct="1">
        <a:spcBef>
          <a:spcPct val="0"/>
        </a:spcBef>
        <a:spcAft>
          <a:spcPct val="0"/>
        </a:spcAft>
        <a:defRPr sz="3000">
          <a:solidFill>
            <a:srgbClr val="333333"/>
          </a:solidFill>
          <a:latin typeface="Futura LT Pro Book" pitchFamily="34" charset="0"/>
        </a:defRPr>
      </a:lvl5pPr>
      <a:lvl6pPr marL="457200" algn="l" rtl="0" eaLnBrk="1" fontAlgn="base" hangingPunct="1">
        <a:spcBef>
          <a:spcPct val="0"/>
        </a:spcBef>
        <a:spcAft>
          <a:spcPct val="0"/>
        </a:spcAft>
        <a:defRPr sz="3000">
          <a:solidFill>
            <a:srgbClr val="333333"/>
          </a:solidFill>
          <a:latin typeface="Futura LT Pro Book" pitchFamily="34" charset="0"/>
        </a:defRPr>
      </a:lvl6pPr>
      <a:lvl7pPr marL="914400" algn="l" rtl="0" eaLnBrk="1" fontAlgn="base" hangingPunct="1">
        <a:spcBef>
          <a:spcPct val="0"/>
        </a:spcBef>
        <a:spcAft>
          <a:spcPct val="0"/>
        </a:spcAft>
        <a:defRPr sz="3000">
          <a:solidFill>
            <a:srgbClr val="333333"/>
          </a:solidFill>
          <a:latin typeface="Futura LT Pro Book" pitchFamily="34" charset="0"/>
        </a:defRPr>
      </a:lvl7pPr>
      <a:lvl8pPr marL="1371600" algn="l" rtl="0" eaLnBrk="1" fontAlgn="base" hangingPunct="1">
        <a:spcBef>
          <a:spcPct val="0"/>
        </a:spcBef>
        <a:spcAft>
          <a:spcPct val="0"/>
        </a:spcAft>
        <a:defRPr sz="3000">
          <a:solidFill>
            <a:srgbClr val="333333"/>
          </a:solidFill>
          <a:latin typeface="Futura LT Pro Book" pitchFamily="34" charset="0"/>
        </a:defRPr>
      </a:lvl8pPr>
      <a:lvl9pPr marL="1828800" algn="l" rtl="0" eaLnBrk="1" fontAlgn="base" hangingPunct="1">
        <a:spcBef>
          <a:spcPct val="0"/>
        </a:spcBef>
        <a:spcAft>
          <a:spcPct val="0"/>
        </a:spcAft>
        <a:defRPr sz="3000">
          <a:solidFill>
            <a:srgbClr val="333333"/>
          </a:solidFill>
          <a:latin typeface="Futura LT Pro Book" pitchFamily="34" charset="0"/>
        </a:defRPr>
      </a:lvl9pPr>
    </p:titleStyle>
    <p:bodyStyle>
      <a:lvl1pPr marL="447675" indent="-447675" algn="l" rtl="0" eaLnBrk="1" fontAlgn="base" hangingPunct="1">
        <a:spcBef>
          <a:spcPct val="20000"/>
        </a:spcBef>
        <a:spcAft>
          <a:spcPct val="0"/>
        </a:spcAft>
        <a:buFont typeface="Futura LT Pro Book" pitchFamily="34" charset="0"/>
        <a:buAutoNum type="arabicPeriod"/>
        <a:defRPr sz="2000" kern="1200">
          <a:solidFill>
            <a:srgbClr val="333333"/>
          </a:solidFill>
          <a:latin typeface="Century Gothic" panose="020B0502020202020204" pitchFamily="34" charset="0"/>
          <a:ea typeface="+mn-ea"/>
          <a:cs typeface="+mn-cs"/>
        </a:defRPr>
      </a:lvl1pPr>
      <a:lvl2pPr marL="895350" indent="-438150" algn="l" rtl="0" eaLnBrk="1" fontAlgn="base" hangingPunct="1">
        <a:spcBef>
          <a:spcPct val="20000"/>
        </a:spcBef>
        <a:spcAft>
          <a:spcPct val="0"/>
        </a:spcAft>
        <a:buFont typeface="Futura LT Pro Book" pitchFamily="34" charset="0"/>
        <a:buAutoNum type="arabicPeriod"/>
        <a:defRPr sz="1600" kern="1200">
          <a:solidFill>
            <a:srgbClr val="333333"/>
          </a:solidFill>
          <a:latin typeface="Century Gothic" panose="020B0502020202020204" pitchFamily="34" charset="0"/>
          <a:ea typeface="+mn-ea"/>
          <a:cs typeface="+mn-cs"/>
        </a:defRPr>
      </a:lvl2pPr>
      <a:lvl3pPr marL="1371600" indent="-457200" algn="l" rtl="0" eaLnBrk="1" fontAlgn="base" hangingPunct="1">
        <a:spcBef>
          <a:spcPct val="20000"/>
        </a:spcBef>
        <a:spcAft>
          <a:spcPct val="0"/>
        </a:spcAft>
        <a:buFont typeface="Futura LT Pro Book" pitchFamily="34" charset="0"/>
        <a:buAutoNum type="arabicPeriod"/>
        <a:defRPr sz="1400" kern="1200">
          <a:solidFill>
            <a:srgbClr val="333333"/>
          </a:solidFill>
          <a:latin typeface="Century Gothic" panose="020B0502020202020204" pitchFamily="34" charset="0"/>
          <a:ea typeface="+mn-ea"/>
          <a:cs typeface="+mn-cs"/>
        </a:defRPr>
      </a:lvl3pPr>
      <a:lvl4pPr marL="1828800" indent="-457200" algn="l" rtl="0" eaLnBrk="1" fontAlgn="base" hangingPunct="1">
        <a:spcBef>
          <a:spcPct val="20000"/>
        </a:spcBef>
        <a:spcAft>
          <a:spcPct val="0"/>
        </a:spcAft>
        <a:buFont typeface="Futura LT Pro Book" pitchFamily="34" charset="0"/>
        <a:buAutoNum type="arabicPeriod"/>
        <a:defRPr sz="1400" kern="1200">
          <a:solidFill>
            <a:srgbClr val="333333"/>
          </a:solidFill>
          <a:latin typeface="Century Gothic" panose="020B0502020202020204" pitchFamily="34" charset="0"/>
          <a:ea typeface="+mn-ea"/>
          <a:cs typeface="+mn-cs"/>
        </a:defRPr>
      </a:lvl4pPr>
      <a:lvl5pPr marL="2286000" indent="-457200" algn="l" rtl="0" eaLnBrk="1" fontAlgn="base" hangingPunct="1">
        <a:spcBef>
          <a:spcPct val="20000"/>
        </a:spcBef>
        <a:spcAft>
          <a:spcPct val="0"/>
        </a:spcAft>
        <a:buFont typeface="Futura LT Pro Book" pitchFamily="34" charset="0"/>
        <a:buAutoNum type="arabicPeriod"/>
        <a:defRPr sz="1400" kern="1200">
          <a:solidFill>
            <a:srgbClr val="333333"/>
          </a:solidFill>
          <a:latin typeface="Century Gothic" panose="020B0502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elplatzhalter 1"/>
          <p:cNvSpPr>
            <a:spLocks noGrp="1"/>
          </p:cNvSpPr>
          <p:nvPr>
            <p:ph type="title"/>
          </p:nvPr>
        </p:nvSpPr>
        <p:spPr bwMode="auto">
          <a:xfrm>
            <a:off x="431800" y="288725"/>
            <a:ext cx="11312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dirty="0" err="1"/>
              <a:t>Folientiel</a:t>
            </a:r>
            <a:r>
              <a:rPr lang="de-DE" altLang="de-DE" noProof="0" dirty="0"/>
              <a:t> (Hauptaussage der Folie)</a:t>
            </a:r>
          </a:p>
        </p:txBody>
      </p:sp>
      <p:sp>
        <p:nvSpPr>
          <p:cNvPr id="1028" name="Textplatzhalter 2"/>
          <p:cNvSpPr>
            <a:spLocks noGrp="1"/>
          </p:cNvSpPr>
          <p:nvPr>
            <p:ph type="body" idx="1"/>
          </p:nvPr>
        </p:nvSpPr>
        <p:spPr bwMode="auto">
          <a:xfrm>
            <a:off x="431800" y="969133"/>
            <a:ext cx="11312525" cy="504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noProof="0" dirty="0"/>
              <a:t>Textmasterformat bearbeiten</a:t>
            </a:r>
          </a:p>
          <a:p>
            <a:pPr lvl="1"/>
            <a:r>
              <a:rPr lang="de-DE" altLang="de-DE" noProof="0" dirty="0"/>
              <a:t>Zweite Ebene</a:t>
            </a:r>
          </a:p>
          <a:p>
            <a:pPr lvl="2"/>
            <a:r>
              <a:rPr lang="de-DE" altLang="de-DE" noProof="0" dirty="0"/>
              <a:t>Dritte Ebene</a:t>
            </a:r>
          </a:p>
          <a:p>
            <a:pPr lvl="3"/>
            <a:r>
              <a:rPr lang="de-DE" altLang="de-DE" noProof="0" dirty="0"/>
              <a:t>Vierte Ebene</a:t>
            </a:r>
          </a:p>
          <a:p>
            <a:pPr lvl="4"/>
            <a:r>
              <a:rPr lang="de-DE" altLang="de-DE" noProof="0" dirty="0"/>
              <a:t>Fünfte Ebene</a:t>
            </a:r>
            <a:fld id="{B83DA5D8-7131-4301-8D10-8A8E68711562}" type="slidenum">
              <a:rPr lang="de-DE" sz="1400" smtClean="0">
                <a:latin typeface="Futura LT Pro Light" panose="020B0402020204020303"/>
              </a:rPr>
              <a:pPr/>
              <a:t>‹Nr.›</a:t>
            </a:fld>
            <a:endParaRPr lang="de-DE" altLang="de-DE" noProof="0" dirty="0"/>
          </a:p>
        </p:txBody>
      </p:sp>
      <p:pic>
        <p:nvPicPr>
          <p:cNvPr id="2" name="Grafik 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765407" y="65086"/>
            <a:ext cx="936104" cy="672412"/>
          </a:xfrm>
          <a:prstGeom prst="rect">
            <a:avLst/>
          </a:prstGeom>
        </p:spPr>
      </p:pic>
      <p:cxnSp>
        <p:nvCxnSpPr>
          <p:cNvPr id="6" name="Gerade Verbindung 9">
            <a:extLst>
              <a:ext uri="{FF2B5EF4-FFF2-40B4-BE49-F238E27FC236}">
                <a16:creationId xmlns:a16="http://schemas.microsoft.com/office/drawing/2014/main" id="{86C9092A-B764-C02C-81AA-6DDBC66C874A}"/>
              </a:ext>
            </a:extLst>
          </p:cNvPr>
          <p:cNvCxnSpPr>
            <a:cxnSpLocks/>
          </p:cNvCxnSpPr>
          <p:nvPr userDrawn="1"/>
        </p:nvCxnSpPr>
        <p:spPr>
          <a:xfrm>
            <a:off x="431800" y="789570"/>
            <a:ext cx="1131824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 Verbindung 9">
            <a:extLst>
              <a:ext uri="{FF2B5EF4-FFF2-40B4-BE49-F238E27FC236}">
                <a16:creationId xmlns:a16="http://schemas.microsoft.com/office/drawing/2014/main" id="{4130A57A-8A70-B176-27B3-D3CDA3E91685}"/>
              </a:ext>
            </a:extLst>
          </p:cNvPr>
          <p:cNvCxnSpPr>
            <a:cxnSpLocks/>
          </p:cNvCxnSpPr>
          <p:nvPr userDrawn="1"/>
        </p:nvCxnSpPr>
        <p:spPr>
          <a:xfrm>
            <a:off x="428624" y="6300589"/>
            <a:ext cx="1131252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76FED74E-6A41-22E9-9385-D7EF28545870}"/>
              </a:ext>
            </a:extLst>
          </p:cNvPr>
          <p:cNvSpPr txBox="1"/>
          <p:nvPr userDrawn="1"/>
        </p:nvSpPr>
        <p:spPr>
          <a:xfrm>
            <a:off x="4302687" y="6350241"/>
            <a:ext cx="3564397" cy="400110"/>
          </a:xfrm>
          <a:prstGeom prst="rect">
            <a:avLst/>
          </a:prstGeom>
          <a:noFill/>
        </p:spPr>
        <p:txBody>
          <a:bodyPr wrap="square" rtlCol="0">
            <a:spAutoFit/>
          </a:bodyPr>
          <a:lstStyle/>
          <a:p>
            <a:pPr algn="ctr"/>
            <a:r>
              <a:rPr lang="de-DE" sz="1000" dirty="0">
                <a:solidFill>
                  <a:srgbClr val="333333"/>
                </a:solidFill>
                <a:latin typeface="Futura LT Pro Light" panose="020B0402020204020303" pitchFamily="34" charset="0"/>
                <a:cs typeface="+mn-cs"/>
              </a:rPr>
              <a:t>Titel der Arbeit</a:t>
            </a:r>
          </a:p>
          <a:p>
            <a:pPr algn="ctr"/>
            <a:r>
              <a:rPr lang="de-DE" sz="1000" dirty="0">
                <a:solidFill>
                  <a:srgbClr val="333333"/>
                </a:solidFill>
                <a:latin typeface="Futura LT Pro Light" panose="020B0402020204020303" pitchFamily="34" charset="0"/>
                <a:cs typeface="+mn-cs"/>
              </a:rPr>
              <a:t>Namen, Datum  </a:t>
            </a:r>
            <a:endParaRPr lang="de-DE" sz="1000" dirty="0">
              <a:solidFill>
                <a:srgbClr val="333333"/>
              </a:solidFill>
              <a:latin typeface="Futura LT Pro Light" panose="020B0402020204020303"/>
              <a:cs typeface="+mn-cs"/>
            </a:endParaRPr>
          </a:p>
        </p:txBody>
      </p:sp>
      <p:sp>
        <p:nvSpPr>
          <p:cNvPr id="3" name="Textfeld 2">
            <a:extLst>
              <a:ext uri="{FF2B5EF4-FFF2-40B4-BE49-F238E27FC236}">
                <a16:creationId xmlns:a16="http://schemas.microsoft.com/office/drawing/2014/main" id="{1FA543B6-D9F9-83B5-BE45-2680583BF74F}"/>
              </a:ext>
            </a:extLst>
          </p:cNvPr>
          <p:cNvSpPr txBox="1"/>
          <p:nvPr userDrawn="1"/>
        </p:nvSpPr>
        <p:spPr>
          <a:xfrm>
            <a:off x="11053439" y="6504130"/>
            <a:ext cx="792088" cy="246221"/>
          </a:xfrm>
          <a:prstGeom prst="rect">
            <a:avLst/>
          </a:prstGeom>
          <a:noFill/>
        </p:spPr>
        <p:txBody>
          <a:bodyPr wrap="square" rtlCol="0">
            <a:spAutoFit/>
          </a:bodyPr>
          <a:lstStyle/>
          <a:p>
            <a:r>
              <a:rPr lang="de-DE" sz="1000" dirty="0">
                <a:solidFill>
                  <a:srgbClr val="333333"/>
                </a:solidFill>
                <a:latin typeface="Century Gothic" panose="020B0502020202020204" pitchFamily="34" charset="0"/>
                <a:cs typeface="+mn-cs"/>
              </a:rPr>
              <a:t>Folie </a:t>
            </a:r>
            <a:fld id="{A0A23BBC-0FAD-4C23-98D3-6CFBA32CD3CA}" type="slidenum">
              <a:rPr lang="de-DE" sz="1000" smtClean="0">
                <a:solidFill>
                  <a:srgbClr val="333333"/>
                </a:solidFill>
                <a:latin typeface="Century Gothic" panose="020B0502020202020204" pitchFamily="34" charset="0"/>
                <a:cs typeface="+mn-cs"/>
              </a:rPr>
              <a:t>‹Nr.›</a:t>
            </a:fld>
            <a:endParaRPr lang="de-DE" sz="1000" dirty="0">
              <a:solidFill>
                <a:srgbClr val="333333"/>
              </a:solidFill>
              <a:latin typeface="Century Gothic" panose="020B0502020202020204" pitchFamily="34" charset="0"/>
              <a:cs typeface="+mn-cs"/>
            </a:endParaRPr>
          </a:p>
        </p:txBody>
      </p:sp>
    </p:spTree>
    <p:extLst>
      <p:ext uri="{BB962C8B-B14F-4D97-AF65-F5344CB8AC3E}">
        <p14:creationId xmlns:p14="http://schemas.microsoft.com/office/powerpoint/2010/main" val="3897639312"/>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5" r:id="rId11"/>
  </p:sldLayoutIdLst>
  <p:hf hdr="0" ftr="0" dt="0"/>
  <p:txStyles>
    <p:titleStyle>
      <a:lvl1pPr algn="l" rtl="0" eaLnBrk="1" fontAlgn="base" hangingPunct="1">
        <a:spcBef>
          <a:spcPct val="0"/>
        </a:spcBef>
        <a:spcAft>
          <a:spcPct val="0"/>
        </a:spcAft>
        <a:defRPr sz="2800" kern="1200">
          <a:solidFill>
            <a:srgbClr val="333333"/>
          </a:solidFill>
          <a:latin typeface="Century Gothic" panose="020B0502020202020204" pitchFamily="34" charset="0"/>
          <a:ea typeface="+mj-ea"/>
          <a:cs typeface="+mj-cs"/>
        </a:defRPr>
      </a:lvl1pPr>
      <a:lvl2pPr algn="l" rtl="0" eaLnBrk="1" fontAlgn="base" hangingPunct="1">
        <a:spcBef>
          <a:spcPct val="0"/>
        </a:spcBef>
        <a:spcAft>
          <a:spcPct val="0"/>
        </a:spcAft>
        <a:defRPr sz="3000">
          <a:solidFill>
            <a:srgbClr val="333333"/>
          </a:solidFill>
          <a:latin typeface="Futura LT Pro Book" pitchFamily="34" charset="0"/>
        </a:defRPr>
      </a:lvl2pPr>
      <a:lvl3pPr algn="l" rtl="0" eaLnBrk="1" fontAlgn="base" hangingPunct="1">
        <a:spcBef>
          <a:spcPct val="0"/>
        </a:spcBef>
        <a:spcAft>
          <a:spcPct val="0"/>
        </a:spcAft>
        <a:defRPr sz="3000">
          <a:solidFill>
            <a:srgbClr val="333333"/>
          </a:solidFill>
          <a:latin typeface="Futura LT Pro Book" pitchFamily="34" charset="0"/>
        </a:defRPr>
      </a:lvl3pPr>
      <a:lvl4pPr algn="l" rtl="0" eaLnBrk="1" fontAlgn="base" hangingPunct="1">
        <a:spcBef>
          <a:spcPct val="0"/>
        </a:spcBef>
        <a:spcAft>
          <a:spcPct val="0"/>
        </a:spcAft>
        <a:defRPr sz="3000">
          <a:solidFill>
            <a:srgbClr val="333333"/>
          </a:solidFill>
          <a:latin typeface="Futura LT Pro Book" pitchFamily="34" charset="0"/>
        </a:defRPr>
      </a:lvl4pPr>
      <a:lvl5pPr algn="l" rtl="0" eaLnBrk="1" fontAlgn="base" hangingPunct="1">
        <a:spcBef>
          <a:spcPct val="0"/>
        </a:spcBef>
        <a:spcAft>
          <a:spcPct val="0"/>
        </a:spcAft>
        <a:defRPr sz="3000">
          <a:solidFill>
            <a:srgbClr val="333333"/>
          </a:solidFill>
          <a:latin typeface="Futura LT Pro Book" pitchFamily="34" charset="0"/>
        </a:defRPr>
      </a:lvl5pPr>
      <a:lvl6pPr marL="457200" algn="l" rtl="0" eaLnBrk="1" fontAlgn="base" hangingPunct="1">
        <a:spcBef>
          <a:spcPct val="0"/>
        </a:spcBef>
        <a:spcAft>
          <a:spcPct val="0"/>
        </a:spcAft>
        <a:defRPr sz="3000">
          <a:solidFill>
            <a:srgbClr val="333333"/>
          </a:solidFill>
          <a:latin typeface="Futura LT Pro Book" pitchFamily="34" charset="0"/>
        </a:defRPr>
      </a:lvl6pPr>
      <a:lvl7pPr marL="914400" algn="l" rtl="0" eaLnBrk="1" fontAlgn="base" hangingPunct="1">
        <a:spcBef>
          <a:spcPct val="0"/>
        </a:spcBef>
        <a:spcAft>
          <a:spcPct val="0"/>
        </a:spcAft>
        <a:defRPr sz="3000">
          <a:solidFill>
            <a:srgbClr val="333333"/>
          </a:solidFill>
          <a:latin typeface="Futura LT Pro Book" pitchFamily="34" charset="0"/>
        </a:defRPr>
      </a:lvl7pPr>
      <a:lvl8pPr marL="1371600" algn="l" rtl="0" eaLnBrk="1" fontAlgn="base" hangingPunct="1">
        <a:spcBef>
          <a:spcPct val="0"/>
        </a:spcBef>
        <a:spcAft>
          <a:spcPct val="0"/>
        </a:spcAft>
        <a:defRPr sz="3000">
          <a:solidFill>
            <a:srgbClr val="333333"/>
          </a:solidFill>
          <a:latin typeface="Futura LT Pro Book" pitchFamily="34" charset="0"/>
        </a:defRPr>
      </a:lvl8pPr>
      <a:lvl9pPr marL="1828800" algn="l" rtl="0" eaLnBrk="1" fontAlgn="base" hangingPunct="1">
        <a:spcBef>
          <a:spcPct val="0"/>
        </a:spcBef>
        <a:spcAft>
          <a:spcPct val="0"/>
        </a:spcAft>
        <a:defRPr sz="3000">
          <a:solidFill>
            <a:srgbClr val="333333"/>
          </a:solidFill>
          <a:latin typeface="Futura LT Pro Book" pitchFamily="34" charset="0"/>
        </a:defRPr>
      </a:lvl9pPr>
    </p:titleStyle>
    <p:bodyStyle>
      <a:lvl1pPr marL="447675" indent="-447675" algn="l" rtl="0" eaLnBrk="1" fontAlgn="base" hangingPunct="1">
        <a:spcBef>
          <a:spcPct val="20000"/>
        </a:spcBef>
        <a:spcAft>
          <a:spcPct val="0"/>
        </a:spcAft>
        <a:buFont typeface="Futura LT Pro Book" pitchFamily="34" charset="0"/>
        <a:buAutoNum type="arabicPeriod"/>
        <a:defRPr sz="2000" kern="1200">
          <a:solidFill>
            <a:srgbClr val="333333"/>
          </a:solidFill>
          <a:latin typeface="Century Gothic" panose="020B0502020202020204" pitchFamily="34" charset="0"/>
          <a:ea typeface="+mn-ea"/>
          <a:cs typeface="+mn-cs"/>
        </a:defRPr>
      </a:lvl1pPr>
      <a:lvl2pPr marL="895350" indent="-438150" algn="l" rtl="0" eaLnBrk="1" fontAlgn="base" hangingPunct="1">
        <a:spcBef>
          <a:spcPct val="20000"/>
        </a:spcBef>
        <a:spcAft>
          <a:spcPct val="0"/>
        </a:spcAft>
        <a:buFont typeface="Futura LT Pro Book" pitchFamily="34" charset="0"/>
        <a:buAutoNum type="arabicPeriod"/>
        <a:defRPr sz="1600" kern="1200">
          <a:solidFill>
            <a:srgbClr val="333333"/>
          </a:solidFill>
          <a:latin typeface="Century Gothic" panose="020B0502020202020204" pitchFamily="34" charset="0"/>
          <a:ea typeface="+mn-ea"/>
          <a:cs typeface="+mn-cs"/>
        </a:defRPr>
      </a:lvl2pPr>
      <a:lvl3pPr marL="1371600" indent="-457200" algn="l" rtl="0" eaLnBrk="1" fontAlgn="base" hangingPunct="1">
        <a:spcBef>
          <a:spcPct val="20000"/>
        </a:spcBef>
        <a:spcAft>
          <a:spcPct val="0"/>
        </a:spcAft>
        <a:buFont typeface="Futura LT Pro Book" pitchFamily="34" charset="0"/>
        <a:buAutoNum type="arabicPeriod"/>
        <a:defRPr sz="1400" kern="1200">
          <a:solidFill>
            <a:srgbClr val="333333"/>
          </a:solidFill>
          <a:latin typeface="Century Gothic" panose="020B0502020202020204" pitchFamily="34" charset="0"/>
          <a:ea typeface="+mn-ea"/>
          <a:cs typeface="+mn-cs"/>
        </a:defRPr>
      </a:lvl3pPr>
      <a:lvl4pPr marL="1828800" indent="-457200" algn="l" rtl="0" eaLnBrk="1" fontAlgn="base" hangingPunct="1">
        <a:spcBef>
          <a:spcPct val="20000"/>
        </a:spcBef>
        <a:spcAft>
          <a:spcPct val="0"/>
        </a:spcAft>
        <a:buFont typeface="Futura LT Pro Book" pitchFamily="34" charset="0"/>
        <a:buAutoNum type="arabicPeriod"/>
        <a:defRPr sz="1400" kern="1200">
          <a:solidFill>
            <a:srgbClr val="333333"/>
          </a:solidFill>
          <a:latin typeface="Century Gothic" panose="020B0502020202020204" pitchFamily="34" charset="0"/>
          <a:ea typeface="+mn-ea"/>
          <a:cs typeface="+mn-cs"/>
        </a:defRPr>
      </a:lvl4pPr>
      <a:lvl5pPr marL="2286000" indent="-457200" algn="l" rtl="0" eaLnBrk="1" fontAlgn="base" hangingPunct="1">
        <a:spcBef>
          <a:spcPct val="20000"/>
        </a:spcBef>
        <a:spcAft>
          <a:spcPct val="0"/>
        </a:spcAft>
        <a:buFont typeface="Futura LT Pro Book" pitchFamily="34" charset="0"/>
        <a:buAutoNum type="arabicPeriod"/>
        <a:defRPr sz="1400" kern="1200">
          <a:solidFill>
            <a:srgbClr val="333333"/>
          </a:solidFill>
          <a:latin typeface="Century Gothic" panose="020B0502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40.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10.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73.png"/><Relationship Id="rId5" Type="http://schemas.openxmlformats.org/officeDocument/2006/relationships/image" Target="../media/image650.png"/><Relationship Id="rId10" Type="http://schemas.openxmlformats.org/officeDocument/2006/relationships/image" Target="../media/image72.png"/><Relationship Id="rId4" Type="http://schemas.openxmlformats.org/officeDocument/2006/relationships/image" Target="../media/image640.png"/><Relationship Id="rId9" Type="http://schemas.openxmlformats.org/officeDocument/2006/relationships/image" Target="../media/image71.png"/></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67.png"/><Relationship Id="rId7" Type="http://schemas.openxmlformats.org/officeDocument/2006/relationships/image" Target="../media/image47.sv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49.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2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2.png"/><Relationship Id="rId7" Type="http://schemas.openxmlformats.org/officeDocument/2006/relationships/image" Target="../media/image107.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4.png"/><Relationship Id="rId4" Type="http://schemas.openxmlformats.org/officeDocument/2006/relationships/image" Target="../media/image103.png"/><Relationship Id="rId9" Type="http://schemas.openxmlformats.org/officeDocument/2006/relationships/image" Target="../media/image109.png"/></Relationships>
</file>

<file path=ppt/slides/_rels/slide4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4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6953CB-7A3C-10EB-69C7-AE9BA300C94B}"/>
              </a:ext>
            </a:extLst>
          </p:cNvPr>
          <p:cNvSpPr>
            <a:spLocks noGrp="1"/>
          </p:cNvSpPr>
          <p:nvPr>
            <p:ph type="ctrTitle"/>
          </p:nvPr>
        </p:nvSpPr>
        <p:spPr>
          <a:xfrm>
            <a:off x="2" y="4284365"/>
            <a:ext cx="9829302" cy="647912"/>
          </a:xfrm>
        </p:spPr>
        <p:txBody>
          <a:bodyPr/>
          <a:lstStyle/>
          <a:p>
            <a:r>
              <a:rPr lang="en-AU" noProof="0" dirty="0"/>
              <a:t>Reliability-based Seismic Design</a:t>
            </a:r>
          </a:p>
        </p:txBody>
      </p:sp>
    </p:spTree>
    <p:extLst>
      <p:ext uri="{BB962C8B-B14F-4D97-AF65-F5344CB8AC3E}">
        <p14:creationId xmlns:p14="http://schemas.microsoft.com/office/powerpoint/2010/main" val="3478620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EBCA9ED-C5CC-41EB-C860-885778588B57}"/>
              </a:ext>
            </a:extLst>
          </p:cNvPr>
          <p:cNvSpPr>
            <a:spLocks noGrp="1"/>
          </p:cNvSpPr>
          <p:nvPr>
            <p:ph type="title"/>
          </p:nvPr>
        </p:nvSpPr>
        <p:spPr/>
        <p:txBody>
          <a:bodyPr/>
          <a:lstStyle/>
          <a:p>
            <a:r>
              <a:rPr lang="en-AU" noProof="0" dirty="0"/>
              <a:t>The Current Approach: Hazard-based Design</a:t>
            </a:r>
          </a:p>
        </p:txBody>
      </p:sp>
      <p:grpSp>
        <p:nvGrpSpPr>
          <p:cNvPr id="4" name="box 4">
            <a:extLst>
              <a:ext uri="{FF2B5EF4-FFF2-40B4-BE49-F238E27FC236}">
                <a16:creationId xmlns:a16="http://schemas.microsoft.com/office/drawing/2014/main" id="{76FC4A42-7FD5-46DA-055E-19148BC1AC1E}"/>
              </a:ext>
            </a:extLst>
          </p:cNvPr>
          <p:cNvGrpSpPr/>
          <p:nvPr/>
        </p:nvGrpSpPr>
        <p:grpSpPr>
          <a:xfrm>
            <a:off x="391686" y="4572397"/>
            <a:ext cx="11367319" cy="1589170"/>
            <a:chOff x="391686" y="4788421"/>
            <a:chExt cx="11367319" cy="1589170"/>
          </a:xfrm>
        </p:grpSpPr>
        <p:sp>
          <p:nvSpPr>
            <p:cNvPr id="5" name="box 4 colour">
              <a:extLst>
                <a:ext uri="{FF2B5EF4-FFF2-40B4-BE49-F238E27FC236}">
                  <a16:creationId xmlns:a16="http://schemas.microsoft.com/office/drawing/2014/main" id="{9392601B-4FC1-3383-FDAA-4F29381E9BC3}"/>
                </a:ext>
              </a:extLst>
            </p:cNvPr>
            <p:cNvSpPr/>
            <p:nvPr/>
          </p:nvSpPr>
          <p:spPr>
            <a:xfrm>
              <a:off x="391686" y="4788421"/>
              <a:ext cx="11367319" cy="158917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6" name="box 4 white">
              <a:extLst>
                <a:ext uri="{FF2B5EF4-FFF2-40B4-BE49-F238E27FC236}">
                  <a16:creationId xmlns:a16="http://schemas.microsoft.com/office/drawing/2014/main" id="{27E37AA8-A218-2A44-CFD8-F5DC136DF40F}"/>
                </a:ext>
              </a:extLst>
            </p:cNvPr>
            <p:cNvSpPr/>
            <p:nvPr/>
          </p:nvSpPr>
          <p:spPr>
            <a:xfrm>
              <a:off x="3000167" y="4788421"/>
              <a:ext cx="8758838" cy="158917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7" name="Textfeld 6">
              <a:extLst>
                <a:ext uri="{FF2B5EF4-FFF2-40B4-BE49-F238E27FC236}">
                  <a16:creationId xmlns:a16="http://schemas.microsoft.com/office/drawing/2014/main" id="{412D3CC7-E591-9AC9-5611-32490AC3372E}"/>
                </a:ext>
              </a:extLst>
            </p:cNvPr>
            <p:cNvSpPr txBox="1"/>
            <p:nvPr/>
          </p:nvSpPr>
          <p:spPr>
            <a:xfrm>
              <a:off x="624383" y="5222210"/>
              <a:ext cx="2143088" cy="646331"/>
            </a:xfrm>
            <a:prstGeom prst="rect">
              <a:avLst/>
            </a:prstGeom>
            <a:noFill/>
          </p:spPr>
          <p:txBody>
            <a:bodyPr wrap="square" rtlCol="0">
              <a:spAutoFit/>
            </a:bodyPr>
            <a:lstStyle/>
            <a:p>
              <a:r>
                <a:rPr lang="en-AU" b="1" noProof="0" dirty="0">
                  <a:solidFill>
                    <a:schemeClr val="bg1"/>
                  </a:solidFill>
                  <a:latin typeface="Futura LT Pro Light" panose="020B0402020204020303" pitchFamily="34" charset="0"/>
                  <a:cs typeface="+mn-cs"/>
                </a:rPr>
                <a:t>Non-uniform Level of Safety</a:t>
              </a:r>
            </a:p>
          </p:txBody>
        </p:sp>
        <p:sp>
          <p:nvSpPr>
            <p:cNvPr id="8" name="Textfeld 7">
              <a:extLst>
                <a:ext uri="{FF2B5EF4-FFF2-40B4-BE49-F238E27FC236}">
                  <a16:creationId xmlns:a16="http://schemas.microsoft.com/office/drawing/2014/main" id="{CFF84C1C-024B-3637-2A5A-B451FD4989D8}"/>
                </a:ext>
              </a:extLst>
            </p:cNvPr>
            <p:cNvSpPr txBox="1"/>
            <p:nvPr/>
          </p:nvSpPr>
          <p:spPr>
            <a:xfrm>
              <a:off x="3241429" y="4837747"/>
              <a:ext cx="8303963" cy="1508105"/>
            </a:xfrm>
            <a:prstGeom prst="rect">
              <a:avLst/>
            </a:prstGeom>
            <a:noFill/>
          </p:spPr>
          <p:txBody>
            <a:bodyPr wrap="square" rtlCol="0">
              <a:spAutoFit/>
            </a:bodyPr>
            <a:lstStyle/>
            <a:p>
              <a:pPr marL="342900" indent="-342900">
                <a:spcAft>
                  <a:spcPts val="1200"/>
                </a:spcAft>
                <a:buFont typeface="+mj-lt"/>
                <a:buAutoNum type="arabicPeriod"/>
              </a:pPr>
              <a:r>
                <a:rPr lang="en-AU" noProof="0" dirty="0">
                  <a:solidFill>
                    <a:srgbClr val="333333"/>
                  </a:solidFill>
                  <a:latin typeface="Futura LT Pro Light" panose="020B0402020204020303" pitchFamily="34" charset="0"/>
                  <a:cs typeface="+mn-cs"/>
                </a:rPr>
                <a:t>Ignores the rest of the hazard curve</a:t>
              </a:r>
            </a:p>
            <a:p>
              <a:pPr marL="342900" indent="-342900">
                <a:spcAft>
                  <a:spcPts val="1200"/>
                </a:spcAft>
                <a:buFont typeface="+mj-lt"/>
                <a:buAutoNum type="arabicPeriod"/>
              </a:pPr>
              <a:r>
                <a:rPr lang="en-AU" noProof="0" dirty="0">
                  <a:solidFill>
                    <a:srgbClr val="333333"/>
                  </a:solidFill>
                  <a:latin typeface="Futura LT Pro Light" panose="020B0402020204020303" pitchFamily="34" charset="0"/>
                  <a:cs typeface="+mn-cs"/>
                </a:rPr>
                <a:t>Uses fixed behaviour factors within a building typology</a:t>
              </a:r>
            </a:p>
            <a:p>
              <a:pPr marL="342900" indent="-342900">
                <a:spcAft>
                  <a:spcPts val="1200"/>
                </a:spcAft>
                <a:buFont typeface="+mj-lt"/>
                <a:buAutoNum type="arabicPeriod"/>
              </a:pPr>
              <a:r>
                <a:rPr lang="en-AU" noProof="0" dirty="0">
                  <a:solidFill>
                    <a:srgbClr val="333333"/>
                  </a:solidFill>
                  <a:latin typeface="Futura LT Pro Light" panose="020B0402020204020303" pitchFamily="34" charset="0"/>
                  <a:cs typeface="+mn-cs"/>
                </a:rPr>
                <a:t>No consideration of the variability of ground motion characteristics on the collapse capacity of the structure</a:t>
              </a:r>
            </a:p>
          </p:txBody>
        </p:sp>
      </p:gr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4213FD96-2400-3F0D-3CFA-79A6E111C104}"/>
                  </a:ext>
                </a:extLst>
              </p:cNvPr>
              <p:cNvSpPr txBox="1"/>
              <p:nvPr/>
            </p:nvSpPr>
            <p:spPr>
              <a:xfrm>
                <a:off x="9393491" y="2770704"/>
                <a:ext cx="1519379" cy="4778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𝑅</m:t>
                          </m:r>
                        </m:e>
                        <m:sub>
                          <m:r>
                            <a:rPr lang="en-AU" sz="2400" b="0" i="1" noProof="0" smtClean="0">
                              <a:solidFill>
                                <a:schemeClr val="tx1"/>
                              </a:solidFill>
                              <a:latin typeface="Cambria Math" panose="02040503050406030204" pitchFamily="18" charset="0"/>
                              <a:cs typeface="+mn-cs"/>
                            </a:rPr>
                            <m:t>𝑑</m:t>
                          </m:r>
                        </m:sub>
                      </m:sSub>
                      <m:r>
                        <a:rPr lang="en-AU" sz="2400" b="0" i="1" noProof="0" smtClean="0">
                          <a:solidFill>
                            <a:schemeClr val="tx1"/>
                          </a:solidFill>
                          <a:latin typeface="Cambria Math" panose="02040503050406030204" pitchFamily="18" charset="0"/>
                          <a:cs typeface="+mn-cs"/>
                        </a:rPr>
                        <m:t>≥</m:t>
                      </m:r>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𝐸</m:t>
                          </m:r>
                        </m:e>
                        <m:sub>
                          <m:r>
                            <a:rPr lang="en-AU" sz="2400" b="0" i="1" noProof="0" smtClean="0">
                              <a:solidFill>
                                <a:schemeClr val="tx1"/>
                              </a:solidFill>
                              <a:latin typeface="Cambria Math" panose="02040503050406030204" pitchFamily="18" charset="0"/>
                              <a:cs typeface="+mn-cs"/>
                            </a:rPr>
                            <m:t>𝑑</m:t>
                          </m:r>
                        </m:sub>
                      </m:sSub>
                    </m:oMath>
                  </m:oMathPara>
                </a14:m>
                <a:endParaRPr lang="en-AU" sz="2400" noProof="0" dirty="0">
                  <a:solidFill>
                    <a:schemeClr val="tx1"/>
                  </a:solidFill>
                  <a:latin typeface="Futura LT Pro Light" panose="020B0402020204020303" pitchFamily="34" charset="0"/>
                  <a:cs typeface="+mn-cs"/>
                </a:endParaRPr>
              </a:p>
            </p:txBody>
          </p:sp>
        </mc:Choice>
        <mc:Fallback xmlns="">
          <p:sp>
            <p:nvSpPr>
              <p:cNvPr id="11" name="Textfeld 10">
                <a:extLst>
                  <a:ext uri="{FF2B5EF4-FFF2-40B4-BE49-F238E27FC236}">
                    <a16:creationId xmlns:a16="http://schemas.microsoft.com/office/drawing/2014/main" id="{4213FD96-2400-3F0D-3CFA-79A6E111C104}"/>
                  </a:ext>
                </a:extLst>
              </p:cNvPr>
              <p:cNvSpPr txBox="1">
                <a:spLocks noRot="1" noChangeAspect="1" noMove="1" noResize="1" noEditPoints="1" noAdjustHandles="1" noChangeArrowheads="1" noChangeShapeType="1" noTextEdit="1"/>
              </p:cNvSpPr>
              <p:nvPr/>
            </p:nvSpPr>
            <p:spPr>
              <a:xfrm>
                <a:off x="9393491" y="2770704"/>
                <a:ext cx="1519379" cy="477888"/>
              </a:xfrm>
              <a:prstGeom prst="rect">
                <a:avLst/>
              </a:prstGeom>
              <a:blipFill>
                <a:blip r:embed="rId2"/>
                <a:stretch>
                  <a:fillRect b="-1282"/>
                </a:stretch>
              </a:blipFill>
            </p:spPr>
            <p:txBody>
              <a:bodyPr/>
              <a:lstStyle/>
              <a:p>
                <a:r>
                  <a:rPr lang="de-DE">
                    <a:noFill/>
                  </a:rPr>
                  <a:t> </a:t>
                </a:r>
              </a:p>
            </p:txBody>
          </p:sp>
        </mc:Fallback>
      </mc:AlternateContent>
      <p:sp>
        <p:nvSpPr>
          <p:cNvPr id="12" name="Textfeld 11">
            <a:extLst>
              <a:ext uri="{FF2B5EF4-FFF2-40B4-BE49-F238E27FC236}">
                <a16:creationId xmlns:a16="http://schemas.microsoft.com/office/drawing/2014/main" id="{32FE6429-A0E5-4BBC-0C13-4B33541D7CA1}"/>
              </a:ext>
            </a:extLst>
          </p:cNvPr>
          <p:cNvSpPr txBox="1"/>
          <p:nvPr/>
        </p:nvSpPr>
        <p:spPr>
          <a:xfrm>
            <a:off x="8681972" y="3306243"/>
            <a:ext cx="3069686" cy="369332"/>
          </a:xfrm>
          <a:prstGeom prst="rect">
            <a:avLst/>
          </a:prstGeom>
          <a:noFill/>
        </p:spPr>
        <p:txBody>
          <a:bodyPr wrap="square" rtlCol="0">
            <a:spAutoFit/>
          </a:bodyPr>
          <a:lstStyle/>
          <a:p>
            <a:r>
              <a:rPr lang="en-AU" noProof="0" dirty="0">
                <a:solidFill>
                  <a:schemeClr val="tx2"/>
                </a:solidFill>
                <a:latin typeface="Futura LT Pro Light" panose="020B0402020204020303" pitchFamily="34" charset="0"/>
                <a:cs typeface="+mn-cs"/>
              </a:rPr>
              <a:t>Performance Objective</a:t>
            </a:r>
          </a:p>
        </p:txBody>
      </p:sp>
      <p:cxnSp>
        <p:nvCxnSpPr>
          <p:cNvPr id="13" name="Gerader Verbinder 12">
            <a:extLst>
              <a:ext uri="{FF2B5EF4-FFF2-40B4-BE49-F238E27FC236}">
                <a16:creationId xmlns:a16="http://schemas.microsoft.com/office/drawing/2014/main" id="{6BD0C858-790F-8038-6F7A-775F53C8CD04}"/>
              </a:ext>
            </a:extLst>
          </p:cNvPr>
          <p:cNvCxnSpPr>
            <a:cxnSpLocks/>
          </p:cNvCxnSpPr>
          <p:nvPr/>
        </p:nvCxnSpPr>
        <p:spPr>
          <a:xfrm flipV="1">
            <a:off x="9133990" y="3224341"/>
            <a:ext cx="1900846" cy="3101"/>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01613402-B94F-AFD9-320F-6062A6FAAD03}"/>
                  </a:ext>
                </a:extLst>
              </p:cNvPr>
              <p:cNvSpPr txBox="1"/>
              <p:nvPr/>
            </p:nvSpPr>
            <p:spPr>
              <a:xfrm>
                <a:off x="8769504" y="1871930"/>
                <a:ext cx="270593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𝐹</m:t>
                          </m:r>
                        </m:e>
                        <m:sub>
                          <m:r>
                            <a:rPr lang="en-AU" sz="2400" b="0" i="1" noProof="0" smtClean="0">
                              <a:solidFill>
                                <a:schemeClr val="tx1"/>
                              </a:solidFill>
                              <a:latin typeface="Cambria Math" panose="02040503050406030204" pitchFamily="18" charset="0"/>
                              <a:cs typeface="+mn-cs"/>
                            </a:rPr>
                            <m:t>𝑏</m:t>
                          </m:r>
                        </m:sub>
                      </m:sSub>
                      <m:r>
                        <a:rPr lang="en-AU" sz="2400" b="0" i="1" noProof="0" smtClean="0">
                          <a:solidFill>
                            <a:schemeClr val="tx1"/>
                          </a:solidFill>
                          <a:latin typeface="Cambria Math" panose="02040503050406030204" pitchFamily="18" charset="0"/>
                          <a:cs typeface="+mn-cs"/>
                        </a:rPr>
                        <m:t>=</m:t>
                      </m:r>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𝑆</m:t>
                          </m:r>
                        </m:e>
                        <m:sub>
                          <m:r>
                            <a:rPr lang="en-AU" sz="2400" b="0" i="1" noProof="0" smtClean="0">
                              <a:solidFill>
                                <a:schemeClr val="tx1"/>
                              </a:solidFill>
                              <a:latin typeface="Cambria Math" panose="02040503050406030204" pitchFamily="18" charset="0"/>
                              <a:cs typeface="+mn-cs"/>
                            </a:rPr>
                            <m:t>𝑑</m:t>
                          </m:r>
                        </m:sub>
                      </m:sSub>
                      <m:d>
                        <m:dPr>
                          <m:ctrlPr>
                            <a:rPr lang="en-AU" sz="2400" b="0" i="1" noProof="0" smtClean="0">
                              <a:solidFill>
                                <a:schemeClr val="tx1"/>
                              </a:solidFill>
                              <a:latin typeface="Cambria Math" panose="02040503050406030204" pitchFamily="18" charset="0"/>
                              <a:cs typeface="+mn-cs"/>
                            </a:rPr>
                          </m:ctrlPr>
                        </m:dPr>
                        <m:e>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𝑇</m:t>
                              </m:r>
                            </m:e>
                            <m:sub>
                              <m:r>
                                <a:rPr lang="en-AU" sz="2400" b="0" i="1" noProof="0" smtClean="0">
                                  <a:solidFill>
                                    <a:schemeClr val="tx1"/>
                                  </a:solidFill>
                                  <a:latin typeface="Cambria Math" panose="02040503050406030204" pitchFamily="18" charset="0"/>
                                  <a:cs typeface="+mn-cs"/>
                                </a:rPr>
                                <m:t>1</m:t>
                              </m:r>
                            </m:sub>
                          </m:sSub>
                        </m:e>
                      </m:d>
                      <m:r>
                        <a:rPr lang="en-AU" sz="2400" b="0" i="1" noProof="0" smtClean="0">
                          <a:solidFill>
                            <a:schemeClr val="tx1"/>
                          </a:solidFill>
                          <a:latin typeface="Cambria Math" panose="02040503050406030204" pitchFamily="18" charset="0"/>
                          <a:cs typeface="+mn-cs"/>
                        </a:rPr>
                        <m:t>∙</m:t>
                      </m:r>
                      <m:r>
                        <a:rPr lang="en-AU" sz="2400" b="0" i="1" noProof="0" smtClean="0">
                          <a:solidFill>
                            <a:schemeClr val="tx1"/>
                          </a:solidFill>
                          <a:latin typeface="Cambria Math" panose="02040503050406030204" pitchFamily="18" charset="0"/>
                          <a:cs typeface="+mn-cs"/>
                        </a:rPr>
                        <m:t>𝑚</m:t>
                      </m:r>
                      <m:r>
                        <a:rPr lang="en-AU" sz="2400" b="0" i="1" noProof="0" smtClean="0">
                          <a:solidFill>
                            <a:schemeClr val="tx1"/>
                          </a:solidFill>
                          <a:latin typeface="Cambria Math" panose="02040503050406030204" pitchFamily="18" charset="0"/>
                          <a:cs typeface="+mn-cs"/>
                        </a:rPr>
                        <m:t>∙</m:t>
                      </m:r>
                      <m:r>
                        <a:rPr lang="en-AU" sz="2400" b="0" i="1" noProof="0" smtClean="0">
                          <a:solidFill>
                            <a:schemeClr val="tx1"/>
                          </a:solidFill>
                          <a:latin typeface="Cambria Math" panose="02040503050406030204" pitchFamily="18" charset="0"/>
                          <a:cs typeface="+mn-cs"/>
                        </a:rPr>
                        <m:t>𝜆</m:t>
                      </m:r>
                    </m:oMath>
                  </m:oMathPara>
                </a14:m>
                <a:endParaRPr lang="en-AU" sz="2400" noProof="0" dirty="0">
                  <a:solidFill>
                    <a:schemeClr val="tx1"/>
                  </a:solidFill>
                  <a:latin typeface="Futura LT Pro Light" panose="020B0402020204020303" pitchFamily="34" charset="0"/>
                  <a:cs typeface="+mn-cs"/>
                </a:endParaRPr>
              </a:p>
            </p:txBody>
          </p:sp>
        </mc:Choice>
        <mc:Fallback xmlns="">
          <p:sp>
            <p:nvSpPr>
              <p:cNvPr id="14" name="Textfeld 13">
                <a:extLst>
                  <a:ext uri="{FF2B5EF4-FFF2-40B4-BE49-F238E27FC236}">
                    <a16:creationId xmlns:a16="http://schemas.microsoft.com/office/drawing/2014/main" id="{01613402-B94F-AFD9-320F-6062A6FAAD03}"/>
                  </a:ext>
                </a:extLst>
              </p:cNvPr>
              <p:cNvSpPr txBox="1">
                <a:spLocks noRot="1" noChangeAspect="1" noMove="1" noResize="1" noEditPoints="1" noAdjustHandles="1" noChangeArrowheads="1" noChangeShapeType="1" noTextEdit="1"/>
              </p:cNvSpPr>
              <p:nvPr/>
            </p:nvSpPr>
            <p:spPr>
              <a:xfrm>
                <a:off x="8769504" y="1871930"/>
                <a:ext cx="2705934" cy="461665"/>
              </a:xfrm>
              <a:prstGeom prst="rect">
                <a:avLst/>
              </a:prstGeom>
              <a:blipFill>
                <a:blip r:embed="rId3"/>
                <a:stretch>
                  <a:fillRect b="-5263"/>
                </a:stretch>
              </a:blipFill>
            </p:spPr>
            <p:txBody>
              <a:bodyPr/>
              <a:lstStyle/>
              <a:p>
                <a:r>
                  <a:rPr lang="de-DE">
                    <a:noFill/>
                  </a:rPr>
                  <a:t> </a:t>
                </a:r>
              </a:p>
            </p:txBody>
          </p:sp>
        </mc:Fallback>
      </mc:AlternateContent>
      <p:sp>
        <p:nvSpPr>
          <p:cNvPr id="15" name="Textfeld 14">
            <a:extLst>
              <a:ext uri="{FF2B5EF4-FFF2-40B4-BE49-F238E27FC236}">
                <a16:creationId xmlns:a16="http://schemas.microsoft.com/office/drawing/2014/main" id="{3197EFC5-B345-8724-73B1-48ED405FD8B3}"/>
              </a:ext>
            </a:extLst>
          </p:cNvPr>
          <p:cNvSpPr txBox="1"/>
          <p:nvPr/>
        </p:nvSpPr>
        <p:spPr>
          <a:xfrm>
            <a:off x="8934807" y="1046255"/>
            <a:ext cx="2638571" cy="369332"/>
          </a:xfrm>
          <a:prstGeom prst="rect">
            <a:avLst/>
          </a:prstGeom>
          <a:noFill/>
        </p:spPr>
        <p:txBody>
          <a:bodyPr wrap="square" rtlCol="0">
            <a:spAutoFit/>
          </a:bodyPr>
          <a:lstStyle/>
          <a:p>
            <a:r>
              <a:rPr lang="en-AU" b="1" u="sng" noProof="0" dirty="0">
                <a:latin typeface="Futura LT Pro Light" panose="020B0402020204020303" pitchFamily="34" charset="0"/>
                <a:cs typeface="+mn-cs"/>
              </a:rPr>
              <a:t>Analyse and design</a:t>
            </a:r>
          </a:p>
        </p:txBody>
      </p:sp>
      <p:sp>
        <p:nvSpPr>
          <p:cNvPr id="20" name="Textfeld 19">
            <a:extLst>
              <a:ext uri="{FF2B5EF4-FFF2-40B4-BE49-F238E27FC236}">
                <a16:creationId xmlns:a16="http://schemas.microsoft.com/office/drawing/2014/main" id="{9EFC034D-BD35-896D-1C09-3475F52DF0AA}"/>
              </a:ext>
            </a:extLst>
          </p:cNvPr>
          <p:cNvSpPr txBox="1"/>
          <p:nvPr/>
        </p:nvSpPr>
        <p:spPr>
          <a:xfrm>
            <a:off x="4405747" y="1046518"/>
            <a:ext cx="3420000" cy="369332"/>
          </a:xfrm>
          <a:prstGeom prst="rect">
            <a:avLst/>
          </a:prstGeom>
          <a:noFill/>
        </p:spPr>
        <p:txBody>
          <a:bodyPr wrap="square" rtlCol="0">
            <a:spAutoFit/>
          </a:bodyPr>
          <a:lstStyle/>
          <a:p>
            <a:r>
              <a:rPr lang="en-AU" b="1" u="sng" noProof="0" dirty="0">
                <a:latin typeface="Futura LT Pro Light" panose="020B0402020204020303" pitchFamily="34" charset="0"/>
                <a:cs typeface="+mn-cs"/>
              </a:rPr>
              <a:t>Reduced Inelastic Spectrum</a:t>
            </a:r>
          </a:p>
        </p:txBody>
      </p:sp>
      <p:grpSp>
        <p:nvGrpSpPr>
          <p:cNvPr id="21" name="Gruppieren 20">
            <a:extLst>
              <a:ext uri="{FF2B5EF4-FFF2-40B4-BE49-F238E27FC236}">
                <a16:creationId xmlns:a16="http://schemas.microsoft.com/office/drawing/2014/main" id="{D1E8AF3A-A1DE-2F4F-C189-93CD27108690}"/>
              </a:ext>
            </a:extLst>
          </p:cNvPr>
          <p:cNvGrpSpPr/>
          <p:nvPr/>
        </p:nvGrpSpPr>
        <p:grpSpPr>
          <a:xfrm>
            <a:off x="4115036" y="1697760"/>
            <a:ext cx="3806345" cy="2692342"/>
            <a:chOff x="4115036" y="1963794"/>
            <a:chExt cx="3806345" cy="2692342"/>
          </a:xfrm>
        </p:grpSpPr>
        <p:grpSp>
          <p:nvGrpSpPr>
            <p:cNvPr id="22" name="Gruppieren 21">
              <a:extLst>
                <a:ext uri="{FF2B5EF4-FFF2-40B4-BE49-F238E27FC236}">
                  <a16:creationId xmlns:a16="http://schemas.microsoft.com/office/drawing/2014/main" id="{1BD2F5CA-6B34-BB10-80FA-4CF9470D7CD9}"/>
                </a:ext>
              </a:extLst>
            </p:cNvPr>
            <p:cNvGrpSpPr/>
            <p:nvPr/>
          </p:nvGrpSpPr>
          <p:grpSpPr>
            <a:xfrm>
              <a:off x="4115036" y="1963794"/>
              <a:ext cx="3806345" cy="2692342"/>
              <a:chOff x="4294306" y="1963794"/>
              <a:chExt cx="3806345" cy="2692342"/>
            </a:xfrm>
          </p:grpSpPr>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1BA9CEF8-47D8-AB3F-50ED-981D3C22C206}"/>
                      </a:ext>
                    </a:extLst>
                  </p:cNvPr>
                  <p:cNvSpPr txBox="1"/>
                  <p:nvPr/>
                </p:nvSpPr>
                <p:spPr>
                  <a:xfrm>
                    <a:off x="5899153" y="3057133"/>
                    <a:ext cx="11496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chemeClr val="tx1"/>
                              </a:solidFill>
                              <a:latin typeface="Cambria Math" panose="02040503050406030204" pitchFamily="18" charset="0"/>
                              <a:cs typeface="+mn-cs"/>
                            </a:rPr>
                            <m:t>𝑞</m:t>
                          </m:r>
                        </m:oMath>
                      </m:oMathPara>
                    </a14:m>
                    <a:endParaRPr lang="en-AU" noProof="0" dirty="0">
                      <a:solidFill>
                        <a:schemeClr val="tx1"/>
                      </a:solidFill>
                      <a:latin typeface="Futura LT Pro Light" panose="020B0402020204020303" pitchFamily="34" charset="0"/>
                      <a:cs typeface="+mn-cs"/>
                    </a:endParaRPr>
                  </a:p>
                </p:txBody>
              </p:sp>
            </mc:Choice>
            <mc:Fallback xmlns="">
              <p:sp>
                <p:nvSpPr>
                  <p:cNvPr id="24" name="Textfeld 23">
                    <a:extLst>
                      <a:ext uri="{FF2B5EF4-FFF2-40B4-BE49-F238E27FC236}">
                        <a16:creationId xmlns:a16="http://schemas.microsoft.com/office/drawing/2014/main" id="{1BA9CEF8-47D8-AB3F-50ED-981D3C22C206}"/>
                      </a:ext>
                    </a:extLst>
                  </p:cNvPr>
                  <p:cNvSpPr txBox="1">
                    <a:spLocks noRot="1" noChangeAspect="1" noMove="1" noResize="1" noEditPoints="1" noAdjustHandles="1" noChangeArrowheads="1" noChangeShapeType="1" noTextEdit="1"/>
                  </p:cNvSpPr>
                  <p:nvPr/>
                </p:nvSpPr>
                <p:spPr>
                  <a:xfrm>
                    <a:off x="5899153" y="3057133"/>
                    <a:ext cx="1149650" cy="369332"/>
                  </a:xfrm>
                  <a:prstGeom prst="rect">
                    <a:avLst/>
                  </a:prstGeom>
                  <a:blipFill>
                    <a:blip r:embed="rId4"/>
                    <a:stretch>
                      <a:fillRect b="-10000"/>
                    </a:stretch>
                  </a:blipFill>
                </p:spPr>
                <p:txBody>
                  <a:bodyPr/>
                  <a:lstStyle/>
                  <a:p>
                    <a:r>
                      <a:rPr lang="de-DE">
                        <a:noFill/>
                      </a:rPr>
                      <a:t> </a:t>
                    </a:r>
                  </a:p>
                </p:txBody>
              </p:sp>
            </mc:Fallback>
          </mc:AlternateContent>
          <p:grpSp>
            <p:nvGrpSpPr>
              <p:cNvPr id="25" name="Gruppieren 24">
                <a:extLst>
                  <a:ext uri="{FF2B5EF4-FFF2-40B4-BE49-F238E27FC236}">
                    <a16:creationId xmlns:a16="http://schemas.microsoft.com/office/drawing/2014/main" id="{149257CA-CB59-6708-46AA-D5838F498CFC}"/>
                  </a:ext>
                </a:extLst>
              </p:cNvPr>
              <p:cNvGrpSpPr/>
              <p:nvPr/>
            </p:nvGrpSpPr>
            <p:grpSpPr>
              <a:xfrm>
                <a:off x="4294306" y="1963794"/>
                <a:ext cx="3806345" cy="2692342"/>
                <a:chOff x="4459896" y="3235622"/>
                <a:chExt cx="2560393" cy="1811043"/>
              </a:xfrm>
            </p:grpSpPr>
            <p:sp>
              <p:nvSpPr>
                <p:cNvPr id="29" name="elastic spectra">
                  <a:extLst>
                    <a:ext uri="{FF2B5EF4-FFF2-40B4-BE49-F238E27FC236}">
                      <a16:creationId xmlns:a16="http://schemas.microsoft.com/office/drawing/2014/main" id="{A3AB685B-5D6D-EFB1-3B9B-1AA08AF901A9}"/>
                    </a:ext>
                  </a:extLst>
                </p:cNvPr>
                <p:cNvSpPr/>
                <p:nvPr/>
              </p:nvSpPr>
              <p:spPr>
                <a:xfrm>
                  <a:off x="4973939" y="3607827"/>
                  <a:ext cx="1711698" cy="878203"/>
                </a:xfrm>
                <a:custGeom>
                  <a:avLst/>
                  <a:gdLst>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02512 h 1183512"/>
                    <a:gd name="connsiteX1" fmla="*/ 152400 w 3416300"/>
                    <a:gd name="connsiteY1" fmla="*/ 65912 h 1183512"/>
                    <a:gd name="connsiteX2" fmla="*/ 508000 w 3416300"/>
                    <a:gd name="connsiteY2" fmla="*/ 65912 h 1183512"/>
                    <a:gd name="connsiteX3" fmla="*/ 2044700 w 3416300"/>
                    <a:gd name="connsiteY3" fmla="*/ 986662 h 1183512"/>
                    <a:gd name="connsiteX4" fmla="*/ 3416300 w 3416300"/>
                    <a:gd name="connsiteY4" fmla="*/ 1183512 h 1183512"/>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211281"/>
                    <a:gd name="connsiteX1" fmla="*/ 152400 w 3416300"/>
                    <a:gd name="connsiteY1" fmla="*/ 0 h 1211281"/>
                    <a:gd name="connsiteX2" fmla="*/ 508000 w 3416300"/>
                    <a:gd name="connsiteY2" fmla="*/ 0 h 1211281"/>
                    <a:gd name="connsiteX3" fmla="*/ 2057400 w 3416300"/>
                    <a:gd name="connsiteY3" fmla="*/ 1136650 h 1211281"/>
                    <a:gd name="connsiteX4" fmla="*/ 3416300 w 3416300"/>
                    <a:gd name="connsiteY4" fmla="*/ 1117600 h 1211281"/>
                    <a:gd name="connsiteX0" fmla="*/ 0 w 3409950"/>
                    <a:gd name="connsiteY0" fmla="*/ 736600 h 1358900"/>
                    <a:gd name="connsiteX1" fmla="*/ 152400 w 3409950"/>
                    <a:gd name="connsiteY1" fmla="*/ 0 h 1358900"/>
                    <a:gd name="connsiteX2" fmla="*/ 508000 w 3409950"/>
                    <a:gd name="connsiteY2" fmla="*/ 0 h 1358900"/>
                    <a:gd name="connsiteX3" fmla="*/ 2057400 w 3409950"/>
                    <a:gd name="connsiteY3" fmla="*/ 1136650 h 1358900"/>
                    <a:gd name="connsiteX4" fmla="*/ 3409950 w 3409950"/>
                    <a:gd name="connsiteY4" fmla="*/ 1358900 h 1358900"/>
                    <a:gd name="connsiteX0" fmla="*/ 0 w 3409950"/>
                    <a:gd name="connsiteY0" fmla="*/ 736600 h 1358900"/>
                    <a:gd name="connsiteX1" fmla="*/ 152400 w 3409950"/>
                    <a:gd name="connsiteY1" fmla="*/ 0 h 1358900"/>
                    <a:gd name="connsiteX2" fmla="*/ 508000 w 3409950"/>
                    <a:gd name="connsiteY2" fmla="*/ 0 h 1358900"/>
                    <a:gd name="connsiteX3" fmla="*/ 2051050 w 3409950"/>
                    <a:gd name="connsiteY3" fmla="*/ 1206500 h 1358900"/>
                    <a:gd name="connsiteX4" fmla="*/ 3409950 w 3409950"/>
                    <a:gd name="connsiteY4" fmla="*/ 1358900 h 1358900"/>
                    <a:gd name="connsiteX0" fmla="*/ 0 w 3409950"/>
                    <a:gd name="connsiteY0" fmla="*/ 736600 h 1441450"/>
                    <a:gd name="connsiteX1" fmla="*/ 152400 w 3409950"/>
                    <a:gd name="connsiteY1" fmla="*/ 0 h 1441450"/>
                    <a:gd name="connsiteX2" fmla="*/ 508000 w 3409950"/>
                    <a:gd name="connsiteY2" fmla="*/ 0 h 1441450"/>
                    <a:gd name="connsiteX3" fmla="*/ 2051050 w 3409950"/>
                    <a:gd name="connsiteY3" fmla="*/ 1206500 h 1441450"/>
                    <a:gd name="connsiteX4" fmla="*/ 3409950 w 3409950"/>
                    <a:gd name="connsiteY4" fmla="*/ 1441450 h 1441450"/>
                    <a:gd name="connsiteX0" fmla="*/ 0 w 3409950"/>
                    <a:gd name="connsiteY0" fmla="*/ 736600 h 1540150"/>
                    <a:gd name="connsiteX1" fmla="*/ 152400 w 3409950"/>
                    <a:gd name="connsiteY1" fmla="*/ 0 h 1540150"/>
                    <a:gd name="connsiteX2" fmla="*/ 508000 w 3409950"/>
                    <a:gd name="connsiteY2" fmla="*/ 0 h 1540150"/>
                    <a:gd name="connsiteX3" fmla="*/ 2057400 w 3409950"/>
                    <a:gd name="connsiteY3" fmla="*/ 1466850 h 1540150"/>
                    <a:gd name="connsiteX4" fmla="*/ 3409950 w 3409950"/>
                    <a:gd name="connsiteY4" fmla="*/ 1441450 h 1540150"/>
                    <a:gd name="connsiteX0" fmla="*/ 0 w 3403600"/>
                    <a:gd name="connsiteY0" fmla="*/ 736600 h 1714500"/>
                    <a:gd name="connsiteX1" fmla="*/ 152400 w 3403600"/>
                    <a:gd name="connsiteY1" fmla="*/ 0 h 1714500"/>
                    <a:gd name="connsiteX2" fmla="*/ 508000 w 3403600"/>
                    <a:gd name="connsiteY2" fmla="*/ 0 h 1714500"/>
                    <a:gd name="connsiteX3" fmla="*/ 2057400 w 3403600"/>
                    <a:gd name="connsiteY3" fmla="*/ 1466850 h 1714500"/>
                    <a:gd name="connsiteX4" fmla="*/ 3403600 w 3403600"/>
                    <a:gd name="connsiteY4" fmla="*/ 1714500 h 1714500"/>
                    <a:gd name="connsiteX0" fmla="*/ 0 w 3403600"/>
                    <a:gd name="connsiteY0" fmla="*/ 736600 h 1778000"/>
                    <a:gd name="connsiteX1" fmla="*/ 152400 w 3403600"/>
                    <a:gd name="connsiteY1" fmla="*/ 0 h 1778000"/>
                    <a:gd name="connsiteX2" fmla="*/ 508000 w 3403600"/>
                    <a:gd name="connsiteY2" fmla="*/ 0 h 1778000"/>
                    <a:gd name="connsiteX3" fmla="*/ 2057400 w 3403600"/>
                    <a:gd name="connsiteY3" fmla="*/ 1466850 h 1778000"/>
                    <a:gd name="connsiteX4" fmla="*/ 3403600 w 3403600"/>
                    <a:gd name="connsiteY4" fmla="*/ 1778000 h 1778000"/>
                    <a:gd name="connsiteX0" fmla="*/ 0 w 3403600"/>
                    <a:gd name="connsiteY0" fmla="*/ 736600 h 1746250"/>
                    <a:gd name="connsiteX1" fmla="*/ 152400 w 3403600"/>
                    <a:gd name="connsiteY1" fmla="*/ 0 h 1746250"/>
                    <a:gd name="connsiteX2" fmla="*/ 508000 w 3403600"/>
                    <a:gd name="connsiteY2" fmla="*/ 0 h 1746250"/>
                    <a:gd name="connsiteX3" fmla="*/ 2057400 w 3403600"/>
                    <a:gd name="connsiteY3" fmla="*/ 1466850 h 1746250"/>
                    <a:gd name="connsiteX4" fmla="*/ 3403600 w 3403600"/>
                    <a:gd name="connsiteY4" fmla="*/ 1746250 h 1746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3600" h="1746250">
                      <a:moveTo>
                        <a:pt x="0" y="736600"/>
                      </a:moveTo>
                      <a:cubicBezTo>
                        <a:pt x="141816" y="10583"/>
                        <a:pt x="-2117" y="751417"/>
                        <a:pt x="152400" y="0"/>
                      </a:cubicBezTo>
                      <a:cubicBezTo>
                        <a:pt x="510117" y="10583"/>
                        <a:pt x="154517" y="11642"/>
                        <a:pt x="508000" y="0"/>
                      </a:cubicBezTo>
                      <a:cubicBezTo>
                        <a:pt x="651933" y="445558"/>
                        <a:pt x="1096433" y="1356783"/>
                        <a:pt x="2057400" y="1466850"/>
                      </a:cubicBezTo>
                      <a:cubicBezTo>
                        <a:pt x="2618317" y="1653117"/>
                        <a:pt x="3030008" y="1728258"/>
                        <a:pt x="3403600" y="1746250"/>
                      </a:cubicBezTo>
                    </a:path>
                  </a:pathLst>
                </a:custGeom>
                <a:noFill/>
                <a:ln w="28575" cap="rnd">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36" name="inelastic spectra colour">
                  <a:extLst>
                    <a:ext uri="{FF2B5EF4-FFF2-40B4-BE49-F238E27FC236}">
                      <a16:creationId xmlns:a16="http://schemas.microsoft.com/office/drawing/2014/main" id="{6F116210-1462-5EC8-7617-EA6577E05742}"/>
                    </a:ext>
                  </a:extLst>
                </p:cNvPr>
                <p:cNvSpPr/>
                <p:nvPr/>
              </p:nvSpPr>
              <p:spPr>
                <a:xfrm>
                  <a:off x="4976410" y="4010363"/>
                  <a:ext cx="1726136" cy="721503"/>
                </a:xfrm>
                <a:custGeom>
                  <a:avLst/>
                  <a:gdLst>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40502 h 1221502"/>
                    <a:gd name="connsiteX1" fmla="*/ 152400 w 3416300"/>
                    <a:gd name="connsiteY1" fmla="*/ 103902 h 1221502"/>
                    <a:gd name="connsiteX2" fmla="*/ 508000 w 3416300"/>
                    <a:gd name="connsiteY2" fmla="*/ 103902 h 1221502"/>
                    <a:gd name="connsiteX3" fmla="*/ 2044700 w 3416300"/>
                    <a:gd name="connsiteY3" fmla="*/ 1024652 h 1221502"/>
                    <a:gd name="connsiteX4" fmla="*/ 3416300 w 3416300"/>
                    <a:gd name="connsiteY4" fmla="*/ 1221502 h 1221502"/>
                    <a:gd name="connsiteX0" fmla="*/ 0 w 3416300"/>
                    <a:gd name="connsiteY0" fmla="*/ 802512 h 1183512"/>
                    <a:gd name="connsiteX1" fmla="*/ 152400 w 3416300"/>
                    <a:gd name="connsiteY1" fmla="*/ 65912 h 1183512"/>
                    <a:gd name="connsiteX2" fmla="*/ 508000 w 3416300"/>
                    <a:gd name="connsiteY2" fmla="*/ 65912 h 1183512"/>
                    <a:gd name="connsiteX3" fmla="*/ 2044700 w 3416300"/>
                    <a:gd name="connsiteY3" fmla="*/ 986662 h 1183512"/>
                    <a:gd name="connsiteX4" fmla="*/ 3416300 w 3416300"/>
                    <a:gd name="connsiteY4" fmla="*/ 1183512 h 1183512"/>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16300"/>
                    <a:gd name="connsiteY0" fmla="*/ 736600 h 1117600"/>
                    <a:gd name="connsiteX1" fmla="*/ 152400 w 3416300"/>
                    <a:gd name="connsiteY1" fmla="*/ 0 h 1117600"/>
                    <a:gd name="connsiteX2" fmla="*/ 508000 w 3416300"/>
                    <a:gd name="connsiteY2" fmla="*/ 0 h 1117600"/>
                    <a:gd name="connsiteX3" fmla="*/ 2044700 w 3416300"/>
                    <a:gd name="connsiteY3" fmla="*/ 920750 h 1117600"/>
                    <a:gd name="connsiteX4" fmla="*/ 3416300 w 3416300"/>
                    <a:gd name="connsiteY4" fmla="*/ 1117600 h 1117600"/>
                    <a:gd name="connsiteX0" fmla="*/ 0 w 3406775"/>
                    <a:gd name="connsiteY0" fmla="*/ 177607 h 1601595"/>
                    <a:gd name="connsiteX1" fmla="*/ 142875 w 3406775"/>
                    <a:gd name="connsiteY1" fmla="*/ 483995 h 1601595"/>
                    <a:gd name="connsiteX2" fmla="*/ 498475 w 3406775"/>
                    <a:gd name="connsiteY2" fmla="*/ 483995 h 1601595"/>
                    <a:gd name="connsiteX3" fmla="*/ 2035175 w 3406775"/>
                    <a:gd name="connsiteY3" fmla="*/ 1404745 h 1601595"/>
                    <a:gd name="connsiteX4" fmla="*/ 3406775 w 3406775"/>
                    <a:gd name="connsiteY4" fmla="*/ 1601595 h 1601595"/>
                    <a:gd name="connsiteX0" fmla="*/ 0 w 3406775"/>
                    <a:gd name="connsiteY0" fmla="*/ 0 h 1423988"/>
                    <a:gd name="connsiteX1" fmla="*/ 142875 w 3406775"/>
                    <a:gd name="connsiteY1" fmla="*/ 306388 h 1423988"/>
                    <a:gd name="connsiteX2" fmla="*/ 498475 w 3406775"/>
                    <a:gd name="connsiteY2" fmla="*/ 306388 h 1423988"/>
                    <a:gd name="connsiteX3" fmla="*/ 2035175 w 3406775"/>
                    <a:gd name="connsiteY3" fmla="*/ 1227138 h 1423988"/>
                    <a:gd name="connsiteX4" fmla="*/ 3406775 w 3406775"/>
                    <a:gd name="connsiteY4" fmla="*/ 1423988 h 1423988"/>
                    <a:gd name="connsiteX0" fmla="*/ 0 w 3406775"/>
                    <a:gd name="connsiteY0" fmla="*/ 0 h 1423988"/>
                    <a:gd name="connsiteX1" fmla="*/ 142875 w 3406775"/>
                    <a:gd name="connsiteY1" fmla="*/ 306388 h 1423988"/>
                    <a:gd name="connsiteX2" fmla="*/ 498475 w 3406775"/>
                    <a:gd name="connsiteY2" fmla="*/ 306388 h 1423988"/>
                    <a:gd name="connsiteX3" fmla="*/ 2035175 w 3406775"/>
                    <a:gd name="connsiteY3" fmla="*/ 1227138 h 1423988"/>
                    <a:gd name="connsiteX4" fmla="*/ 3406775 w 3406775"/>
                    <a:gd name="connsiteY4" fmla="*/ 1423988 h 142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6775" h="1423988">
                      <a:moveTo>
                        <a:pt x="0" y="0"/>
                      </a:moveTo>
                      <a:cubicBezTo>
                        <a:pt x="113241" y="269345"/>
                        <a:pt x="2645" y="530"/>
                        <a:pt x="142875" y="306388"/>
                      </a:cubicBezTo>
                      <a:cubicBezTo>
                        <a:pt x="500592" y="316971"/>
                        <a:pt x="144992" y="318030"/>
                        <a:pt x="498475" y="306388"/>
                      </a:cubicBezTo>
                      <a:cubicBezTo>
                        <a:pt x="642408" y="751946"/>
                        <a:pt x="1074208" y="1117071"/>
                        <a:pt x="2035175" y="1227138"/>
                      </a:cubicBezTo>
                      <a:cubicBezTo>
                        <a:pt x="2596092" y="1413405"/>
                        <a:pt x="3033183" y="1405996"/>
                        <a:pt x="3406775" y="1423988"/>
                      </a:cubicBezTo>
                    </a:path>
                  </a:pathLst>
                </a:custGeom>
                <a:noFill/>
                <a:ln w="28575" cap="rnd">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pSp>
              <p:nvGrpSpPr>
                <p:cNvPr id="31" name="Gruppieren 30">
                  <a:extLst>
                    <a:ext uri="{FF2B5EF4-FFF2-40B4-BE49-F238E27FC236}">
                      <a16:creationId xmlns:a16="http://schemas.microsoft.com/office/drawing/2014/main" id="{40BC8AC1-9185-0C5B-980B-27FCC1220B7E}"/>
                    </a:ext>
                  </a:extLst>
                </p:cNvPr>
                <p:cNvGrpSpPr>
                  <a:grpSpLocks/>
                </p:cNvGrpSpPr>
                <p:nvPr/>
              </p:nvGrpSpPr>
              <p:grpSpPr>
                <a:xfrm>
                  <a:off x="4459896" y="3235622"/>
                  <a:ext cx="2560393" cy="1811043"/>
                  <a:chOff x="4833219" y="3875519"/>
                  <a:chExt cx="2560393" cy="1811043"/>
                </a:xfrm>
              </p:grpSpPr>
              <mc:AlternateContent xmlns:mc="http://schemas.openxmlformats.org/markup-compatibility/2006" xmlns:a14="http://schemas.microsoft.com/office/drawing/2010/main">
                <mc:Choice Requires="a14">
                  <p:sp>
                    <p:nvSpPr>
                      <p:cNvPr id="32" name="Textfeld 31">
                        <a:extLst>
                          <a:ext uri="{FF2B5EF4-FFF2-40B4-BE49-F238E27FC236}">
                            <a16:creationId xmlns:a16="http://schemas.microsoft.com/office/drawing/2014/main" id="{AFAE398F-7841-B27D-B485-78E92DC68488}"/>
                          </a:ext>
                        </a:extLst>
                      </p:cNvPr>
                      <p:cNvSpPr txBox="1">
                        <a:spLocks/>
                      </p:cNvSpPr>
                      <p:nvPr/>
                    </p:nvSpPr>
                    <p:spPr>
                      <a:xfrm>
                        <a:off x="4833219" y="3875519"/>
                        <a:ext cx="699702" cy="2484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b="0" i="1" noProof="0" smtClean="0">
                                      <a:solidFill>
                                        <a:schemeClr val="tx1"/>
                                      </a:solidFill>
                                      <a:latin typeface="Cambria Math" panose="02040503050406030204" pitchFamily="18" charset="0"/>
                                      <a:cs typeface="+mn-cs"/>
                                    </a:rPr>
                                  </m:ctrlPr>
                                </m:sSubPr>
                                <m:e>
                                  <m:r>
                                    <a:rPr lang="en-AU" b="0" i="1" noProof="0" smtClean="0">
                                      <a:solidFill>
                                        <a:schemeClr val="tx1"/>
                                      </a:solidFill>
                                      <a:latin typeface="Cambria Math" panose="02040503050406030204" pitchFamily="18" charset="0"/>
                                      <a:cs typeface="+mn-cs"/>
                                    </a:rPr>
                                    <m:t>𝑆</m:t>
                                  </m:r>
                                </m:e>
                                <m:sub>
                                  <m:r>
                                    <a:rPr lang="en-AU" b="0" i="1" noProof="0" smtClean="0">
                                      <a:solidFill>
                                        <a:schemeClr val="tx1"/>
                                      </a:solidFill>
                                      <a:latin typeface="Cambria Math" panose="02040503050406030204" pitchFamily="18" charset="0"/>
                                      <a:cs typeface="+mn-cs"/>
                                    </a:rPr>
                                    <m:t>𝑎</m:t>
                                  </m:r>
                                </m:sub>
                              </m:sSub>
                            </m:oMath>
                          </m:oMathPara>
                        </a14:m>
                        <a:endParaRPr lang="en-AU" noProof="0" dirty="0">
                          <a:solidFill>
                            <a:schemeClr val="tx1"/>
                          </a:solidFill>
                          <a:latin typeface="Futura LT Pro Light" panose="020B0402020204020303" pitchFamily="34" charset="0"/>
                          <a:cs typeface="+mn-cs"/>
                        </a:endParaRPr>
                      </a:p>
                    </p:txBody>
                  </p:sp>
                </mc:Choice>
                <mc:Fallback xmlns="">
                  <p:sp>
                    <p:nvSpPr>
                      <p:cNvPr id="32" name="Textfeld 31">
                        <a:extLst>
                          <a:ext uri="{FF2B5EF4-FFF2-40B4-BE49-F238E27FC236}">
                            <a16:creationId xmlns:a16="http://schemas.microsoft.com/office/drawing/2014/main" id="{AFAE398F-7841-B27D-B485-78E92DC68488}"/>
                          </a:ext>
                        </a:extLst>
                      </p:cNvPr>
                      <p:cNvSpPr txBox="1">
                        <a:spLocks noRot="1" noChangeAspect="1" noMove="1" noResize="1" noEditPoints="1" noAdjustHandles="1" noChangeArrowheads="1" noChangeShapeType="1" noTextEdit="1"/>
                      </p:cNvSpPr>
                      <p:nvPr/>
                    </p:nvSpPr>
                    <p:spPr>
                      <a:xfrm>
                        <a:off x="4833219" y="3875519"/>
                        <a:ext cx="699702" cy="248437"/>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3" name="Textfeld 32">
                        <a:extLst>
                          <a:ext uri="{FF2B5EF4-FFF2-40B4-BE49-F238E27FC236}">
                            <a16:creationId xmlns:a16="http://schemas.microsoft.com/office/drawing/2014/main" id="{0BB9EDAC-7842-5704-0670-60D5731B8CE6}"/>
                          </a:ext>
                        </a:extLst>
                      </p:cNvPr>
                      <p:cNvSpPr txBox="1">
                        <a:spLocks/>
                      </p:cNvSpPr>
                      <p:nvPr/>
                    </p:nvSpPr>
                    <p:spPr>
                      <a:xfrm>
                        <a:off x="6698426" y="5438125"/>
                        <a:ext cx="695186" cy="2484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chemeClr val="tx1"/>
                                  </a:solidFill>
                                  <a:latin typeface="Cambria Math" panose="02040503050406030204" pitchFamily="18" charset="0"/>
                                  <a:cs typeface="+mn-cs"/>
                                </a:rPr>
                                <m:t>𝑇</m:t>
                              </m:r>
                            </m:oMath>
                          </m:oMathPara>
                        </a14:m>
                        <a:endParaRPr lang="en-AU" noProof="0" dirty="0">
                          <a:solidFill>
                            <a:schemeClr val="tx1"/>
                          </a:solidFill>
                          <a:latin typeface="Futura LT Pro Light" panose="020B0402020204020303" pitchFamily="34" charset="0"/>
                          <a:cs typeface="+mn-cs"/>
                        </a:endParaRPr>
                      </a:p>
                    </p:txBody>
                  </p:sp>
                </mc:Choice>
                <mc:Fallback xmlns="">
                  <p:sp>
                    <p:nvSpPr>
                      <p:cNvPr id="33" name="Textfeld 32">
                        <a:extLst>
                          <a:ext uri="{FF2B5EF4-FFF2-40B4-BE49-F238E27FC236}">
                            <a16:creationId xmlns:a16="http://schemas.microsoft.com/office/drawing/2014/main" id="{0BB9EDAC-7842-5704-0670-60D5731B8CE6}"/>
                          </a:ext>
                        </a:extLst>
                      </p:cNvPr>
                      <p:cNvSpPr txBox="1">
                        <a:spLocks noRot="1" noChangeAspect="1" noMove="1" noResize="1" noEditPoints="1" noAdjustHandles="1" noChangeArrowheads="1" noChangeShapeType="1" noTextEdit="1"/>
                      </p:cNvSpPr>
                      <p:nvPr/>
                    </p:nvSpPr>
                    <p:spPr>
                      <a:xfrm>
                        <a:off x="6698426" y="5438125"/>
                        <a:ext cx="695186" cy="248437"/>
                      </a:xfrm>
                      <a:prstGeom prst="rect">
                        <a:avLst/>
                      </a:prstGeom>
                      <a:blipFill>
                        <a:blip r:embed="rId6"/>
                        <a:stretch>
                          <a:fillRect/>
                        </a:stretch>
                      </a:blipFill>
                    </p:spPr>
                    <p:txBody>
                      <a:bodyPr/>
                      <a:lstStyle/>
                      <a:p>
                        <a:r>
                          <a:rPr lang="de-DE">
                            <a:noFill/>
                          </a:rPr>
                          <a:t> </a:t>
                        </a:r>
                      </a:p>
                    </p:txBody>
                  </p:sp>
                </mc:Fallback>
              </mc:AlternateContent>
              <p:cxnSp>
                <p:nvCxnSpPr>
                  <p:cNvPr id="34" name="Gerader Verbinder 33">
                    <a:extLst>
                      <a:ext uri="{FF2B5EF4-FFF2-40B4-BE49-F238E27FC236}">
                        <a16:creationId xmlns:a16="http://schemas.microsoft.com/office/drawing/2014/main" id="{CBC8DF49-AAD9-AE7E-DB67-39A6875E9AF9}"/>
                      </a:ext>
                    </a:extLst>
                  </p:cNvPr>
                  <p:cNvCxnSpPr>
                    <a:cxnSpLocks/>
                  </p:cNvCxnSpPr>
                  <p:nvPr/>
                </p:nvCxnSpPr>
                <p:spPr>
                  <a:xfrm flipV="1">
                    <a:off x="5341380" y="4002975"/>
                    <a:ext cx="0" cy="1466725"/>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35" name="Gerader Verbinder 34">
                    <a:extLst>
                      <a:ext uri="{FF2B5EF4-FFF2-40B4-BE49-F238E27FC236}">
                        <a16:creationId xmlns:a16="http://schemas.microsoft.com/office/drawing/2014/main" id="{811C68AE-E831-102C-E890-C4025012EBEB}"/>
                      </a:ext>
                    </a:extLst>
                  </p:cNvPr>
                  <p:cNvCxnSpPr>
                    <a:cxnSpLocks/>
                  </p:cNvCxnSpPr>
                  <p:nvPr/>
                </p:nvCxnSpPr>
                <p:spPr>
                  <a:xfrm>
                    <a:off x="5341380" y="5469700"/>
                    <a:ext cx="1869354" cy="0"/>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grpSp>
          </p:grpSp>
          <p:cxnSp>
            <p:nvCxnSpPr>
              <p:cNvPr id="26" name="Gerade Verbindung mit Pfeil 25">
                <a:extLst>
                  <a:ext uri="{FF2B5EF4-FFF2-40B4-BE49-F238E27FC236}">
                    <a16:creationId xmlns:a16="http://schemas.microsoft.com/office/drawing/2014/main" id="{27A37A06-5F76-4271-D5CB-E269A2272750}"/>
                  </a:ext>
                </a:extLst>
              </p:cNvPr>
              <p:cNvCxnSpPr>
                <a:cxnSpLocks/>
              </p:cNvCxnSpPr>
              <p:nvPr/>
            </p:nvCxnSpPr>
            <p:spPr>
              <a:xfrm>
                <a:off x="6305895" y="3295938"/>
                <a:ext cx="0" cy="588999"/>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A165F635-68DD-CD86-1ED6-9C52E501D401}"/>
                  </a:ext>
                </a:extLst>
              </p:cNvPr>
              <p:cNvSpPr/>
              <p:nvPr/>
            </p:nvSpPr>
            <p:spPr>
              <a:xfrm>
                <a:off x="4964333" y="3042911"/>
                <a:ext cx="144000" cy="144000"/>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28" name="Ellipse 27">
                <a:extLst>
                  <a:ext uri="{FF2B5EF4-FFF2-40B4-BE49-F238E27FC236}">
                    <a16:creationId xmlns:a16="http://schemas.microsoft.com/office/drawing/2014/main" id="{82482B91-8597-CA80-1F5C-95B0BA2A9F16}"/>
                  </a:ext>
                </a:extLst>
              </p:cNvPr>
              <p:cNvSpPr/>
              <p:nvPr/>
            </p:nvSpPr>
            <p:spPr>
              <a:xfrm>
                <a:off x="6224812" y="3912105"/>
                <a:ext cx="144000" cy="144000"/>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E8B78084-8109-D325-ECE5-4F4DBC4FFB3A}"/>
                    </a:ext>
                  </a:extLst>
                </p:cNvPr>
                <p:cNvSpPr txBox="1"/>
                <p:nvPr/>
              </p:nvSpPr>
              <p:spPr>
                <a:xfrm>
                  <a:off x="5202926" y="3978436"/>
                  <a:ext cx="11496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b="0" i="1" noProof="0" smtClean="0">
                                <a:solidFill>
                                  <a:schemeClr val="tx1"/>
                                </a:solidFill>
                                <a:latin typeface="Cambria Math" panose="02040503050406030204" pitchFamily="18" charset="0"/>
                                <a:cs typeface="+mn-cs"/>
                              </a:rPr>
                            </m:ctrlPr>
                          </m:sSubPr>
                          <m:e>
                            <m:r>
                              <a:rPr lang="en-AU" b="0" i="1" noProof="0" smtClean="0">
                                <a:solidFill>
                                  <a:schemeClr val="tx1"/>
                                </a:solidFill>
                                <a:latin typeface="Cambria Math" panose="02040503050406030204" pitchFamily="18" charset="0"/>
                                <a:cs typeface="+mn-cs"/>
                              </a:rPr>
                              <m:t>𝑆</m:t>
                            </m:r>
                          </m:e>
                          <m:sub>
                            <m:r>
                              <a:rPr lang="en-AU" b="0" i="1" noProof="0" smtClean="0">
                                <a:solidFill>
                                  <a:schemeClr val="tx1"/>
                                </a:solidFill>
                                <a:latin typeface="Cambria Math" panose="02040503050406030204" pitchFamily="18" charset="0"/>
                                <a:cs typeface="+mn-cs"/>
                              </a:rPr>
                              <m:t>𝑑</m:t>
                            </m:r>
                          </m:sub>
                        </m:sSub>
                        <m:r>
                          <a:rPr lang="en-AU" b="0" i="1" noProof="0" smtClean="0">
                            <a:solidFill>
                              <a:schemeClr val="tx1"/>
                            </a:solidFill>
                            <a:latin typeface="Cambria Math" panose="02040503050406030204" pitchFamily="18" charset="0"/>
                            <a:cs typeface="+mn-cs"/>
                          </a:rPr>
                          <m:t>(</m:t>
                        </m:r>
                        <m:sSub>
                          <m:sSubPr>
                            <m:ctrlPr>
                              <a:rPr lang="en-AU" b="0" i="1" noProof="0" smtClean="0">
                                <a:solidFill>
                                  <a:schemeClr val="tx1"/>
                                </a:solidFill>
                                <a:latin typeface="Cambria Math" panose="02040503050406030204" pitchFamily="18" charset="0"/>
                                <a:cs typeface="+mn-cs"/>
                              </a:rPr>
                            </m:ctrlPr>
                          </m:sSubPr>
                          <m:e>
                            <m:r>
                              <a:rPr lang="en-AU" b="0" i="1" noProof="0" smtClean="0">
                                <a:solidFill>
                                  <a:schemeClr val="tx1"/>
                                </a:solidFill>
                                <a:latin typeface="Cambria Math" panose="02040503050406030204" pitchFamily="18" charset="0"/>
                                <a:cs typeface="+mn-cs"/>
                              </a:rPr>
                              <m:t>𝑇</m:t>
                            </m:r>
                          </m:e>
                          <m:sub>
                            <m:r>
                              <a:rPr lang="en-AU" b="0" i="1" noProof="0" smtClean="0">
                                <a:solidFill>
                                  <a:schemeClr val="tx1"/>
                                </a:solidFill>
                                <a:latin typeface="Cambria Math" panose="02040503050406030204" pitchFamily="18" charset="0"/>
                                <a:cs typeface="+mn-cs"/>
                              </a:rPr>
                              <m:t>1</m:t>
                            </m:r>
                          </m:sub>
                        </m:sSub>
                        <m:r>
                          <a:rPr lang="en-AU" b="0" i="1" noProof="0" smtClean="0">
                            <a:solidFill>
                              <a:schemeClr val="tx1"/>
                            </a:solidFill>
                            <a:latin typeface="Cambria Math" panose="02040503050406030204" pitchFamily="18" charset="0"/>
                            <a:cs typeface="+mn-cs"/>
                          </a:rPr>
                          <m:t>)</m:t>
                        </m:r>
                      </m:oMath>
                    </m:oMathPara>
                  </a14:m>
                  <a:endParaRPr lang="en-AU" noProof="0" dirty="0">
                    <a:solidFill>
                      <a:schemeClr val="tx1"/>
                    </a:solidFill>
                    <a:latin typeface="Futura LT Pro Light" panose="020B0402020204020303" pitchFamily="34" charset="0"/>
                    <a:cs typeface="+mn-cs"/>
                  </a:endParaRPr>
                </a:p>
              </p:txBody>
            </p:sp>
          </mc:Choice>
          <mc:Fallback xmlns="">
            <p:sp>
              <p:nvSpPr>
                <p:cNvPr id="23" name="Textfeld 22">
                  <a:extLst>
                    <a:ext uri="{FF2B5EF4-FFF2-40B4-BE49-F238E27FC236}">
                      <a16:creationId xmlns:a16="http://schemas.microsoft.com/office/drawing/2014/main" id="{E8B78084-8109-D325-ECE5-4F4DBC4FFB3A}"/>
                    </a:ext>
                  </a:extLst>
                </p:cNvPr>
                <p:cNvSpPr txBox="1">
                  <a:spLocks noRot="1" noChangeAspect="1" noMove="1" noResize="1" noEditPoints="1" noAdjustHandles="1" noChangeArrowheads="1" noChangeShapeType="1" noTextEdit="1"/>
                </p:cNvSpPr>
                <p:nvPr/>
              </p:nvSpPr>
              <p:spPr>
                <a:xfrm>
                  <a:off x="5202926" y="3978436"/>
                  <a:ext cx="1149650" cy="369332"/>
                </a:xfrm>
                <a:prstGeom prst="rect">
                  <a:avLst/>
                </a:prstGeom>
                <a:blipFill>
                  <a:blip r:embed="rId7"/>
                  <a:stretch>
                    <a:fillRect b="-14754"/>
                  </a:stretch>
                </a:blipFill>
              </p:spPr>
              <p:txBody>
                <a:bodyPr/>
                <a:lstStyle/>
                <a:p>
                  <a:r>
                    <a:rPr lang="de-DE">
                      <a:noFill/>
                    </a:rPr>
                    <a:t> </a:t>
                  </a:r>
                </a:p>
              </p:txBody>
            </p:sp>
          </mc:Fallback>
        </mc:AlternateContent>
      </p:grpSp>
      <p:grpSp>
        <p:nvGrpSpPr>
          <p:cNvPr id="44" name="Gruppieren 43">
            <a:extLst>
              <a:ext uri="{FF2B5EF4-FFF2-40B4-BE49-F238E27FC236}">
                <a16:creationId xmlns:a16="http://schemas.microsoft.com/office/drawing/2014/main" id="{56E70DEA-CBAC-7E74-1B6E-D4DBAF26178E}"/>
              </a:ext>
            </a:extLst>
          </p:cNvPr>
          <p:cNvGrpSpPr/>
          <p:nvPr/>
        </p:nvGrpSpPr>
        <p:grpSpPr>
          <a:xfrm>
            <a:off x="301115" y="1497975"/>
            <a:ext cx="3436034" cy="2855703"/>
            <a:chOff x="4921170" y="3743072"/>
            <a:chExt cx="2409309" cy="2002388"/>
          </a:xfrm>
        </p:grpSpPr>
        <mc:AlternateContent xmlns:mc="http://schemas.openxmlformats.org/markup-compatibility/2006" xmlns:a14="http://schemas.microsoft.com/office/drawing/2010/main">
          <mc:Choice Requires="a14">
            <p:sp>
              <p:nvSpPr>
                <p:cNvPr id="49" name="Textfeld 48">
                  <a:extLst>
                    <a:ext uri="{FF2B5EF4-FFF2-40B4-BE49-F238E27FC236}">
                      <a16:creationId xmlns:a16="http://schemas.microsoft.com/office/drawing/2014/main" id="{4B87826E-A946-C0D3-8928-D258A4FD5121}"/>
                    </a:ext>
                  </a:extLst>
                </p:cNvPr>
                <p:cNvSpPr txBox="1"/>
                <p:nvPr/>
              </p:nvSpPr>
              <p:spPr>
                <a:xfrm>
                  <a:off x="4921170" y="3743072"/>
                  <a:ext cx="840420" cy="258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chemeClr val="tx1"/>
                            </a:solidFill>
                            <a:latin typeface="Cambria Math" panose="02040503050406030204" pitchFamily="18" charset="0"/>
                            <a:cs typeface="+mn-cs"/>
                          </a:rPr>
                          <m:t>𝐻</m:t>
                        </m:r>
                        <m:r>
                          <a:rPr lang="en-AU" b="0" i="1" noProof="0" smtClean="0">
                            <a:solidFill>
                              <a:schemeClr val="tx1"/>
                            </a:solidFill>
                            <a:latin typeface="Cambria Math" panose="02040503050406030204" pitchFamily="18" charset="0"/>
                            <a:cs typeface="+mn-cs"/>
                          </a:rPr>
                          <m:t>(</m:t>
                        </m:r>
                        <m:r>
                          <a:rPr lang="en-AU" b="0" i="1" noProof="0" smtClean="0">
                            <a:solidFill>
                              <a:schemeClr val="tx1"/>
                            </a:solidFill>
                            <a:latin typeface="Cambria Math" panose="02040503050406030204" pitchFamily="18" charset="0"/>
                            <a:cs typeface="+mn-cs"/>
                          </a:rPr>
                          <m:t>𝑖𝑚</m:t>
                        </m:r>
                        <m:r>
                          <a:rPr lang="en-AU" b="0" i="1" noProof="0" smtClean="0">
                            <a:solidFill>
                              <a:schemeClr val="tx1"/>
                            </a:solidFill>
                            <a:latin typeface="Cambria Math" panose="02040503050406030204" pitchFamily="18" charset="0"/>
                            <a:cs typeface="+mn-cs"/>
                          </a:rPr>
                          <m:t>)</m:t>
                        </m:r>
                      </m:oMath>
                    </m:oMathPara>
                  </a14:m>
                  <a:endParaRPr lang="en-AU" noProof="0" dirty="0">
                    <a:solidFill>
                      <a:schemeClr val="tx1"/>
                    </a:solidFill>
                    <a:latin typeface="Futura LT Pro Light" panose="020B0402020204020303" pitchFamily="34" charset="0"/>
                    <a:cs typeface="+mn-cs"/>
                  </a:endParaRPr>
                </a:p>
              </p:txBody>
            </p:sp>
          </mc:Choice>
          <mc:Fallback xmlns="">
            <p:sp>
              <p:nvSpPr>
                <p:cNvPr id="49" name="Textfeld 48">
                  <a:extLst>
                    <a:ext uri="{FF2B5EF4-FFF2-40B4-BE49-F238E27FC236}">
                      <a16:creationId xmlns:a16="http://schemas.microsoft.com/office/drawing/2014/main" id="{4B87826E-A946-C0D3-8928-D258A4FD5121}"/>
                    </a:ext>
                  </a:extLst>
                </p:cNvPr>
                <p:cNvSpPr txBox="1">
                  <a:spLocks noRot="1" noChangeAspect="1" noMove="1" noResize="1" noEditPoints="1" noAdjustHandles="1" noChangeArrowheads="1" noChangeShapeType="1" noTextEdit="1"/>
                </p:cNvSpPr>
                <p:nvPr/>
              </p:nvSpPr>
              <p:spPr>
                <a:xfrm>
                  <a:off x="4921170" y="3743072"/>
                  <a:ext cx="840420" cy="258972"/>
                </a:xfrm>
                <a:prstGeom prst="rect">
                  <a:avLst/>
                </a:prstGeom>
                <a:blipFill>
                  <a:blip r:embed="rId8"/>
                  <a:stretch>
                    <a:fillRect b="-1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50" name="Textfeld 49">
                  <a:extLst>
                    <a:ext uri="{FF2B5EF4-FFF2-40B4-BE49-F238E27FC236}">
                      <a16:creationId xmlns:a16="http://schemas.microsoft.com/office/drawing/2014/main" id="{31259DA3-E5D1-A86A-50A8-8B94EC2C7387}"/>
                    </a:ext>
                  </a:extLst>
                </p:cNvPr>
                <p:cNvSpPr txBox="1"/>
                <p:nvPr/>
              </p:nvSpPr>
              <p:spPr>
                <a:xfrm>
                  <a:off x="6635293" y="5486488"/>
                  <a:ext cx="695186" cy="258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chemeClr val="tx1"/>
                            </a:solidFill>
                            <a:latin typeface="Cambria Math" panose="02040503050406030204" pitchFamily="18" charset="0"/>
                            <a:cs typeface="+mn-cs"/>
                          </a:rPr>
                          <m:t>𝐼𝑀</m:t>
                        </m:r>
                      </m:oMath>
                    </m:oMathPara>
                  </a14:m>
                  <a:endParaRPr lang="en-AU" noProof="0" dirty="0">
                    <a:solidFill>
                      <a:schemeClr val="tx1"/>
                    </a:solidFill>
                    <a:latin typeface="Futura LT Pro Light" panose="020B0402020204020303" pitchFamily="34" charset="0"/>
                    <a:cs typeface="+mn-cs"/>
                  </a:endParaRPr>
                </a:p>
              </p:txBody>
            </p:sp>
          </mc:Choice>
          <mc:Fallback xmlns="">
            <p:sp>
              <p:nvSpPr>
                <p:cNvPr id="50" name="Textfeld 49">
                  <a:extLst>
                    <a:ext uri="{FF2B5EF4-FFF2-40B4-BE49-F238E27FC236}">
                      <a16:creationId xmlns:a16="http://schemas.microsoft.com/office/drawing/2014/main" id="{31259DA3-E5D1-A86A-50A8-8B94EC2C7387}"/>
                    </a:ext>
                  </a:extLst>
                </p:cNvPr>
                <p:cNvSpPr txBox="1">
                  <a:spLocks noRot="1" noChangeAspect="1" noMove="1" noResize="1" noEditPoints="1" noAdjustHandles="1" noChangeArrowheads="1" noChangeShapeType="1" noTextEdit="1"/>
                </p:cNvSpPr>
                <p:nvPr/>
              </p:nvSpPr>
              <p:spPr>
                <a:xfrm>
                  <a:off x="6635293" y="5486488"/>
                  <a:ext cx="695186" cy="258972"/>
                </a:xfrm>
                <a:prstGeom prst="rect">
                  <a:avLst/>
                </a:prstGeom>
                <a:blipFill>
                  <a:blip r:embed="rId9"/>
                  <a:stretch>
                    <a:fillRect/>
                  </a:stretch>
                </a:blipFill>
              </p:spPr>
              <p:txBody>
                <a:bodyPr/>
                <a:lstStyle/>
                <a:p>
                  <a:r>
                    <a:rPr lang="de-DE">
                      <a:noFill/>
                    </a:rPr>
                    <a:t> </a:t>
                  </a:r>
                </a:p>
              </p:txBody>
            </p:sp>
          </mc:Fallback>
        </mc:AlternateContent>
        <p:cxnSp>
          <p:nvCxnSpPr>
            <p:cNvPr id="51" name="Gerader Verbinder 50">
              <a:extLst>
                <a:ext uri="{FF2B5EF4-FFF2-40B4-BE49-F238E27FC236}">
                  <a16:creationId xmlns:a16="http://schemas.microsoft.com/office/drawing/2014/main" id="{1E2089BF-AE6D-6858-CB7B-07F2A9C2304C}"/>
                </a:ext>
              </a:extLst>
            </p:cNvPr>
            <p:cNvCxnSpPr>
              <a:cxnSpLocks/>
            </p:cNvCxnSpPr>
            <p:nvPr/>
          </p:nvCxnSpPr>
          <p:spPr>
            <a:xfrm flipV="1">
              <a:off x="5341380" y="4002975"/>
              <a:ext cx="0" cy="1466725"/>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52" name="Gerader Verbinder 51">
              <a:extLst>
                <a:ext uri="{FF2B5EF4-FFF2-40B4-BE49-F238E27FC236}">
                  <a16:creationId xmlns:a16="http://schemas.microsoft.com/office/drawing/2014/main" id="{261E8C31-C63F-A0D5-3964-5A4091E53F68}"/>
                </a:ext>
              </a:extLst>
            </p:cNvPr>
            <p:cNvCxnSpPr>
              <a:cxnSpLocks/>
            </p:cNvCxnSpPr>
            <p:nvPr/>
          </p:nvCxnSpPr>
          <p:spPr>
            <a:xfrm>
              <a:off x="5341380" y="5469700"/>
              <a:ext cx="1869354" cy="0"/>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3" name="Freihandform: Form 52">
              <a:extLst>
                <a:ext uri="{FF2B5EF4-FFF2-40B4-BE49-F238E27FC236}">
                  <a16:creationId xmlns:a16="http://schemas.microsoft.com/office/drawing/2014/main" id="{474A602C-707E-B7AB-18A8-23A6754CAC0D}"/>
                </a:ext>
              </a:extLst>
            </p:cNvPr>
            <p:cNvSpPr/>
            <p:nvPr/>
          </p:nvSpPr>
          <p:spPr>
            <a:xfrm>
              <a:off x="5504246" y="4325269"/>
              <a:ext cx="1364343" cy="1045028"/>
            </a:xfrm>
            <a:custGeom>
              <a:avLst/>
              <a:gdLst>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Lst>
              <a:ahLst/>
              <a:cxnLst>
                <a:cxn ang="0">
                  <a:pos x="connsiteX0" y="connsiteY0"/>
                </a:cxn>
                <a:cxn ang="0">
                  <a:pos x="connsiteX1" y="connsiteY1"/>
                </a:cxn>
              </a:cxnLst>
              <a:rect l="l" t="t" r="r" b="b"/>
              <a:pathLst>
                <a:path w="1364343" h="1045028">
                  <a:moveTo>
                    <a:pt x="0" y="0"/>
                  </a:moveTo>
                  <a:cubicBezTo>
                    <a:pt x="846667" y="261258"/>
                    <a:pt x="953105" y="362856"/>
                    <a:pt x="1364343" y="1045028"/>
                  </a:cubicBezTo>
                </a:path>
              </a:pathLst>
            </a:cu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2"/>
                </a:solidFill>
              </a:endParaRPr>
            </a:p>
          </p:txBody>
        </p:sp>
      </p:grpSp>
      <p:grpSp>
        <p:nvGrpSpPr>
          <p:cNvPr id="45" name="Gruppieren 44">
            <a:extLst>
              <a:ext uri="{FF2B5EF4-FFF2-40B4-BE49-F238E27FC236}">
                <a16:creationId xmlns:a16="http://schemas.microsoft.com/office/drawing/2014/main" id="{3EE7970E-020F-1A0C-020D-38D8456BE690}"/>
              </a:ext>
            </a:extLst>
          </p:cNvPr>
          <p:cNvGrpSpPr/>
          <p:nvPr/>
        </p:nvGrpSpPr>
        <p:grpSpPr>
          <a:xfrm>
            <a:off x="602622" y="2834307"/>
            <a:ext cx="2397545" cy="1233404"/>
            <a:chOff x="2469649" y="3534915"/>
            <a:chExt cx="1712309" cy="880888"/>
          </a:xfrm>
        </p:grpSpPr>
        <p:cxnSp>
          <p:nvCxnSpPr>
            <p:cNvPr id="46" name="Gerader Verbinder 45">
              <a:extLst>
                <a:ext uri="{FF2B5EF4-FFF2-40B4-BE49-F238E27FC236}">
                  <a16:creationId xmlns:a16="http://schemas.microsoft.com/office/drawing/2014/main" id="{6002B4E3-4A5E-CA4E-1027-D296D43533F1}"/>
                </a:ext>
              </a:extLst>
            </p:cNvPr>
            <p:cNvCxnSpPr>
              <a:cxnSpLocks/>
            </p:cNvCxnSpPr>
            <p:nvPr/>
          </p:nvCxnSpPr>
          <p:spPr>
            <a:xfrm>
              <a:off x="2469649" y="3736249"/>
              <a:ext cx="1712309" cy="0"/>
            </a:xfrm>
            <a:prstGeom prst="line">
              <a:avLst/>
            </a:prstGeom>
            <a:solidFill>
              <a:schemeClr val="accent4"/>
            </a:solidFill>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D35FBB66-E293-19A8-FC0E-9D9F2E5AF0B7}"/>
                </a:ext>
              </a:extLst>
            </p:cNvPr>
            <p:cNvCxnSpPr>
              <a:cxnSpLocks/>
            </p:cNvCxnSpPr>
            <p:nvPr/>
          </p:nvCxnSpPr>
          <p:spPr>
            <a:xfrm>
              <a:off x="3915260" y="3534915"/>
              <a:ext cx="0" cy="880888"/>
            </a:xfrm>
            <a:prstGeom prst="line">
              <a:avLst/>
            </a:prstGeom>
            <a:solidFill>
              <a:schemeClr val="accent4"/>
            </a:solidFill>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Ellipse 47">
              <a:extLst>
                <a:ext uri="{FF2B5EF4-FFF2-40B4-BE49-F238E27FC236}">
                  <a16:creationId xmlns:a16="http://schemas.microsoft.com/office/drawing/2014/main" id="{D34A1868-2A36-0071-FE7F-108191311299}"/>
                </a:ext>
              </a:extLst>
            </p:cNvPr>
            <p:cNvSpPr/>
            <p:nvPr/>
          </p:nvSpPr>
          <p:spPr>
            <a:xfrm>
              <a:off x="3863838" y="3685423"/>
              <a:ext cx="102844" cy="10284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sp>
        <p:nvSpPr>
          <p:cNvPr id="42" name="Textfeld 41">
            <a:extLst>
              <a:ext uri="{FF2B5EF4-FFF2-40B4-BE49-F238E27FC236}">
                <a16:creationId xmlns:a16="http://schemas.microsoft.com/office/drawing/2014/main" id="{C0CBE2BB-48F2-B4E3-C6AF-8DDE54F89EB5}"/>
              </a:ext>
            </a:extLst>
          </p:cNvPr>
          <p:cNvSpPr txBox="1"/>
          <p:nvPr/>
        </p:nvSpPr>
        <p:spPr>
          <a:xfrm>
            <a:off x="869698" y="1046518"/>
            <a:ext cx="2638571" cy="369332"/>
          </a:xfrm>
          <a:prstGeom prst="rect">
            <a:avLst/>
          </a:prstGeom>
          <a:noFill/>
        </p:spPr>
        <p:txBody>
          <a:bodyPr wrap="square" rtlCol="0">
            <a:spAutoFit/>
          </a:bodyPr>
          <a:lstStyle/>
          <a:p>
            <a:r>
              <a:rPr lang="en-AU" b="1" u="sng" noProof="0" dirty="0">
                <a:latin typeface="Futura LT Pro Light" panose="020B0402020204020303" pitchFamily="34" charset="0"/>
                <a:cs typeface="+mn-cs"/>
              </a:rPr>
              <a:t>Single Return Period</a:t>
            </a:r>
          </a:p>
        </p:txBody>
      </p:sp>
      <p:sp>
        <p:nvSpPr>
          <p:cNvPr id="56" name="steep hazard curve">
            <a:extLst>
              <a:ext uri="{FF2B5EF4-FFF2-40B4-BE49-F238E27FC236}">
                <a16:creationId xmlns:a16="http://schemas.microsoft.com/office/drawing/2014/main" id="{797F85C8-3E20-3FF1-E85F-CC8E9BC65CEF}"/>
              </a:ext>
            </a:extLst>
          </p:cNvPr>
          <p:cNvSpPr/>
          <p:nvPr/>
        </p:nvSpPr>
        <p:spPr>
          <a:xfrm rot="1012430">
            <a:off x="1144196" y="2105453"/>
            <a:ext cx="1945757" cy="1490365"/>
          </a:xfrm>
          <a:custGeom>
            <a:avLst/>
            <a:gdLst>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Lst>
            <a:ahLst/>
            <a:cxnLst>
              <a:cxn ang="0">
                <a:pos x="connsiteX0" y="connsiteY0"/>
              </a:cxn>
              <a:cxn ang="0">
                <a:pos x="connsiteX1" y="connsiteY1"/>
              </a:cxn>
            </a:cxnLst>
            <a:rect l="l" t="t" r="r" b="b"/>
            <a:pathLst>
              <a:path w="1364343" h="1045028">
                <a:moveTo>
                  <a:pt x="0" y="0"/>
                </a:moveTo>
                <a:cubicBezTo>
                  <a:pt x="846667" y="261258"/>
                  <a:pt x="953105" y="362856"/>
                  <a:pt x="1364343" y="1045028"/>
                </a:cubicBezTo>
              </a:path>
            </a:pathLst>
          </a:custGeom>
          <a:noFill/>
          <a:ln w="285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pSp>
        <p:nvGrpSpPr>
          <p:cNvPr id="57" name="shallow hazard curve">
            <a:extLst>
              <a:ext uri="{FF2B5EF4-FFF2-40B4-BE49-F238E27FC236}">
                <a16:creationId xmlns:a16="http://schemas.microsoft.com/office/drawing/2014/main" id="{12233352-AFFA-8E95-3D98-E1F40BA8CDDA}"/>
              </a:ext>
            </a:extLst>
          </p:cNvPr>
          <p:cNvGrpSpPr/>
          <p:nvPr/>
        </p:nvGrpSpPr>
        <p:grpSpPr>
          <a:xfrm>
            <a:off x="1174927" y="2466542"/>
            <a:ext cx="1945757" cy="1490365"/>
            <a:chOff x="1300804" y="2710956"/>
            <a:chExt cx="1945757" cy="1490365"/>
          </a:xfrm>
        </p:grpSpPr>
        <p:sp>
          <p:nvSpPr>
            <p:cNvPr id="58" name="shallow slope colour">
              <a:extLst>
                <a:ext uri="{FF2B5EF4-FFF2-40B4-BE49-F238E27FC236}">
                  <a16:creationId xmlns:a16="http://schemas.microsoft.com/office/drawing/2014/main" id="{3F32F6E4-BD8F-5D56-FF57-C38C05D40BEE}"/>
                </a:ext>
              </a:extLst>
            </p:cNvPr>
            <p:cNvSpPr/>
            <p:nvPr/>
          </p:nvSpPr>
          <p:spPr>
            <a:xfrm rot="20827313">
              <a:off x="1300804" y="2710956"/>
              <a:ext cx="1945757" cy="1490365"/>
            </a:xfrm>
            <a:custGeom>
              <a:avLst/>
              <a:gdLst>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Lst>
              <a:ahLst/>
              <a:cxnLst>
                <a:cxn ang="0">
                  <a:pos x="connsiteX0" y="connsiteY0"/>
                </a:cxn>
                <a:cxn ang="0">
                  <a:pos x="connsiteX1" y="connsiteY1"/>
                </a:cxn>
              </a:cxnLst>
              <a:rect l="l" t="t" r="r" b="b"/>
              <a:pathLst>
                <a:path w="1364343" h="1045028">
                  <a:moveTo>
                    <a:pt x="0" y="0"/>
                  </a:moveTo>
                  <a:cubicBezTo>
                    <a:pt x="846667" y="261258"/>
                    <a:pt x="953105" y="362856"/>
                    <a:pt x="1364343" y="1045028"/>
                  </a:cubicBezTo>
                </a:path>
              </a:pathLst>
            </a:custGeom>
            <a:noFill/>
            <a:ln w="285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59" name="shallow slope white">
              <a:extLst>
                <a:ext uri="{FF2B5EF4-FFF2-40B4-BE49-F238E27FC236}">
                  <a16:creationId xmlns:a16="http://schemas.microsoft.com/office/drawing/2014/main" id="{75AEB087-BFD5-0C99-C926-B15E41EC2A4E}"/>
                </a:ext>
              </a:extLst>
            </p:cNvPr>
            <p:cNvSpPr/>
            <p:nvPr/>
          </p:nvSpPr>
          <p:spPr>
            <a:xfrm rot="20827313">
              <a:off x="1300804" y="2710956"/>
              <a:ext cx="1945757" cy="1490365"/>
            </a:xfrm>
            <a:custGeom>
              <a:avLst/>
              <a:gdLst>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Lst>
              <a:ahLst/>
              <a:cxnLst>
                <a:cxn ang="0">
                  <a:pos x="connsiteX0" y="connsiteY0"/>
                </a:cxn>
                <a:cxn ang="0">
                  <a:pos x="connsiteX1" y="connsiteY1"/>
                </a:cxn>
              </a:cxnLst>
              <a:rect l="l" t="t" r="r" b="b"/>
              <a:pathLst>
                <a:path w="1364343" h="1045028">
                  <a:moveTo>
                    <a:pt x="0" y="0"/>
                  </a:moveTo>
                  <a:cubicBezTo>
                    <a:pt x="846667" y="261258"/>
                    <a:pt x="953105" y="362856"/>
                    <a:pt x="1364343" y="1045028"/>
                  </a:cubicBezTo>
                </a:path>
              </a:pathLst>
            </a:custGeom>
            <a:noFill/>
            <a:ln w="285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pSp>
    </p:spTree>
    <p:extLst>
      <p:ext uri="{BB962C8B-B14F-4D97-AF65-F5344CB8AC3E}">
        <p14:creationId xmlns:p14="http://schemas.microsoft.com/office/powerpoint/2010/main" val="33418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F72A893-F90D-3698-32DC-A45C3EFD49A9}"/>
              </a:ext>
            </a:extLst>
          </p:cNvPr>
          <p:cNvSpPr>
            <a:spLocks noGrp="1"/>
          </p:cNvSpPr>
          <p:nvPr>
            <p:ph type="title"/>
          </p:nvPr>
        </p:nvSpPr>
        <p:spPr/>
        <p:txBody>
          <a:bodyPr/>
          <a:lstStyle/>
          <a:p>
            <a:r>
              <a:rPr lang="en-AU" noProof="0" dirty="0"/>
              <a:t>Reliability-based Verification: EC8 Annex F</a:t>
            </a:r>
          </a:p>
        </p:txBody>
      </p:sp>
      <mc:AlternateContent xmlns:mc="http://schemas.openxmlformats.org/markup-compatibility/2006" xmlns:a14="http://schemas.microsoft.com/office/drawing/2010/main">
        <mc:Choice Requires="a14">
          <p:sp>
            <p:nvSpPr>
              <p:cNvPr id="4" name="Textfeld 3">
                <a:extLst>
                  <a:ext uri="{FF2B5EF4-FFF2-40B4-BE49-F238E27FC236}">
                    <a16:creationId xmlns:a16="http://schemas.microsoft.com/office/drawing/2014/main" id="{1C40E4CB-239C-E6D3-C440-F79D42314E07}"/>
                  </a:ext>
                </a:extLst>
              </p:cNvPr>
              <p:cNvSpPr txBox="1"/>
              <p:nvPr/>
            </p:nvSpPr>
            <p:spPr>
              <a:xfrm>
                <a:off x="5312966" y="952150"/>
                <a:ext cx="5847446" cy="9140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400" b="0" i="1" noProof="0" smtClean="0">
                              <a:solidFill>
                                <a:srgbClr val="333333"/>
                              </a:solidFill>
                              <a:latin typeface="Cambria Math" panose="02040503050406030204" pitchFamily="18" charset="0"/>
                              <a:cs typeface="+mn-cs"/>
                            </a:rPr>
                          </m:ctrlPr>
                        </m:sSubPr>
                        <m:e>
                          <m:r>
                            <a:rPr lang="en-AU" sz="2400" b="0" i="1" noProof="0" smtClean="0">
                              <a:solidFill>
                                <a:srgbClr val="333333"/>
                              </a:solidFill>
                              <a:latin typeface="Cambria Math" panose="02040503050406030204" pitchFamily="18" charset="0"/>
                              <a:cs typeface="+mn-cs"/>
                            </a:rPr>
                            <m:t>𝜆</m:t>
                          </m:r>
                        </m:e>
                        <m:sub>
                          <m:r>
                            <a:rPr lang="en-AU" sz="2400" b="0" i="1" noProof="0" smtClean="0">
                              <a:solidFill>
                                <a:srgbClr val="333333"/>
                              </a:solidFill>
                              <a:latin typeface="Cambria Math" panose="02040503050406030204" pitchFamily="18" charset="0"/>
                              <a:cs typeface="+mn-cs"/>
                            </a:rPr>
                            <m:t>𝑐</m:t>
                          </m:r>
                        </m:sub>
                      </m:sSub>
                      <m:r>
                        <a:rPr lang="en-AU" sz="2400" b="0" i="1" noProof="0" smtClean="0">
                          <a:solidFill>
                            <a:srgbClr val="333333"/>
                          </a:solidFill>
                          <a:latin typeface="Cambria Math" panose="02040503050406030204" pitchFamily="18" charset="0"/>
                          <a:cs typeface="+mn-cs"/>
                        </a:rPr>
                        <m:t>=</m:t>
                      </m:r>
                      <m:nary>
                        <m:naryPr>
                          <m:ctrlPr>
                            <a:rPr lang="en-AU" sz="2400" b="0" i="1" noProof="0" smtClean="0">
                              <a:solidFill>
                                <a:srgbClr val="333333"/>
                              </a:solidFill>
                              <a:latin typeface="Cambria Math" panose="02040503050406030204" pitchFamily="18" charset="0"/>
                              <a:cs typeface="+mn-cs"/>
                            </a:rPr>
                          </m:ctrlPr>
                        </m:naryPr>
                        <m:sub>
                          <m:r>
                            <m:rPr>
                              <m:brk m:alnAt="23"/>
                            </m:rPr>
                            <a:rPr lang="en-AU" sz="2400" b="0" i="1" noProof="0" smtClean="0">
                              <a:solidFill>
                                <a:srgbClr val="333333"/>
                              </a:solidFill>
                              <a:latin typeface="Cambria Math" panose="02040503050406030204" pitchFamily="18" charset="0"/>
                              <a:cs typeface="+mn-cs"/>
                            </a:rPr>
                            <m:t>0</m:t>
                          </m:r>
                        </m:sub>
                        <m:sup>
                          <m:r>
                            <a:rPr lang="en-AU" sz="2400" b="0" i="1" noProof="0" smtClean="0">
                              <a:solidFill>
                                <a:srgbClr val="333333"/>
                              </a:solidFill>
                              <a:latin typeface="Cambria Math" panose="02040503050406030204" pitchFamily="18" charset="0"/>
                              <a:cs typeface="+mn-cs"/>
                            </a:rPr>
                            <m:t>∞</m:t>
                          </m:r>
                        </m:sup>
                        <m:e>
                          <m:r>
                            <a:rPr lang="en-AU" sz="2400" b="0" i="1" noProof="0" smtClean="0">
                              <a:solidFill>
                                <a:srgbClr val="333333"/>
                              </a:solidFill>
                              <a:latin typeface="Cambria Math" panose="02040503050406030204" pitchFamily="18" charset="0"/>
                              <a:cs typeface="+mn-cs"/>
                            </a:rPr>
                            <m:t>𝑃</m:t>
                          </m:r>
                          <m:d>
                            <m:dPr>
                              <m:begChr m:val="["/>
                              <m:endChr m:val="]"/>
                              <m:ctrlPr>
                                <a:rPr lang="en-AU" sz="2400" b="0" i="1" noProof="0" smtClean="0">
                                  <a:solidFill>
                                    <a:srgbClr val="333333"/>
                                  </a:solidFill>
                                  <a:latin typeface="Cambria Math" panose="02040503050406030204" pitchFamily="18" charset="0"/>
                                  <a:cs typeface="+mn-cs"/>
                                </a:rPr>
                              </m:ctrlPr>
                            </m:dPr>
                            <m:e>
                              <m:r>
                                <a:rPr lang="en-AU" sz="2400" b="0" i="1" noProof="0" smtClean="0">
                                  <a:solidFill>
                                    <a:srgbClr val="333333"/>
                                  </a:solidFill>
                                  <a:latin typeface="Cambria Math" panose="02040503050406030204" pitchFamily="18" charset="0"/>
                                  <a:cs typeface="+mn-cs"/>
                                </a:rPr>
                                <m:t>𝐶</m:t>
                              </m:r>
                            </m:e>
                            <m:e>
                              <m:r>
                                <a:rPr lang="en-AU" sz="2400" b="0" i="1" noProof="0" smtClean="0">
                                  <a:solidFill>
                                    <a:srgbClr val="333333"/>
                                  </a:solidFill>
                                  <a:latin typeface="Cambria Math" panose="02040503050406030204" pitchFamily="18" charset="0"/>
                                  <a:cs typeface="+mn-cs"/>
                                </a:rPr>
                                <m:t>𝐼𝑀</m:t>
                              </m:r>
                              <m:r>
                                <a:rPr lang="en-AU" sz="2400" b="0" i="1" noProof="0" smtClean="0">
                                  <a:solidFill>
                                    <a:srgbClr val="333333"/>
                                  </a:solidFill>
                                  <a:latin typeface="Cambria Math" panose="02040503050406030204" pitchFamily="18" charset="0"/>
                                  <a:cs typeface="+mn-cs"/>
                                </a:rPr>
                                <m:t>&lt;</m:t>
                              </m:r>
                              <m:r>
                                <a:rPr lang="en-AU" sz="2400" b="0" i="1" noProof="0" smtClean="0">
                                  <a:solidFill>
                                    <a:srgbClr val="333333"/>
                                  </a:solidFill>
                                  <a:latin typeface="Cambria Math" panose="02040503050406030204" pitchFamily="18" charset="0"/>
                                  <a:cs typeface="+mn-cs"/>
                                </a:rPr>
                                <m:t>𝑖𝑚</m:t>
                              </m:r>
                            </m:e>
                          </m:d>
                          <m:r>
                            <a:rPr lang="en-AU" sz="2400" b="0" i="1" noProof="0" smtClean="0">
                              <a:solidFill>
                                <a:srgbClr val="333333"/>
                              </a:solidFill>
                              <a:latin typeface="Cambria Math" panose="02040503050406030204" pitchFamily="18" charset="0"/>
                              <a:cs typeface="+mn-cs"/>
                            </a:rPr>
                            <m:t>∙</m:t>
                          </m:r>
                          <m:d>
                            <m:dPr>
                              <m:begChr m:val="|"/>
                              <m:endChr m:val="|"/>
                              <m:ctrlPr>
                                <a:rPr lang="en-AU" sz="2400" b="0" i="1" noProof="0" smtClean="0">
                                  <a:solidFill>
                                    <a:srgbClr val="333333"/>
                                  </a:solidFill>
                                  <a:latin typeface="Cambria Math" panose="02040503050406030204" pitchFamily="18" charset="0"/>
                                  <a:cs typeface="+mn-cs"/>
                                </a:rPr>
                              </m:ctrlPr>
                            </m:dPr>
                            <m:e>
                              <m:f>
                                <m:fPr>
                                  <m:ctrlPr>
                                    <a:rPr lang="en-AU" sz="2400" b="0" i="1" noProof="0" smtClean="0">
                                      <a:solidFill>
                                        <a:srgbClr val="333333"/>
                                      </a:solidFill>
                                      <a:latin typeface="Cambria Math" panose="02040503050406030204" pitchFamily="18" charset="0"/>
                                      <a:cs typeface="+mn-cs"/>
                                    </a:rPr>
                                  </m:ctrlPr>
                                </m:fPr>
                                <m:num>
                                  <m:r>
                                    <a:rPr lang="en-AU" sz="2400" b="0" i="1" noProof="0" smtClean="0">
                                      <a:solidFill>
                                        <a:srgbClr val="333333"/>
                                      </a:solidFill>
                                      <a:latin typeface="Cambria Math" panose="02040503050406030204" pitchFamily="18" charset="0"/>
                                      <a:cs typeface="+mn-cs"/>
                                    </a:rPr>
                                    <m:t>𝑑𝐻</m:t>
                                  </m:r>
                                  <m:d>
                                    <m:dPr>
                                      <m:ctrlPr>
                                        <a:rPr lang="en-AU" sz="2400" b="0" i="1" noProof="0" smtClean="0">
                                          <a:solidFill>
                                            <a:srgbClr val="333333"/>
                                          </a:solidFill>
                                          <a:latin typeface="Cambria Math" panose="02040503050406030204" pitchFamily="18" charset="0"/>
                                          <a:cs typeface="+mn-cs"/>
                                        </a:rPr>
                                      </m:ctrlPr>
                                    </m:dPr>
                                    <m:e>
                                      <m:r>
                                        <a:rPr lang="en-AU" sz="2400" b="0" i="1" noProof="0" smtClean="0">
                                          <a:solidFill>
                                            <a:srgbClr val="333333"/>
                                          </a:solidFill>
                                          <a:latin typeface="Cambria Math" panose="02040503050406030204" pitchFamily="18" charset="0"/>
                                          <a:cs typeface="+mn-cs"/>
                                        </a:rPr>
                                        <m:t>𝑖𝑚</m:t>
                                      </m:r>
                                    </m:e>
                                  </m:d>
                                </m:num>
                                <m:den>
                                  <m:r>
                                    <a:rPr lang="en-AU" sz="2400" b="0" i="1" noProof="0" smtClean="0">
                                      <a:solidFill>
                                        <a:srgbClr val="333333"/>
                                      </a:solidFill>
                                      <a:latin typeface="Cambria Math" panose="02040503050406030204" pitchFamily="18" charset="0"/>
                                      <a:cs typeface="+mn-cs"/>
                                    </a:rPr>
                                    <m:t>𝑑𝑖𝑚</m:t>
                                  </m:r>
                                </m:den>
                              </m:f>
                            </m:e>
                          </m:d>
                          <m:r>
                            <a:rPr lang="en-AU" sz="2400" b="0" i="1" noProof="0" smtClean="0">
                              <a:solidFill>
                                <a:srgbClr val="333333"/>
                              </a:solidFill>
                              <a:latin typeface="Cambria Math" panose="02040503050406030204" pitchFamily="18" charset="0"/>
                              <a:cs typeface="+mn-cs"/>
                            </a:rPr>
                            <m:t>∙</m:t>
                          </m:r>
                          <m:r>
                            <a:rPr lang="en-AU" sz="2400" b="0" i="1" noProof="0" smtClean="0">
                              <a:solidFill>
                                <a:srgbClr val="333333"/>
                              </a:solidFill>
                              <a:latin typeface="Cambria Math" panose="02040503050406030204" pitchFamily="18" charset="0"/>
                              <a:cs typeface="+mn-cs"/>
                            </a:rPr>
                            <m:t>𝑑𝑖𝑚</m:t>
                          </m:r>
                        </m:e>
                      </m:nary>
                    </m:oMath>
                  </m:oMathPara>
                </a14:m>
                <a:endParaRPr lang="en-AU" sz="2400" noProof="0" dirty="0">
                  <a:solidFill>
                    <a:srgbClr val="333333"/>
                  </a:solidFill>
                  <a:latin typeface="Futura LT Pro Light" panose="020B0402020204020303" pitchFamily="34" charset="0"/>
                  <a:cs typeface="+mn-cs"/>
                </a:endParaRPr>
              </a:p>
            </p:txBody>
          </p:sp>
        </mc:Choice>
        <mc:Fallback xmlns="">
          <p:sp>
            <p:nvSpPr>
              <p:cNvPr id="4" name="Textfeld 3">
                <a:extLst>
                  <a:ext uri="{FF2B5EF4-FFF2-40B4-BE49-F238E27FC236}">
                    <a16:creationId xmlns:a16="http://schemas.microsoft.com/office/drawing/2014/main" id="{1C40E4CB-239C-E6D3-C440-F79D42314E07}"/>
                  </a:ext>
                </a:extLst>
              </p:cNvPr>
              <p:cNvSpPr txBox="1">
                <a:spLocks noRot="1" noChangeAspect="1" noMove="1" noResize="1" noEditPoints="1" noAdjustHandles="1" noChangeArrowheads="1" noChangeShapeType="1" noTextEdit="1"/>
              </p:cNvSpPr>
              <p:nvPr/>
            </p:nvSpPr>
            <p:spPr>
              <a:xfrm>
                <a:off x="5312966" y="952150"/>
                <a:ext cx="5847446" cy="914096"/>
              </a:xfrm>
              <a:prstGeom prst="rect">
                <a:avLst/>
              </a:prstGeom>
              <a:blipFill>
                <a:blip r:embed="rId2"/>
                <a:stretch>
                  <a:fillRect/>
                </a:stretch>
              </a:blipFill>
            </p:spPr>
            <p:txBody>
              <a:bodyPr/>
              <a:lstStyle/>
              <a:p>
                <a:r>
                  <a:rPr lang="de-DE">
                    <a:noFill/>
                  </a:rPr>
                  <a:t> </a:t>
                </a:r>
              </a:p>
            </p:txBody>
          </p:sp>
        </mc:Fallback>
      </mc:AlternateContent>
      <p:grpSp>
        <p:nvGrpSpPr>
          <p:cNvPr id="5" name="Gruppieren 4">
            <a:extLst>
              <a:ext uri="{FF2B5EF4-FFF2-40B4-BE49-F238E27FC236}">
                <a16:creationId xmlns:a16="http://schemas.microsoft.com/office/drawing/2014/main" id="{01A8F74A-BAD4-F667-C792-7843679A5D32}"/>
              </a:ext>
            </a:extLst>
          </p:cNvPr>
          <p:cNvGrpSpPr/>
          <p:nvPr/>
        </p:nvGrpSpPr>
        <p:grpSpPr>
          <a:xfrm>
            <a:off x="6569762" y="1731428"/>
            <a:ext cx="2305440" cy="441678"/>
            <a:chOff x="1650135" y="2092405"/>
            <a:chExt cx="1707285" cy="441678"/>
          </a:xfrm>
        </p:grpSpPr>
        <p:sp>
          <p:nvSpPr>
            <p:cNvPr id="6" name="Textfeld 5">
              <a:extLst>
                <a:ext uri="{FF2B5EF4-FFF2-40B4-BE49-F238E27FC236}">
                  <a16:creationId xmlns:a16="http://schemas.microsoft.com/office/drawing/2014/main" id="{C817D7F6-90B2-0D88-6BCD-697B1FDA35D4}"/>
                </a:ext>
              </a:extLst>
            </p:cNvPr>
            <p:cNvSpPr txBox="1"/>
            <p:nvPr/>
          </p:nvSpPr>
          <p:spPr>
            <a:xfrm>
              <a:off x="1650135" y="2164751"/>
              <a:ext cx="1707285" cy="369332"/>
            </a:xfrm>
            <a:prstGeom prst="rect">
              <a:avLst/>
            </a:prstGeom>
            <a:noFill/>
            <a:ln>
              <a:noFill/>
            </a:ln>
          </p:spPr>
          <p:txBody>
            <a:bodyPr wrap="none" rtlCol="0">
              <a:spAutoFit/>
            </a:bodyPr>
            <a:lstStyle/>
            <a:p>
              <a:r>
                <a:rPr lang="en-AU" noProof="0" dirty="0">
                  <a:solidFill>
                    <a:schemeClr val="tx2"/>
                  </a:solidFill>
                  <a:latin typeface="Futura LT Pro Light" panose="020B0402020204020303" pitchFamily="34" charset="0"/>
                  <a:cs typeface="+mn-cs"/>
                </a:rPr>
                <a:t>Capacity / Fragility</a:t>
              </a:r>
            </a:p>
          </p:txBody>
        </p:sp>
        <p:cxnSp>
          <p:nvCxnSpPr>
            <p:cNvPr id="7" name="Gerader Verbinder 6">
              <a:extLst>
                <a:ext uri="{FF2B5EF4-FFF2-40B4-BE49-F238E27FC236}">
                  <a16:creationId xmlns:a16="http://schemas.microsoft.com/office/drawing/2014/main" id="{4AFAF046-6C7C-B7F1-E605-BC16974069C1}"/>
                </a:ext>
              </a:extLst>
            </p:cNvPr>
            <p:cNvCxnSpPr/>
            <p:nvPr/>
          </p:nvCxnSpPr>
          <p:spPr>
            <a:xfrm>
              <a:off x="1898918" y="2092405"/>
              <a:ext cx="1348065"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8" name="Gruppieren 7">
            <a:extLst>
              <a:ext uri="{FF2B5EF4-FFF2-40B4-BE49-F238E27FC236}">
                <a16:creationId xmlns:a16="http://schemas.microsoft.com/office/drawing/2014/main" id="{1E124234-7749-2F6A-2F72-28A5071EE9FE}"/>
              </a:ext>
            </a:extLst>
          </p:cNvPr>
          <p:cNvGrpSpPr/>
          <p:nvPr/>
        </p:nvGrpSpPr>
        <p:grpSpPr>
          <a:xfrm>
            <a:off x="9007599" y="1929647"/>
            <a:ext cx="2305437" cy="410877"/>
            <a:chOff x="3338756" y="2172906"/>
            <a:chExt cx="1423078" cy="410877"/>
          </a:xfrm>
        </p:grpSpPr>
        <p:sp>
          <p:nvSpPr>
            <p:cNvPr id="9" name="Textfeld 8">
              <a:extLst>
                <a:ext uri="{FF2B5EF4-FFF2-40B4-BE49-F238E27FC236}">
                  <a16:creationId xmlns:a16="http://schemas.microsoft.com/office/drawing/2014/main" id="{75AD4FDD-8356-C0AE-E781-A4C4345219D2}"/>
                </a:ext>
              </a:extLst>
            </p:cNvPr>
            <p:cNvSpPr txBox="1"/>
            <p:nvPr/>
          </p:nvSpPr>
          <p:spPr>
            <a:xfrm>
              <a:off x="3338756" y="2214451"/>
              <a:ext cx="1423078" cy="369332"/>
            </a:xfrm>
            <a:prstGeom prst="rect">
              <a:avLst/>
            </a:prstGeom>
            <a:noFill/>
          </p:spPr>
          <p:txBody>
            <a:bodyPr wrap="square" rtlCol="0">
              <a:spAutoFit/>
            </a:bodyPr>
            <a:lstStyle/>
            <a:p>
              <a:r>
                <a:rPr lang="en-AU" noProof="0" dirty="0">
                  <a:solidFill>
                    <a:schemeClr val="accent3"/>
                  </a:solidFill>
                  <a:latin typeface="Futura LT Pro Light" panose="020B0402020204020303" pitchFamily="34" charset="0"/>
                  <a:cs typeface="+mn-cs"/>
                </a:rPr>
                <a:t>Demand / Hazard</a:t>
              </a:r>
            </a:p>
          </p:txBody>
        </p:sp>
        <p:cxnSp>
          <p:nvCxnSpPr>
            <p:cNvPr id="10" name="Gerader Verbinder 9">
              <a:extLst>
                <a:ext uri="{FF2B5EF4-FFF2-40B4-BE49-F238E27FC236}">
                  <a16:creationId xmlns:a16="http://schemas.microsoft.com/office/drawing/2014/main" id="{CDE35F79-0C68-2F2A-9D47-199E53B0C16B}"/>
                </a:ext>
              </a:extLst>
            </p:cNvPr>
            <p:cNvCxnSpPr>
              <a:cxnSpLocks/>
            </p:cNvCxnSpPr>
            <p:nvPr/>
          </p:nvCxnSpPr>
          <p:spPr>
            <a:xfrm flipV="1">
              <a:off x="3399383" y="2172906"/>
              <a:ext cx="1173336" cy="310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1" name="Gruppieren 10">
            <a:extLst>
              <a:ext uri="{FF2B5EF4-FFF2-40B4-BE49-F238E27FC236}">
                <a16:creationId xmlns:a16="http://schemas.microsoft.com/office/drawing/2014/main" id="{1141E1FC-F8C0-66F4-5377-7C09395D40F4}"/>
              </a:ext>
            </a:extLst>
          </p:cNvPr>
          <p:cNvGrpSpPr/>
          <p:nvPr/>
        </p:nvGrpSpPr>
        <p:grpSpPr>
          <a:xfrm>
            <a:off x="1215001" y="1126944"/>
            <a:ext cx="3069686" cy="934719"/>
            <a:chOff x="684287" y="1171987"/>
            <a:chExt cx="3069686" cy="934719"/>
          </a:xfrm>
        </p:grpSpPr>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FCD84B62-A077-86B3-6118-B201AB1F9CFB}"/>
                    </a:ext>
                  </a:extLst>
                </p:cNvPr>
                <p:cNvSpPr txBox="1"/>
                <p:nvPr/>
              </p:nvSpPr>
              <p:spPr>
                <a:xfrm>
                  <a:off x="1259687" y="1171987"/>
                  <a:ext cx="1627020" cy="4778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400" b="0" i="1" noProof="0" smtClean="0">
                                <a:solidFill>
                                  <a:srgbClr val="333333"/>
                                </a:solidFill>
                                <a:latin typeface="Cambria Math" panose="02040503050406030204" pitchFamily="18" charset="0"/>
                                <a:cs typeface="+mn-cs"/>
                              </a:rPr>
                            </m:ctrlPr>
                          </m:sSubPr>
                          <m:e>
                            <m:r>
                              <a:rPr lang="en-AU" sz="2400" b="0" i="1" noProof="0" smtClean="0">
                                <a:solidFill>
                                  <a:srgbClr val="333333"/>
                                </a:solidFill>
                                <a:latin typeface="Cambria Math" panose="02040503050406030204" pitchFamily="18" charset="0"/>
                                <a:cs typeface="+mn-cs"/>
                              </a:rPr>
                              <m:t>𝜆</m:t>
                            </m:r>
                          </m:e>
                          <m:sub>
                            <m:r>
                              <a:rPr lang="en-AU" sz="2400" b="0" i="1" noProof="0" smtClean="0">
                                <a:solidFill>
                                  <a:srgbClr val="333333"/>
                                </a:solidFill>
                                <a:latin typeface="Cambria Math" panose="02040503050406030204" pitchFamily="18" charset="0"/>
                                <a:cs typeface="+mn-cs"/>
                              </a:rPr>
                              <m:t>𝑐</m:t>
                            </m:r>
                          </m:sub>
                        </m:sSub>
                        <m:r>
                          <a:rPr lang="en-AU" sz="2400" b="0" i="1" noProof="0" smtClean="0">
                            <a:solidFill>
                              <a:srgbClr val="333333"/>
                            </a:solidFill>
                            <a:latin typeface="Cambria Math" panose="02040503050406030204" pitchFamily="18" charset="0"/>
                            <a:cs typeface="+mn-cs"/>
                          </a:rPr>
                          <m:t>≤</m:t>
                        </m:r>
                        <m:sSub>
                          <m:sSubPr>
                            <m:ctrlPr>
                              <a:rPr lang="en-AU" sz="2400" b="0" i="1" noProof="0" smtClean="0">
                                <a:solidFill>
                                  <a:srgbClr val="333333"/>
                                </a:solidFill>
                                <a:latin typeface="Cambria Math" panose="02040503050406030204" pitchFamily="18" charset="0"/>
                                <a:cs typeface="+mn-cs"/>
                              </a:rPr>
                            </m:ctrlPr>
                          </m:sSubPr>
                          <m:e>
                            <m:r>
                              <a:rPr lang="en-AU" sz="2400" b="0" i="1" noProof="0" smtClean="0">
                                <a:solidFill>
                                  <a:srgbClr val="333333"/>
                                </a:solidFill>
                                <a:latin typeface="Cambria Math" panose="02040503050406030204" pitchFamily="18" charset="0"/>
                                <a:cs typeface="+mn-cs"/>
                              </a:rPr>
                              <m:t>𝜆</m:t>
                            </m:r>
                          </m:e>
                          <m:sub>
                            <m:r>
                              <a:rPr lang="en-AU" sz="2400" b="0" i="1" noProof="0" smtClean="0">
                                <a:solidFill>
                                  <a:srgbClr val="333333"/>
                                </a:solidFill>
                                <a:latin typeface="Cambria Math" panose="02040503050406030204" pitchFamily="18" charset="0"/>
                                <a:cs typeface="+mn-cs"/>
                              </a:rPr>
                              <m:t>𝑐</m:t>
                            </m:r>
                            <m:r>
                              <a:rPr lang="en-AU" sz="2400" b="0" i="1" noProof="0" smtClean="0">
                                <a:solidFill>
                                  <a:srgbClr val="333333"/>
                                </a:solidFill>
                                <a:latin typeface="Cambria Math" panose="02040503050406030204" pitchFamily="18" charset="0"/>
                                <a:cs typeface="+mn-cs"/>
                              </a:rPr>
                              <m:t>,</m:t>
                            </m:r>
                            <m:r>
                              <a:rPr lang="en-AU" sz="2400" b="0" i="1" noProof="0" smtClean="0">
                                <a:solidFill>
                                  <a:srgbClr val="333333"/>
                                </a:solidFill>
                                <a:latin typeface="Cambria Math" panose="02040503050406030204" pitchFamily="18" charset="0"/>
                                <a:cs typeface="+mn-cs"/>
                              </a:rPr>
                              <m:t>𝑡</m:t>
                            </m:r>
                          </m:sub>
                        </m:sSub>
                      </m:oMath>
                    </m:oMathPara>
                  </a14:m>
                  <a:endParaRPr lang="en-AU" sz="2400" noProof="0" dirty="0">
                    <a:solidFill>
                      <a:srgbClr val="333333"/>
                    </a:solidFill>
                    <a:latin typeface="Futura LT Pro Light" panose="020B0402020204020303" pitchFamily="34" charset="0"/>
                    <a:cs typeface="+mn-cs"/>
                  </a:endParaRPr>
                </a:p>
              </p:txBody>
            </p:sp>
          </mc:Choice>
          <mc:Fallback xmlns="">
            <p:sp>
              <p:nvSpPr>
                <p:cNvPr id="12" name="Textfeld 11">
                  <a:extLst>
                    <a:ext uri="{FF2B5EF4-FFF2-40B4-BE49-F238E27FC236}">
                      <a16:creationId xmlns:a16="http://schemas.microsoft.com/office/drawing/2014/main" id="{FCD84B62-A077-86B3-6118-B201AB1F9CFB}"/>
                    </a:ext>
                  </a:extLst>
                </p:cNvPr>
                <p:cNvSpPr txBox="1">
                  <a:spLocks noRot="1" noChangeAspect="1" noMove="1" noResize="1" noEditPoints="1" noAdjustHandles="1" noChangeArrowheads="1" noChangeShapeType="1" noTextEdit="1"/>
                </p:cNvSpPr>
                <p:nvPr/>
              </p:nvSpPr>
              <p:spPr>
                <a:xfrm>
                  <a:off x="1259687" y="1171987"/>
                  <a:ext cx="1627020" cy="477888"/>
                </a:xfrm>
                <a:prstGeom prst="rect">
                  <a:avLst/>
                </a:prstGeom>
                <a:blipFill>
                  <a:blip r:embed="rId3"/>
                  <a:stretch>
                    <a:fillRect/>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0BDCE72F-9E7B-6EBC-AA7E-C96F2D3E7196}"/>
                </a:ext>
              </a:extLst>
            </p:cNvPr>
            <p:cNvSpPr txBox="1"/>
            <p:nvPr/>
          </p:nvSpPr>
          <p:spPr>
            <a:xfrm>
              <a:off x="684287" y="1737374"/>
              <a:ext cx="3069686" cy="369332"/>
            </a:xfrm>
            <a:prstGeom prst="rect">
              <a:avLst/>
            </a:prstGeom>
            <a:noFill/>
          </p:spPr>
          <p:txBody>
            <a:bodyPr wrap="square" rtlCol="0">
              <a:spAutoFit/>
            </a:bodyPr>
            <a:lstStyle/>
            <a:p>
              <a:r>
                <a:rPr lang="en-AU" noProof="0" dirty="0">
                  <a:solidFill>
                    <a:schemeClr val="tx2"/>
                  </a:solidFill>
                  <a:latin typeface="Futura LT Pro Light" panose="020B0402020204020303" pitchFamily="34" charset="0"/>
                  <a:cs typeface="+mn-cs"/>
                </a:rPr>
                <a:t>Performance Objective</a:t>
              </a:r>
            </a:p>
          </p:txBody>
        </p:sp>
        <p:cxnSp>
          <p:nvCxnSpPr>
            <p:cNvPr id="14" name="Gerader Verbinder 13">
              <a:extLst>
                <a:ext uri="{FF2B5EF4-FFF2-40B4-BE49-F238E27FC236}">
                  <a16:creationId xmlns:a16="http://schemas.microsoft.com/office/drawing/2014/main" id="{1E6AAECB-5AB6-0546-2D0F-C1E22E00A7FA}"/>
                </a:ext>
              </a:extLst>
            </p:cNvPr>
            <p:cNvCxnSpPr>
              <a:cxnSpLocks/>
            </p:cNvCxnSpPr>
            <p:nvPr/>
          </p:nvCxnSpPr>
          <p:spPr>
            <a:xfrm flipV="1">
              <a:off x="1070658" y="1698100"/>
              <a:ext cx="1900846" cy="3101"/>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5" name="Gruppieren 14">
            <a:extLst>
              <a:ext uri="{FF2B5EF4-FFF2-40B4-BE49-F238E27FC236}">
                <a16:creationId xmlns:a16="http://schemas.microsoft.com/office/drawing/2014/main" id="{E0311281-F7BC-2D9C-DC85-65C1B6BBBA3C}"/>
              </a:ext>
            </a:extLst>
          </p:cNvPr>
          <p:cNvGrpSpPr/>
          <p:nvPr/>
        </p:nvGrpSpPr>
        <p:grpSpPr>
          <a:xfrm>
            <a:off x="5101938" y="3060229"/>
            <a:ext cx="2912983" cy="1921425"/>
            <a:chOff x="497837" y="3865815"/>
            <a:chExt cx="2912983" cy="1921425"/>
          </a:xfrm>
        </p:grpSpPr>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4729E54F-58D9-182F-158E-6284324553C4}"/>
                    </a:ext>
                  </a:extLst>
                </p:cNvPr>
                <p:cNvSpPr txBox="1"/>
                <p:nvPr/>
              </p:nvSpPr>
              <p:spPr>
                <a:xfrm>
                  <a:off x="497837" y="3865815"/>
                  <a:ext cx="11496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rgbClr val="333333"/>
                            </a:solidFill>
                            <a:latin typeface="Cambria Math" panose="02040503050406030204" pitchFamily="18" charset="0"/>
                            <a:cs typeface="+mn-cs"/>
                          </a:rPr>
                          <m:t>𝑃</m:t>
                        </m:r>
                        <m:r>
                          <a:rPr lang="en-AU" b="0" i="1" noProof="0" smtClean="0">
                            <a:solidFill>
                              <a:srgbClr val="333333"/>
                            </a:solidFill>
                            <a:latin typeface="Cambria Math" panose="02040503050406030204" pitchFamily="18" charset="0"/>
                            <a:cs typeface="+mn-cs"/>
                          </a:rPr>
                          <m:t>[</m:t>
                        </m:r>
                        <m:r>
                          <a:rPr lang="en-AU" b="0" i="1" noProof="0" smtClean="0">
                            <a:solidFill>
                              <a:srgbClr val="333333"/>
                            </a:solidFill>
                            <a:latin typeface="Cambria Math" panose="02040503050406030204" pitchFamily="18" charset="0"/>
                            <a:cs typeface="+mn-cs"/>
                          </a:rPr>
                          <m:t>𝐶</m:t>
                        </m:r>
                        <m:r>
                          <a:rPr lang="en-AU" b="0" i="1" noProof="0" smtClean="0">
                            <a:solidFill>
                              <a:srgbClr val="333333"/>
                            </a:solidFill>
                            <a:latin typeface="Cambria Math" panose="02040503050406030204" pitchFamily="18" charset="0"/>
                            <a:cs typeface="+mn-cs"/>
                          </a:rPr>
                          <m:t>]</m:t>
                        </m:r>
                      </m:oMath>
                    </m:oMathPara>
                  </a14:m>
                  <a:endParaRPr lang="en-AU" noProof="0" dirty="0">
                    <a:solidFill>
                      <a:srgbClr val="333333"/>
                    </a:solidFill>
                    <a:latin typeface="Futura LT Pro Light" panose="020B0402020204020303" pitchFamily="34" charset="0"/>
                    <a:cs typeface="+mn-cs"/>
                  </a:endParaRPr>
                </a:p>
              </p:txBody>
            </p:sp>
          </mc:Choice>
          <mc:Fallback xmlns="">
            <p:sp>
              <p:nvSpPr>
                <p:cNvPr id="16" name="Textfeld 15">
                  <a:extLst>
                    <a:ext uri="{FF2B5EF4-FFF2-40B4-BE49-F238E27FC236}">
                      <a16:creationId xmlns:a16="http://schemas.microsoft.com/office/drawing/2014/main" id="{4729E54F-58D9-182F-158E-6284324553C4}"/>
                    </a:ext>
                  </a:extLst>
                </p:cNvPr>
                <p:cNvSpPr txBox="1">
                  <a:spLocks noRot="1" noChangeAspect="1" noMove="1" noResize="1" noEditPoints="1" noAdjustHandles="1" noChangeArrowheads="1" noChangeShapeType="1" noTextEdit="1"/>
                </p:cNvSpPr>
                <p:nvPr/>
              </p:nvSpPr>
              <p:spPr>
                <a:xfrm>
                  <a:off x="497837" y="3865815"/>
                  <a:ext cx="1149650" cy="369332"/>
                </a:xfrm>
                <a:prstGeom prst="rect">
                  <a:avLst/>
                </a:prstGeom>
                <a:blipFill>
                  <a:blip r:embed="rId4"/>
                  <a:stretch>
                    <a:fillRect b="-180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CB524D93-7715-FEB0-A1FC-D7CC98C52F18}"/>
                    </a:ext>
                  </a:extLst>
                </p:cNvPr>
                <p:cNvSpPr txBox="1"/>
                <p:nvPr/>
              </p:nvSpPr>
              <p:spPr>
                <a:xfrm>
                  <a:off x="2715634" y="5417908"/>
                  <a:ext cx="69518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rgbClr val="333333"/>
                            </a:solidFill>
                            <a:latin typeface="Cambria Math" panose="02040503050406030204" pitchFamily="18" charset="0"/>
                            <a:cs typeface="+mn-cs"/>
                          </a:rPr>
                          <m:t>𝐼𝑀</m:t>
                        </m:r>
                      </m:oMath>
                    </m:oMathPara>
                  </a14:m>
                  <a:endParaRPr lang="en-AU" noProof="0" dirty="0">
                    <a:solidFill>
                      <a:srgbClr val="333333"/>
                    </a:solidFill>
                    <a:latin typeface="Futura LT Pro Light" panose="020B0402020204020303" pitchFamily="34" charset="0"/>
                    <a:cs typeface="+mn-cs"/>
                  </a:endParaRPr>
                </a:p>
              </p:txBody>
            </p:sp>
          </mc:Choice>
          <mc:Fallback xmlns="">
            <p:sp>
              <p:nvSpPr>
                <p:cNvPr id="17" name="Textfeld 16">
                  <a:extLst>
                    <a:ext uri="{FF2B5EF4-FFF2-40B4-BE49-F238E27FC236}">
                      <a16:creationId xmlns:a16="http://schemas.microsoft.com/office/drawing/2014/main" id="{CB524D93-7715-FEB0-A1FC-D7CC98C52F18}"/>
                    </a:ext>
                  </a:extLst>
                </p:cNvPr>
                <p:cNvSpPr txBox="1">
                  <a:spLocks noRot="1" noChangeAspect="1" noMove="1" noResize="1" noEditPoints="1" noAdjustHandles="1" noChangeArrowheads="1" noChangeShapeType="1" noTextEdit="1"/>
                </p:cNvSpPr>
                <p:nvPr/>
              </p:nvSpPr>
              <p:spPr>
                <a:xfrm>
                  <a:off x="2715634" y="5417908"/>
                  <a:ext cx="695186" cy="369332"/>
                </a:xfrm>
                <a:prstGeom prst="rect">
                  <a:avLst/>
                </a:prstGeom>
                <a:blipFill>
                  <a:blip r:embed="rId5"/>
                  <a:stretch>
                    <a:fillRect/>
                  </a:stretch>
                </a:blipFill>
              </p:spPr>
              <p:txBody>
                <a:bodyPr/>
                <a:lstStyle/>
                <a:p>
                  <a:r>
                    <a:rPr lang="de-DE">
                      <a:noFill/>
                    </a:rPr>
                    <a:t> </a:t>
                  </a:r>
                </a:p>
              </p:txBody>
            </p:sp>
          </mc:Fallback>
        </mc:AlternateContent>
        <p:grpSp>
          <p:nvGrpSpPr>
            <p:cNvPr id="18" name="Gruppieren 17">
              <a:extLst>
                <a:ext uri="{FF2B5EF4-FFF2-40B4-BE49-F238E27FC236}">
                  <a16:creationId xmlns:a16="http://schemas.microsoft.com/office/drawing/2014/main" id="{BE785A22-B51B-8B94-57EC-885BF5EBF18C}"/>
                </a:ext>
              </a:extLst>
            </p:cNvPr>
            <p:cNvGrpSpPr/>
            <p:nvPr/>
          </p:nvGrpSpPr>
          <p:grpSpPr>
            <a:xfrm>
              <a:off x="1421721" y="3934395"/>
              <a:ext cx="1869354" cy="1466725"/>
              <a:chOff x="896160" y="4145410"/>
              <a:chExt cx="1869354" cy="1466725"/>
            </a:xfrm>
          </p:grpSpPr>
          <p:cxnSp>
            <p:nvCxnSpPr>
              <p:cNvPr id="20" name="Gerader Verbinder 19">
                <a:extLst>
                  <a:ext uri="{FF2B5EF4-FFF2-40B4-BE49-F238E27FC236}">
                    <a16:creationId xmlns:a16="http://schemas.microsoft.com/office/drawing/2014/main" id="{2A18958E-CBDC-EA4D-2A08-B3FE2685A5DD}"/>
                  </a:ext>
                </a:extLst>
              </p:cNvPr>
              <p:cNvCxnSpPr>
                <a:cxnSpLocks/>
              </p:cNvCxnSpPr>
              <p:nvPr/>
            </p:nvCxnSpPr>
            <p:spPr>
              <a:xfrm flipV="1">
                <a:off x="896160" y="4145410"/>
                <a:ext cx="0" cy="1466725"/>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1" name="Freihandform: Form 20">
                <a:extLst>
                  <a:ext uri="{FF2B5EF4-FFF2-40B4-BE49-F238E27FC236}">
                    <a16:creationId xmlns:a16="http://schemas.microsoft.com/office/drawing/2014/main" id="{D0C753DD-6EB3-9488-6AD4-E4A2A9FDF5D1}"/>
                  </a:ext>
                </a:extLst>
              </p:cNvPr>
              <p:cNvSpPr/>
              <p:nvPr/>
            </p:nvSpPr>
            <p:spPr>
              <a:xfrm>
                <a:off x="896785" y="4291950"/>
                <a:ext cx="1868729" cy="1316562"/>
              </a:xfrm>
              <a:custGeom>
                <a:avLst/>
                <a:gdLst>
                  <a:gd name="connsiteX0" fmla="*/ 0 w 2580967"/>
                  <a:gd name="connsiteY0" fmla="*/ 1769806 h 1769806"/>
                  <a:gd name="connsiteX1" fmla="*/ 2580967 w 2580967"/>
                  <a:gd name="connsiteY1" fmla="*/ 0 h 1769806"/>
                  <a:gd name="connsiteX0" fmla="*/ 0 w 2580967"/>
                  <a:gd name="connsiteY0" fmla="*/ 1769806 h 1769806"/>
                  <a:gd name="connsiteX1" fmla="*/ 2580967 w 2580967"/>
                  <a:gd name="connsiteY1" fmla="*/ 0 h 1769806"/>
                  <a:gd name="connsiteX0" fmla="*/ 0 w 2949267"/>
                  <a:gd name="connsiteY0" fmla="*/ 2036506 h 2036506"/>
                  <a:gd name="connsiteX1" fmla="*/ 2949267 w 2949267"/>
                  <a:gd name="connsiteY1" fmla="*/ 0 h 2036506"/>
                  <a:gd name="connsiteX0" fmla="*/ 0 w 2949267"/>
                  <a:gd name="connsiteY0" fmla="*/ 2036506 h 2036506"/>
                  <a:gd name="connsiteX1" fmla="*/ 2949267 w 2949267"/>
                  <a:gd name="connsiteY1" fmla="*/ 0 h 2036506"/>
                  <a:gd name="connsiteX0" fmla="*/ 0 w 2949267"/>
                  <a:gd name="connsiteY0" fmla="*/ 2036506 h 2036506"/>
                  <a:gd name="connsiteX1" fmla="*/ 2949267 w 2949267"/>
                  <a:gd name="connsiteY1" fmla="*/ 0 h 2036506"/>
                  <a:gd name="connsiteX0" fmla="*/ 0 w 2949267"/>
                  <a:gd name="connsiteY0" fmla="*/ 2036506 h 2036506"/>
                  <a:gd name="connsiteX1" fmla="*/ 2949267 w 2949267"/>
                  <a:gd name="connsiteY1" fmla="*/ 0 h 2036506"/>
                  <a:gd name="connsiteX0" fmla="*/ 0 w 3330267"/>
                  <a:gd name="connsiteY0" fmla="*/ 2366706 h 2366706"/>
                  <a:gd name="connsiteX1" fmla="*/ 3330267 w 3330267"/>
                  <a:gd name="connsiteY1" fmla="*/ 0 h 2366706"/>
                  <a:gd name="connsiteX0" fmla="*/ 0 w 3330267"/>
                  <a:gd name="connsiteY0" fmla="*/ 2366706 h 2366706"/>
                  <a:gd name="connsiteX1" fmla="*/ 3330267 w 3330267"/>
                  <a:gd name="connsiteY1" fmla="*/ 0 h 2366706"/>
                  <a:gd name="connsiteX0" fmla="*/ 0 w 3325505"/>
                  <a:gd name="connsiteY0" fmla="*/ 2342894 h 2342894"/>
                  <a:gd name="connsiteX1" fmla="*/ 3325505 w 3325505"/>
                  <a:gd name="connsiteY1" fmla="*/ 0 h 2342894"/>
                  <a:gd name="connsiteX0" fmla="*/ 0 w 3325505"/>
                  <a:gd name="connsiteY0" fmla="*/ 2342894 h 2342894"/>
                  <a:gd name="connsiteX1" fmla="*/ 3325505 w 3325505"/>
                  <a:gd name="connsiteY1" fmla="*/ 0 h 2342894"/>
                </a:gdLst>
                <a:ahLst/>
                <a:cxnLst>
                  <a:cxn ang="0">
                    <a:pos x="connsiteX0" y="connsiteY0"/>
                  </a:cxn>
                  <a:cxn ang="0">
                    <a:pos x="connsiteX1" y="connsiteY1"/>
                  </a:cxn>
                </a:cxnLst>
                <a:rect l="l" t="t" r="r" b="b"/>
                <a:pathLst>
                  <a:path w="3325505" h="2342894">
                    <a:moveTo>
                      <a:pt x="0" y="2342894"/>
                    </a:moveTo>
                    <a:cubicBezTo>
                      <a:pt x="2152547" y="2340334"/>
                      <a:pt x="915783" y="31135"/>
                      <a:pt x="3325505" y="0"/>
                    </a:cubicBezTo>
                  </a:path>
                </a:pathLst>
              </a:custGeom>
              <a:ln w="28575">
                <a:solidFill>
                  <a:schemeClr val="tx2"/>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AU" noProof="0" dirty="0"/>
              </a:p>
            </p:txBody>
          </p:sp>
          <p:cxnSp>
            <p:nvCxnSpPr>
              <p:cNvPr id="22" name="Gerader Verbinder 21">
                <a:extLst>
                  <a:ext uri="{FF2B5EF4-FFF2-40B4-BE49-F238E27FC236}">
                    <a16:creationId xmlns:a16="http://schemas.microsoft.com/office/drawing/2014/main" id="{AE7448F2-2164-DAAE-7C52-DA9AB4F08DFC}"/>
                  </a:ext>
                </a:extLst>
              </p:cNvPr>
              <p:cNvCxnSpPr>
                <a:cxnSpLocks/>
              </p:cNvCxnSpPr>
              <p:nvPr/>
            </p:nvCxnSpPr>
            <p:spPr>
              <a:xfrm>
                <a:off x="896160" y="5612135"/>
                <a:ext cx="1869354" cy="0"/>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9" name="Textfeld 18">
                  <a:extLst>
                    <a:ext uri="{FF2B5EF4-FFF2-40B4-BE49-F238E27FC236}">
                      <a16:creationId xmlns:a16="http://schemas.microsoft.com/office/drawing/2014/main" id="{D5F54117-274C-3C30-8ACF-20CB2FBAF458}"/>
                    </a:ext>
                  </a:extLst>
                </p:cNvPr>
                <p:cNvSpPr txBox="1"/>
                <p:nvPr/>
              </p:nvSpPr>
              <p:spPr>
                <a:xfrm>
                  <a:off x="1450887" y="3948704"/>
                  <a:ext cx="69518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rgbClr val="333333"/>
                            </a:solidFill>
                            <a:latin typeface="Cambria Math" panose="02040503050406030204" pitchFamily="18" charset="0"/>
                            <a:cs typeface="+mn-cs"/>
                          </a:rPr>
                          <m:t>𝑓</m:t>
                        </m:r>
                        <m:r>
                          <a:rPr lang="en-AU" b="0" i="1" noProof="0" smtClean="0">
                            <a:solidFill>
                              <a:srgbClr val="333333"/>
                            </a:solidFill>
                            <a:latin typeface="Cambria Math" panose="02040503050406030204" pitchFamily="18" charset="0"/>
                            <a:cs typeface="+mn-cs"/>
                          </a:rPr>
                          <m:t>(</m:t>
                        </m:r>
                        <m:sSub>
                          <m:sSubPr>
                            <m:ctrlPr>
                              <a:rPr lang="en-AU" b="0" i="1" noProof="0" smtClean="0">
                                <a:solidFill>
                                  <a:srgbClr val="333333"/>
                                </a:solidFill>
                                <a:latin typeface="Cambria Math" panose="02040503050406030204" pitchFamily="18" charset="0"/>
                                <a:cs typeface="+mn-cs"/>
                              </a:rPr>
                            </m:ctrlPr>
                          </m:sSubPr>
                          <m:e>
                            <m:r>
                              <a:rPr lang="en-AU" b="0" i="1" noProof="0" smtClean="0">
                                <a:solidFill>
                                  <a:srgbClr val="333333"/>
                                </a:solidFill>
                                <a:latin typeface="Cambria Math" panose="02040503050406030204" pitchFamily="18" charset="0"/>
                                <a:cs typeface="+mn-cs"/>
                              </a:rPr>
                              <m:t>𝜃</m:t>
                            </m:r>
                          </m:e>
                          <m:sub>
                            <m:r>
                              <a:rPr lang="en-AU" b="0" i="1" noProof="0" smtClean="0">
                                <a:solidFill>
                                  <a:srgbClr val="333333"/>
                                </a:solidFill>
                                <a:latin typeface="Cambria Math" panose="02040503050406030204" pitchFamily="18" charset="0"/>
                                <a:cs typeface="+mn-cs"/>
                              </a:rPr>
                              <m:t>𝑐</m:t>
                            </m:r>
                          </m:sub>
                        </m:sSub>
                        <m:r>
                          <a:rPr lang="en-AU" b="0" i="1" noProof="0" smtClean="0">
                            <a:solidFill>
                              <a:srgbClr val="333333"/>
                            </a:solidFill>
                            <a:latin typeface="Cambria Math" panose="02040503050406030204" pitchFamily="18" charset="0"/>
                            <a:cs typeface="+mn-cs"/>
                          </a:rPr>
                          <m:t>,</m:t>
                        </m:r>
                        <m:sSub>
                          <m:sSubPr>
                            <m:ctrlPr>
                              <a:rPr lang="en-AU" b="0" i="1" noProof="0" smtClean="0">
                                <a:solidFill>
                                  <a:srgbClr val="333333"/>
                                </a:solidFill>
                                <a:latin typeface="Cambria Math" panose="02040503050406030204" pitchFamily="18" charset="0"/>
                                <a:cs typeface="+mn-cs"/>
                              </a:rPr>
                            </m:ctrlPr>
                          </m:sSubPr>
                          <m:e>
                            <m:r>
                              <a:rPr lang="en-AU" b="0" i="1" noProof="0" smtClean="0">
                                <a:solidFill>
                                  <a:srgbClr val="333333"/>
                                </a:solidFill>
                                <a:latin typeface="Cambria Math" panose="02040503050406030204" pitchFamily="18" charset="0"/>
                                <a:cs typeface="+mn-cs"/>
                              </a:rPr>
                              <m:t>𝛽</m:t>
                            </m:r>
                          </m:e>
                          <m:sub>
                            <m:r>
                              <a:rPr lang="en-AU" b="0" i="1" noProof="0" smtClean="0">
                                <a:solidFill>
                                  <a:srgbClr val="333333"/>
                                </a:solidFill>
                                <a:latin typeface="Cambria Math" panose="02040503050406030204" pitchFamily="18" charset="0"/>
                                <a:cs typeface="+mn-cs"/>
                              </a:rPr>
                              <m:t>𝑐</m:t>
                            </m:r>
                          </m:sub>
                        </m:sSub>
                        <m:r>
                          <a:rPr lang="en-AU" b="0" i="1" noProof="0" smtClean="0">
                            <a:solidFill>
                              <a:srgbClr val="333333"/>
                            </a:solidFill>
                            <a:latin typeface="Cambria Math" panose="02040503050406030204" pitchFamily="18" charset="0"/>
                            <a:cs typeface="+mn-cs"/>
                          </a:rPr>
                          <m:t>)</m:t>
                        </m:r>
                      </m:oMath>
                    </m:oMathPara>
                  </a14:m>
                  <a:endParaRPr lang="en-AU" noProof="0" dirty="0">
                    <a:solidFill>
                      <a:srgbClr val="333333"/>
                    </a:solidFill>
                    <a:latin typeface="Futura LT Pro Light" panose="020B0402020204020303" pitchFamily="34" charset="0"/>
                    <a:cs typeface="+mn-cs"/>
                  </a:endParaRPr>
                </a:p>
              </p:txBody>
            </p:sp>
          </mc:Choice>
          <mc:Fallback xmlns="">
            <p:sp>
              <p:nvSpPr>
                <p:cNvPr id="19" name="Textfeld 18">
                  <a:extLst>
                    <a:ext uri="{FF2B5EF4-FFF2-40B4-BE49-F238E27FC236}">
                      <a16:creationId xmlns:a16="http://schemas.microsoft.com/office/drawing/2014/main" id="{D5F54117-274C-3C30-8ACF-20CB2FBAF458}"/>
                    </a:ext>
                  </a:extLst>
                </p:cNvPr>
                <p:cNvSpPr txBox="1">
                  <a:spLocks noRot="1" noChangeAspect="1" noMove="1" noResize="1" noEditPoints="1" noAdjustHandles="1" noChangeArrowheads="1" noChangeShapeType="1" noTextEdit="1"/>
                </p:cNvSpPr>
                <p:nvPr/>
              </p:nvSpPr>
              <p:spPr>
                <a:xfrm>
                  <a:off x="1450887" y="3948704"/>
                  <a:ext cx="695186" cy="369332"/>
                </a:xfrm>
                <a:prstGeom prst="rect">
                  <a:avLst/>
                </a:prstGeom>
                <a:blipFill>
                  <a:blip r:embed="rId6"/>
                  <a:stretch>
                    <a:fillRect l="-2632" r="-51754" b="-16667"/>
                  </a:stretch>
                </a:blipFill>
              </p:spPr>
              <p:txBody>
                <a:bodyPr/>
                <a:lstStyle/>
                <a:p>
                  <a:r>
                    <a:rPr lang="de-DE">
                      <a:noFill/>
                    </a:rPr>
                    <a:t> </a:t>
                  </a:r>
                </a:p>
              </p:txBody>
            </p:sp>
          </mc:Fallback>
        </mc:AlternateContent>
      </p:gr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6DE8ACDE-06E7-6316-0D3E-B824B08697DE}"/>
                  </a:ext>
                </a:extLst>
              </p:cNvPr>
              <p:cNvSpPr txBox="1"/>
              <p:nvPr/>
            </p:nvSpPr>
            <p:spPr>
              <a:xfrm>
                <a:off x="4620060" y="5387720"/>
                <a:ext cx="4897058" cy="5263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400" i="1" noProof="0" smtClean="0">
                              <a:solidFill>
                                <a:srgbClr val="333333"/>
                              </a:solidFill>
                              <a:latin typeface="Cambria Math" panose="02040503050406030204" pitchFamily="18" charset="0"/>
                              <a:cs typeface="+mn-cs"/>
                            </a:rPr>
                          </m:ctrlPr>
                        </m:sSubPr>
                        <m:e>
                          <m:r>
                            <a:rPr lang="en-AU" sz="2400" noProof="0" smtClean="0">
                              <a:solidFill>
                                <a:srgbClr val="333333"/>
                              </a:solidFill>
                              <a:latin typeface="Cambria Math" panose="02040503050406030204" pitchFamily="18" charset="0"/>
                              <a:cs typeface="+mn-cs"/>
                            </a:rPr>
                            <m:t>𝜆</m:t>
                          </m:r>
                        </m:e>
                        <m:sub>
                          <m:r>
                            <m:rPr>
                              <m:sty m:val="p"/>
                            </m:rPr>
                            <a:rPr lang="en-AU" sz="2400" b="0" i="0" noProof="0" smtClean="0">
                              <a:solidFill>
                                <a:srgbClr val="333333"/>
                              </a:solidFill>
                              <a:latin typeface="Cambria Math" panose="02040503050406030204" pitchFamily="18" charset="0"/>
                              <a:cs typeface="+mn-cs"/>
                            </a:rPr>
                            <m:t>c</m:t>
                          </m:r>
                        </m:sub>
                      </m:sSub>
                      <m:r>
                        <a:rPr lang="en-AU" sz="2400" noProof="0" smtClean="0">
                          <a:solidFill>
                            <a:srgbClr val="333333"/>
                          </a:solidFill>
                          <a:latin typeface="Cambria Math" panose="02040503050406030204" pitchFamily="18" charset="0"/>
                          <a:cs typeface="+mn-cs"/>
                        </a:rPr>
                        <m:t>=</m:t>
                      </m:r>
                      <m:sSub>
                        <m:sSubPr>
                          <m:ctrlPr>
                            <a:rPr lang="en-AU" sz="2400" b="0" i="1" noProof="0" smtClean="0">
                              <a:solidFill>
                                <a:srgbClr val="333333"/>
                              </a:solidFill>
                              <a:latin typeface="Cambria Math" panose="02040503050406030204" pitchFamily="18" charset="0"/>
                              <a:cs typeface="+mn-cs"/>
                            </a:rPr>
                          </m:ctrlPr>
                        </m:sSubPr>
                        <m:e>
                          <m:r>
                            <a:rPr lang="en-AU" sz="2400" i="1" noProof="0" smtClean="0">
                              <a:solidFill>
                                <a:srgbClr val="333333"/>
                              </a:solidFill>
                              <a:latin typeface="Cambria Math" panose="02040503050406030204" pitchFamily="18" charset="0"/>
                              <a:cs typeface="+mn-cs"/>
                            </a:rPr>
                            <m:t>𝑘</m:t>
                          </m:r>
                        </m:e>
                        <m:sub>
                          <m:r>
                            <a:rPr lang="en-AU" sz="2400" b="0" i="1" noProof="0" smtClean="0">
                              <a:solidFill>
                                <a:srgbClr val="333333"/>
                              </a:solidFill>
                              <a:latin typeface="Cambria Math" panose="02040503050406030204" pitchFamily="18" charset="0"/>
                              <a:cs typeface="+mn-cs"/>
                            </a:rPr>
                            <m:t>0</m:t>
                          </m:r>
                        </m:sub>
                      </m:sSub>
                      <m:r>
                        <a:rPr lang="en-AU" sz="2400" b="0" i="1" noProof="0" smtClean="0">
                          <a:solidFill>
                            <a:srgbClr val="333333"/>
                          </a:solidFill>
                          <a:latin typeface="Cambria Math" panose="02040503050406030204" pitchFamily="18" charset="0"/>
                          <a:cs typeface="+mn-cs"/>
                        </a:rPr>
                        <m:t>∙</m:t>
                      </m:r>
                      <m:sSubSup>
                        <m:sSubSupPr>
                          <m:ctrlPr>
                            <a:rPr lang="en-AU" sz="2400" b="0" i="1" noProof="0" smtClean="0">
                              <a:solidFill>
                                <a:srgbClr val="333333"/>
                              </a:solidFill>
                              <a:latin typeface="Cambria Math" panose="02040503050406030204" pitchFamily="18" charset="0"/>
                              <a:cs typeface="+mn-cs"/>
                            </a:rPr>
                          </m:ctrlPr>
                        </m:sSubSupPr>
                        <m:e>
                          <m:r>
                            <a:rPr lang="en-AU" sz="2400" b="0" i="1" noProof="0" smtClean="0">
                              <a:solidFill>
                                <a:srgbClr val="333333"/>
                              </a:solidFill>
                              <a:latin typeface="Cambria Math" panose="02040503050406030204" pitchFamily="18" charset="0"/>
                              <a:cs typeface="+mn-cs"/>
                            </a:rPr>
                            <m:t>𝜃</m:t>
                          </m:r>
                        </m:e>
                        <m:sub>
                          <m:r>
                            <a:rPr lang="en-AU" sz="2400" b="0" i="1" noProof="0" smtClean="0">
                              <a:solidFill>
                                <a:srgbClr val="333333"/>
                              </a:solidFill>
                              <a:latin typeface="Cambria Math" panose="02040503050406030204" pitchFamily="18" charset="0"/>
                              <a:cs typeface="+mn-cs"/>
                            </a:rPr>
                            <m:t>𝑐</m:t>
                          </m:r>
                        </m:sub>
                        <m:sup>
                          <m:r>
                            <a:rPr lang="en-AU" sz="2400" b="0" i="1" noProof="0" smtClean="0">
                              <a:solidFill>
                                <a:srgbClr val="333333"/>
                              </a:solidFill>
                              <a:latin typeface="Cambria Math" panose="02040503050406030204" pitchFamily="18" charset="0"/>
                              <a:cs typeface="+mn-cs"/>
                            </a:rPr>
                            <m:t>−</m:t>
                          </m:r>
                          <m:sSub>
                            <m:sSubPr>
                              <m:ctrlPr>
                                <a:rPr lang="en-AU" sz="2400" b="0" i="1" noProof="0" smtClean="0">
                                  <a:solidFill>
                                    <a:srgbClr val="333333"/>
                                  </a:solidFill>
                                  <a:latin typeface="Cambria Math" panose="02040503050406030204" pitchFamily="18" charset="0"/>
                                  <a:cs typeface="+mn-cs"/>
                                </a:rPr>
                              </m:ctrlPr>
                            </m:sSubPr>
                            <m:e>
                              <m:r>
                                <a:rPr lang="en-AU" sz="2400" b="0" i="1" noProof="0" smtClean="0">
                                  <a:solidFill>
                                    <a:srgbClr val="333333"/>
                                  </a:solidFill>
                                  <a:latin typeface="Cambria Math" panose="02040503050406030204" pitchFamily="18" charset="0"/>
                                  <a:cs typeface="+mn-cs"/>
                                </a:rPr>
                                <m:t>𝑘</m:t>
                              </m:r>
                            </m:e>
                            <m:sub>
                              <m:r>
                                <a:rPr lang="en-AU" sz="2400" b="0" i="0" noProof="0" smtClean="0">
                                  <a:solidFill>
                                    <a:srgbClr val="333333"/>
                                  </a:solidFill>
                                  <a:latin typeface="Cambria Math" panose="02040503050406030204" pitchFamily="18" charset="0"/>
                                  <a:cs typeface="+mn-cs"/>
                                </a:rPr>
                                <m:t>1</m:t>
                              </m:r>
                            </m:sub>
                          </m:sSub>
                        </m:sup>
                      </m:sSubSup>
                      <m:r>
                        <a:rPr lang="en-AU" sz="2400" noProof="0" smtClean="0">
                          <a:solidFill>
                            <a:srgbClr val="333333"/>
                          </a:solidFill>
                          <a:latin typeface="Cambria Math" panose="02040503050406030204" pitchFamily="18" charset="0"/>
                          <a:cs typeface="+mn-cs"/>
                        </a:rPr>
                        <m:t>∙</m:t>
                      </m:r>
                      <m:func>
                        <m:funcPr>
                          <m:ctrlPr>
                            <a:rPr lang="en-AU" sz="2400" b="0" i="1" noProof="0" smtClean="0">
                              <a:solidFill>
                                <a:srgbClr val="333333"/>
                              </a:solidFill>
                              <a:latin typeface="Cambria Math" panose="02040503050406030204" pitchFamily="18" charset="0"/>
                              <a:cs typeface="+mn-cs"/>
                            </a:rPr>
                          </m:ctrlPr>
                        </m:funcPr>
                        <m:fName>
                          <m:r>
                            <m:rPr>
                              <m:sty m:val="p"/>
                            </m:rPr>
                            <a:rPr lang="en-AU" sz="2400" b="0" i="0" noProof="0" smtClean="0">
                              <a:solidFill>
                                <a:srgbClr val="333333"/>
                              </a:solidFill>
                              <a:latin typeface="Cambria Math" panose="02040503050406030204" pitchFamily="18" charset="0"/>
                              <a:cs typeface="+mn-cs"/>
                            </a:rPr>
                            <m:t>exp</m:t>
                          </m:r>
                        </m:fName>
                        <m:e>
                          <m:d>
                            <m:dPr>
                              <m:begChr m:val="["/>
                              <m:endChr m:val="]"/>
                              <m:ctrlPr>
                                <a:rPr lang="en-AU" sz="2400" b="0" i="1" noProof="0" smtClean="0">
                                  <a:solidFill>
                                    <a:srgbClr val="333333"/>
                                  </a:solidFill>
                                  <a:latin typeface="Cambria Math" panose="02040503050406030204" pitchFamily="18" charset="0"/>
                                  <a:cs typeface="+mn-cs"/>
                                </a:rPr>
                              </m:ctrlPr>
                            </m:dPr>
                            <m:e>
                              <m:r>
                                <a:rPr lang="en-AU" sz="2400" noProof="0" smtClean="0">
                                  <a:solidFill>
                                    <a:srgbClr val="333333"/>
                                  </a:solidFill>
                                  <a:latin typeface="Cambria Math" panose="02040503050406030204" pitchFamily="18" charset="0"/>
                                </a:rPr>
                                <m:t>0,5∙</m:t>
                              </m:r>
                              <m:sSubSup>
                                <m:sSubSupPr>
                                  <m:ctrlPr>
                                    <a:rPr lang="en-AU" sz="2400" i="1" noProof="0" smtClean="0">
                                      <a:solidFill>
                                        <a:srgbClr val="333333"/>
                                      </a:solidFill>
                                      <a:latin typeface="Cambria Math" panose="02040503050406030204" pitchFamily="18" charset="0"/>
                                    </a:rPr>
                                  </m:ctrlPr>
                                </m:sSubSupPr>
                                <m:e>
                                  <m:r>
                                    <a:rPr lang="en-AU" sz="2400" noProof="0" smtClean="0">
                                      <a:solidFill>
                                        <a:srgbClr val="333333"/>
                                      </a:solidFill>
                                      <a:latin typeface="Cambria Math" panose="02040503050406030204" pitchFamily="18" charset="0"/>
                                    </a:rPr>
                                    <m:t>𝑘</m:t>
                                  </m:r>
                                </m:e>
                                <m:sub>
                                  <m:r>
                                    <a:rPr lang="en-AU" sz="2400" noProof="0" smtClean="0">
                                      <a:solidFill>
                                        <a:srgbClr val="333333"/>
                                      </a:solidFill>
                                      <a:latin typeface="Cambria Math" panose="02040503050406030204" pitchFamily="18" charset="0"/>
                                    </a:rPr>
                                    <m:t>1</m:t>
                                  </m:r>
                                </m:sub>
                                <m:sup>
                                  <m:r>
                                    <a:rPr lang="en-AU" sz="2400" noProof="0" smtClean="0">
                                      <a:solidFill>
                                        <a:srgbClr val="333333"/>
                                      </a:solidFill>
                                      <a:latin typeface="Cambria Math" panose="02040503050406030204" pitchFamily="18" charset="0"/>
                                    </a:rPr>
                                    <m:t>2</m:t>
                                  </m:r>
                                </m:sup>
                              </m:sSubSup>
                              <m:r>
                                <a:rPr lang="en-AU" sz="2400" noProof="0" smtClean="0">
                                  <a:solidFill>
                                    <a:srgbClr val="333333"/>
                                  </a:solidFill>
                                  <a:latin typeface="Cambria Math" panose="02040503050406030204" pitchFamily="18" charset="0"/>
                                </a:rPr>
                                <m:t>∙</m:t>
                              </m:r>
                              <m:sSubSup>
                                <m:sSubSupPr>
                                  <m:ctrlPr>
                                    <a:rPr lang="en-AU" sz="2400" i="1" noProof="0" smtClean="0">
                                      <a:solidFill>
                                        <a:srgbClr val="333333"/>
                                      </a:solidFill>
                                      <a:latin typeface="Cambria Math" panose="02040503050406030204" pitchFamily="18" charset="0"/>
                                    </a:rPr>
                                  </m:ctrlPr>
                                </m:sSubSupPr>
                                <m:e>
                                  <m:r>
                                    <a:rPr lang="en-AU" sz="2400" noProof="0" smtClean="0">
                                      <a:solidFill>
                                        <a:srgbClr val="333333"/>
                                      </a:solidFill>
                                      <a:latin typeface="Cambria Math" panose="02040503050406030204" pitchFamily="18" charset="0"/>
                                    </a:rPr>
                                    <m:t>𝛽</m:t>
                                  </m:r>
                                </m:e>
                                <m:sub>
                                  <m:r>
                                    <m:rPr>
                                      <m:sty m:val="p"/>
                                    </m:rPr>
                                    <a:rPr lang="en-AU" sz="2400" b="0" i="0" noProof="0" smtClean="0">
                                      <a:solidFill>
                                        <a:srgbClr val="333333"/>
                                      </a:solidFill>
                                      <a:latin typeface="Cambria Math" panose="02040503050406030204" pitchFamily="18" charset="0"/>
                                    </a:rPr>
                                    <m:t>c</m:t>
                                  </m:r>
                                </m:sub>
                                <m:sup>
                                  <m:r>
                                    <a:rPr lang="en-AU" sz="2400" noProof="0" smtClean="0">
                                      <a:solidFill>
                                        <a:srgbClr val="333333"/>
                                      </a:solidFill>
                                      <a:latin typeface="Cambria Math" panose="02040503050406030204" pitchFamily="18" charset="0"/>
                                    </a:rPr>
                                    <m:t>2</m:t>
                                  </m:r>
                                </m:sup>
                              </m:sSubSup>
                            </m:e>
                          </m:d>
                        </m:e>
                      </m:func>
                    </m:oMath>
                  </m:oMathPara>
                </a14:m>
                <a:endParaRPr lang="en-AU" sz="2400" noProof="0" dirty="0">
                  <a:solidFill>
                    <a:srgbClr val="333333"/>
                  </a:solidFill>
                  <a:latin typeface="+mn-lt"/>
                  <a:cs typeface="+mn-cs"/>
                </a:endParaRPr>
              </a:p>
            </p:txBody>
          </p:sp>
        </mc:Choice>
        <mc:Fallback xmlns="">
          <p:sp>
            <p:nvSpPr>
              <p:cNvPr id="23" name="Textfeld 22">
                <a:extLst>
                  <a:ext uri="{FF2B5EF4-FFF2-40B4-BE49-F238E27FC236}">
                    <a16:creationId xmlns:a16="http://schemas.microsoft.com/office/drawing/2014/main" id="{6DE8ACDE-06E7-6316-0D3E-B824B08697DE}"/>
                  </a:ext>
                </a:extLst>
              </p:cNvPr>
              <p:cNvSpPr txBox="1">
                <a:spLocks noRot="1" noChangeAspect="1" noMove="1" noResize="1" noEditPoints="1" noAdjustHandles="1" noChangeArrowheads="1" noChangeShapeType="1" noTextEdit="1"/>
              </p:cNvSpPr>
              <p:nvPr/>
            </p:nvSpPr>
            <p:spPr>
              <a:xfrm>
                <a:off x="4620060" y="5387720"/>
                <a:ext cx="4897058" cy="526363"/>
              </a:xfrm>
              <a:prstGeom prst="rect">
                <a:avLst/>
              </a:prstGeom>
              <a:blipFill>
                <a:blip r:embed="rId7"/>
                <a:stretch>
                  <a:fillRect/>
                </a:stretch>
              </a:blipFill>
            </p:spPr>
            <p:txBody>
              <a:bodyPr/>
              <a:lstStyle/>
              <a:p>
                <a:r>
                  <a:rPr lang="de-DE">
                    <a:noFill/>
                  </a:rPr>
                  <a:t> </a:t>
                </a:r>
              </a:p>
            </p:txBody>
          </p:sp>
        </mc:Fallback>
      </mc:AlternateContent>
      <p:sp>
        <p:nvSpPr>
          <p:cNvPr id="24" name="Textfeld 23">
            <a:extLst>
              <a:ext uri="{FF2B5EF4-FFF2-40B4-BE49-F238E27FC236}">
                <a16:creationId xmlns:a16="http://schemas.microsoft.com/office/drawing/2014/main" id="{CC6AECD3-5CB2-8017-7C90-F05F15F4DD3D}"/>
              </a:ext>
            </a:extLst>
          </p:cNvPr>
          <p:cNvSpPr txBox="1"/>
          <p:nvPr/>
        </p:nvSpPr>
        <p:spPr>
          <a:xfrm>
            <a:off x="1992306" y="5530745"/>
            <a:ext cx="2715463" cy="338554"/>
          </a:xfrm>
          <a:prstGeom prst="rect">
            <a:avLst/>
          </a:prstGeom>
          <a:noFill/>
        </p:spPr>
        <p:txBody>
          <a:bodyPr wrap="square" rtlCol="0">
            <a:spAutoFit/>
          </a:bodyPr>
          <a:lstStyle/>
          <a:p>
            <a:r>
              <a:rPr lang="en-AU" sz="1600" noProof="0" dirty="0">
                <a:solidFill>
                  <a:srgbClr val="333333"/>
                </a:solidFill>
                <a:latin typeface="Futura LT Pro Light" panose="020B0402020204020303" pitchFamily="34" charset="0"/>
                <a:cs typeface="+mn-cs"/>
              </a:rPr>
              <a:t>1st Order Approximation:</a:t>
            </a:r>
          </a:p>
        </p:txBody>
      </p:sp>
      <p:sp>
        <p:nvSpPr>
          <p:cNvPr id="25" name="Pfeil: nach unten 24">
            <a:extLst>
              <a:ext uri="{FF2B5EF4-FFF2-40B4-BE49-F238E27FC236}">
                <a16:creationId xmlns:a16="http://schemas.microsoft.com/office/drawing/2014/main" id="{B1B62C30-8586-9102-23F5-DED47FE4C591}"/>
              </a:ext>
            </a:extLst>
          </p:cNvPr>
          <p:cNvSpPr/>
          <p:nvPr/>
        </p:nvSpPr>
        <p:spPr>
          <a:xfrm>
            <a:off x="6999209" y="2410369"/>
            <a:ext cx="208958" cy="450000"/>
          </a:xfrm>
          <a:prstGeom prst="down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26" name="Pfeil: nach unten 25">
            <a:extLst>
              <a:ext uri="{FF2B5EF4-FFF2-40B4-BE49-F238E27FC236}">
                <a16:creationId xmlns:a16="http://schemas.microsoft.com/office/drawing/2014/main" id="{62246972-222E-81A3-C5B7-1E64F8464BA3}"/>
              </a:ext>
            </a:extLst>
          </p:cNvPr>
          <p:cNvSpPr/>
          <p:nvPr/>
        </p:nvSpPr>
        <p:spPr>
          <a:xfrm>
            <a:off x="9752355" y="2464653"/>
            <a:ext cx="208958" cy="450000"/>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nvGrpSpPr>
          <p:cNvPr id="27" name="box 3">
            <a:extLst>
              <a:ext uri="{FF2B5EF4-FFF2-40B4-BE49-F238E27FC236}">
                <a16:creationId xmlns:a16="http://schemas.microsoft.com/office/drawing/2014/main" id="{662EC0DD-092A-EDC8-FED4-069B76296464}"/>
              </a:ext>
            </a:extLst>
          </p:cNvPr>
          <p:cNvGrpSpPr/>
          <p:nvPr/>
        </p:nvGrpSpPr>
        <p:grpSpPr>
          <a:xfrm>
            <a:off x="551061" y="3132237"/>
            <a:ext cx="4466720" cy="1396402"/>
            <a:chOff x="6309668" y="4380903"/>
            <a:chExt cx="5209251" cy="1396402"/>
          </a:xfrm>
        </p:grpSpPr>
        <p:grpSp>
          <p:nvGrpSpPr>
            <p:cNvPr id="28" name="box 3 background">
              <a:extLst>
                <a:ext uri="{FF2B5EF4-FFF2-40B4-BE49-F238E27FC236}">
                  <a16:creationId xmlns:a16="http://schemas.microsoft.com/office/drawing/2014/main" id="{3E4279D4-4261-78C9-397E-CAD131860EA3}"/>
                </a:ext>
              </a:extLst>
            </p:cNvPr>
            <p:cNvGrpSpPr/>
            <p:nvPr/>
          </p:nvGrpSpPr>
          <p:grpSpPr>
            <a:xfrm>
              <a:off x="6309668" y="4380903"/>
              <a:ext cx="5140141" cy="1396402"/>
              <a:chOff x="6151708" y="1264222"/>
              <a:chExt cx="5140141" cy="1396402"/>
            </a:xfrm>
          </p:grpSpPr>
          <p:sp>
            <p:nvSpPr>
              <p:cNvPr id="31" name="box 3 colour">
                <a:extLst>
                  <a:ext uri="{FF2B5EF4-FFF2-40B4-BE49-F238E27FC236}">
                    <a16:creationId xmlns:a16="http://schemas.microsoft.com/office/drawing/2014/main" id="{BAFDE945-E20B-8EE7-606F-FD98DD920A9D}"/>
                  </a:ext>
                </a:extLst>
              </p:cNvPr>
              <p:cNvSpPr/>
              <p:nvPr/>
            </p:nvSpPr>
            <p:spPr>
              <a:xfrm>
                <a:off x="6151708" y="1264222"/>
                <a:ext cx="5136397" cy="13964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32" name="box 3 white">
                <a:extLst>
                  <a:ext uri="{FF2B5EF4-FFF2-40B4-BE49-F238E27FC236}">
                    <a16:creationId xmlns:a16="http://schemas.microsoft.com/office/drawing/2014/main" id="{86B199A3-32D3-33DD-4790-EED078A3C601}"/>
                  </a:ext>
                </a:extLst>
              </p:cNvPr>
              <p:cNvSpPr/>
              <p:nvPr/>
            </p:nvSpPr>
            <p:spPr>
              <a:xfrm>
                <a:off x="6155452" y="1750143"/>
                <a:ext cx="5136397" cy="91048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sp>
          <p:nvSpPr>
            <p:cNvPr id="29" name="Textfeld 28">
              <a:extLst>
                <a:ext uri="{FF2B5EF4-FFF2-40B4-BE49-F238E27FC236}">
                  <a16:creationId xmlns:a16="http://schemas.microsoft.com/office/drawing/2014/main" id="{A2A2808C-1C91-FCF3-1434-AC6D0040D1A8}"/>
                </a:ext>
              </a:extLst>
            </p:cNvPr>
            <p:cNvSpPr txBox="1"/>
            <p:nvPr/>
          </p:nvSpPr>
          <p:spPr>
            <a:xfrm>
              <a:off x="6473546" y="4478151"/>
              <a:ext cx="4752528" cy="369332"/>
            </a:xfrm>
            <a:prstGeom prst="rect">
              <a:avLst/>
            </a:prstGeom>
            <a:solidFill>
              <a:schemeClr val="tx2"/>
            </a:solidFill>
          </p:spPr>
          <p:txBody>
            <a:bodyPr wrap="square" rtlCol="0">
              <a:spAutoFit/>
            </a:bodyPr>
            <a:lstStyle/>
            <a:p>
              <a:r>
                <a:rPr lang="en-AU" b="1" noProof="0" dirty="0">
                  <a:solidFill>
                    <a:schemeClr val="bg1"/>
                  </a:solidFill>
                  <a:latin typeface="Futura LT Pro Light" panose="020B0402020204020303" pitchFamily="34" charset="0"/>
                  <a:cs typeface="+mn-cs"/>
                </a:rPr>
                <a:t>Assumptions:</a:t>
              </a:r>
            </a:p>
          </p:txBody>
        </p:sp>
        <p:sp>
          <p:nvSpPr>
            <p:cNvPr id="30" name="Textfeld 29">
              <a:extLst>
                <a:ext uri="{FF2B5EF4-FFF2-40B4-BE49-F238E27FC236}">
                  <a16:creationId xmlns:a16="http://schemas.microsoft.com/office/drawing/2014/main" id="{FA0E131D-DC50-0682-FFE1-2BD34CB037AD}"/>
                </a:ext>
              </a:extLst>
            </p:cNvPr>
            <p:cNvSpPr txBox="1"/>
            <p:nvPr/>
          </p:nvSpPr>
          <p:spPr>
            <a:xfrm>
              <a:off x="6503351" y="4903400"/>
              <a:ext cx="5015568" cy="800219"/>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AU" noProof="0" dirty="0">
                  <a:solidFill>
                    <a:srgbClr val="333333"/>
                  </a:solidFill>
                  <a:latin typeface="Futura LT Pro Light" panose="020B0402020204020303" pitchFamily="34" charset="0"/>
                  <a:cs typeface="+mn-cs"/>
                </a:rPr>
                <a:t>Log-normal fragility curve</a:t>
              </a:r>
            </a:p>
            <a:p>
              <a:pPr marL="285750" indent="-285750">
                <a:spcAft>
                  <a:spcPts val="1200"/>
                </a:spcAft>
                <a:buFont typeface="Arial" panose="020B0604020202020204" pitchFamily="34" charset="0"/>
                <a:buChar char="•"/>
              </a:pPr>
              <a:r>
                <a:rPr lang="en-AU" noProof="0" dirty="0">
                  <a:solidFill>
                    <a:srgbClr val="333333"/>
                  </a:solidFill>
                  <a:latin typeface="Futura LT Pro Light" panose="020B0402020204020303" pitchFamily="34" charset="0"/>
                  <a:cs typeface="+mn-cs"/>
                </a:rPr>
                <a:t>Log-linear hazard curve</a:t>
              </a:r>
            </a:p>
          </p:txBody>
        </p:sp>
      </p:grpSp>
      <p:sp>
        <p:nvSpPr>
          <p:cNvPr id="33" name="Textfeld 32">
            <a:extLst>
              <a:ext uri="{FF2B5EF4-FFF2-40B4-BE49-F238E27FC236}">
                <a16:creationId xmlns:a16="http://schemas.microsoft.com/office/drawing/2014/main" id="{F21FA1C5-AE94-EF3D-BE6D-C31D9D64F4F0}"/>
              </a:ext>
            </a:extLst>
          </p:cNvPr>
          <p:cNvSpPr txBox="1"/>
          <p:nvPr/>
        </p:nvSpPr>
        <p:spPr>
          <a:xfrm>
            <a:off x="376775" y="6258725"/>
            <a:ext cx="5189458" cy="261438"/>
          </a:xfrm>
          <a:prstGeom prst="rect">
            <a:avLst/>
          </a:prstGeom>
          <a:noFill/>
        </p:spPr>
        <p:txBody>
          <a:bodyPr wrap="square">
            <a:spAutoFit/>
          </a:bodyPr>
          <a:lstStyle/>
          <a:p>
            <a:r>
              <a:rPr lang="en-AU" sz="1100" noProof="0" dirty="0">
                <a:solidFill>
                  <a:srgbClr val="333333"/>
                </a:solidFill>
                <a:latin typeface="Futura LT Pro Light" panose="020B0402020204020303" pitchFamily="34" charset="0"/>
                <a:cs typeface="+mn-cs"/>
              </a:rPr>
              <a:t>Cornell (1996)</a:t>
            </a:r>
          </a:p>
        </p:txBody>
      </p:sp>
      <p:grpSp>
        <p:nvGrpSpPr>
          <p:cNvPr id="34" name="Gruppieren 33">
            <a:extLst>
              <a:ext uri="{FF2B5EF4-FFF2-40B4-BE49-F238E27FC236}">
                <a16:creationId xmlns:a16="http://schemas.microsoft.com/office/drawing/2014/main" id="{A1BB55D2-39A1-9332-B4AC-A2EBC1E2CA60}"/>
              </a:ext>
            </a:extLst>
          </p:cNvPr>
          <p:cNvGrpSpPr/>
          <p:nvPr/>
        </p:nvGrpSpPr>
        <p:grpSpPr>
          <a:xfrm>
            <a:off x="8527816" y="3060229"/>
            <a:ext cx="2978401" cy="1921425"/>
            <a:chOff x="8527816" y="3060229"/>
            <a:chExt cx="2978401" cy="1921425"/>
          </a:xfrm>
        </p:grpSpPr>
        <p:grpSp>
          <p:nvGrpSpPr>
            <p:cNvPr id="35" name="Gruppieren 34">
              <a:extLst>
                <a:ext uri="{FF2B5EF4-FFF2-40B4-BE49-F238E27FC236}">
                  <a16:creationId xmlns:a16="http://schemas.microsoft.com/office/drawing/2014/main" id="{1C99E326-87FB-D41D-A455-D7CF231F034E}"/>
                </a:ext>
              </a:extLst>
            </p:cNvPr>
            <p:cNvGrpSpPr/>
            <p:nvPr/>
          </p:nvGrpSpPr>
          <p:grpSpPr>
            <a:xfrm>
              <a:off x="8527816" y="3060229"/>
              <a:ext cx="2978401" cy="1921425"/>
              <a:chOff x="4114598" y="3137087"/>
              <a:chExt cx="2978401" cy="1921425"/>
            </a:xfrm>
          </p:grpSpPr>
          <p:grpSp>
            <p:nvGrpSpPr>
              <p:cNvPr id="37" name="Gruppieren 36">
                <a:extLst>
                  <a:ext uri="{FF2B5EF4-FFF2-40B4-BE49-F238E27FC236}">
                    <a16:creationId xmlns:a16="http://schemas.microsoft.com/office/drawing/2014/main" id="{C6F90FC7-1884-7464-25E9-58F30A31CE75}"/>
                  </a:ext>
                </a:extLst>
              </p:cNvPr>
              <p:cNvGrpSpPr/>
              <p:nvPr/>
            </p:nvGrpSpPr>
            <p:grpSpPr>
              <a:xfrm>
                <a:off x="4114598" y="3137087"/>
                <a:ext cx="2978401" cy="1921425"/>
                <a:chOff x="4352078" y="3934395"/>
                <a:chExt cx="2978401" cy="1921425"/>
              </a:xfrm>
            </p:grpSpPr>
            <mc:AlternateContent xmlns:mc="http://schemas.openxmlformats.org/markup-compatibility/2006" xmlns:a14="http://schemas.microsoft.com/office/drawing/2010/main">
              <mc:Choice Requires="a14">
                <p:sp>
                  <p:nvSpPr>
                    <p:cNvPr id="40" name="Textfeld 39">
                      <a:extLst>
                        <a:ext uri="{FF2B5EF4-FFF2-40B4-BE49-F238E27FC236}">
                          <a16:creationId xmlns:a16="http://schemas.microsoft.com/office/drawing/2014/main" id="{0DFEC09E-64E7-2596-5676-0AA0DAD4D952}"/>
                        </a:ext>
                      </a:extLst>
                    </p:cNvPr>
                    <p:cNvSpPr txBox="1"/>
                    <p:nvPr/>
                  </p:nvSpPr>
                  <p:spPr>
                    <a:xfrm>
                      <a:off x="4352078" y="3934395"/>
                      <a:ext cx="11496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rgbClr val="333333"/>
                                </a:solidFill>
                                <a:latin typeface="Cambria Math" panose="02040503050406030204" pitchFamily="18" charset="0"/>
                                <a:cs typeface="+mn-cs"/>
                              </a:rPr>
                              <m:t>𝐻</m:t>
                            </m:r>
                            <m:r>
                              <a:rPr lang="en-AU" b="0" i="1" noProof="0" smtClean="0">
                                <a:solidFill>
                                  <a:srgbClr val="333333"/>
                                </a:solidFill>
                                <a:latin typeface="Cambria Math" panose="02040503050406030204" pitchFamily="18" charset="0"/>
                                <a:cs typeface="+mn-cs"/>
                              </a:rPr>
                              <m:t>(</m:t>
                            </m:r>
                            <m:r>
                              <a:rPr lang="en-AU" b="0" i="1" noProof="0" smtClean="0">
                                <a:solidFill>
                                  <a:srgbClr val="333333"/>
                                </a:solidFill>
                                <a:latin typeface="Cambria Math" panose="02040503050406030204" pitchFamily="18" charset="0"/>
                                <a:cs typeface="+mn-cs"/>
                              </a:rPr>
                              <m:t>𝑖𝑚</m:t>
                            </m:r>
                            <m:r>
                              <a:rPr lang="en-AU" b="0" i="1" noProof="0" smtClean="0">
                                <a:solidFill>
                                  <a:srgbClr val="333333"/>
                                </a:solidFill>
                                <a:latin typeface="Cambria Math" panose="02040503050406030204" pitchFamily="18" charset="0"/>
                                <a:cs typeface="+mn-cs"/>
                              </a:rPr>
                              <m:t>)</m:t>
                            </m:r>
                          </m:oMath>
                        </m:oMathPara>
                      </a14:m>
                      <a:endParaRPr lang="en-AU" noProof="0" dirty="0">
                        <a:solidFill>
                          <a:srgbClr val="333333"/>
                        </a:solidFill>
                        <a:latin typeface="Futura LT Pro Light" panose="020B0402020204020303" pitchFamily="34" charset="0"/>
                        <a:cs typeface="+mn-cs"/>
                      </a:endParaRPr>
                    </a:p>
                  </p:txBody>
                </p:sp>
              </mc:Choice>
              <mc:Fallback xmlns="">
                <p:sp>
                  <p:nvSpPr>
                    <p:cNvPr id="40" name="Textfeld 39">
                      <a:extLst>
                        <a:ext uri="{FF2B5EF4-FFF2-40B4-BE49-F238E27FC236}">
                          <a16:creationId xmlns:a16="http://schemas.microsoft.com/office/drawing/2014/main" id="{0DFEC09E-64E7-2596-5676-0AA0DAD4D952}"/>
                        </a:ext>
                      </a:extLst>
                    </p:cNvPr>
                    <p:cNvSpPr txBox="1">
                      <a:spLocks noRot="1" noChangeAspect="1" noMove="1" noResize="1" noEditPoints="1" noAdjustHandles="1" noChangeArrowheads="1" noChangeShapeType="1" noTextEdit="1"/>
                    </p:cNvSpPr>
                    <p:nvPr/>
                  </p:nvSpPr>
                  <p:spPr>
                    <a:xfrm>
                      <a:off x="4352078" y="3934395"/>
                      <a:ext cx="1149650" cy="369332"/>
                    </a:xfrm>
                    <a:prstGeom prst="rect">
                      <a:avLst/>
                    </a:prstGeom>
                    <a:blipFill>
                      <a:blip r:embed="rId8"/>
                      <a:stretch>
                        <a:fillRect b="-1639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1" name="Textfeld 40">
                      <a:extLst>
                        <a:ext uri="{FF2B5EF4-FFF2-40B4-BE49-F238E27FC236}">
                          <a16:creationId xmlns:a16="http://schemas.microsoft.com/office/drawing/2014/main" id="{5E4467EE-003B-236E-D6BD-07A4ED06075E}"/>
                        </a:ext>
                      </a:extLst>
                    </p:cNvPr>
                    <p:cNvSpPr txBox="1"/>
                    <p:nvPr/>
                  </p:nvSpPr>
                  <p:spPr>
                    <a:xfrm>
                      <a:off x="6635293" y="5486488"/>
                      <a:ext cx="69518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rgbClr val="333333"/>
                                </a:solidFill>
                                <a:latin typeface="Cambria Math" panose="02040503050406030204" pitchFamily="18" charset="0"/>
                                <a:cs typeface="+mn-cs"/>
                              </a:rPr>
                              <m:t>𝐼𝑀</m:t>
                            </m:r>
                          </m:oMath>
                        </m:oMathPara>
                      </a14:m>
                      <a:endParaRPr lang="en-AU" noProof="0" dirty="0">
                        <a:solidFill>
                          <a:srgbClr val="333333"/>
                        </a:solidFill>
                        <a:latin typeface="Futura LT Pro Light" panose="020B0402020204020303" pitchFamily="34" charset="0"/>
                        <a:cs typeface="+mn-cs"/>
                      </a:endParaRPr>
                    </a:p>
                  </p:txBody>
                </p:sp>
              </mc:Choice>
              <mc:Fallback xmlns="">
                <p:sp>
                  <p:nvSpPr>
                    <p:cNvPr id="41" name="Textfeld 40">
                      <a:extLst>
                        <a:ext uri="{FF2B5EF4-FFF2-40B4-BE49-F238E27FC236}">
                          <a16:creationId xmlns:a16="http://schemas.microsoft.com/office/drawing/2014/main" id="{5E4467EE-003B-236E-D6BD-07A4ED06075E}"/>
                        </a:ext>
                      </a:extLst>
                    </p:cNvPr>
                    <p:cNvSpPr txBox="1">
                      <a:spLocks noRot="1" noChangeAspect="1" noMove="1" noResize="1" noEditPoints="1" noAdjustHandles="1" noChangeArrowheads="1" noChangeShapeType="1" noTextEdit="1"/>
                    </p:cNvSpPr>
                    <p:nvPr/>
                  </p:nvSpPr>
                  <p:spPr>
                    <a:xfrm>
                      <a:off x="6635293" y="5486488"/>
                      <a:ext cx="695186" cy="369332"/>
                    </a:xfrm>
                    <a:prstGeom prst="rect">
                      <a:avLst/>
                    </a:prstGeom>
                    <a:blipFill>
                      <a:blip r:embed="rId9"/>
                      <a:stretch>
                        <a:fillRect/>
                      </a:stretch>
                    </a:blipFill>
                  </p:spPr>
                  <p:txBody>
                    <a:bodyPr/>
                    <a:lstStyle/>
                    <a:p>
                      <a:r>
                        <a:rPr lang="de-DE">
                          <a:noFill/>
                        </a:rPr>
                        <a:t> </a:t>
                      </a:r>
                    </a:p>
                  </p:txBody>
                </p:sp>
              </mc:Fallback>
            </mc:AlternateContent>
            <p:cxnSp>
              <p:nvCxnSpPr>
                <p:cNvPr id="42" name="Gerader Verbinder 41">
                  <a:extLst>
                    <a:ext uri="{FF2B5EF4-FFF2-40B4-BE49-F238E27FC236}">
                      <a16:creationId xmlns:a16="http://schemas.microsoft.com/office/drawing/2014/main" id="{DE836580-E7E1-ED5C-712F-0472D2BAA552}"/>
                    </a:ext>
                  </a:extLst>
                </p:cNvPr>
                <p:cNvCxnSpPr>
                  <a:cxnSpLocks/>
                </p:cNvCxnSpPr>
                <p:nvPr/>
              </p:nvCxnSpPr>
              <p:spPr>
                <a:xfrm flipV="1">
                  <a:off x="5341380" y="4002975"/>
                  <a:ext cx="0" cy="1466725"/>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3" name="Gerader Verbinder 42">
                  <a:extLst>
                    <a:ext uri="{FF2B5EF4-FFF2-40B4-BE49-F238E27FC236}">
                      <a16:creationId xmlns:a16="http://schemas.microsoft.com/office/drawing/2014/main" id="{5F098213-C997-4A46-92F1-B70932F9CADD}"/>
                    </a:ext>
                  </a:extLst>
                </p:cNvPr>
                <p:cNvCxnSpPr>
                  <a:cxnSpLocks/>
                </p:cNvCxnSpPr>
                <p:nvPr/>
              </p:nvCxnSpPr>
              <p:spPr>
                <a:xfrm>
                  <a:off x="5341380" y="5469700"/>
                  <a:ext cx="1869354" cy="0"/>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44" name="Freihandform: Form 43">
                  <a:extLst>
                    <a:ext uri="{FF2B5EF4-FFF2-40B4-BE49-F238E27FC236}">
                      <a16:creationId xmlns:a16="http://schemas.microsoft.com/office/drawing/2014/main" id="{943F5524-7E0C-3452-433E-E8B8EFC33A35}"/>
                    </a:ext>
                  </a:extLst>
                </p:cNvPr>
                <p:cNvSpPr/>
                <p:nvPr/>
              </p:nvSpPr>
              <p:spPr>
                <a:xfrm>
                  <a:off x="5504246" y="4325269"/>
                  <a:ext cx="1364343" cy="1045028"/>
                </a:xfrm>
                <a:custGeom>
                  <a:avLst/>
                  <a:gdLst>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Lst>
                  <a:ahLst/>
                  <a:cxnLst>
                    <a:cxn ang="0">
                      <a:pos x="connsiteX0" y="connsiteY0"/>
                    </a:cxn>
                    <a:cxn ang="0">
                      <a:pos x="connsiteX1" y="connsiteY1"/>
                    </a:cxn>
                  </a:cxnLst>
                  <a:rect l="l" t="t" r="r" b="b"/>
                  <a:pathLst>
                    <a:path w="1364343" h="1045028">
                      <a:moveTo>
                        <a:pt x="0" y="0"/>
                      </a:moveTo>
                      <a:cubicBezTo>
                        <a:pt x="846667" y="261258"/>
                        <a:pt x="953105" y="362856"/>
                        <a:pt x="1364343" y="1045028"/>
                      </a:cubicBezTo>
                    </a:path>
                  </a:pathLst>
                </a:cu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pSp>
          <p:cxnSp>
            <p:nvCxnSpPr>
              <p:cNvPr id="38" name="Gerader Verbinder 37">
                <a:extLst>
                  <a:ext uri="{FF2B5EF4-FFF2-40B4-BE49-F238E27FC236}">
                    <a16:creationId xmlns:a16="http://schemas.microsoft.com/office/drawing/2014/main" id="{24BB9D01-0ACD-17E7-DBD0-28F014E455A7}"/>
                  </a:ext>
                </a:extLst>
              </p:cNvPr>
              <p:cNvCxnSpPr>
                <a:cxnSpLocks/>
              </p:cNvCxnSpPr>
              <p:nvPr/>
            </p:nvCxnSpPr>
            <p:spPr>
              <a:xfrm>
                <a:off x="5566233" y="3339182"/>
                <a:ext cx="1175092" cy="1175092"/>
              </a:xfrm>
              <a:prstGeom prst="line">
                <a:avLst/>
              </a:prstGeom>
              <a:ln w="28575">
                <a:solidFill>
                  <a:schemeClr val="accent5">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9" name="Textfeld 38">
                <a:extLst>
                  <a:ext uri="{FF2B5EF4-FFF2-40B4-BE49-F238E27FC236}">
                    <a16:creationId xmlns:a16="http://schemas.microsoft.com/office/drawing/2014/main" id="{FC38FD27-4DC5-F84B-F732-CD9F29C8D095}"/>
                  </a:ext>
                </a:extLst>
              </p:cNvPr>
              <p:cNvSpPr txBox="1"/>
              <p:nvPr/>
            </p:nvSpPr>
            <p:spPr>
              <a:xfrm>
                <a:off x="5647103" y="3229470"/>
                <a:ext cx="1175092" cy="307777"/>
              </a:xfrm>
              <a:prstGeom prst="rect">
                <a:avLst/>
              </a:prstGeom>
              <a:noFill/>
            </p:spPr>
            <p:txBody>
              <a:bodyPr wrap="square" rtlCol="0">
                <a:spAutoFit/>
              </a:bodyPr>
              <a:lstStyle/>
              <a:p>
                <a:r>
                  <a:rPr lang="en-AU" sz="1400" noProof="0" dirty="0">
                    <a:solidFill>
                      <a:schemeClr val="accent3"/>
                    </a:solidFill>
                    <a:latin typeface="Futura LT Pro Light" panose="020B0402020204020303" pitchFamily="34" charset="0"/>
                    <a:cs typeface="+mn-cs"/>
                  </a:rPr>
                  <a:t>1st Order</a:t>
                </a:r>
              </a:p>
            </p:txBody>
          </p:sp>
        </p:grpSp>
        <mc:AlternateContent xmlns:mc="http://schemas.openxmlformats.org/markup-compatibility/2006" xmlns:a14="http://schemas.microsoft.com/office/drawing/2010/main">
          <mc:Choice Requires="a14">
            <p:sp>
              <p:nvSpPr>
                <p:cNvPr id="36" name="Textfeld 35">
                  <a:extLst>
                    <a:ext uri="{FF2B5EF4-FFF2-40B4-BE49-F238E27FC236}">
                      <a16:creationId xmlns:a16="http://schemas.microsoft.com/office/drawing/2014/main" id="{E2FD72DB-9BF8-F0AD-6CBF-C99B072E114D}"/>
                    </a:ext>
                  </a:extLst>
                </p:cNvPr>
                <p:cNvSpPr txBox="1"/>
                <p:nvPr/>
              </p:nvSpPr>
              <p:spPr>
                <a:xfrm>
                  <a:off x="10467892" y="3385435"/>
                  <a:ext cx="69518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noProof="0" smtClean="0">
                            <a:solidFill>
                              <a:srgbClr val="333333"/>
                            </a:solidFill>
                            <a:latin typeface="Cambria Math" panose="02040503050406030204" pitchFamily="18" charset="0"/>
                            <a:cs typeface="+mn-cs"/>
                          </a:rPr>
                          <m:t>𝑓</m:t>
                        </m:r>
                        <m:d>
                          <m:dPr>
                            <m:ctrlPr>
                              <a:rPr lang="en-AU" b="0" i="1" noProof="0" smtClean="0">
                                <a:solidFill>
                                  <a:srgbClr val="333333"/>
                                </a:solidFill>
                                <a:latin typeface="Cambria Math" panose="02040503050406030204" pitchFamily="18" charset="0"/>
                                <a:cs typeface="+mn-cs"/>
                              </a:rPr>
                            </m:ctrlPr>
                          </m:dPr>
                          <m:e>
                            <m:sSub>
                              <m:sSubPr>
                                <m:ctrlPr>
                                  <a:rPr lang="en-AU" b="0" i="1" noProof="0" smtClean="0">
                                    <a:solidFill>
                                      <a:srgbClr val="333333"/>
                                    </a:solidFill>
                                    <a:latin typeface="Cambria Math" panose="02040503050406030204" pitchFamily="18" charset="0"/>
                                    <a:cs typeface="+mn-cs"/>
                                  </a:rPr>
                                </m:ctrlPr>
                              </m:sSubPr>
                              <m:e>
                                <m:r>
                                  <a:rPr lang="en-AU" b="0" i="1" noProof="0" smtClean="0">
                                    <a:solidFill>
                                      <a:srgbClr val="333333"/>
                                    </a:solidFill>
                                    <a:latin typeface="Cambria Math" panose="02040503050406030204" pitchFamily="18" charset="0"/>
                                    <a:cs typeface="+mn-cs"/>
                                  </a:rPr>
                                  <m:t>𝑘</m:t>
                                </m:r>
                              </m:e>
                              <m:sub>
                                <m:r>
                                  <a:rPr lang="en-AU" b="0" i="1" noProof="0" smtClean="0">
                                    <a:solidFill>
                                      <a:srgbClr val="333333"/>
                                    </a:solidFill>
                                    <a:latin typeface="Cambria Math" panose="02040503050406030204" pitchFamily="18" charset="0"/>
                                    <a:cs typeface="+mn-cs"/>
                                  </a:rPr>
                                  <m:t>0</m:t>
                                </m:r>
                              </m:sub>
                            </m:sSub>
                            <m:r>
                              <a:rPr lang="en-AU" b="0" i="1" noProof="0" smtClean="0">
                                <a:solidFill>
                                  <a:srgbClr val="333333"/>
                                </a:solidFill>
                                <a:latin typeface="Cambria Math" panose="02040503050406030204" pitchFamily="18" charset="0"/>
                                <a:cs typeface="+mn-cs"/>
                              </a:rPr>
                              <m:t>,</m:t>
                            </m:r>
                            <m:sSub>
                              <m:sSubPr>
                                <m:ctrlPr>
                                  <a:rPr lang="en-AU" b="0" i="1" noProof="0" smtClean="0">
                                    <a:solidFill>
                                      <a:srgbClr val="333333"/>
                                    </a:solidFill>
                                    <a:latin typeface="Cambria Math" panose="02040503050406030204" pitchFamily="18" charset="0"/>
                                    <a:cs typeface="+mn-cs"/>
                                  </a:rPr>
                                </m:ctrlPr>
                              </m:sSubPr>
                              <m:e>
                                <m:r>
                                  <a:rPr lang="en-AU" b="0" i="1" noProof="0" smtClean="0">
                                    <a:solidFill>
                                      <a:srgbClr val="333333"/>
                                    </a:solidFill>
                                    <a:latin typeface="Cambria Math" panose="02040503050406030204" pitchFamily="18" charset="0"/>
                                    <a:cs typeface="+mn-cs"/>
                                  </a:rPr>
                                  <m:t>𝑘</m:t>
                                </m:r>
                              </m:e>
                              <m:sub>
                                <m:r>
                                  <a:rPr lang="en-AU" b="0" i="1" noProof="0" smtClean="0">
                                    <a:solidFill>
                                      <a:srgbClr val="333333"/>
                                    </a:solidFill>
                                    <a:latin typeface="Cambria Math" panose="02040503050406030204" pitchFamily="18" charset="0"/>
                                    <a:cs typeface="+mn-cs"/>
                                  </a:rPr>
                                  <m:t>1</m:t>
                                </m:r>
                              </m:sub>
                            </m:sSub>
                          </m:e>
                        </m:d>
                      </m:oMath>
                    </m:oMathPara>
                  </a14:m>
                  <a:endParaRPr lang="en-AU" noProof="0" dirty="0">
                    <a:solidFill>
                      <a:srgbClr val="333333"/>
                    </a:solidFill>
                    <a:latin typeface="Futura LT Pro Light" panose="020B0402020204020303" pitchFamily="34" charset="0"/>
                    <a:cs typeface="+mn-cs"/>
                  </a:endParaRPr>
                </a:p>
              </p:txBody>
            </p:sp>
          </mc:Choice>
          <mc:Fallback xmlns="">
            <p:sp>
              <p:nvSpPr>
                <p:cNvPr id="36" name="Textfeld 35">
                  <a:extLst>
                    <a:ext uri="{FF2B5EF4-FFF2-40B4-BE49-F238E27FC236}">
                      <a16:creationId xmlns:a16="http://schemas.microsoft.com/office/drawing/2014/main" id="{E2FD72DB-9BF8-F0AD-6CBF-C99B072E114D}"/>
                    </a:ext>
                  </a:extLst>
                </p:cNvPr>
                <p:cNvSpPr txBox="1">
                  <a:spLocks noRot="1" noChangeAspect="1" noMove="1" noResize="1" noEditPoints="1" noAdjustHandles="1" noChangeArrowheads="1" noChangeShapeType="1" noTextEdit="1"/>
                </p:cNvSpPr>
                <p:nvPr/>
              </p:nvSpPr>
              <p:spPr>
                <a:xfrm>
                  <a:off x="10467892" y="3385435"/>
                  <a:ext cx="695186" cy="369332"/>
                </a:xfrm>
                <a:prstGeom prst="rect">
                  <a:avLst/>
                </a:prstGeom>
                <a:blipFill>
                  <a:blip r:embed="rId10"/>
                  <a:stretch>
                    <a:fillRect l="-2632" r="-35965" b="-16393"/>
                  </a:stretch>
                </a:blipFill>
              </p:spPr>
              <p:txBody>
                <a:bodyPr/>
                <a:lstStyle/>
                <a:p>
                  <a:r>
                    <a:rPr lang="de-DE">
                      <a:noFill/>
                    </a:rPr>
                    <a:t> </a:t>
                  </a:r>
                </a:p>
              </p:txBody>
            </p:sp>
          </mc:Fallback>
        </mc:AlternateContent>
      </p:grpSp>
    </p:spTree>
    <p:extLst>
      <p:ext uri="{BB962C8B-B14F-4D97-AF65-F5344CB8AC3E}">
        <p14:creationId xmlns:p14="http://schemas.microsoft.com/office/powerpoint/2010/main" val="347985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3" grpId="0"/>
      <p:bldP spid="24" grpId="0"/>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Grafik 28" descr="Ein Bild, das Text, Reihe, Diagramm, Entwurf enthält.&#10;&#10;KI-generierte Inhalte können fehlerhaft sein.">
            <a:extLst>
              <a:ext uri="{FF2B5EF4-FFF2-40B4-BE49-F238E27FC236}">
                <a16:creationId xmlns:a16="http://schemas.microsoft.com/office/drawing/2014/main" id="{ADC657A7-A67A-97F6-1317-E3B31BF9F289}"/>
              </a:ext>
            </a:extLst>
          </p:cNvPr>
          <p:cNvPicPr>
            <a:picLocks noChangeAspect="1"/>
          </p:cNvPicPr>
          <p:nvPr/>
        </p:nvPicPr>
        <p:blipFill>
          <a:blip r:embed="rId3"/>
          <a:stretch>
            <a:fillRect/>
          </a:stretch>
        </p:blipFill>
        <p:spPr>
          <a:xfrm>
            <a:off x="8480546" y="1639197"/>
            <a:ext cx="3243167" cy="2091284"/>
          </a:xfrm>
          <a:prstGeom prst="rect">
            <a:avLst/>
          </a:prstGeom>
        </p:spPr>
      </p:pic>
      <p:sp>
        <p:nvSpPr>
          <p:cNvPr id="3" name="Titel 2">
            <a:extLst>
              <a:ext uri="{FF2B5EF4-FFF2-40B4-BE49-F238E27FC236}">
                <a16:creationId xmlns:a16="http://schemas.microsoft.com/office/drawing/2014/main" id="{71955945-3040-DFD9-DD6A-FC836AE928C2}"/>
              </a:ext>
            </a:extLst>
          </p:cNvPr>
          <p:cNvSpPr>
            <a:spLocks noGrp="1"/>
          </p:cNvSpPr>
          <p:nvPr>
            <p:ph type="title"/>
          </p:nvPr>
        </p:nvSpPr>
        <p:spPr/>
        <p:txBody>
          <a:bodyPr/>
          <a:lstStyle/>
          <a:p>
            <a:r>
              <a:rPr lang="en-AU" noProof="0" dirty="0"/>
              <a:t>Reliability-based Verification: EC8 Annex F</a:t>
            </a:r>
          </a:p>
        </p:txBody>
      </p:sp>
      <p:grpSp>
        <p:nvGrpSpPr>
          <p:cNvPr id="17" name="Gruppieren 16">
            <a:extLst>
              <a:ext uri="{FF2B5EF4-FFF2-40B4-BE49-F238E27FC236}">
                <a16:creationId xmlns:a16="http://schemas.microsoft.com/office/drawing/2014/main" id="{0BFD0F28-402E-F3DE-F2C3-DCF0CEBB1AB8}"/>
              </a:ext>
            </a:extLst>
          </p:cNvPr>
          <p:cNvGrpSpPr/>
          <p:nvPr/>
        </p:nvGrpSpPr>
        <p:grpSpPr>
          <a:xfrm>
            <a:off x="431799" y="3112084"/>
            <a:ext cx="3585715" cy="2994533"/>
            <a:chOff x="431799" y="1246718"/>
            <a:chExt cx="3585715" cy="2994533"/>
          </a:xfrm>
        </p:grpSpPr>
        <p:grpSp>
          <p:nvGrpSpPr>
            <p:cNvPr id="14" name="Gruppieren 13">
              <a:extLst>
                <a:ext uri="{FF2B5EF4-FFF2-40B4-BE49-F238E27FC236}">
                  <a16:creationId xmlns:a16="http://schemas.microsoft.com/office/drawing/2014/main" id="{70A57625-7320-2EF6-1744-551A56EDF028}"/>
                </a:ext>
              </a:extLst>
            </p:cNvPr>
            <p:cNvGrpSpPr/>
            <p:nvPr/>
          </p:nvGrpSpPr>
          <p:grpSpPr>
            <a:xfrm>
              <a:off x="446062" y="1865115"/>
              <a:ext cx="3571452" cy="2376136"/>
              <a:chOff x="431800" y="2412285"/>
              <a:chExt cx="3571452" cy="2376136"/>
            </a:xfrm>
          </p:grpSpPr>
          <p:pic>
            <p:nvPicPr>
              <p:cNvPr id="8" name="Grafik 7" descr="Ein Bild, das Text, Reihe, Screenshot, Diagramm enthält.&#10;&#10;KI-generierte Inhalte können fehlerhaft sein.">
                <a:extLst>
                  <a:ext uri="{FF2B5EF4-FFF2-40B4-BE49-F238E27FC236}">
                    <a16:creationId xmlns:a16="http://schemas.microsoft.com/office/drawing/2014/main" id="{470E8680-E79A-C43E-BF71-676AE161768A}"/>
                  </a:ext>
                </a:extLst>
              </p:cNvPr>
              <p:cNvPicPr>
                <a:picLocks noChangeAspect="1"/>
              </p:cNvPicPr>
              <p:nvPr/>
            </p:nvPicPr>
            <p:blipFill>
              <a:blip r:embed="rId4"/>
              <a:srcRect r="47851"/>
              <a:stretch>
                <a:fillRect/>
              </a:stretch>
            </p:blipFill>
            <p:spPr>
              <a:xfrm>
                <a:off x="431800" y="2412285"/>
                <a:ext cx="3495616" cy="2376136"/>
              </a:xfrm>
              <a:prstGeom prst="rect">
                <a:avLst/>
              </a:prstGeom>
            </p:spPr>
          </p:pic>
          <p:pic>
            <p:nvPicPr>
              <p:cNvPr id="11" name="Grafik 10" descr="Ein Bild, das Text, Reihe, Screenshot, Diagramm enthält.&#10;&#10;KI-generierte Inhalte können fehlerhaft sein.">
                <a:extLst>
                  <a:ext uri="{FF2B5EF4-FFF2-40B4-BE49-F238E27FC236}">
                    <a16:creationId xmlns:a16="http://schemas.microsoft.com/office/drawing/2014/main" id="{D9ED9D08-0DC3-AC95-09C0-0CBFA8BEF468}"/>
                  </a:ext>
                </a:extLst>
              </p:cNvPr>
              <p:cNvPicPr>
                <a:picLocks noChangeAspect="1"/>
              </p:cNvPicPr>
              <p:nvPr/>
            </p:nvPicPr>
            <p:blipFill>
              <a:blip r:embed="rId4"/>
              <a:srcRect l="54172" t="20861" b="21560"/>
              <a:stretch>
                <a:fillRect/>
              </a:stretch>
            </p:blipFill>
            <p:spPr>
              <a:xfrm>
                <a:off x="1651380" y="3276253"/>
                <a:ext cx="2351872" cy="1047451"/>
              </a:xfrm>
              <a:prstGeom prst="rect">
                <a:avLst/>
              </a:prstGeom>
            </p:spPr>
          </p:pic>
        </p:grpSp>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C5BE06C6-0DDD-14FF-8BE3-4F98912F6153}"/>
                    </a:ext>
                  </a:extLst>
                </p:cNvPr>
                <p:cNvSpPr txBox="1"/>
                <p:nvPr/>
              </p:nvSpPr>
              <p:spPr>
                <a:xfrm>
                  <a:off x="431799" y="1246718"/>
                  <a:ext cx="3509879" cy="369332"/>
                </a:xfrm>
                <a:prstGeom prst="rect">
                  <a:avLst/>
                </a:prstGeom>
                <a:noFill/>
              </p:spPr>
              <p:txBody>
                <a:bodyPr wrap="square" rtlCol="0">
                  <a:spAutoFit/>
                </a:bodyPr>
                <a:lstStyle/>
                <a:p>
                  <a:r>
                    <a:rPr lang="en-AU" b="1" noProof="0" dirty="0">
                      <a:solidFill>
                        <a:srgbClr val="333333"/>
                      </a:solidFill>
                      <a:latin typeface="Futura LT Pro Light" panose="020B0402020204020303" pitchFamily="34" charset="0"/>
                      <a:cs typeface="+mn-cs"/>
                    </a:rPr>
                    <a:t>Fragility Curve Dispersion, </a:t>
                  </a:r>
                  <a14:m>
                    <m:oMath xmlns:m="http://schemas.openxmlformats.org/officeDocument/2006/math">
                      <m:sSub>
                        <m:sSubPr>
                          <m:ctrlPr>
                            <a:rPr lang="en-AU" b="1" i="1" noProof="0" smtClean="0">
                              <a:solidFill>
                                <a:srgbClr val="333333"/>
                              </a:solidFill>
                              <a:latin typeface="Cambria Math" panose="02040503050406030204" pitchFamily="18" charset="0"/>
                              <a:cs typeface="+mn-cs"/>
                            </a:rPr>
                          </m:ctrlPr>
                        </m:sSubPr>
                        <m:e>
                          <m:r>
                            <a:rPr lang="en-AU" b="1" i="1" noProof="0" smtClean="0">
                              <a:solidFill>
                                <a:srgbClr val="333333"/>
                              </a:solidFill>
                              <a:latin typeface="Cambria Math" panose="02040503050406030204" pitchFamily="18" charset="0"/>
                              <a:cs typeface="+mn-cs"/>
                            </a:rPr>
                            <m:t>𝜷</m:t>
                          </m:r>
                        </m:e>
                        <m:sub>
                          <m:r>
                            <a:rPr lang="en-AU" b="1" i="1" noProof="0" smtClean="0">
                              <a:solidFill>
                                <a:srgbClr val="333333"/>
                              </a:solidFill>
                              <a:latin typeface="Cambria Math" panose="02040503050406030204" pitchFamily="18" charset="0"/>
                              <a:cs typeface="+mn-cs"/>
                            </a:rPr>
                            <m:t>𝒄</m:t>
                          </m:r>
                        </m:sub>
                      </m:sSub>
                    </m:oMath>
                  </a14:m>
                  <a:r>
                    <a:rPr lang="en-AU" b="1" noProof="0" dirty="0">
                      <a:solidFill>
                        <a:srgbClr val="333333"/>
                      </a:solidFill>
                      <a:latin typeface="Futura LT Pro Light" panose="020B0402020204020303" pitchFamily="34" charset="0"/>
                      <a:cs typeface="+mn-cs"/>
                    </a:rPr>
                    <a:t>:</a:t>
                  </a:r>
                </a:p>
              </p:txBody>
            </p:sp>
          </mc:Choice>
          <mc:Fallback xmlns="">
            <p:sp>
              <p:nvSpPr>
                <p:cNvPr id="12" name="Textfeld 11">
                  <a:extLst>
                    <a:ext uri="{FF2B5EF4-FFF2-40B4-BE49-F238E27FC236}">
                      <a16:creationId xmlns:a16="http://schemas.microsoft.com/office/drawing/2014/main" id="{C5BE06C6-0DDD-14FF-8BE3-4F98912F6153}"/>
                    </a:ext>
                  </a:extLst>
                </p:cNvPr>
                <p:cNvSpPr txBox="1">
                  <a:spLocks noRot="1" noChangeAspect="1" noMove="1" noResize="1" noEditPoints="1" noAdjustHandles="1" noChangeArrowheads="1" noChangeShapeType="1" noTextEdit="1"/>
                </p:cNvSpPr>
                <p:nvPr/>
              </p:nvSpPr>
              <p:spPr>
                <a:xfrm>
                  <a:off x="431799" y="1246718"/>
                  <a:ext cx="3509879" cy="369332"/>
                </a:xfrm>
                <a:prstGeom prst="rect">
                  <a:avLst/>
                </a:prstGeom>
                <a:blipFill>
                  <a:blip r:embed="rId5"/>
                  <a:stretch>
                    <a:fillRect l="-1563" t="-10000" b="-26667"/>
                  </a:stretch>
                </a:blipFill>
              </p:spPr>
              <p:txBody>
                <a:bodyPr/>
                <a:lstStyle/>
                <a:p>
                  <a:r>
                    <a:rPr lang="de-DE">
                      <a:noFill/>
                    </a:rPr>
                    <a:t> </a:t>
                  </a:r>
                </a:p>
              </p:txBody>
            </p:sp>
          </mc:Fallback>
        </mc:AlternateContent>
      </p:grpSp>
      <p:grpSp>
        <p:nvGrpSpPr>
          <p:cNvPr id="16" name="Gruppieren 15">
            <a:extLst>
              <a:ext uri="{FF2B5EF4-FFF2-40B4-BE49-F238E27FC236}">
                <a16:creationId xmlns:a16="http://schemas.microsoft.com/office/drawing/2014/main" id="{7562D90D-9763-1A38-EBF5-F723D2862C56}"/>
              </a:ext>
            </a:extLst>
          </p:cNvPr>
          <p:cNvGrpSpPr/>
          <p:nvPr/>
        </p:nvGrpSpPr>
        <p:grpSpPr>
          <a:xfrm>
            <a:off x="431799" y="1116013"/>
            <a:ext cx="3358130" cy="1059851"/>
            <a:chOff x="431799" y="4880698"/>
            <a:chExt cx="3358130" cy="1059851"/>
          </a:xfrm>
        </p:grpSpPr>
        <p:sp>
          <p:nvSpPr>
            <p:cNvPr id="13" name="Textfeld 12">
              <a:extLst>
                <a:ext uri="{FF2B5EF4-FFF2-40B4-BE49-F238E27FC236}">
                  <a16:creationId xmlns:a16="http://schemas.microsoft.com/office/drawing/2014/main" id="{40A71233-2913-A165-29E2-46682A9B5201}"/>
                </a:ext>
              </a:extLst>
            </p:cNvPr>
            <p:cNvSpPr txBox="1"/>
            <p:nvPr/>
          </p:nvSpPr>
          <p:spPr>
            <a:xfrm>
              <a:off x="431799" y="4880698"/>
              <a:ext cx="3358130" cy="369332"/>
            </a:xfrm>
            <a:prstGeom prst="rect">
              <a:avLst/>
            </a:prstGeom>
            <a:noFill/>
          </p:spPr>
          <p:txBody>
            <a:bodyPr wrap="square" rtlCol="0">
              <a:spAutoFit/>
            </a:bodyPr>
            <a:lstStyle/>
            <a:p>
              <a:r>
                <a:rPr lang="en-AU" b="1" noProof="0" dirty="0">
                  <a:solidFill>
                    <a:srgbClr val="333333"/>
                  </a:solidFill>
                  <a:latin typeface="Futura LT Pro Light" panose="020B0402020204020303" pitchFamily="34" charset="0"/>
                  <a:cs typeface="+mn-cs"/>
                </a:rPr>
                <a:t>Target Collapse Capacity:</a:t>
              </a:r>
            </a:p>
          </p:txBody>
        </p:sp>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BF0A0E09-3C28-C958-448C-664E78DD2837}"/>
                    </a:ext>
                  </a:extLst>
                </p:cNvPr>
                <p:cNvSpPr txBox="1"/>
                <p:nvPr/>
              </p:nvSpPr>
              <p:spPr>
                <a:xfrm>
                  <a:off x="959338" y="5456762"/>
                  <a:ext cx="2299684" cy="4837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400" b="0" i="1" noProof="0" smtClean="0">
                                <a:solidFill>
                                  <a:srgbClr val="333333"/>
                                </a:solidFill>
                                <a:latin typeface="Cambria Math" panose="02040503050406030204" pitchFamily="18" charset="0"/>
                                <a:cs typeface="+mn-cs"/>
                              </a:rPr>
                            </m:ctrlPr>
                          </m:sSubPr>
                          <m:e>
                            <m:r>
                              <a:rPr lang="en-AU" sz="2400" b="0" i="1" noProof="0" smtClean="0">
                                <a:solidFill>
                                  <a:srgbClr val="333333"/>
                                </a:solidFill>
                                <a:latin typeface="Cambria Math" panose="02040503050406030204" pitchFamily="18" charset="0"/>
                                <a:cs typeface="+mn-cs"/>
                              </a:rPr>
                              <m:t>𝜆</m:t>
                            </m:r>
                          </m:e>
                          <m:sub>
                            <m:r>
                              <a:rPr lang="en-AU" sz="2400" b="0" i="1" noProof="0" smtClean="0">
                                <a:solidFill>
                                  <a:srgbClr val="333333"/>
                                </a:solidFill>
                                <a:latin typeface="Cambria Math" panose="02040503050406030204" pitchFamily="18" charset="0"/>
                                <a:cs typeface="+mn-cs"/>
                              </a:rPr>
                              <m:t>𝑐</m:t>
                            </m:r>
                            <m:r>
                              <a:rPr lang="en-AU" sz="2400" b="0" i="1" noProof="0" smtClean="0">
                                <a:solidFill>
                                  <a:srgbClr val="333333"/>
                                </a:solidFill>
                                <a:latin typeface="Cambria Math" panose="02040503050406030204" pitchFamily="18" charset="0"/>
                                <a:cs typeface="+mn-cs"/>
                              </a:rPr>
                              <m:t>,</m:t>
                            </m:r>
                            <m:r>
                              <a:rPr lang="en-AU" sz="2400" b="0" i="1" noProof="0" smtClean="0">
                                <a:solidFill>
                                  <a:srgbClr val="333333"/>
                                </a:solidFill>
                                <a:latin typeface="Cambria Math" panose="02040503050406030204" pitchFamily="18" charset="0"/>
                                <a:cs typeface="+mn-cs"/>
                              </a:rPr>
                              <m:t>𝑡</m:t>
                            </m:r>
                          </m:sub>
                        </m:sSub>
                        <m:r>
                          <a:rPr lang="en-AU" sz="2400" b="0" i="1" noProof="0" smtClean="0">
                            <a:solidFill>
                              <a:srgbClr val="333333"/>
                            </a:solidFill>
                            <a:latin typeface="Cambria Math" panose="02040503050406030204" pitchFamily="18" charset="0"/>
                            <a:cs typeface="+mn-cs"/>
                          </a:rPr>
                          <m:t>=2×</m:t>
                        </m:r>
                        <m:sSup>
                          <m:sSupPr>
                            <m:ctrlPr>
                              <a:rPr lang="en-AU" sz="2400" b="0" i="1" noProof="0" smtClean="0">
                                <a:solidFill>
                                  <a:srgbClr val="333333"/>
                                </a:solidFill>
                                <a:latin typeface="Cambria Math" panose="02040503050406030204" pitchFamily="18" charset="0"/>
                                <a:cs typeface="+mn-cs"/>
                              </a:rPr>
                            </m:ctrlPr>
                          </m:sSupPr>
                          <m:e>
                            <m:r>
                              <a:rPr lang="en-AU" sz="2400" b="0" i="1" noProof="0" smtClean="0">
                                <a:solidFill>
                                  <a:srgbClr val="333333"/>
                                </a:solidFill>
                                <a:latin typeface="Cambria Math" panose="02040503050406030204" pitchFamily="18" charset="0"/>
                                <a:cs typeface="+mn-cs"/>
                              </a:rPr>
                              <m:t>10</m:t>
                            </m:r>
                          </m:e>
                          <m:sup>
                            <m:r>
                              <a:rPr lang="en-AU" sz="2400" b="0" i="1" noProof="0" smtClean="0">
                                <a:solidFill>
                                  <a:srgbClr val="333333"/>
                                </a:solidFill>
                                <a:latin typeface="Cambria Math" panose="02040503050406030204" pitchFamily="18" charset="0"/>
                                <a:cs typeface="+mn-cs"/>
                              </a:rPr>
                              <m:t>−4</m:t>
                            </m:r>
                          </m:sup>
                        </m:sSup>
                      </m:oMath>
                    </m:oMathPara>
                  </a14:m>
                  <a:endParaRPr lang="en-AU" sz="2400" noProof="0" dirty="0">
                    <a:solidFill>
                      <a:srgbClr val="333333"/>
                    </a:solidFill>
                    <a:latin typeface="Futura LT Pro Light" panose="020B0402020204020303" pitchFamily="34" charset="0"/>
                    <a:cs typeface="+mn-cs"/>
                  </a:endParaRPr>
                </a:p>
              </p:txBody>
            </p:sp>
          </mc:Choice>
          <mc:Fallback xmlns="">
            <p:sp>
              <p:nvSpPr>
                <p:cNvPr id="15" name="Textfeld 14">
                  <a:extLst>
                    <a:ext uri="{FF2B5EF4-FFF2-40B4-BE49-F238E27FC236}">
                      <a16:creationId xmlns:a16="http://schemas.microsoft.com/office/drawing/2014/main" id="{BF0A0E09-3C28-C958-448C-664E78DD2837}"/>
                    </a:ext>
                  </a:extLst>
                </p:cNvPr>
                <p:cNvSpPr txBox="1">
                  <a:spLocks noRot="1" noChangeAspect="1" noMove="1" noResize="1" noEditPoints="1" noAdjustHandles="1" noChangeArrowheads="1" noChangeShapeType="1" noTextEdit="1"/>
                </p:cNvSpPr>
                <p:nvPr/>
              </p:nvSpPr>
              <p:spPr>
                <a:xfrm>
                  <a:off x="959338" y="5456762"/>
                  <a:ext cx="2299684" cy="483787"/>
                </a:xfrm>
                <a:prstGeom prst="rect">
                  <a:avLst/>
                </a:prstGeom>
                <a:blipFill>
                  <a:blip r:embed="rId6"/>
                  <a:stretch>
                    <a:fillRect/>
                  </a:stretch>
                </a:blipFill>
              </p:spPr>
              <p:txBody>
                <a:bodyPr/>
                <a:lstStyle/>
                <a:p>
                  <a:r>
                    <a:rPr lang="de-DE">
                      <a:noFill/>
                    </a:rPr>
                    <a:t> </a:t>
                  </a:r>
                </a:p>
              </p:txBody>
            </p:sp>
          </mc:Fallback>
        </mc:AlternateContent>
      </p:grpSp>
      <p:pic>
        <p:nvPicPr>
          <p:cNvPr id="19" name="Grafik 18" descr="Ein Bild, das Diagramm, Reihe enthält.&#10;&#10;KI-generierte Inhalte können fehlerhaft sein.">
            <a:extLst>
              <a:ext uri="{FF2B5EF4-FFF2-40B4-BE49-F238E27FC236}">
                <a16:creationId xmlns:a16="http://schemas.microsoft.com/office/drawing/2014/main" id="{AE3E844A-C74D-A02A-7AD8-B83A31B86A88}"/>
              </a:ext>
            </a:extLst>
          </p:cNvPr>
          <p:cNvPicPr>
            <a:picLocks noChangeAspect="1"/>
          </p:cNvPicPr>
          <p:nvPr/>
        </p:nvPicPr>
        <p:blipFill>
          <a:blip r:embed="rId7"/>
          <a:srcRect l="5864" r="33511"/>
          <a:stretch>
            <a:fillRect/>
          </a:stretch>
        </p:blipFill>
        <p:spPr>
          <a:xfrm>
            <a:off x="4788743" y="1956384"/>
            <a:ext cx="3692771" cy="1967941"/>
          </a:xfrm>
          <a:prstGeom prst="rect">
            <a:avLst/>
          </a:prstGeom>
        </p:spPr>
      </p:pic>
      <p:sp>
        <p:nvSpPr>
          <p:cNvPr id="22" name="Textfeld 21">
            <a:extLst>
              <a:ext uri="{FF2B5EF4-FFF2-40B4-BE49-F238E27FC236}">
                <a16:creationId xmlns:a16="http://schemas.microsoft.com/office/drawing/2014/main" id="{B567BF86-5983-4A88-040A-8D4D8EE88D43}"/>
              </a:ext>
            </a:extLst>
          </p:cNvPr>
          <p:cNvSpPr txBox="1"/>
          <p:nvPr/>
        </p:nvSpPr>
        <p:spPr>
          <a:xfrm>
            <a:off x="361372" y="6268720"/>
            <a:ext cx="3495616" cy="261610"/>
          </a:xfrm>
          <a:prstGeom prst="rect">
            <a:avLst/>
          </a:prstGeom>
          <a:noFill/>
        </p:spPr>
        <p:txBody>
          <a:bodyPr wrap="square" rtlCol="0">
            <a:spAutoFit/>
          </a:bodyPr>
          <a:lstStyle/>
          <a:p>
            <a:r>
              <a:rPr lang="en-AU" sz="1100" noProof="0" dirty="0" err="1">
                <a:solidFill>
                  <a:srgbClr val="333333"/>
                </a:solidFill>
                <a:latin typeface="Futura LT Pro Light" panose="020B0402020204020303" pitchFamily="34" charset="0"/>
                <a:cs typeface="+mn-cs"/>
              </a:rPr>
              <a:t>prEN</a:t>
            </a:r>
            <a:r>
              <a:rPr lang="en-AU" sz="1100" noProof="0" dirty="0">
                <a:solidFill>
                  <a:srgbClr val="333333"/>
                </a:solidFill>
                <a:latin typeface="Futura LT Pro Light" panose="020B0402020204020303" pitchFamily="34" charset="0"/>
                <a:cs typeface="+mn-cs"/>
              </a:rPr>
              <a:t> 19988-1-1, 2022; </a:t>
            </a:r>
            <a:r>
              <a:rPr lang="en-AU" sz="1100" noProof="0" dirty="0" err="1">
                <a:solidFill>
                  <a:srgbClr val="333333"/>
                </a:solidFill>
                <a:latin typeface="Futura LT Pro Light" panose="020B0402020204020303" pitchFamily="34" charset="0"/>
                <a:cs typeface="+mn-cs"/>
              </a:rPr>
              <a:t>Žižimond</a:t>
            </a:r>
            <a:r>
              <a:rPr lang="en-AU" sz="1100" noProof="0" dirty="0">
                <a:solidFill>
                  <a:srgbClr val="333333"/>
                </a:solidFill>
                <a:latin typeface="Futura LT Pro Light" panose="020B0402020204020303" pitchFamily="34" charset="0"/>
                <a:cs typeface="+mn-cs"/>
              </a:rPr>
              <a:t> and Dol</a:t>
            </a:r>
            <a:r>
              <a:rPr lang="en-AU" sz="1100" noProof="0" dirty="0">
                <a:solidFill>
                  <a:srgbClr val="333333"/>
                </a:solidFill>
                <a:latin typeface="Aptos Narrow" panose="020B0004020202020204" pitchFamily="34" charset="0"/>
              </a:rPr>
              <a:t>š</a:t>
            </a:r>
            <a:r>
              <a:rPr lang="en-AU" sz="1100" noProof="0" dirty="0">
                <a:solidFill>
                  <a:srgbClr val="333333"/>
                </a:solidFill>
                <a:latin typeface="Futura LT Pro Light" panose="020B0402020204020303" pitchFamily="34" charset="0"/>
                <a:cs typeface="+mn-cs"/>
              </a:rPr>
              <a:t>ek, 2019</a:t>
            </a:r>
          </a:p>
        </p:txBody>
      </p:sp>
      <p:grpSp>
        <p:nvGrpSpPr>
          <p:cNvPr id="24" name="Gruppieren 23">
            <a:extLst>
              <a:ext uri="{FF2B5EF4-FFF2-40B4-BE49-F238E27FC236}">
                <a16:creationId xmlns:a16="http://schemas.microsoft.com/office/drawing/2014/main" id="{D0FEB264-6326-2CDF-92F4-42FF639BE894}"/>
              </a:ext>
            </a:extLst>
          </p:cNvPr>
          <p:cNvGrpSpPr/>
          <p:nvPr/>
        </p:nvGrpSpPr>
        <p:grpSpPr>
          <a:xfrm>
            <a:off x="4788743" y="1116013"/>
            <a:ext cx="3708142" cy="695983"/>
            <a:chOff x="5217983" y="1427386"/>
            <a:chExt cx="3708142" cy="695983"/>
          </a:xfrm>
        </p:grpSpPr>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382EBD69-2546-0D02-09F5-580BA371084B}"/>
                    </a:ext>
                  </a:extLst>
                </p:cNvPr>
                <p:cNvSpPr txBox="1"/>
                <p:nvPr/>
              </p:nvSpPr>
              <p:spPr>
                <a:xfrm>
                  <a:off x="5220791" y="1427386"/>
                  <a:ext cx="3705334" cy="369332"/>
                </a:xfrm>
                <a:prstGeom prst="rect">
                  <a:avLst/>
                </a:prstGeom>
                <a:noFill/>
              </p:spPr>
              <p:txBody>
                <a:bodyPr wrap="square" rtlCol="0">
                  <a:spAutoFit/>
                </a:bodyPr>
                <a:lstStyle/>
                <a:p>
                  <a:r>
                    <a:rPr lang="en-AU" b="1" noProof="0" dirty="0">
                      <a:solidFill>
                        <a:srgbClr val="333333"/>
                      </a:solidFill>
                      <a:latin typeface="Futura LT Pro Light" panose="020B0402020204020303" pitchFamily="34" charset="0"/>
                      <a:cs typeface="+mn-cs"/>
                    </a:rPr>
                    <a:t>Median Collapse Capacity, </a:t>
                  </a:r>
                  <a14:m>
                    <m:oMath xmlns:m="http://schemas.openxmlformats.org/officeDocument/2006/math">
                      <m:sSub>
                        <m:sSubPr>
                          <m:ctrlPr>
                            <a:rPr lang="en-AU" b="1" i="1" noProof="0" smtClean="0">
                              <a:solidFill>
                                <a:srgbClr val="333333"/>
                              </a:solidFill>
                              <a:latin typeface="Cambria Math" panose="02040503050406030204" pitchFamily="18" charset="0"/>
                            </a:rPr>
                          </m:ctrlPr>
                        </m:sSubPr>
                        <m:e>
                          <m:r>
                            <a:rPr lang="en-AU" b="1" i="1" noProof="0" smtClean="0">
                              <a:solidFill>
                                <a:srgbClr val="333333"/>
                              </a:solidFill>
                              <a:latin typeface="Cambria Math" panose="02040503050406030204" pitchFamily="18" charset="0"/>
                            </a:rPr>
                            <m:t>𝜽</m:t>
                          </m:r>
                        </m:e>
                        <m:sub>
                          <m:r>
                            <a:rPr lang="en-AU" b="1" i="1" noProof="0" smtClean="0">
                              <a:solidFill>
                                <a:srgbClr val="333333"/>
                              </a:solidFill>
                              <a:latin typeface="Cambria Math" panose="02040503050406030204" pitchFamily="18" charset="0"/>
                            </a:rPr>
                            <m:t>𝒄</m:t>
                          </m:r>
                        </m:sub>
                      </m:sSub>
                      <m:r>
                        <a:rPr lang="en-AU" b="1" i="1" noProof="0" smtClean="0">
                          <a:solidFill>
                            <a:srgbClr val="333333"/>
                          </a:solidFill>
                          <a:latin typeface="Cambria Math" panose="02040503050406030204" pitchFamily="18" charset="0"/>
                        </a:rPr>
                        <m:t> </m:t>
                      </m:r>
                    </m:oMath>
                  </a14:m>
                  <a:r>
                    <a:rPr lang="en-AU" b="1" noProof="0" dirty="0">
                      <a:solidFill>
                        <a:srgbClr val="333333"/>
                      </a:solidFill>
                      <a:latin typeface="Futura LT Pro Light" panose="020B0402020204020303" pitchFamily="34" charset="0"/>
                      <a:cs typeface="+mn-cs"/>
                    </a:rPr>
                    <a:t>:</a:t>
                  </a:r>
                </a:p>
              </p:txBody>
            </p:sp>
          </mc:Choice>
          <mc:Fallback xmlns="">
            <p:sp>
              <p:nvSpPr>
                <p:cNvPr id="10" name="Textfeld 9">
                  <a:extLst>
                    <a:ext uri="{FF2B5EF4-FFF2-40B4-BE49-F238E27FC236}">
                      <a16:creationId xmlns:a16="http://schemas.microsoft.com/office/drawing/2014/main" id="{382EBD69-2546-0D02-09F5-580BA371084B}"/>
                    </a:ext>
                  </a:extLst>
                </p:cNvPr>
                <p:cNvSpPr txBox="1">
                  <a:spLocks noRot="1" noChangeAspect="1" noMove="1" noResize="1" noEditPoints="1" noAdjustHandles="1" noChangeArrowheads="1" noChangeShapeType="1" noTextEdit="1"/>
                </p:cNvSpPr>
                <p:nvPr/>
              </p:nvSpPr>
              <p:spPr>
                <a:xfrm>
                  <a:off x="5220791" y="1427386"/>
                  <a:ext cx="3705334" cy="369332"/>
                </a:xfrm>
                <a:prstGeom prst="rect">
                  <a:avLst/>
                </a:prstGeom>
                <a:blipFill>
                  <a:blip r:embed="rId8"/>
                  <a:stretch>
                    <a:fillRect l="-1316" t="-8197" b="-24590"/>
                  </a:stretch>
                </a:blipFill>
              </p:spPr>
              <p:txBody>
                <a:bodyPr/>
                <a:lstStyle/>
                <a:p>
                  <a:r>
                    <a:rPr lang="de-DE">
                      <a:noFill/>
                    </a:rPr>
                    <a:t> </a:t>
                  </a:r>
                </a:p>
              </p:txBody>
            </p:sp>
          </mc:Fallback>
        </mc:AlternateContent>
        <p:sp>
          <p:nvSpPr>
            <p:cNvPr id="23" name="Textfeld 22">
              <a:extLst>
                <a:ext uri="{FF2B5EF4-FFF2-40B4-BE49-F238E27FC236}">
                  <a16:creationId xmlns:a16="http://schemas.microsoft.com/office/drawing/2014/main" id="{934394F7-86B0-0822-7816-8ECF85C3E283}"/>
                </a:ext>
              </a:extLst>
            </p:cNvPr>
            <p:cNvSpPr txBox="1"/>
            <p:nvPr/>
          </p:nvSpPr>
          <p:spPr>
            <a:xfrm>
              <a:off x="5217983" y="1754037"/>
              <a:ext cx="3243168"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SDOF Idealisation + IDA</a:t>
              </a:r>
            </a:p>
          </p:txBody>
        </p:sp>
      </p:grpSp>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CFD0F473-D571-B300-E56E-10E1ABA64FA2}"/>
                  </a:ext>
                </a:extLst>
              </p:cNvPr>
              <p:cNvSpPr txBox="1"/>
              <p:nvPr/>
            </p:nvSpPr>
            <p:spPr>
              <a:xfrm>
                <a:off x="11172651" y="2537356"/>
                <a:ext cx="5760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b="1" i="1" noProof="0" smtClean="0">
                              <a:solidFill>
                                <a:srgbClr val="333333"/>
                              </a:solidFill>
                              <a:latin typeface="Cambria Math" panose="02040503050406030204" pitchFamily="18" charset="0"/>
                              <a:cs typeface="+mn-cs"/>
                            </a:rPr>
                          </m:ctrlPr>
                        </m:sSubPr>
                        <m:e>
                          <m:r>
                            <a:rPr lang="en-AU" b="1" i="1" noProof="0" smtClean="0">
                              <a:solidFill>
                                <a:srgbClr val="333333"/>
                              </a:solidFill>
                              <a:latin typeface="Cambria Math" panose="02040503050406030204" pitchFamily="18" charset="0"/>
                              <a:cs typeface="+mn-cs"/>
                            </a:rPr>
                            <m:t>𝜽</m:t>
                          </m:r>
                        </m:e>
                        <m:sub>
                          <m:r>
                            <a:rPr lang="en-AU" b="1" i="1" noProof="0" smtClean="0">
                              <a:solidFill>
                                <a:srgbClr val="333333"/>
                              </a:solidFill>
                              <a:latin typeface="Cambria Math" panose="02040503050406030204" pitchFamily="18" charset="0"/>
                              <a:cs typeface="+mn-cs"/>
                            </a:rPr>
                            <m:t>𝒄</m:t>
                          </m:r>
                        </m:sub>
                      </m:sSub>
                    </m:oMath>
                  </m:oMathPara>
                </a14:m>
                <a:endParaRPr lang="en-AU" b="1" noProof="0" dirty="0">
                  <a:solidFill>
                    <a:srgbClr val="333333"/>
                  </a:solidFill>
                  <a:latin typeface="Futura LT Pro Light" panose="020B0402020204020303" pitchFamily="34" charset="0"/>
                  <a:cs typeface="+mn-cs"/>
                </a:endParaRPr>
              </a:p>
            </p:txBody>
          </p:sp>
        </mc:Choice>
        <mc:Fallback xmlns="">
          <p:sp>
            <p:nvSpPr>
              <p:cNvPr id="25" name="Textfeld 24">
                <a:extLst>
                  <a:ext uri="{FF2B5EF4-FFF2-40B4-BE49-F238E27FC236}">
                    <a16:creationId xmlns:a16="http://schemas.microsoft.com/office/drawing/2014/main" id="{CFD0F473-D571-B300-E56E-10E1ABA64FA2}"/>
                  </a:ext>
                </a:extLst>
              </p:cNvPr>
              <p:cNvSpPr txBox="1">
                <a:spLocks noRot="1" noChangeAspect="1" noMove="1" noResize="1" noEditPoints="1" noAdjustHandles="1" noChangeArrowheads="1" noChangeShapeType="1" noTextEdit="1"/>
              </p:cNvSpPr>
              <p:nvPr/>
            </p:nvSpPr>
            <p:spPr>
              <a:xfrm>
                <a:off x="11172651" y="2537356"/>
                <a:ext cx="576064" cy="369332"/>
              </a:xfrm>
              <a:prstGeom prst="rect">
                <a:avLst/>
              </a:prstGeom>
              <a:blipFill>
                <a:blip r:embed="rId9"/>
                <a:stretch>
                  <a:fillRect/>
                </a:stretch>
              </a:blipFill>
            </p:spPr>
            <p:txBody>
              <a:bodyPr/>
              <a:lstStyle/>
              <a:p>
                <a:r>
                  <a:rPr lang="de-DE">
                    <a:noFill/>
                  </a:rPr>
                  <a:t> </a:t>
                </a:r>
              </a:p>
            </p:txBody>
          </p:sp>
        </mc:Fallback>
      </mc:AlternateContent>
      <p:sp>
        <p:nvSpPr>
          <p:cNvPr id="26" name="Textfeld 25">
            <a:extLst>
              <a:ext uri="{FF2B5EF4-FFF2-40B4-BE49-F238E27FC236}">
                <a16:creationId xmlns:a16="http://schemas.microsoft.com/office/drawing/2014/main" id="{5178B953-5CEA-49DE-1705-4D0DAD70D7FC}"/>
              </a:ext>
            </a:extLst>
          </p:cNvPr>
          <p:cNvSpPr txBox="1"/>
          <p:nvPr/>
        </p:nvSpPr>
        <p:spPr>
          <a:xfrm>
            <a:off x="6211739" y="4356373"/>
            <a:ext cx="4032718" cy="1569660"/>
          </a:xfrm>
          <a:prstGeom prst="rect">
            <a:avLst/>
          </a:prstGeom>
          <a:noFill/>
        </p:spPr>
        <p:txBody>
          <a:bodyPr wrap="square" rtlCol="0">
            <a:spAutoFit/>
          </a:bodyPr>
          <a:lstStyle/>
          <a:p>
            <a:r>
              <a:rPr lang="en-AU" sz="2400" b="1" noProof="0" dirty="0">
                <a:solidFill>
                  <a:schemeClr val="tx2"/>
                </a:solidFill>
                <a:latin typeface="Futura LT Pro Light" panose="020B0402020204020303" pitchFamily="34" charset="0"/>
                <a:cs typeface="+mn-cs"/>
              </a:rPr>
              <a:t>A </a:t>
            </a:r>
            <a:r>
              <a:rPr lang="en-AU" sz="2400" b="1" u="sng" noProof="0" dirty="0">
                <a:solidFill>
                  <a:schemeClr val="tx2"/>
                </a:solidFill>
                <a:latin typeface="Futura LT Pro Light" panose="020B0402020204020303" pitchFamily="34" charset="0"/>
                <a:cs typeface="+mn-cs"/>
              </a:rPr>
              <a:t>verification</a:t>
            </a:r>
            <a:r>
              <a:rPr lang="en-AU" sz="2400" b="1" noProof="0" dirty="0">
                <a:solidFill>
                  <a:schemeClr val="tx2"/>
                </a:solidFill>
                <a:latin typeface="Futura LT Pro Light" panose="020B0402020204020303" pitchFamily="34" charset="0"/>
                <a:cs typeface="+mn-cs"/>
              </a:rPr>
              <a:t> procedure. </a:t>
            </a:r>
          </a:p>
          <a:p>
            <a:pPr marL="342900" indent="-342900">
              <a:buFont typeface="Arial" panose="020B0604020202020204" pitchFamily="34" charset="0"/>
              <a:buChar char="•"/>
            </a:pPr>
            <a:r>
              <a:rPr lang="en-AU" sz="2400" noProof="0" dirty="0">
                <a:solidFill>
                  <a:schemeClr val="tx2"/>
                </a:solidFill>
                <a:latin typeface="Futura LT Pro Light" panose="020B0402020204020303" pitchFamily="34" charset="0"/>
              </a:rPr>
              <a:t>SDOF simplification</a:t>
            </a:r>
            <a:endParaRPr lang="en-AU" sz="2400" noProof="0" dirty="0">
              <a:solidFill>
                <a:schemeClr val="tx2"/>
              </a:solidFill>
              <a:latin typeface="Futura LT Pro Light" panose="020B0402020204020303" pitchFamily="34" charset="0"/>
              <a:cs typeface="+mn-cs"/>
            </a:endParaRPr>
          </a:p>
          <a:p>
            <a:pPr marL="342900" indent="-342900">
              <a:buFont typeface="Arial" panose="020B0604020202020204" pitchFamily="34" charset="0"/>
              <a:buChar char="•"/>
            </a:pPr>
            <a:r>
              <a:rPr lang="en-AU" sz="2400" noProof="0" dirty="0">
                <a:solidFill>
                  <a:schemeClr val="tx2"/>
                </a:solidFill>
                <a:latin typeface="Futura LT Pro Light" panose="020B0402020204020303" pitchFamily="34" charset="0"/>
                <a:cs typeface="+mn-cs"/>
              </a:rPr>
              <a:t>Very iterative</a:t>
            </a:r>
          </a:p>
          <a:p>
            <a:pPr marL="342900" indent="-342900">
              <a:buFont typeface="Arial" panose="020B0604020202020204" pitchFamily="34" charset="0"/>
              <a:buChar char="•"/>
            </a:pPr>
            <a:r>
              <a:rPr lang="en-AU" sz="2400" noProof="0" dirty="0">
                <a:solidFill>
                  <a:schemeClr val="tx2"/>
                </a:solidFill>
                <a:latin typeface="Futura LT Pro Light" panose="020B0402020204020303" pitchFamily="34" charset="0"/>
                <a:cs typeface="+mn-cs"/>
              </a:rPr>
              <a:t>Not „designer-friendly“</a:t>
            </a:r>
          </a:p>
        </p:txBody>
      </p:sp>
    </p:spTree>
    <p:extLst>
      <p:ext uri="{BB962C8B-B14F-4D97-AF65-F5344CB8AC3E}">
        <p14:creationId xmlns:p14="http://schemas.microsoft.com/office/powerpoint/2010/main" val="162861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DBAF2E6-225B-703B-4F22-6CA88A4FFD02}"/>
              </a:ext>
            </a:extLst>
          </p:cNvPr>
          <p:cNvSpPr>
            <a:spLocks noGrp="1"/>
          </p:cNvSpPr>
          <p:nvPr>
            <p:ph type="title"/>
          </p:nvPr>
        </p:nvSpPr>
        <p:spPr/>
        <p:txBody>
          <a:bodyPr/>
          <a:lstStyle/>
          <a:p>
            <a:r>
              <a:rPr lang="en-AU" noProof="0" dirty="0"/>
              <a:t>Reliability-based Design</a:t>
            </a:r>
          </a:p>
        </p:txBody>
      </p:sp>
      <mc:AlternateContent xmlns:mc="http://schemas.openxmlformats.org/markup-compatibility/2006" xmlns:a14="http://schemas.microsoft.com/office/drawing/2010/main">
        <mc:Choice Requires="a14">
          <p:sp>
            <p:nvSpPr>
              <p:cNvPr id="4" name="Textfeld 3">
                <a:extLst>
                  <a:ext uri="{FF2B5EF4-FFF2-40B4-BE49-F238E27FC236}">
                    <a16:creationId xmlns:a16="http://schemas.microsoft.com/office/drawing/2014/main" id="{DF5565FB-0B3A-8F09-D4AF-ED7F36E9324B}"/>
                  </a:ext>
                </a:extLst>
              </p:cNvPr>
              <p:cNvSpPr txBox="1"/>
              <p:nvPr/>
            </p:nvSpPr>
            <p:spPr>
              <a:xfrm>
                <a:off x="6804971" y="2687970"/>
                <a:ext cx="4752524" cy="126618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𝜃</m:t>
                          </m:r>
                        </m:e>
                        <m:sub>
                          <m:r>
                            <a:rPr lang="en-AU" sz="2400" b="0" i="1" noProof="0" smtClean="0">
                              <a:solidFill>
                                <a:schemeClr val="tx1"/>
                              </a:solidFill>
                              <a:latin typeface="Cambria Math" panose="02040503050406030204" pitchFamily="18" charset="0"/>
                              <a:cs typeface="+mn-cs"/>
                            </a:rPr>
                            <m:t>𝑐</m:t>
                          </m:r>
                          <m:r>
                            <a:rPr lang="en-AU" sz="2400" b="0" i="1" noProof="0" smtClean="0">
                              <a:solidFill>
                                <a:schemeClr val="tx1"/>
                              </a:solidFill>
                              <a:latin typeface="Cambria Math" panose="02040503050406030204" pitchFamily="18" charset="0"/>
                              <a:cs typeface="+mn-cs"/>
                            </a:rPr>
                            <m:t>,</m:t>
                          </m:r>
                          <m:r>
                            <a:rPr lang="en-AU" sz="2400" b="0" i="1" noProof="0" smtClean="0">
                              <a:solidFill>
                                <a:schemeClr val="tx1"/>
                              </a:solidFill>
                              <a:latin typeface="Cambria Math" panose="02040503050406030204" pitchFamily="18" charset="0"/>
                              <a:cs typeface="+mn-cs"/>
                            </a:rPr>
                            <m:t>𝑡</m:t>
                          </m:r>
                        </m:sub>
                      </m:sSub>
                      <m:r>
                        <a:rPr lang="en-AU" sz="2400" b="0" i="1" noProof="0" smtClean="0">
                          <a:solidFill>
                            <a:schemeClr val="tx1"/>
                          </a:solidFill>
                          <a:latin typeface="Cambria Math" panose="02040503050406030204" pitchFamily="18" charset="0"/>
                          <a:cs typeface="+mn-cs"/>
                        </a:rPr>
                        <m:t>=</m:t>
                      </m:r>
                      <m:func>
                        <m:funcPr>
                          <m:ctrlPr>
                            <a:rPr lang="en-AU" sz="2400" b="0" i="1" noProof="0" smtClean="0">
                              <a:solidFill>
                                <a:schemeClr val="tx1"/>
                              </a:solidFill>
                              <a:latin typeface="Cambria Math" panose="02040503050406030204" pitchFamily="18" charset="0"/>
                              <a:cs typeface="+mn-cs"/>
                            </a:rPr>
                          </m:ctrlPr>
                        </m:funcPr>
                        <m:fName>
                          <m:r>
                            <m:rPr>
                              <m:sty m:val="p"/>
                            </m:rPr>
                            <a:rPr lang="en-AU" sz="2400" b="0" i="0" noProof="0" smtClean="0">
                              <a:solidFill>
                                <a:schemeClr val="tx1"/>
                              </a:solidFill>
                              <a:latin typeface="Cambria Math" panose="02040503050406030204" pitchFamily="18" charset="0"/>
                              <a:cs typeface="+mn-cs"/>
                            </a:rPr>
                            <m:t>exp</m:t>
                          </m:r>
                        </m:fName>
                        <m:e>
                          <m:d>
                            <m:dPr>
                              <m:begChr m:val="["/>
                              <m:endChr m:val="]"/>
                              <m:ctrlPr>
                                <a:rPr lang="en-AU" sz="2400" b="0" i="1" noProof="0" smtClean="0">
                                  <a:solidFill>
                                    <a:schemeClr val="tx1"/>
                                  </a:solidFill>
                                  <a:latin typeface="Cambria Math" panose="02040503050406030204" pitchFamily="18" charset="0"/>
                                  <a:cs typeface="+mn-cs"/>
                                </a:rPr>
                              </m:ctrlPr>
                            </m:dPr>
                            <m:e>
                              <m:r>
                                <a:rPr lang="en-AU" sz="2400" b="0" i="1" noProof="0" smtClean="0">
                                  <a:solidFill>
                                    <a:schemeClr val="tx1"/>
                                  </a:solidFill>
                                  <a:latin typeface="Cambria Math" panose="02040503050406030204" pitchFamily="18" charset="0"/>
                                  <a:cs typeface="+mn-cs"/>
                                </a:rPr>
                                <m:t>0.5∙</m:t>
                              </m:r>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𝑘</m:t>
                                  </m:r>
                                </m:e>
                                <m:sub>
                                  <m:r>
                                    <a:rPr lang="en-AU" sz="2400" b="0" i="1" noProof="0" smtClean="0">
                                      <a:solidFill>
                                        <a:schemeClr val="tx1"/>
                                      </a:solidFill>
                                      <a:latin typeface="Cambria Math" panose="02040503050406030204" pitchFamily="18" charset="0"/>
                                      <a:cs typeface="+mn-cs"/>
                                    </a:rPr>
                                    <m:t>1</m:t>
                                  </m:r>
                                </m:sub>
                              </m:sSub>
                              <m:r>
                                <a:rPr lang="en-AU" sz="2400" b="0" i="1" noProof="0" smtClean="0">
                                  <a:solidFill>
                                    <a:schemeClr val="tx1"/>
                                  </a:solidFill>
                                  <a:latin typeface="Cambria Math" panose="02040503050406030204" pitchFamily="18" charset="0"/>
                                  <a:cs typeface="+mn-cs"/>
                                </a:rPr>
                                <m:t>∙</m:t>
                              </m:r>
                              <m:sSubSup>
                                <m:sSubSupPr>
                                  <m:ctrlPr>
                                    <a:rPr lang="en-AU" sz="2400" b="0" i="1" noProof="0" smtClean="0">
                                      <a:solidFill>
                                        <a:schemeClr val="tx1"/>
                                      </a:solidFill>
                                      <a:latin typeface="Cambria Math" panose="02040503050406030204" pitchFamily="18" charset="0"/>
                                      <a:cs typeface="+mn-cs"/>
                                    </a:rPr>
                                  </m:ctrlPr>
                                </m:sSubSupPr>
                                <m:e>
                                  <m:r>
                                    <a:rPr lang="en-AU" sz="2400" b="0" i="1" noProof="0" smtClean="0">
                                      <a:solidFill>
                                        <a:schemeClr val="tx1"/>
                                      </a:solidFill>
                                      <a:latin typeface="Cambria Math" panose="02040503050406030204" pitchFamily="18" charset="0"/>
                                      <a:cs typeface="+mn-cs"/>
                                    </a:rPr>
                                    <m:t>𝛽</m:t>
                                  </m:r>
                                </m:e>
                                <m:sub>
                                  <m:r>
                                    <a:rPr lang="en-AU" sz="2400" b="0" i="1" noProof="0" smtClean="0">
                                      <a:solidFill>
                                        <a:schemeClr val="tx1"/>
                                      </a:solidFill>
                                      <a:latin typeface="Cambria Math" panose="02040503050406030204" pitchFamily="18" charset="0"/>
                                      <a:cs typeface="+mn-cs"/>
                                    </a:rPr>
                                    <m:t>𝑐</m:t>
                                  </m:r>
                                </m:sub>
                                <m:sup>
                                  <m:r>
                                    <a:rPr lang="en-AU" sz="2400" b="0" i="1" noProof="0" smtClean="0">
                                      <a:solidFill>
                                        <a:schemeClr val="tx1"/>
                                      </a:solidFill>
                                      <a:latin typeface="Cambria Math" panose="02040503050406030204" pitchFamily="18" charset="0"/>
                                      <a:cs typeface="+mn-cs"/>
                                    </a:rPr>
                                    <m:t>2</m:t>
                                  </m:r>
                                </m:sup>
                              </m:sSubSup>
                              <m:r>
                                <a:rPr lang="en-AU" sz="2400" b="0" i="1" noProof="0" smtClean="0">
                                  <a:solidFill>
                                    <a:schemeClr val="tx1"/>
                                  </a:solidFill>
                                  <a:latin typeface="Cambria Math" panose="02040503050406030204" pitchFamily="18" charset="0"/>
                                  <a:cs typeface="+mn-cs"/>
                                </a:rPr>
                                <m:t>−</m:t>
                              </m:r>
                              <m:f>
                                <m:fPr>
                                  <m:ctrlPr>
                                    <a:rPr lang="en-AU" sz="2400" b="0" i="1" noProof="0" smtClean="0">
                                      <a:solidFill>
                                        <a:schemeClr val="tx1"/>
                                      </a:solidFill>
                                      <a:latin typeface="Cambria Math" panose="02040503050406030204" pitchFamily="18" charset="0"/>
                                      <a:cs typeface="+mn-cs"/>
                                    </a:rPr>
                                  </m:ctrlPr>
                                </m:fPr>
                                <m:num>
                                  <m:func>
                                    <m:funcPr>
                                      <m:ctrlPr>
                                        <a:rPr lang="en-AU" sz="2400" b="0" i="1" noProof="0" smtClean="0">
                                          <a:solidFill>
                                            <a:schemeClr val="tx1"/>
                                          </a:solidFill>
                                          <a:latin typeface="Cambria Math" panose="02040503050406030204" pitchFamily="18" charset="0"/>
                                          <a:cs typeface="+mn-cs"/>
                                        </a:rPr>
                                      </m:ctrlPr>
                                    </m:funcPr>
                                    <m:fName>
                                      <m:r>
                                        <m:rPr>
                                          <m:sty m:val="p"/>
                                        </m:rPr>
                                        <a:rPr lang="en-AU" sz="2400" b="0" i="0" noProof="0" smtClean="0">
                                          <a:solidFill>
                                            <a:schemeClr val="tx1"/>
                                          </a:solidFill>
                                          <a:latin typeface="Cambria Math" panose="02040503050406030204" pitchFamily="18" charset="0"/>
                                          <a:cs typeface="+mn-cs"/>
                                        </a:rPr>
                                        <m:t>ln</m:t>
                                      </m:r>
                                    </m:fName>
                                    <m:e>
                                      <m:d>
                                        <m:dPr>
                                          <m:ctrlPr>
                                            <a:rPr lang="en-AU" sz="2400" i="1" noProof="0" smtClean="0">
                                              <a:solidFill>
                                                <a:schemeClr val="tx1"/>
                                              </a:solidFill>
                                              <a:latin typeface="Cambria Math" panose="02040503050406030204" pitchFamily="18" charset="0"/>
                                            </a:rPr>
                                          </m:ctrlPr>
                                        </m:dPr>
                                        <m:e>
                                          <m:f>
                                            <m:fPr>
                                              <m:ctrlPr>
                                                <a:rPr lang="en-AU" sz="2400" i="1" noProof="0" smtClean="0">
                                                  <a:solidFill>
                                                    <a:schemeClr val="tx1"/>
                                                  </a:solidFill>
                                                  <a:latin typeface="Cambria Math" panose="02040503050406030204" pitchFamily="18" charset="0"/>
                                                </a:rPr>
                                              </m:ctrlPr>
                                            </m:fPr>
                                            <m:num>
                                              <m:sSub>
                                                <m:sSubPr>
                                                  <m:ctrlPr>
                                                    <a:rPr lang="en-AU" sz="2400" i="1" noProof="0" smtClean="0">
                                                      <a:solidFill>
                                                        <a:schemeClr val="tx1"/>
                                                      </a:solidFill>
                                                      <a:latin typeface="Cambria Math" panose="02040503050406030204" pitchFamily="18" charset="0"/>
                                                    </a:rPr>
                                                  </m:ctrlPr>
                                                </m:sSubPr>
                                                <m:e>
                                                  <m:r>
                                                    <a:rPr lang="en-AU" sz="2400" i="1" noProof="0" smtClean="0">
                                                      <a:solidFill>
                                                        <a:schemeClr val="tx1"/>
                                                      </a:solidFill>
                                                      <a:latin typeface="Cambria Math" panose="02040503050406030204" pitchFamily="18" charset="0"/>
                                                    </a:rPr>
                                                    <m:t>𝜆</m:t>
                                                  </m:r>
                                                </m:e>
                                                <m:sub>
                                                  <m:r>
                                                    <a:rPr lang="en-AU" sz="2400" i="1" noProof="0" smtClean="0">
                                                      <a:solidFill>
                                                        <a:schemeClr val="tx1"/>
                                                      </a:solidFill>
                                                      <a:latin typeface="Cambria Math" panose="02040503050406030204" pitchFamily="18" charset="0"/>
                                                    </a:rPr>
                                                    <m:t>𝑐</m:t>
                                                  </m:r>
                                                  <m:r>
                                                    <a:rPr lang="en-AU" sz="2400" i="1" noProof="0" smtClean="0">
                                                      <a:solidFill>
                                                        <a:schemeClr val="tx1"/>
                                                      </a:solidFill>
                                                      <a:latin typeface="Cambria Math" panose="02040503050406030204" pitchFamily="18" charset="0"/>
                                                    </a:rPr>
                                                    <m:t>,</m:t>
                                                  </m:r>
                                                  <m:r>
                                                    <a:rPr lang="en-AU" sz="2400" i="1" noProof="0" smtClean="0">
                                                      <a:solidFill>
                                                        <a:schemeClr val="tx1"/>
                                                      </a:solidFill>
                                                      <a:latin typeface="Cambria Math" panose="02040503050406030204" pitchFamily="18" charset="0"/>
                                                    </a:rPr>
                                                    <m:t>𝑡</m:t>
                                                  </m:r>
                                                </m:sub>
                                              </m:sSub>
                                            </m:num>
                                            <m:den>
                                              <m:sSub>
                                                <m:sSubPr>
                                                  <m:ctrlPr>
                                                    <a:rPr lang="en-AU" sz="2400" i="1" noProof="0" smtClean="0">
                                                      <a:solidFill>
                                                        <a:schemeClr val="tx1"/>
                                                      </a:solidFill>
                                                      <a:latin typeface="Cambria Math" panose="02040503050406030204" pitchFamily="18" charset="0"/>
                                                    </a:rPr>
                                                  </m:ctrlPr>
                                                </m:sSubPr>
                                                <m:e>
                                                  <m:r>
                                                    <a:rPr lang="en-AU" sz="2400" i="1" noProof="0" smtClean="0">
                                                      <a:solidFill>
                                                        <a:schemeClr val="tx1"/>
                                                      </a:solidFill>
                                                      <a:latin typeface="Cambria Math" panose="02040503050406030204" pitchFamily="18" charset="0"/>
                                                    </a:rPr>
                                                    <m:t>𝑘</m:t>
                                                  </m:r>
                                                </m:e>
                                                <m:sub>
                                                  <m:r>
                                                    <a:rPr lang="en-AU" sz="2400" i="1" noProof="0" smtClean="0">
                                                      <a:solidFill>
                                                        <a:schemeClr val="tx1"/>
                                                      </a:solidFill>
                                                      <a:latin typeface="Cambria Math" panose="02040503050406030204" pitchFamily="18" charset="0"/>
                                                    </a:rPr>
                                                    <m:t>0</m:t>
                                                  </m:r>
                                                </m:sub>
                                              </m:sSub>
                                            </m:den>
                                          </m:f>
                                        </m:e>
                                      </m:d>
                                    </m:e>
                                  </m:func>
                                </m:num>
                                <m:den>
                                  <m:sSub>
                                    <m:sSubPr>
                                      <m:ctrlPr>
                                        <a:rPr lang="en-AU" sz="2400" b="0" i="1" noProof="0" smtClean="0">
                                          <a:solidFill>
                                            <a:schemeClr val="tx1"/>
                                          </a:solidFill>
                                          <a:latin typeface="Cambria Math" panose="02040503050406030204" pitchFamily="18" charset="0"/>
                                          <a:cs typeface="+mn-cs"/>
                                        </a:rPr>
                                      </m:ctrlPr>
                                    </m:sSubPr>
                                    <m:e>
                                      <m:r>
                                        <a:rPr lang="en-AU" sz="2400" b="0" i="1" noProof="0" smtClean="0">
                                          <a:solidFill>
                                            <a:schemeClr val="tx1"/>
                                          </a:solidFill>
                                          <a:latin typeface="Cambria Math" panose="02040503050406030204" pitchFamily="18" charset="0"/>
                                          <a:cs typeface="+mn-cs"/>
                                        </a:rPr>
                                        <m:t>𝑘</m:t>
                                      </m:r>
                                    </m:e>
                                    <m:sub>
                                      <m:r>
                                        <a:rPr lang="en-AU" sz="2400" b="0" i="1" noProof="0" smtClean="0">
                                          <a:solidFill>
                                            <a:schemeClr val="tx1"/>
                                          </a:solidFill>
                                          <a:latin typeface="Cambria Math" panose="02040503050406030204" pitchFamily="18" charset="0"/>
                                          <a:cs typeface="+mn-cs"/>
                                        </a:rPr>
                                        <m:t>1</m:t>
                                      </m:r>
                                    </m:sub>
                                  </m:sSub>
                                </m:den>
                              </m:f>
                            </m:e>
                          </m:d>
                        </m:e>
                      </m:func>
                    </m:oMath>
                  </m:oMathPara>
                </a14:m>
                <a:endParaRPr lang="en-AU" sz="2400" noProof="0" dirty="0">
                  <a:solidFill>
                    <a:schemeClr val="tx1"/>
                  </a:solidFill>
                  <a:latin typeface="+mn-lt"/>
                  <a:cs typeface="+mn-cs"/>
                </a:endParaRPr>
              </a:p>
            </p:txBody>
          </p:sp>
        </mc:Choice>
        <mc:Fallback xmlns="">
          <p:sp>
            <p:nvSpPr>
              <p:cNvPr id="4" name="Textfeld 3">
                <a:extLst>
                  <a:ext uri="{FF2B5EF4-FFF2-40B4-BE49-F238E27FC236}">
                    <a16:creationId xmlns:a16="http://schemas.microsoft.com/office/drawing/2014/main" id="{DF5565FB-0B3A-8F09-D4AF-ED7F36E9324B}"/>
                  </a:ext>
                </a:extLst>
              </p:cNvPr>
              <p:cNvSpPr txBox="1">
                <a:spLocks noRot="1" noChangeAspect="1" noMove="1" noResize="1" noEditPoints="1" noAdjustHandles="1" noChangeArrowheads="1" noChangeShapeType="1" noTextEdit="1"/>
              </p:cNvSpPr>
              <p:nvPr/>
            </p:nvSpPr>
            <p:spPr>
              <a:xfrm>
                <a:off x="6804971" y="2687970"/>
                <a:ext cx="4752524" cy="1266180"/>
              </a:xfrm>
              <a:prstGeom prst="rect">
                <a:avLst/>
              </a:prstGeom>
              <a:blipFill>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081324DB-061D-7FAB-4F39-A75F086F66CC}"/>
                  </a:ext>
                </a:extLst>
              </p:cNvPr>
              <p:cNvSpPr txBox="1"/>
              <p:nvPr/>
            </p:nvSpPr>
            <p:spPr>
              <a:xfrm>
                <a:off x="553901" y="3225432"/>
                <a:ext cx="4666890" cy="5458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400" i="1" noProof="0" smtClean="0">
                              <a:solidFill>
                                <a:schemeClr val="tx1"/>
                              </a:solidFill>
                              <a:latin typeface="Cambria Math" panose="02040503050406030204" pitchFamily="18" charset="0"/>
                              <a:cs typeface="+mn-cs"/>
                            </a:rPr>
                          </m:ctrlPr>
                        </m:sSubPr>
                        <m:e>
                          <m:r>
                            <a:rPr lang="en-AU" sz="2400" noProof="0" smtClean="0">
                              <a:solidFill>
                                <a:schemeClr val="tx1"/>
                              </a:solidFill>
                              <a:latin typeface="Cambria Math" panose="02040503050406030204" pitchFamily="18" charset="0"/>
                              <a:cs typeface="+mn-cs"/>
                            </a:rPr>
                            <m:t>𝜆</m:t>
                          </m:r>
                        </m:e>
                        <m:sub>
                          <m:r>
                            <m:rPr>
                              <m:sty m:val="p"/>
                            </m:rPr>
                            <a:rPr lang="en-AU" sz="2400" b="0" i="0" noProof="0" smtClean="0">
                              <a:solidFill>
                                <a:schemeClr val="tx1"/>
                              </a:solidFill>
                              <a:latin typeface="Cambria Math" panose="02040503050406030204" pitchFamily="18" charset="0"/>
                              <a:cs typeface="+mn-cs"/>
                            </a:rPr>
                            <m:t>LS</m:t>
                          </m:r>
                        </m:sub>
                      </m:sSub>
                      <m:r>
                        <a:rPr lang="en-AU" sz="2400" noProof="0" smtClean="0">
                          <a:solidFill>
                            <a:schemeClr val="tx1"/>
                          </a:solidFill>
                          <a:latin typeface="Cambria Math" panose="02040503050406030204" pitchFamily="18" charset="0"/>
                          <a:cs typeface="+mn-cs"/>
                        </a:rPr>
                        <m:t>=</m:t>
                      </m:r>
                      <m:sSub>
                        <m:sSubPr>
                          <m:ctrlPr>
                            <a:rPr lang="en-AU" sz="2400" i="1" noProof="0" smtClean="0">
                              <a:solidFill>
                                <a:schemeClr val="tx1"/>
                              </a:solidFill>
                              <a:latin typeface="Cambria Math" panose="02040503050406030204" pitchFamily="18" charset="0"/>
                            </a:rPr>
                          </m:ctrlPr>
                        </m:sSubPr>
                        <m:e>
                          <m:r>
                            <a:rPr lang="en-AU" sz="2400" i="1" noProof="0" smtClean="0">
                              <a:solidFill>
                                <a:schemeClr val="tx1"/>
                              </a:solidFill>
                              <a:latin typeface="Cambria Math" panose="02040503050406030204" pitchFamily="18" charset="0"/>
                            </a:rPr>
                            <m:t>𝑘</m:t>
                          </m:r>
                        </m:e>
                        <m:sub>
                          <m:r>
                            <a:rPr lang="en-AU" sz="2400" i="1" noProof="0" smtClean="0">
                              <a:solidFill>
                                <a:schemeClr val="tx1"/>
                              </a:solidFill>
                              <a:latin typeface="Cambria Math" panose="02040503050406030204" pitchFamily="18" charset="0"/>
                            </a:rPr>
                            <m:t>0</m:t>
                          </m:r>
                        </m:sub>
                      </m:sSub>
                      <m:r>
                        <a:rPr lang="en-AU" sz="2400" i="1" noProof="0" smtClean="0">
                          <a:solidFill>
                            <a:schemeClr val="tx1"/>
                          </a:solidFill>
                          <a:latin typeface="Cambria Math" panose="02040503050406030204" pitchFamily="18" charset="0"/>
                        </a:rPr>
                        <m:t>∙</m:t>
                      </m:r>
                      <m:sSubSup>
                        <m:sSubSupPr>
                          <m:ctrlPr>
                            <a:rPr lang="en-AU" sz="2400" i="1" noProof="0" smtClean="0">
                              <a:solidFill>
                                <a:schemeClr val="tx1"/>
                              </a:solidFill>
                              <a:latin typeface="Cambria Math" panose="02040503050406030204" pitchFamily="18" charset="0"/>
                            </a:rPr>
                          </m:ctrlPr>
                        </m:sSubSupPr>
                        <m:e>
                          <m:r>
                            <a:rPr lang="en-AU" sz="2400" i="1" noProof="0" smtClean="0">
                              <a:solidFill>
                                <a:schemeClr val="tx1"/>
                              </a:solidFill>
                              <a:latin typeface="Cambria Math" panose="02040503050406030204" pitchFamily="18" charset="0"/>
                            </a:rPr>
                            <m:t>𝜃</m:t>
                          </m:r>
                        </m:e>
                        <m:sub>
                          <m:r>
                            <a:rPr lang="en-AU" sz="2400" i="1" noProof="0" smtClean="0">
                              <a:solidFill>
                                <a:schemeClr val="tx1"/>
                              </a:solidFill>
                              <a:latin typeface="Cambria Math" panose="02040503050406030204" pitchFamily="18" charset="0"/>
                            </a:rPr>
                            <m:t>𝐿𝑆</m:t>
                          </m:r>
                        </m:sub>
                        <m:sup>
                          <m:r>
                            <a:rPr lang="en-AU" sz="2400" i="1" noProof="0" smtClean="0">
                              <a:solidFill>
                                <a:schemeClr val="tx1"/>
                              </a:solidFill>
                              <a:latin typeface="Cambria Math" panose="02040503050406030204" pitchFamily="18" charset="0"/>
                            </a:rPr>
                            <m:t>−</m:t>
                          </m:r>
                          <m:sSub>
                            <m:sSubPr>
                              <m:ctrlPr>
                                <a:rPr lang="en-AU" sz="2400" i="1" noProof="0" smtClean="0">
                                  <a:solidFill>
                                    <a:schemeClr val="tx1"/>
                                  </a:solidFill>
                                  <a:latin typeface="Cambria Math" panose="02040503050406030204" pitchFamily="18" charset="0"/>
                                </a:rPr>
                              </m:ctrlPr>
                            </m:sSubPr>
                            <m:e>
                              <m:r>
                                <a:rPr lang="en-AU" sz="2400" i="1" noProof="0" smtClean="0">
                                  <a:solidFill>
                                    <a:schemeClr val="tx1"/>
                                  </a:solidFill>
                                  <a:latin typeface="Cambria Math" panose="02040503050406030204" pitchFamily="18" charset="0"/>
                                </a:rPr>
                                <m:t>𝑘</m:t>
                              </m:r>
                            </m:e>
                            <m:sub>
                              <m:r>
                                <a:rPr lang="en-AU" sz="2400" noProof="0" smtClean="0">
                                  <a:solidFill>
                                    <a:schemeClr val="tx1"/>
                                  </a:solidFill>
                                  <a:latin typeface="Cambria Math" panose="02040503050406030204" pitchFamily="18" charset="0"/>
                                </a:rPr>
                                <m:t>1</m:t>
                              </m:r>
                            </m:sub>
                          </m:sSub>
                        </m:sup>
                      </m:sSubSup>
                      <m:r>
                        <a:rPr lang="en-AU" sz="2400" noProof="0" smtClean="0">
                          <a:solidFill>
                            <a:schemeClr val="tx1"/>
                          </a:solidFill>
                          <a:latin typeface="Cambria Math" panose="02040503050406030204" pitchFamily="18" charset="0"/>
                          <a:cs typeface="+mn-cs"/>
                        </a:rPr>
                        <m:t>∙</m:t>
                      </m:r>
                      <m:func>
                        <m:funcPr>
                          <m:ctrlPr>
                            <a:rPr lang="en-AU" sz="2400" b="0" i="1" noProof="0" smtClean="0">
                              <a:solidFill>
                                <a:schemeClr val="tx1"/>
                              </a:solidFill>
                              <a:latin typeface="Cambria Math" panose="02040503050406030204" pitchFamily="18" charset="0"/>
                              <a:cs typeface="+mn-cs"/>
                            </a:rPr>
                          </m:ctrlPr>
                        </m:funcPr>
                        <m:fName>
                          <m:r>
                            <m:rPr>
                              <m:sty m:val="p"/>
                            </m:rPr>
                            <a:rPr lang="en-AU" sz="2400" b="0" i="0" noProof="0" smtClean="0">
                              <a:solidFill>
                                <a:schemeClr val="tx1"/>
                              </a:solidFill>
                              <a:latin typeface="Cambria Math" panose="02040503050406030204" pitchFamily="18" charset="0"/>
                              <a:cs typeface="+mn-cs"/>
                            </a:rPr>
                            <m:t>exp</m:t>
                          </m:r>
                        </m:fName>
                        <m:e>
                          <m:d>
                            <m:dPr>
                              <m:begChr m:val="["/>
                              <m:endChr m:val="]"/>
                              <m:ctrlPr>
                                <a:rPr lang="en-AU" sz="2400" b="0" i="1" noProof="0" smtClean="0">
                                  <a:solidFill>
                                    <a:schemeClr val="tx1"/>
                                  </a:solidFill>
                                  <a:latin typeface="Cambria Math" panose="02040503050406030204" pitchFamily="18" charset="0"/>
                                  <a:cs typeface="+mn-cs"/>
                                </a:rPr>
                              </m:ctrlPr>
                            </m:dPr>
                            <m:e>
                              <m:r>
                                <a:rPr lang="en-AU" sz="2400" noProof="0" smtClean="0">
                                  <a:solidFill>
                                    <a:schemeClr val="tx1"/>
                                  </a:solidFill>
                                  <a:latin typeface="Cambria Math" panose="02040503050406030204" pitchFamily="18" charset="0"/>
                                </a:rPr>
                                <m:t>0,5∙</m:t>
                              </m:r>
                              <m:sSubSup>
                                <m:sSubSupPr>
                                  <m:ctrlPr>
                                    <a:rPr lang="en-AU" sz="2400" i="1" noProof="0" smtClean="0">
                                      <a:solidFill>
                                        <a:schemeClr val="tx1"/>
                                      </a:solidFill>
                                      <a:latin typeface="Cambria Math" panose="02040503050406030204" pitchFamily="18" charset="0"/>
                                    </a:rPr>
                                  </m:ctrlPr>
                                </m:sSubSupPr>
                                <m:e>
                                  <m:r>
                                    <a:rPr lang="en-AU" sz="2400" noProof="0" smtClean="0">
                                      <a:solidFill>
                                        <a:schemeClr val="tx1"/>
                                      </a:solidFill>
                                      <a:latin typeface="Cambria Math" panose="02040503050406030204" pitchFamily="18" charset="0"/>
                                    </a:rPr>
                                    <m:t>𝑘</m:t>
                                  </m:r>
                                </m:e>
                                <m:sub>
                                  <m:r>
                                    <a:rPr lang="en-AU" sz="2400" noProof="0" smtClean="0">
                                      <a:solidFill>
                                        <a:schemeClr val="tx1"/>
                                      </a:solidFill>
                                      <a:latin typeface="Cambria Math" panose="02040503050406030204" pitchFamily="18" charset="0"/>
                                    </a:rPr>
                                    <m:t>1</m:t>
                                  </m:r>
                                </m:sub>
                                <m:sup>
                                  <m:r>
                                    <a:rPr lang="en-AU" sz="2400" noProof="0" smtClean="0">
                                      <a:solidFill>
                                        <a:schemeClr val="tx1"/>
                                      </a:solidFill>
                                      <a:latin typeface="Cambria Math" panose="02040503050406030204" pitchFamily="18" charset="0"/>
                                    </a:rPr>
                                    <m:t>2</m:t>
                                  </m:r>
                                </m:sup>
                              </m:sSubSup>
                              <m:r>
                                <a:rPr lang="en-AU" sz="2400" noProof="0" smtClean="0">
                                  <a:solidFill>
                                    <a:schemeClr val="tx1"/>
                                  </a:solidFill>
                                  <a:latin typeface="Cambria Math" panose="02040503050406030204" pitchFamily="18" charset="0"/>
                                </a:rPr>
                                <m:t>∙</m:t>
                              </m:r>
                              <m:sSubSup>
                                <m:sSubSupPr>
                                  <m:ctrlPr>
                                    <a:rPr lang="en-AU" sz="2400" i="1" noProof="0" smtClean="0">
                                      <a:solidFill>
                                        <a:schemeClr val="tx1"/>
                                      </a:solidFill>
                                      <a:latin typeface="Cambria Math" panose="02040503050406030204" pitchFamily="18" charset="0"/>
                                    </a:rPr>
                                  </m:ctrlPr>
                                </m:sSubSupPr>
                                <m:e>
                                  <m:r>
                                    <a:rPr lang="en-AU" sz="2400" noProof="0" smtClean="0">
                                      <a:solidFill>
                                        <a:schemeClr val="tx1"/>
                                      </a:solidFill>
                                      <a:latin typeface="Cambria Math" panose="02040503050406030204" pitchFamily="18" charset="0"/>
                                    </a:rPr>
                                    <m:t>𝛽</m:t>
                                  </m:r>
                                </m:e>
                                <m:sub>
                                  <m:r>
                                    <m:rPr>
                                      <m:sty m:val="p"/>
                                    </m:rPr>
                                    <a:rPr lang="en-AU" sz="2400" noProof="0" smtClean="0">
                                      <a:solidFill>
                                        <a:schemeClr val="tx1"/>
                                      </a:solidFill>
                                      <a:latin typeface="Cambria Math" panose="02040503050406030204" pitchFamily="18" charset="0"/>
                                    </a:rPr>
                                    <m:t>LS</m:t>
                                  </m:r>
                                </m:sub>
                                <m:sup>
                                  <m:r>
                                    <a:rPr lang="en-AU" sz="2400" noProof="0" smtClean="0">
                                      <a:solidFill>
                                        <a:schemeClr val="tx1"/>
                                      </a:solidFill>
                                      <a:latin typeface="Cambria Math" panose="02040503050406030204" pitchFamily="18" charset="0"/>
                                    </a:rPr>
                                    <m:t>2</m:t>
                                  </m:r>
                                </m:sup>
                              </m:sSubSup>
                            </m:e>
                          </m:d>
                        </m:e>
                      </m:func>
                    </m:oMath>
                  </m:oMathPara>
                </a14:m>
                <a:endParaRPr lang="en-AU" sz="2400" noProof="0" dirty="0">
                  <a:solidFill>
                    <a:srgbClr val="333333"/>
                  </a:solidFill>
                  <a:latin typeface="+mn-lt"/>
                  <a:cs typeface="+mn-cs"/>
                </a:endParaRPr>
              </a:p>
            </p:txBody>
          </p:sp>
        </mc:Choice>
        <mc:Fallback xmlns="">
          <p:sp>
            <p:nvSpPr>
              <p:cNvPr id="8" name="Textfeld 7">
                <a:extLst>
                  <a:ext uri="{FF2B5EF4-FFF2-40B4-BE49-F238E27FC236}">
                    <a16:creationId xmlns:a16="http://schemas.microsoft.com/office/drawing/2014/main" id="{081324DB-061D-7FAB-4F39-A75F086F66CC}"/>
                  </a:ext>
                </a:extLst>
              </p:cNvPr>
              <p:cNvSpPr txBox="1">
                <a:spLocks noRot="1" noChangeAspect="1" noMove="1" noResize="1" noEditPoints="1" noAdjustHandles="1" noChangeArrowheads="1" noChangeShapeType="1" noTextEdit="1"/>
              </p:cNvSpPr>
              <p:nvPr/>
            </p:nvSpPr>
            <p:spPr>
              <a:xfrm>
                <a:off x="553901" y="3225432"/>
                <a:ext cx="4666890" cy="545855"/>
              </a:xfrm>
              <a:prstGeom prst="rect">
                <a:avLst/>
              </a:prstGeom>
              <a:blipFill>
                <a:blip r:embed="rId4"/>
                <a:stretch>
                  <a:fillRect/>
                </a:stretch>
              </a:blipFill>
            </p:spPr>
            <p:txBody>
              <a:bodyPr/>
              <a:lstStyle/>
              <a:p>
                <a:r>
                  <a:rPr lang="de-DE">
                    <a:noFill/>
                  </a:rPr>
                  <a:t> </a:t>
                </a:r>
              </a:p>
            </p:txBody>
          </p:sp>
        </mc:Fallback>
      </mc:AlternateContent>
      <p:sp>
        <p:nvSpPr>
          <p:cNvPr id="9" name="Pfeil: nach unten 8">
            <a:extLst>
              <a:ext uri="{FF2B5EF4-FFF2-40B4-BE49-F238E27FC236}">
                <a16:creationId xmlns:a16="http://schemas.microsoft.com/office/drawing/2014/main" id="{CA488351-00A7-44AA-CAAB-04D913267C32}"/>
              </a:ext>
            </a:extLst>
          </p:cNvPr>
          <p:cNvSpPr/>
          <p:nvPr/>
        </p:nvSpPr>
        <p:spPr>
          <a:xfrm rot="16200000">
            <a:off x="5937123" y="3045048"/>
            <a:ext cx="369331" cy="915664"/>
          </a:xfrm>
          <a:prstGeom prst="downArrow">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13" name="Textfeld 12">
            <a:extLst>
              <a:ext uri="{FF2B5EF4-FFF2-40B4-BE49-F238E27FC236}">
                <a16:creationId xmlns:a16="http://schemas.microsoft.com/office/drawing/2014/main" id="{9C6F0E0D-C594-B53C-31C0-D17F1497457F}"/>
              </a:ext>
            </a:extLst>
          </p:cNvPr>
          <p:cNvSpPr txBox="1"/>
          <p:nvPr/>
        </p:nvSpPr>
        <p:spPr>
          <a:xfrm>
            <a:off x="5395519" y="2045360"/>
            <a:ext cx="3657726" cy="369332"/>
          </a:xfrm>
          <a:prstGeom prst="rect">
            <a:avLst/>
          </a:prstGeom>
          <a:noFill/>
        </p:spPr>
        <p:txBody>
          <a:bodyPr wrap="square" rtlCol="0">
            <a:spAutoFit/>
          </a:bodyPr>
          <a:lstStyle/>
          <a:p>
            <a:r>
              <a:rPr lang="en-AU" noProof="0" dirty="0">
                <a:latin typeface="Futura LT Pro Light" panose="020B0402020204020303" pitchFamily="34" charset="0"/>
                <a:cs typeface="+mn-cs"/>
              </a:rPr>
              <a:t>The required collapse capacity</a:t>
            </a:r>
          </a:p>
        </p:txBody>
      </p:sp>
      <p:cxnSp>
        <p:nvCxnSpPr>
          <p:cNvPr id="14" name="Gerade Verbindung mit Pfeil 13">
            <a:extLst>
              <a:ext uri="{FF2B5EF4-FFF2-40B4-BE49-F238E27FC236}">
                <a16:creationId xmlns:a16="http://schemas.microsoft.com/office/drawing/2014/main" id="{6080B2F9-33FC-B72F-4131-5ED032CD97E6}"/>
              </a:ext>
            </a:extLst>
          </p:cNvPr>
          <p:cNvCxnSpPr>
            <a:cxnSpLocks/>
          </p:cNvCxnSpPr>
          <p:nvPr/>
        </p:nvCxnSpPr>
        <p:spPr>
          <a:xfrm>
            <a:off x="7224382" y="2529860"/>
            <a:ext cx="0" cy="67187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5D60EC79-57FD-B4E7-790C-D1532363E738}"/>
              </a:ext>
            </a:extLst>
          </p:cNvPr>
          <p:cNvSpPr txBox="1"/>
          <p:nvPr/>
        </p:nvSpPr>
        <p:spPr>
          <a:xfrm>
            <a:off x="9815160" y="1953796"/>
            <a:ext cx="1929165" cy="381515"/>
          </a:xfrm>
          <a:prstGeom prst="rect">
            <a:avLst/>
          </a:prstGeom>
          <a:noFill/>
        </p:spPr>
        <p:txBody>
          <a:bodyPr wrap="square" rtlCol="0">
            <a:spAutoFit/>
          </a:bodyPr>
          <a:lstStyle/>
          <a:p>
            <a:r>
              <a:rPr lang="en-AU" noProof="0" dirty="0">
                <a:latin typeface="Futura LT Pro Light" panose="020B0402020204020303" pitchFamily="34" charset="0"/>
                <a:cs typeface="+mn-cs"/>
              </a:rPr>
              <a:t>Target reliability</a:t>
            </a:r>
          </a:p>
        </p:txBody>
      </p:sp>
      <p:cxnSp>
        <p:nvCxnSpPr>
          <p:cNvPr id="16" name="Gerade Verbindung mit Pfeil 15">
            <a:extLst>
              <a:ext uri="{FF2B5EF4-FFF2-40B4-BE49-F238E27FC236}">
                <a16:creationId xmlns:a16="http://schemas.microsoft.com/office/drawing/2014/main" id="{4B726309-1D6D-486E-7B95-95217CF1A1B6}"/>
              </a:ext>
            </a:extLst>
          </p:cNvPr>
          <p:cNvCxnSpPr>
            <a:cxnSpLocks/>
          </p:cNvCxnSpPr>
          <p:nvPr/>
        </p:nvCxnSpPr>
        <p:spPr>
          <a:xfrm>
            <a:off x="10958309" y="2335311"/>
            <a:ext cx="0" cy="51376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78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3"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C6F552E-CF32-391F-B98B-4DBED2F564B5}"/>
              </a:ext>
            </a:extLst>
          </p:cNvPr>
          <p:cNvSpPr>
            <a:spLocks noGrp="1"/>
          </p:cNvSpPr>
          <p:nvPr>
            <p:ph type="title"/>
          </p:nvPr>
        </p:nvSpPr>
        <p:spPr/>
        <p:txBody>
          <a:bodyPr/>
          <a:lstStyle/>
          <a:p>
            <a:r>
              <a:rPr lang="en-AU" noProof="0" dirty="0"/>
              <a:t>A Reliability-based Design Procedure</a:t>
            </a:r>
          </a:p>
        </p:txBody>
      </p:sp>
      <p:grpSp>
        <p:nvGrpSpPr>
          <p:cNvPr id="96" name="Gruppieren 95">
            <a:extLst>
              <a:ext uri="{FF2B5EF4-FFF2-40B4-BE49-F238E27FC236}">
                <a16:creationId xmlns:a16="http://schemas.microsoft.com/office/drawing/2014/main" id="{2212D3BD-6819-4D8B-30BE-83FD3257660A}"/>
              </a:ext>
            </a:extLst>
          </p:cNvPr>
          <p:cNvGrpSpPr/>
          <p:nvPr/>
        </p:nvGrpSpPr>
        <p:grpSpPr>
          <a:xfrm>
            <a:off x="547901" y="1775994"/>
            <a:ext cx="4720392" cy="1367237"/>
            <a:chOff x="547901" y="1775994"/>
            <a:chExt cx="4720392" cy="1367237"/>
          </a:xfrm>
        </p:grpSpPr>
        <p:grpSp>
          <p:nvGrpSpPr>
            <p:cNvPr id="5" name="Gruppieren 4">
              <a:extLst>
                <a:ext uri="{FF2B5EF4-FFF2-40B4-BE49-F238E27FC236}">
                  <a16:creationId xmlns:a16="http://schemas.microsoft.com/office/drawing/2014/main" id="{3BC904FF-F52D-E352-70CD-3E7997095F50}"/>
                </a:ext>
              </a:extLst>
            </p:cNvPr>
            <p:cNvGrpSpPr/>
            <p:nvPr/>
          </p:nvGrpSpPr>
          <p:grpSpPr>
            <a:xfrm>
              <a:off x="4222846" y="1908101"/>
              <a:ext cx="781921" cy="1088002"/>
              <a:chOff x="7849083" y="2889305"/>
              <a:chExt cx="950900" cy="1323127"/>
            </a:xfrm>
          </p:grpSpPr>
          <p:cxnSp>
            <p:nvCxnSpPr>
              <p:cNvPr id="9" name="Gerader Verbinder 8">
                <a:extLst>
                  <a:ext uri="{FF2B5EF4-FFF2-40B4-BE49-F238E27FC236}">
                    <a16:creationId xmlns:a16="http://schemas.microsoft.com/office/drawing/2014/main" id="{2CBA9A5D-21CC-51F8-BABA-8E8F0A853944}"/>
                  </a:ext>
                </a:extLst>
              </p:cNvPr>
              <p:cNvCxnSpPr/>
              <p:nvPr/>
            </p:nvCxnSpPr>
            <p:spPr>
              <a:xfrm flipV="1">
                <a:off x="8317135" y="3060304"/>
                <a:ext cx="0" cy="1152128"/>
              </a:xfrm>
              <a:prstGeom prst="line">
                <a:avLst/>
              </a:prstGeom>
              <a:noFill/>
              <a:ln w="28575" cap="flat" cmpd="sng" algn="ctr">
                <a:solidFill>
                  <a:srgbClr val="FFFFFF">
                    <a:lumMod val="65000"/>
                  </a:srgbClr>
                </a:solidFill>
                <a:prstDash val="dash"/>
              </a:ln>
              <a:effectLst/>
            </p:spPr>
          </p:cxnSp>
          <p:sp>
            <p:nvSpPr>
              <p:cNvPr id="10" name="Freihandform: Form 9">
                <a:extLst>
                  <a:ext uri="{FF2B5EF4-FFF2-40B4-BE49-F238E27FC236}">
                    <a16:creationId xmlns:a16="http://schemas.microsoft.com/office/drawing/2014/main" id="{991153B5-82AC-9051-C214-B7EA3BDFF1B7}"/>
                  </a:ext>
                </a:extLst>
              </p:cNvPr>
              <p:cNvSpPr/>
              <p:nvPr/>
            </p:nvSpPr>
            <p:spPr>
              <a:xfrm>
                <a:off x="7948763" y="3102034"/>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rgbClr val="00263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cxnSp>
            <p:nvCxnSpPr>
              <p:cNvPr id="11" name="Gerader Verbinder 10">
                <a:extLst>
                  <a:ext uri="{FF2B5EF4-FFF2-40B4-BE49-F238E27FC236}">
                    <a16:creationId xmlns:a16="http://schemas.microsoft.com/office/drawing/2014/main" id="{36C180DA-8CF9-F0F0-C807-7BA408C665A8}"/>
                  </a:ext>
                </a:extLst>
              </p:cNvPr>
              <p:cNvCxnSpPr>
                <a:cxnSpLocks/>
              </p:cNvCxnSpPr>
              <p:nvPr/>
            </p:nvCxnSpPr>
            <p:spPr>
              <a:xfrm>
                <a:off x="7957095" y="4212432"/>
                <a:ext cx="720080" cy="0"/>
              </a:xfrm>
              <a:prstGeom prst="line">
                <a:avLst/>
              </a:prstGeom>
              <a:noFill/>
              <a:ln w="57150" cap="flat" cmpd="sng" algn="ctr">
                <a:solidFill>
                  <a:srgbClr val="00263E"/>
                </a:solidFill>
                <a:prstDash val="solid"/>
              </a:ln>
              <a:effectLst/>
            </p:spPr>
          </p:cxnSp>
          <p:sp>
            <p:nvSpPr>
              <p:cNvPr id="12" name="Freihandform: Form 11">
                <a:extLst>
                  <a:ext uri="{FF2B5EF4-FFF2-40B4-BE49-F238E27FC236}">
                    <a16:creationId xmlns:a16="http://schemas.microsoft.com/office/drawing/2014/main" id="{68C6B8C6-C382-B2D0-1F42-9A382A190964}"/>
                  </a:ext>
                </a:extLst>
              </p:cNvPr>
              <p:cNvSpPr/>
              <p:nvPr/>
            </p:nvSpPr>
            <p:spPr>
              <a:xfrm flipH="1">
                <a:off x="8323485" y="3102033"/>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rgbClr val="00263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13" name="Ellipse 12">
                <a:extLst>
                  <a:ext uri="{FF2B5EF4-FFF2-40B4-BE49-F238E27FC236}">
                    <a16:creationId xmlns:a16="http://schemas.microsoft.com/office/drawing/2014/main" id="{90928864-5262-93EE-D64D-D0EFB560A5B3}"/>
                  </a:ext>
                </a:extLst>
              </p:cNvPr>
              <p:cNvSpPr/>
              <p:nvPr/>
            </p:nvSpPr>
            <p:spPr>
              <a:xfrm>
                <a:off x="7849083" y="2994022"/>
                <a:ext cx="216024" cy="216024"/>
              </a:xfrm>
              <a:prstGeom prst="ellipse">
                <a:avLst/>
              </a:prstGeom>
              <a:solidFill>
                <a:srgbClr val="00263E"/>
              </a:solidFill>
              <a:ln w="10795" cap="flat" cmpd="sng" algn="ctr">
                <a:solidFill>
                  <a:srgbClr val="00263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14" name="Ellipse 13">
                <a:extLst>
                  <a:ext uri="{FF2B5EF4-FFF2-40B4-BE49-F238E27FC236}">
                    <a16:creationId xmlns:a16="http://schemas.microsoft.com/office/drawing/2014/main" id="{4DF0613A-69AF-2E75-871B-6B216A2ED629}"/>
                  </a:ext>
                </a:extLst>
              </p:cNvPr>
              <p:cNvSpPr/>
              <p:nvPr/>
            </p:nvSpPr>
            <p:spPr>
              <a:xfrm>
                <a:off x="8583959" y="2994080"/>
                <a:ext cx="216024" cy="216024"/>
              </a:xfrm>
              <a:prstGeom prst="ellipse">
                <a:avLst/>
              </a:prstGeom>
              <a:solidFill>
                <a:srgbClr val="00263E"/>
              </a:solidFill>
              <a:ln w="10795" cap="flat" cmpd="sng" algn="ctr">
                <a:solidFill>
                  <a:srgbClr val="00263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15" name="Freihandform: Form 14">
                <a:extLst>
                  <a:ext uri="{FF2B5EF4-FFF2-40B4-BE49-F238E27FC236}">
                    <a16:creationId xmlns:a16="http://schemas.microsoft.com/office/drawing/2014/main" id="{4B7609CE-062F-48BB-BE69-8C8654932256}"/>
                  </a:ext>
                </a:extLst>
              </p:cNvPr>
              <p:cNvSpPr/>
              <p:nvPr/>
            </p:nvSpPr>
            <p:spPr>
              <a:xfrm rot="2074661">
                <a:off x="8153920" y="2889305"/>
                <a:ext cx="298450" cy="209550"/>
              </a:xfrm>
              <a:custGeom>
                <a:avLst/>
                <a:gdLst>
                  <a:gd name="connsiteX0" fmla="*/ 0 w 298450"/>
                  <a:gd name="connsiteY0" fmla="*/ 209550 h 209550"/>
                  <a:gd name="connsiteX1" fmla="*/ 298450 w 298450"/>
                  <a:gd name="connsiteY1" fmla="*/ 0 h 209550"/>
                  <a:gd name="connsiteX0" fmla="*/ 0 w 298450"/>
                  <a:gd name="connsiteY0" fmla="*/ 209550 h 209550"/>
                  <a:gd name="connsiteX1" fmla="*/ 298450 w 298450"/>
                  <a:gd name="connsiteY1" fmla="*/ 0 h 209550"/>
                  <a:gd name="connsiteX0" fmla="*/ 0 w 298450"/>
                  <a:gd name="connsiteY0" fmla="*/ 216991 h 216991"/>
                  <a:gd name="connsiteX1" fmla="*/ 298450 w 298450"/>
                  <a:gd name="connsiteY1" fmla="*/ 7441 h 216991"/>
                  <a:gd name="connsiteX0" fmla="*/ 0 w 298450"/>
                  <a:gd name="connsiteY0" fmla="*/ 209550 h 209550"/>
                  <a:gd name="connsiteX1" fmla="*/ 298450 w 298450"/>
                  <a:gd name="connsiteY1" fmla="*/ 0 h 209550"/>
                </a:gdLst>
                <a:ahLst/>
                <a:cxnLst>
                  <a:cxn ang="0">
                    <a:pos x="connsiteX0" y="connsiteY0"/>
                  </a:cxn>
                  <a:cxn ang="0">
                    <a:pos x="connsiteX1" y="connsiteY1"/>
                  </a:cxn>
                </a:cxnLst>
                <a:rect l="l" t="t" r="r" b="b"/>
                <a:pathLst>
                  <a:path w="298450" h="209550">
                    <a:moveTo>
                      <a:pt x="0" y="209550"/>
                    </a:moveTo>
                    <a:cubicBezTo>
                      <a:pt x="55033" y="38100"/>
                      <a:pt x="135467" y="0"/>
                      <a:pt x="298450" y="0"/>
                    </a:cubicBezTo>
                  </a:path>
                </a:pathLst>
              </a:custGeom>
              <a:noFill/>
              <a:ln w="28575" cap="flat" cmpd="sng" algn="ctr">
                <a:solidFill>
                  <a:srgbClr val="00263E"/>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grpSp>
        <p:grpSp>
          <p:nvGrpSpPr>
            <p:cNvPr id="6" name="Gruppieren 5">
              <a:extLst>
                <a:ext uri="{FF2B5EF4-FFF2-40B4-BE49-F238E27FC236}">
                  <a16:creationId xmlns:a16="http://schemas.microsoft.com/office/drawing/2014/main" id="{D30E7427-E4EF-C4D5-D026-52491556DD06}"/>
                </a:ext>
              </a:extLst>
            </p:cNvPr>
            <p:cNvGrpSpPr/>
            <p:nvPr/>
          </p:nvGrpSpPr>
          <p:grpSpPr>
            <a:xfrm>
              <a:off x="547901" y="1775994"/>
              <a:ext cx="4720392" cy="1367237"/>
              <a:chOff x="828303" y="1803098"/>
              <a:chExt cx="4720392" cy="1367237"/>
            </a:xfrm>
          </p:grpSpPr>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1A589117-BF79-CA2B-5F21-DDF87625D3C5}"/>
                      </a:ext>
                    </a:extLst>
                  </p:cNvPr>
                  <p:cNvSpPr txBox="1"/>
                  <p:nvPr/>
                </p:nvSpPr>
                <p:spPr>
                  <a:xfrm>
                    <a:off x="835269" y="2318674"/>
                    <a:ext cx="3075440" cy="381515"/>
                  </a:xfrm>
                  <a:prstGeom prst="rect">
                    <a:avLst/>
                  </a:prstGeom>
                  <a:noFill/>
                </p:spPr>
                <p:txBody>
                  <a:bodyPr wrap="square" rtlCol="0">
                    <a:spAutoFit/>
                  </a:bodyPr>
                  <a:lstStyle/>
                  <a:p>
                    <a:r>
                      <a:rPr lang="en-AU" b="1" noProof="0" dirty="0">
                        <a:solidFill>
                          <a:srgbClr val="333333"/>
                        </a:solidFill>
                        <a:latin typeface="Futura LT Pro Light" panose="020B0402020204020303" pitchFamily="34" charset="0"/>
                        <a:cs typeface="+mn-cs"/>
                      </a:rPr>
                      <a:t>2</a:t>
                    </a:r>
                    <a:r>
                      <a:rPr lang="en-AU" noProof="0" dirty="0">
                        <a:solidFill>
                          <a:srgbClr val="333333"/>
                        </a:solidFill>
                        <a:latin typeface="Futura LT Pro Light" panose="020B0402020204020303" pitchFamily="34" charset="0"/>
                        <a:cs typeface="+mn-cs"/>
                      </a:rPr>
                      <a:t>. Estimate period:    </a:t>
                    </a:r>
                    <a14:m>
                      <m:oMath xmlns:m="http://schemas.openxmlformats.org/officeDocument/2006/math">
                        <m:sSub>
                          <m:sSubPr>
                            <m:ctrlPr>
                              <a:rPr lang="en-AU" b="1" i="1" noProof="0" smtClean="0">
                                <a:solidFill>
                                  <a:srgbClr val="333333"/>
                                </a:solidFill>
                                <a:latin typeface="Cambria Math" panose="02040503050406030204" pitchFamily="18" charset="0"/>
                                <a:cs typeface="+mn-cs"/>
                              </a:rPr>
                            </m:ctrlPr>
                          </m:sSubPr>
                          <m:e>
                            <m:r>
                              <a:rPr lang="en-AU" b="1" i="1" noProof="0" smtClean="0">
                                <a:solidFill>
                                  <a:srgbClr val="333333"/>
                                </a:solidFill>
                                <a:latin typeface="Cambria Math" panose="02040503050406030204" pitchFamily="18" charset="0"/>
                                <a:cs typeface="+mn-cs"/>
                              </a:rPr>
                              <m:t>𝑻</m:t>
                            </m:r>
                          </m:e>
                          <m:sub>
                            <m:r>
                              <a:rPr lang="en-AU" b="1" i="1" noProof="0" smtClean="0">
                                <a:solidFill>
                                  <a:srgbClr val="333333"/>
                                </a:solidFill>
                                <a:latin typeface="Cambria Math" panose="02040503050406030204" pitchFamily="18" charset="0"/>
                                <a:cs typeface="+mn-cs"/>
                              </a:rPr>
                              <m:t>𝟏</m:t>
                            </m:r>
                          </m:sub>
                        </m:sSub>
                      </m:oMath>
                    </a14:m>
                    <a:endParaRPr lang="en-AU" b="1" noProof="0" dirty="0">
                      <a:solidFill>
                        <a:srgbClr val="333333"/>
                      </a:solidFill>
                      <a:latin typeface="Futura LT Pro Light" panose="020B0402020204020303" pitchFamily="34" charset="0"/>
                      <a:cs typeface="+mn-cs"/>
                    </a:endParaRPr>
                  </a:p>
                </p:txBody>
              </p:sp>
            </mc:Choice>
            <mc:Fallback xmlns="">
              <p:sp>
                <p:nvSpPr>
                  <p:cNvPr id="7" name="Textfeld 6">
                    <a:extLst>
                      <a:ext uri="{FF2B5EF4-FFF2-40B4-BE49-F238E27FC236}">
                        <a16:creationId xmlns:a16="http://schemas.microsoft.com/office/drawing/2014/main" id="{1A589117-BF79-CA2B-5F21-DDF87625D3C5}"/>
                      </a:ext>
                    </a:extLst>
                  </p:cNvPr>
                  <p:cNvSpPr txBox="1">
                    <a:spLocks noRot="1" noChangeAspect="1" noMove="1" noResize="1" noEditPoints="1" noAdjustHandles="1" noChangeArrowheads="1" noChangeShapeType="1" noTextEdit="1"/>
                  </p:cNvSpPr>
                  <p:nvPr/>
                </p:nvSpPr>
                <p:spPr>
                  <a:xfrm>
                    <a:off x="835269" y="2318674"/>
                    <a:ext cx="3075440" cy="381515"/>
                  </a:xfrm>
                  <a:prstGeom prst="rect">
                    <a:avLst/>
                  </a:prstGeom>
                  <a:blipFill>
                    <a:blip r:embed="rId2"/>
                    <a:stretch>
                      <a:fillRect l="-1584" t="-9677" b="-22581"/>
                    </a:stretch>
                  </a:blipFill>
                </p:spPr>
                <p:txBody>
                  <a:bodyPr/>
                  <a:lstStyle/>
                  <a:p>
                    <a:r>
                      <a:rPr lang="de-DE">
                        <a:noFill/>
                      </a:rPr>
                      <a:t> </a:t>
                    </a:r>
                  </a:p>
                </p:txBody>
              </p:sp>
            </mc:Fallback>
          </mc:AlternateContent>
          <p:sp>
            <p:nvSpPr>
              <p:cNvPr id="8" name="Rechteck 7">
                <a:extLst>
                  <a:ext uri="{FF2B5EF4-FFF2-40B4-BE49-F238E27FC236}">
                    <a16:creationId xmlns:a16="http://schemas.microsoft.com/office/drawing/2014/main" id="{BAE9BAC0-B7FD-531D-27E7-5FCF6E39497B}"/>
                  </a:ext>
                </a:extLst>
              </p:cNvPr>
              <p:cNvSpPr/>
              <p:nvPr/>
            </p:nvSpPr>
            <p:spPr>
              <a:xfrm>
                <a:off x="828303" y="1803098"/>
                <a:ext cx="4720392" cy="136723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grpSp>
        <p:nvGrpSpPr>
          <p:cNvPr id="16" name="Gruppieren 15">
            <a:extLst>
              <a:ext uri="{FF2B5EF4-FFF2-40B4-BE49-F238E27FC236}">
                <a16:creationId xmlns:a16="http://schemas.microsoft.com/office/drawing/2014/main" id="{843B28E2-FB6F-363B-3C58-A122B8F1D47F}"/>
              </a:ext>
            </a:extLst>
          </p:cNvPr>
          <p:cNvGrpSpPr/>
          <p:nvPr/>
        </p:nvGrpSpPr>
        <p:grpSpPr>
          <a:xfrm>
            <a:off x="547900" y="3351396"/>
            <a:ext cx="4720392" cy="1228859"/>
            <a:chOff x="828302" y="3678711"/>
            <a:chExt cx="4720392" cy="1228859"/>
          </a:xfrm>
        </p:grpSpPr>
        <p:grpSp>
          <p:nvGrpSpPr>
            <p:cNvPr id="17" name="Gruppieren 16">
              <a:extLst>
                <a:ext uri="{FF2B5EF4-FFF2-40B4-BE49-F238E27FC236}">
                  <a16:creationId xmlns:a16="http://schemas.microsoft.com/office/drawing/2014/main" id="{D8C43922-9DBC-FFA4-262C-EBD115A268C6}"/>
                </a:ext>
              </a:extLst>
            </p:cNvPr>
            <p:cNvGrpSpPr/>
            <p:nvPr/>
          </p:nvGrpSpPr>
          <p:grpSpPr>
            <a:xfrm>
              <a:off x="838350" y="3813615"/>
              <a:ext cx="4442641" cy="894713"/>
              <a:chOff x="1722774" y="4356373"/>
              <a:chExt cx="4442641" cy="894713"/>
            </a:xfrm>
          </p:grpSpPr>
          <mc:AlternateContent xmlns:mc="http://schemas.openxmlformats.org/markup-compatibility/2006" xmlns:a14="http://schemas.microsoft.com/office/drawing/2010/main">
            <mc:Choice Requires="a14">
              <p:sp>
                <p:nvSpPr>
                  <p:cNvPr id="19" name="Textfeld 18">
                    <a:extLst>
                      <a:ext uri="{FF2B5EF4-FFF2-40B4-BE49-F238E27FC236}">
                        <a16:creationId xmlns:a16="http://schemas.microsoft.com/office/drawing/2014/main" id="{0321A972-AEBC-E7CB-8AA0-E9F305985AB2}"/>
                      </a:ext>
                    </a:extLst>
                  </p:cNvPr>
                  <p:cNvSpPr txBox="1"/>
                  <p:nvPr/>
                </p:nvSpPr>
                <p:spPr>
                  <a:xfrm>
                    <a:off x="1722774" y="4687046"/>
                    <a:ext cx="317516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rPr>
                      <a:t>3. </a:t>
                    </a:r>
                    <a:r>
                      <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rPr>
                      <a:t>Define hazard: </a:t>
                    </a:r>
                    <a14:m>
                      <m:oMath xmlns:m="http://schemas.openxmlformats.org/officeDocument/2006/math">
                        <m:sSub>
                          <m:sSubPr>
                            <m:ctrlP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ctrlPr>
                          </m:sSubPr>
                          <m:e>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𝒌</m:t>
                            </m:r>
                          </m:e>
                          <m:sub>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𝟎</m:t>
                            </m:r>
                          </m:sub>
                        </m:sSub>
                      </m:oMath>
                    </a14:m>
                    <a:r>
                      <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rPr>
                      <a:t>, </a:t>
                    </a:r>
                    <a14:m>
                      <m:oMath xmlns:m="http://schemas.openxmlformats.org/officeDocument/2006/math">
                        <m:sSub>
                          <m:sSubPr>
                            <m:ctrlP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rPr>
                              <m:t>𝒌</m:t>
                            </m:r>
                          </m:e>
                          <m:sub>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rPr>
                              <m:t>𝟏</m:t>
                            </m:r>
                          </m:sub>
                        </m:sSub>
                      </m:oMath>
                    </a14:m>
                    <a:r>
                      <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rPr>
                      <a:t> </a:t>
                    </a:r>
                    <a:endPar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endParaRPr>
                  </a:p>
                </p:txBody>
              </p:sp>
            </mc:Choice>
            <mc:Fallback xmlns="">
              <p:sp>
                <p:nvSpPr>
                  <p:cNvPr id="19" name="Textfeld 18">
                    <a:extLst>
                      <a:ext uri="{FF2B5EF4-FFF2-40B4-BE49-F238E27FC236}">
                        <a16:creationId xmlns:a16="http://schemas.microsoft.com/office/drawing/2014/main" id="{0321A972-AEBC-E7CB-8AA0-E9F305985AB2}"/>
                      </a:ext>
                    </a:extLst>
                  </p:cNvPr>
                  <p:cNvSpPr txBox="1">
                    <a:spLocks noRot="1" noChangeAspect="1" noMove="1" noResize="1" noEditPoints="1" noAdjustHandles="1" noChangeArrowheads="1" noChangeShapeType="1" noTextEdit="1"/>
                  </p:cNvSpPr>
                  <p:nvPr/>
                </p:nvSpPr>
                <p:spPr>
                  <a:xfrm>
                    <a:off x="1722774" y="4687046"/>
                    <a:ext cx="3175163" cy="369332"/>
                  </a:xfrm>
                  <a:prstGeom prst="rect">
                    <a:avLst/>
                  </a:prstGeom>
                  <a:blipFill>
                    <a:blip r:embed="rId3"/>
                    <a:stretch>
                      <a:fillRect l="-1731" t="-8197" b="-24590"/>
                    </a:stretch>
                  </a:blipFill>
                </p:spPr>
                <p:txBody>
                  <a:bodyPr/>
                  <a:lstStyle/>
                  <a:p>
                    <a:r>
                      <a:rPr lang="de-DE">
                        <a:noFill/>
                      </a:rPr>
                      <a:t> </a:t>
                    </a:r>
                  </a:p>
                </p:txBody>
              </p:sp>
            </mc:Fallback>
          </mc:AlternateContent>
          <p:grpSp>
            <p:nvGrpSpPr>
              <p:cNvPr id="20" name="Gruppieren 19">
                <a:extLst>
                  <a:ext uri="{FF2B5EF4-FFF2-40B4-BE49-F238E27FC236}">
                    <a16:creationId xmlns:a16="http://schemas.microsoft.com/office/drawing/2014/main" id="{23B10428-FFA5-7BAF-94CC-70BB17ED5733}"/>
                  </a:ext>
                </a:extLst>
              </p:cNvPr>
              <p:cNvGrpSpPr/>
              <p:nvPr/>
            </p:nvGrpSpPr>
            <p:grpSpPr>
              <a:xfrm>
                <a:off x="5025096" y="4356373"/>
                <a:ext cx="1140319" cy="894713"/>
                <a:chOff x="4665045" y="3205667"/>
                <a:chExt cx="1869354" cy="1466725"/>
              </a:xfrm>
            </p:grpSpPr>
            <p:grpSp>
              <p:nvGrpSpPr>
                <p:cNvPr id="21" name="Gruppieren 20">
                  <a:extLst>
                    <a:ext uri="{FF2B5EF4-FFF2-40B4-BE49-F238E27FC236}">
                      <a16:creationId xmlns:a16="http://schemas.microsoft.com/office/drawing/2014/main" id="{AEF65097-7E7D-3CA9-A7BC-7778CF7D5C14}"/>
                    </a:ext>
                  </a:extLst>
                </p:cNvPr>
                <p:cNvGrpSpPr/>
                <p:nvPr/>
              </p:nvGrpSpPr>
              <p:grpSpPr>
                <a:xfrm>
                  <a:off x="4665045" y="3205667"/>
                  <a:ext cx="1869354" cy="1466725"/>
                  <a:chOff x="4902525" y="4002975"/>
                  <a:chExt cx="1869354" cy="1466725"/>
                </a:xfrm>
              </p:grpSpPr>
              <p:cxnSp>
                <p:nvCxnSpPr>
                  <p:cNvPr id="23" name="Gerader Verbinder 22">
                    <a:extLst>
                      <a:ext uri="{FF2B5EF4-FFF2-40B4-BE49-F238E27FC236}">
                        <a16:creationId xmlns:a16="http://schemas.microsoft.com/office/drawing/2014/main" id="{85C85DE9-B473-CB1F-6C02-066E651438DE}"/>
                      </a:ext>
                    </a:extLst>
                  </p:cNvPr>
                  <p:cNvCxnSpPr>
                    <a:cxnSpLocks/>
                  </p:cNvCxnSpPr>
                  <p:nvPr/>
                </p:nvCxnSpPr>
                <p:spPr>
                  <a:xfrm flipV="1">
                    <a:off x="4902528" y="4002975"/>
                    <a:ext cx="0" cy="1466725"/>
                  </a:xfrm>
                  <a:prstGeom prst="line">
                    <a:avLst/>
                  </a:prstGeom>
                  <a:noFill/>
                  <a:ln w="28575" cap="flat" cmpd="sng" algn="ctr">
                    <a:solidFill>
                      <a:srgbClr val="000000"/>
                    </a:solidFill>
                    <a:prstDash val="solid"/>
                    <a:headEnd type="none" w="med" len="med"/>
                    <a:tailEnd type="triangle" w="med" len="med"/>
                  </a:ln>
                  <a:effectLst/>
                </p:spPr>
              </p:cxnSp>
              <p:cxnSp>
                <p:nvCxnSpPr>
                  <p:cNvPr id="24" name="Gerader Verbinder 23">
                    <a:extLst>
                      <a:ext uri="{FF2B5EF4-FFF2-40B4-BE49-F238E27FC236}">
                        <a16:creationId xmlns:a16="http://schemas.microsoft.com/office/drawing/2014/main" id="{6DCC60D3-11A5-C4D3-F0B3-E014C3258289}"/>
                      </a:ext>
                    </a:extLst>
                  </p:cNvPr>
                  <p:cNvCxnSpPr>
                    <a:cxnSpLocks/>
                  </p:cNvCxnSpPr>
                  <p:nvPr/>
                </p:nvCxnSpPr>
                <p:spPr>
                  <a:xfrm>
                    <a:off x="4902525" y="5469700"/>
                    <a:ext cx="1869354" cy="0"/>
                  </a:xfrm>
                  <a:prstGeom prst="line">
                    <a:avLst/>
                  </a:prstGeom>
                  <a:noFill/>
                  <a:ln w="28575" cap="flat" cmpd="sng" algn="ctr">
                    <a:solidFill>
                      <a:srgbClr val="000000"/>
                    </a:solidFill>
                    <a:prstDash val="solid"/>
                    <a:headEnd type="none" w="med" len="med"/>
                    <a:tailEnd type="triangle" w="med" len="med"/>
                  </a:ln>
                  <a:effectLst/>
                </p:spPr>
              </p:cxnSp>
              <p:sp>
                <p:nvSpPr>
                  <p:cNvPr id="25" name="Freihandform: Form 24">
                    <a:extLst>
                      <a:ext uri="{FF2B5EF4-FFF2-40B4-BE49-F238E27FC236}">
                        <a16:creationId xmlns:a16="http://schemas.microsoft.com/office/drawing/2014/main" id="{F5A9F237-1324-660F-A039-5F3CA8C7EE69}"/>
                      </a:ext>
                    </a:extLst>
                  </p:cNvPr>
                  <p:cNvSpPr/>
                  <p:nvPr/>
                </p:nvSpPr>
                <p:spPr>
                  <a:xfrm>
                    <a:off x="5065390" y="4325269"/>
                    <a:ext cx="1364344" cy="1045028"/>
                  </a:xfrm>
                  <a:custGeom>
                    <a:avLst/>
                    <a:gdLst>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Lst>
                    <a:ahLst/>
                    <a:cxnLst>
                      <a:cxn ang="0">
                        <a:pos x="connsiteX0" y="connsiteY0"/>
                      </a:cxn>
                      <a:cxn ang="0">
                        <a:pos x="connsiteX1" y="connsiteY1"/>
                      </a:cxn>
                    </a:cxnLst>
                    <a:rect l="l" t="t" r="r" b="b"/>
                    <a:pathLst>
                      <a:path w="1364343" h="1045028">
                        <a:moveTo>
                          <a:pt x="0" y="0"/>
                        </a:moveTo>
                        <a:cubicBezTo>
                          <a:pt x="846667" y="261258"/>
                          <a:pt x="953105" y="362856"/>
                          <a:pt x="1364343" y="1045028"/>
                        </a:cubicBezTo>
                      </a:path>
                    </a:pathLst>
                  </a:custGeom>
                  <a:noFill/>
                  <a:ln w="28575" cap="flat" cmpd="sng" algn="ctr">
                    <a:solidFill>
                      <a:srgbClr val="00263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FFFFFF"/>
                      </a:solidFill>
                      <a:effectLst/>
                      <a:uLnTx/>
                      <a:uFillTx/>
                      <a:latin typeface="Futura LT Pro Book"/>
                      <a:ea typeface="+mn-ea"/>
                      <a:cs typeface="+mn-cs"/>
                    </a:endParaRPr>
                  </a:p>
                </p:txBody>
              </p:sp>
            </p:grpSp>
            <p:cxnSp>
              <p:nvCxnSpPr>
                <p:cNvPr id="22" name="Gerader Verbinder 21">
                  <a:extLst>
                    <a:ext uri="{FF2B5EF4-FFF2-40B4-BE49-F238E27FC236}">
                      <a16:creationId xmlns:a16="http://schemas.microsoft.com/office/drawing/2014/main" id="{12562FDD-5F68-A4F7-6538-B6B4A9CAA0DC}"/>
                    </a:ext>
                  </a:extLst>
                </p:cNvPr>
                <p:cNvCxnSpPr>
                  <a:cxnSpLocks/>
                </p:cNvCxnSpPr>
                <p:nvPr/>
              </p:nvCxnSpPr>
              <p:spPr>
                <a:xfrm>
                  <a:off x="5127377" y="3339182"/>
                  <a:ext cx="1175092" cy="1175092"/>
                </a:xfrm>
                <a:prstGeom prst="line">
                  <a:avLst/>
                </a:prstGeom>
                <a:noFill/>
                <a:ln w="28575" cap="flat" cmpd="sng" algn="ctr">
                  <a:solidFill>
                    <a:srgbClr val="00263E">
                      <a:lumMod val="90000"/>
                      <a:lumOff val="10000"/>
                    </a:srgbClr>
                  </a:solidFill>
                  <a:prstDash val="sysDot"/>
                </a:ln>
                <a:effectLst/>
              </p:spPr>
            </p:cxnSp>
          </p:grpSp>
        </p:grpSp>
        <p:sp>
          <p:nvSpPr>
            <p:cNvPr id="18" name="Rechteck 17">
              <a:extLst>
                <a:ext uri="{FF2B5EF4-FFF2-40B4-BE49-F238E27FC236}">
                  <a16:creationId xmlns:a16="http://schemas.microsoft.com/office/drawing/2014/main" id="{34373A7B-1ADD-0F37-62E5-275DE2CBD0FF}"/>
                </a:ext>
              </a:extLst>
            </p:cNvPr>
            <p:cNvSpPr/>
            <p:nvPr/>
          </p:nvSpPr>
          <p:spPr>
            <a:xfrm>
              <a:off x="828302" y="3678711"/>
              <a:ext cx="4720392" cy="122885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26" name="Gruppieren 25">
            <a:extLst>
              <a:ext uri="{FF2B5EF4-FFF2-40B4-BE49-F238E27FC236}">
                <a16:creationId xmlns:a16="http://schemas.microsoft.com/office/drawing/2014/main" id="{1489CB6A-955C-66A1-DA33-68DB16FBA9B8}"/>
              </a:ext>
            </a:extLst>
          </p:cNvPr>
          <p:cNvGrpSpPr/>
          <p:nvPr/>
        </p:nvGrpSpPr>
        <p:grpSpPr>
          <a:xfrm>
            <a:off x="547900" y="4788421"/>
            <a:ext cx="4720392" cy="1228859"/>
            <a:chOff x="828302" y="5062879"/>
            <a:chExt cx="4720392" cy="1228859"/>
          </a:xfrm>
        </p:grpSpPr>
        <p:grpSp>
          <p:nvGrpSpPr>
            <p:cNvPr id="27" name="Gruppieren 26">
              <a:extLst>
                <a:ext uri="{FF2B5EF4-FFF2-40B4-BE49-F238E27FC236}">
                  <a16:creationId xmlns:a16="http://schemas.microsoft.com/office/drawing/2014/main" id="{4A57FB03-98AB-06DD-4906-7C20C35298D9}"/>
                </a:ext>
              </a:extLst>
            </p:cNvPr>
            <p:cNvGrpSpPr/>
            <p:nvPr/>
          </p:nvGrpSpPr>
          <p:grpSpPr>
            <a:xfrm>
              <a:off x="838351" y="5231767"/>
              <a:ext cx="4546154" cy="852798"/>
              <a:chOff x="1484463" y="4757808"/>
              <a:chExt cx="4546154" cy="852798"/>
            </a:xfrm>
          </p:grpSpPr>
          <mc:AlternateContent xmlns:mc="http://schemas.openxmlformats.org/markup-compatibility/2006" xmlns:a14="http://schemas.microsoft.com/office/drawing/2010/main">
            <mc:Choice Requires="a14">
              <p:sp>
                <p:nvSpPr>
                  <p:cNvPr id="29" name="Textfeld 28">
                    <a:extLst>
                      <a:ext uri="{FF2B5EF4-FFF2-40B4-BE49-F238E27FC236}">
                        <a16:creationId xmlns:a16="http://schemas.microsoft.com/office/drawing/2014/main" id="{40529E9F-042A-835E-9C43-16E542C85068}"/>
                      </a:ext>
                    </a:extLst>
                  </p:cNvPr>
                  <p:cNvSpPr txBox="1"/>
                  <p:nvPr/>
                </p:nvSpPr>
                <p:spPr>
                  <a:xfrm>
                    <a:off x="1484463" y="5084319"/>
                    <a:ext cx="324036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rPr>
                      <a:t>4. </a:t>
                    </a:r>
                    <a:r>
                      <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rPr>
                      <a:t>Estimate dispersion:    </a:t>
                    </a:r>
                    <a14:m>
                      <m:oMath xmlns:m="http://schemas.openxmlformats.org/officeDocument/2006/math">
                        <m:sSub>
                          <m:sSubPr>
                            <m:ctrlP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ctrlPr>
                          </m:sSubPr>
                          <m:e>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𝜷</m:t>
                            </m:r>
                          </m:e>
                          <m:sub>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𝒄</m:t>
                            </m:r>
                          </m:sub>
                        </m:sSub>
                      </m:oMath>
                    </a14:m>
                    <a:endPar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endParaRPr>
                  </a:p>
                </p:txBody>
              </p:sp>
            </mc:Choice>
            <mc:Fallback xmlns="">
              <p:sp>
                <p:nvSpPr>
                  <p:cNvPr id="29" name="Textfeld 28">
                    <a:extLst>
                      <a:ext uri="{FF2B5EF4-FFF2-40B4-BE49-F238E27FC236}">
                        <a16:creationId xmlns:a16="http://schemas.microsoft.com/office/drawing/2014/main" id="{40529E9F-042A-835E-9C43-16E542C85068}"/>
                      </a:ext>
                    </a:extLst>
                  </p:cNvPr>
                  <p:cNvSpPr txBox="1">
                    <a:spLocks noRot="1" noChangeAspect="1" noMove="1" noResize="1" noEditPoints="1" noAdjustHandles="1" noChangeArrowheads="1" noChangeShapeType="1" noTextEdit="1"/>
                  </p:cNvSpPr>
                  <p:nvPr/>
                </p:nvSpPr>
                <p:spPr>
                  <a:xfrm>
                    <a:off x="1484463" y="5084319"/>
                    <a:ext cx="3240360" cy="369332"/>
                  </a:xfrm>
                  <a:prstGeom prst="rect">
                    <a:avLst/>
                  </a:prstGeom>
                  <a:blipFill>
                    <a:blip r:embed="rId4"/>
                    <a:stretch>
                      <a:fillRect l="-1695" t="-10000" b="-26667"/>
                    </a:stretch>
                  </a:blipFill>
                </p:spPr>
                <p:txBody>
                  <a:bodyPr/>
                  <a:lstStyle/>
                  <a:p>
                    <a:r>
                      <a:rPr lang="de-DE">
                        <a:noFill/>
                      </a:rPr>
                      <a:t> </a:t>
                    </a:r>
                  </a:p>
                </p:txBody>
              </p:sp>
            </mc:Fallback>
          </mc:AlternateContent>
          <p:grpSp>
            <p:nvGrpSpPr>
              <p:cNvPr id="30" name="Gruppieren 29">
                <a:extLst>
                  <a:ext uri="{FF2B5EF4-FFF2-40B4-BE49-F238E27FC236}">
                    <a16:creationId xmlns:a16="http://schemas.microsoft.com/office/drawing/2014/main" id="{8A293694-65CE-241A-B349-5CCFD14391E9}"/>
                  </a:ext>
                </a:extLst>
              </p:cNvPr>
              <p:cNvGrpSpPr/>
              <p:nvPr/>
            </p:nvGrpSpPr>
            <p:grpSpPr>
              <a:xfrm>
                <a:off x="4858791" y="4757808"/>
                <a:ext cx="1171826" cy="852798"/>
                <a:chOff x="4858791" y="4831963"/>
                <a:chExt cx="1171826" cy="852798"/>
              </a:xfrm>
            </p:grpSpPr>
            <p:sp>
              <p:nvSpPr>
                <p:cNvPr id="31" name="Freihandform: Form 30">
                  <a:extLst>
                    <a:ext uri="{FF2B5EF4-FFF2-40B4-BE49-F238E27FC236}">
                      <a16:creationId xmlns:a16="http://schemas.microsoft.com/office/drawing/2014/main" id="{1BFFFDB2-D27E-6E8E-A297-C5CF985F1844}"/>
                    </a:ext>
                  </a:extLst>
                </p:cNvPr>
                <p:cNvSpPr/>
                <p:nvPr/>
              </p:nvSpPr>
              <p:spPr>
                <a:xfrm>
                  <a:off x="4858791" y="4831963"/>
                  <a:ext cx="1171826" cy="852798"/>
                </a:xfrm>
                <a:custGeom>
                  <a:avLst/>
                  <a:gdLst>
                    <a:gd name="connsiteX0" fmla="*/ 0 w 1492250"/>
                    <a:gd name="connsiteY0" fmla="*/ 541265 h 541265"/>
                    <a:gd name="connsiteX1" fmla="*/ 641350 w 1492250"/>
                    <a:gd name="connsiteY1" fmla="*/ 84065 h 541265"/>
                    <a:gd name="connsiteX2" fmla="*/ 1206500 w 1492250"/>
                    <a:gd name="connsiteY2" fmla="*/ 39615 h 541265"/>
                    <a:gd name="connsiteX3" fmla="*/ 1492250 w 1492250"/>
                    <a:gd name="connsiteY3" fmla="*/ 515865 h 541265"/>
                    <a:gd name="connsiteX0" fmla="*/ 0 w 1492250"/>
                    <a:gd name="connsiteY0" fmla="*/ 543407 h 543407"/>
                    <a:gd name="connsiteX1" fmla="*/ 527050 w 1492250"/>
                    <a:gd name="connsiteY1" fmla="*/ 79857 h 543407"/>
                    <a:gd name="connsiteX2" fmla="*/ 1206500 w 1492250"/>
                    <a:gd name="connsiteY2" fmla="*/ 41757 h 543407"/>
                    <a:gd name="connsiteX3" fmla="*/ 1492250 w 1492250"/>
                    <a:gd name="connsiteY3" fmla="*/ 518007 h 543407"/>
                    <a:gd name="connsiteX0" fmla="*/ 0 w 1492250"/>
                    <a:gd name="connsiteY0" fmla="*/ 595033 h 595033"/>
                    <a:gd name="connsiteX1" fmla="*/ 527050 w 1492250"/>
                    <a:gd name="connsiteY1" fmla="*/ 131483 h 595033"/>
                    <a:gd name="connsiteX2" fmla="*/ 1206500 w 1492250"/>
                    <a:gd name="connsiteY2" fmla="*/ 93383 h 595033"/>
                    <a:gd name="connsiteX3" fmla="*/ 1492250 w 1492250"/>
                    <a:gd name="connsiteY3" fmla="*/ 569633 h 595033"/>
                    <a:gd name="connsiteX0" fmla="*/ 0 w 1492250"/>
                    <a:gd name="connsiteY0" fmla="*/ 512883 h 512883"/>
                    <a:gd name="connsiteX1" fmla="*/ 527050 w 1492250"/>
                    <a:gd name="connsiteY1" fmla="*/ 49333 h 512883"/>
                    <a:gd name="connsiteX2" fmla="*/ 1136650 w 1492250"/>
                    <a:gd name="connsiteY2" fmla="*/ 62033 h 512883"/>
                    <a:gd name="connsiteX3" fmla="*/ 1492250 w 1492250"/>
                    <a:gd name="connsiteY3" fmla="*/ 487483 h 512883"/>
                    <a:gd name="connsiteX0" fmla="*/ 0 w 1492250"/>
                    <a:gd name="connsiteY0" fmla="*/ 512883 h 512883"/>
                    <a:gd name="connsiteX1" fmla="*/ 527050 w 1492250"/>
                    <a:gd name="connsiteY1" fmla="*/ 49333 h 512883"/>
                    <a:gd name="connsiteX2" fmla="*/ 1136650 w 1492250"/>
                    <a:gd name="connsiteY2" fmla="*/ 62033 h 512883"/>
                    <a:gd name="connsiteX3" fmla="*/ 1492250 w 1492250"/>
                    <a:gd name="connsiteY3" fmla="*/ 487483 h 512883"/>
                    <a:gd name="connsiteX0" fmla="*/ 0 w 1492250"/>
                    <a:gd name="connsiteY0" fmla="*/ 544471 h 544471"/>
                    <a:gd name="connsiteX1" fmla="*/ 527050 w 1492250"/>
                    <a:gd name="connsiteY1" fmla="*/ 80921 h 544471"/>
                    <a:gd name="connsiteX2" fmla="*/ 1136650 w 1492250"/>
                    <a:gd name="connsiteY2" fmla="*/ 93621 h 544471"/>
                    <a:gd name="connsiteX3" fmla="*/ 1492250 w 1492250"/>
                    <a:gd name="connsiteY3" fmla="*/ 519071 h 544471"/>
                    <a:gd name="connsiteX0" fmla="*/ 0 w 1492250"/>
                    <a:gd name="connsiteY0" fmla="*/ 544471 h 544471"/>
                    <a:gd name="connsiteX1" fmla="*/ 527050 w 1492250"/>
                    <a:gd name="connsiteY1" fmla="*/ 80921 h 544471"/>
                    <a:gd name="connsiteX2" fmla="*/ 1136650 w 1492250"/>
                    <a:gd name="connsiteY2" fmla="*/ 93621 h 544471"/>
                    <a:gd name="connsiteX3" fmla="*/ 1492250 w 1492250"/>
                    <a:gd name="connsiteY3" fmla="*/ 519071 h 544471"/>
                    <a:gd name="connsiteX0" fmla="*/ 0 w 1492250"/>
                    <a:gd name="connsiteY0" fmla="*/ 544471 h 544471"/>
                    <a:gd name="connsiteX1" fmla="*/ 527050 w 1492250"/>
                    <a:gd name="connsiteY1" fmla="*/ 80921 h 544471"/>
                    <a:gd name="connsiteX2" fmla="*/ 1136650 w 1492250"/>
                    <a:gd name="connsiteY2" fmla="*/ 93621 h 544471"/>
                    <a:gd name="connsiteX3" fmla="*/ 1492250 w 1492250"/>
                    <a:gd name="connsiteY3" fmla="*/ 519071 h 544471"/>
                    <a:gd name="connsiteX0" fmla="*/ 0 w 1492250"/>
                    <a:gd name="connsiteY0" fmla="*/ 512300 h 512300"/>
                    <a:gd name="connsiteX1" fmla="*/ 527050 w 1492250"/>
                    <a:gd name="connsiteY1" fmla="*/ 48750 h 512300"/>
                    <a:gd name="connsiteX2" fmla="*/ 1035050 w 1492250"/>
                    <a:gd name="connsiteY2" fmla="*/ 118600 h 512300"/>
                    <a:gd name="connsiteX3" fmla="*/ 1492250 w 1492250"/>
                    <a:gd name="connsiteY3" fmla="*/ 486900 h 512300"/>
                    <a:gd name="connsiteX0" fmla="*/ 0 w 1492250"/>
                    <a:gd name="connsiteY0" fmla="*/ 557701 h 557701"/>
                    <a:gd name="connsiteX1" fmla="*/ 527050 w 1492250"/>
                    <a:gd name="connsiteY1" fmla="*/ 94151 h 557701"/>
                    <a:gd name="connsiteX2" fmla="*/ 1035050 w 1492250"/>
                    <a:gd name="connsiteY2" fmla="*/ 164001 h 557701"/>
                    <a:gd name="connsiteX3" fmla="*/ 1492250 w 1492250"/>
                    <a:gd name="connsiteY3" fmla="*/ 532301 h 557701"/>
                    <a:gd name="connsiteX0" fmla="*/ 0 w 1492250"/>
                    <a:gd name="connsiteY0" fmla="*/ 434454 h 434454"/>
                    <a:gd name="connsiteX1" fmla="*/ 495300 w 1492250"/>
                    <a:gd name="connsiteY1" fmla="*/ 53454 h 434454"/>
                    <a:gd name="connsiteX2" fmla="*/ 1035050 w 1492250"/>
                    <a:gd name="connsiteY2" fmla="*/ 40754 h 434454"/>
                    <a:gd name="connsiteX3" fmla="*/ 1492250 w 1492250"/>
                    <a:gd name="connsiteY3" fmla="*/ 409054 h 434454"/>
                    <a:gd name="connsiteX0" fmla="*/ 0 w 1492250"/>
                    <a:gd name="connsiteY0" fmla="*/ 516064 h 516064"/>
                    <a:gd name="connsiteX1" fmla="*/ 495300 w 1492250"/>
                    <a:gd name="connsiteY1" fmla="*/ 135064 h 516064"/>
                    <a:gd name="connsiteX2" fmla="*/ 1035050 w 1492250"/>
                    <a:gd name="connsiteY2" fmla="*/ 122364 h 516064"/>
                    <a:gd name="connsiteX3" fmla="*/ 1492250 w 1492250"/>
                    <a:gd name="connsiteY3" fmla="*/ 490664 h 516064"/>
                    <a:gd name="connsiteX0" fmla="*/ 0 w 1492250"/>
                    <a:gd name="connsiteY0" fmla="*/ 558410 h 558410"/>
                    <a:gd name="connsiteX1" fmla="*/ 495300 w 1492250"/>
                    <a:gd name="connsiteY1" fmla="*/ 177410 h 558410"/>
                    <a:gd name="connsiteX2" fmla="*/ 1035050 w 1492250"/>
                    <a:gd name="connsiteY2" fmla="*/ 164710 h 558410"/>
                    <a:gd name="connsiteX3" fmla="*/ 1492250 w 1492250"/>
                    <a:gd name="connsiteY3" fmla="*/ 533010 h 558410"/>
                    <a:gd name="connsiteX0" fmla="*/ 0 w 1492250"/>
                    <a:gd name="connsiteY0" fmla="*/ 653534 h 653534"/>
                    <a:gd name="connsiteX1" fmla="*/ 495300 w 1492250"/>
                    <a:gd name="connsiteY1" fmla="*/ 272534 h 653534"/>
                    <a:gd name="connsiteX2" fmla="*/ 1035050 w 1492250"/>
                    <a:gd name="connsiteY2" fmla="*/ 259834 h 653534"/>
                    <a:gd name="connsiteX3" fmla="*/ 1492250 w 1492250"/>
                    <a:gd name="connsiteY3" fmla="*/ 628134 h 653534"/>
                    <a:gd name="connsiteX0" fmla="*/ 0 w 1492250"/>
                    <a:gd name="connsiteY0" fmla="*/ 661745 h 661745"/>
                    <a:gd name="connsiteX1" fmla="*/ 495300 w 1492250"/>
                    <a:gd name="connsiteY1" fmla="*/ 280745 h 661745"/>
                    <a:gd name="connsiteX2" fmla="*/ 1035050 w 1492250"/>
                    <a:gd name="connsiteY2" fmla="*/ 268045 h 661745"/>
                    <a:gd name="connsiteX3" fmla="*/ 1492250 w 1492250"/>
                    <a:gd name="connsiteY3" fmla="*/ 636345 h 661745"/>
                    <a:gd name="connsiteX0" fmla="*/ 0 w 1492250"/>
                    <a:gd name="connsiteY0" fmla="*/ 522621 h 522621"/>
                    <a:gd name="connsiteX1" fmla="*/ 584200 w 1492250"/>
                    <a:gd name="connsiteY1" fmla="*/ 147971 h 522621"/>
                    <a:gd name="connsiteX2" fmla="*/ 1035050 w 1492250"/>
                    <a:gd name="connsiteY2" fmla="*/ 128921 h 522621"/>
                    <a:gd name="connsiteX3" fmla="*/ 1492250 w 1492250"/>
                    <a:gd name="connsiteY3" fmla="*/ 497221 h 522621"/>
                    <a:gd name="connsiteX0" fmla="*/ 0 w 1492250"/>
                    <a:gd name="connsiteY0" fmla="*/ 431319 h 431319"/>
                    <a:gd name="connsiteX1" fmla="*/ 584200 w 1492250"/>
                    <a:gd name="connsiteY1" fmla="*/ 56669 h 431319"/>
                    <a:gd name="connsiteX2" fmla="*/ 927100 w 1492250"/>
                    <a:gd name="connsiteY2" fmla="*/ 37619 h 431319"/>
                    <a:gd name="connsiteX3" fmla="*/ 1492250 w 1492250"/>
                    <a:gd name="connsiteY3" fmla="*/ 405919 h 431319"/>
                    <a:gd name="connsiteX0" fmla="*/ 0 w 1492250"/>
                    <a:gd name="connsiteY0" fmla="*/ 517228 h 517228"/>
                    <a:gd name="connsiteX1" fmla="*/ 584200 w 1492250"/>
                    <a:gd name="connsiteY1" fmla="*/ 142578 h 517228"/>
                    <a:gd name="connsiteX2" fmla="*/ 927100 w 1492250"/>
                    <a:gd name="connsiteY2" fmla="*/ 123528 h 517228"/>
                    <a:gd name="connsiteX3" fmla="*/ 1492250 w 1492250"/>
                    <a:gd name="connsiteY3" fmla="*/ 491828 h 517228"/>
                    <a:gd name="connsiteX0" fmla="*/ 0 w 1492250"/>
                    <a:gd name="connsiteY0" fmla="*/ 573833 h 573833"/>
                    <a:gd name="connsiteX1" fmla="*/ 584200 w 1492250"/>
                    <a:gd name="connsiteY1" fmla="*/ 199183 h 573833"/>
                    <a:gd name="connsiteX2" fmla="*/ 927100 w 1492250"/>
                    <a:gd name="connsiteY2" fmla="*/ 180133 h 573833"/>
                    <a:gd name="connsiteX3" fmla="*/ 1492250 w 1492250"/>
                    <a:gd name="connsiteY3" fmla="*/ 548433 h 573833"/>
                    <a:gd name="connsiteX0" fmla="*/ 0 w 1524000"/>
                    <a:gd name="connsiteY0" fmla="*/ 509999 h 567149"/>
                    <a:gd name="connsiteX1" fmla="*/ 584200 w 1524000"/>
                    <a:gd name="connsiteY1" fmla="*/ 135349 h 567149"/>
                    <a:gd name="connsiteX2" fmla="*/ 927100 w 1524000"/>
                    <a:gd name="connsiteY2" fmla="*/ 116299 h 567149"/>
                    <a:gd name="connsiteX3" fmla="*/ 1524000 w 1524000"/>
                    <a:gd name="connsiteY3" fmla="*/ 567149 h 567149"/>
                    <a:gd name="connsiteX0" fmla="*/ 0 w 1517650"/>
                    <a:gd name="connsiteY0" fmla="*/ 510657 h 510657"/>
                    <a:gd name="connsiteX1" fmla="*/ 577850 w 1517650"/>
                    <a:gd name="connsiteY1" fmla="*/ 66157 h 510657"/>
                    <a:gd name="connsiteX2" fmla="*/ 920750 w 1517650"/>
                    <a:gd name="connsiteY2" fmla="*/ 47107 h 510657"/>
                    <a:gd name="connsiteX3" fmla="*/ 1517650 w 1517650"/>
                    <a:gd name="connsiteY3" fmla="*/ 497957 h 510657"/>
                    <a:gd name="connsiteX0" fmla="*/ 0 w 1517650"/>
                    <a:gd name="connsiteY0" fmla="*/ 479555 h 479555"/>
                    <a:gd name="connsiteX1" fmla="*/ 577850 w 1517650"/>
                    <a:gd name="connsiteY1" fmla="*/ 136655 h 479555"/>
                    <a:gd name="connsiteX2" fmla="*/ 920750 w 1517650"/>
                    <a:gd name="connsiteY2" fmla="*/ 16005 h 479555"/>
                    <a:gd name="connsiteX3" fmla="*/ 1517650 w 1517650"/>
                    <a:gd name="connsiteY3" fmla="*/ 466855 h 479555"/>
                    <a:gd name="connsiteX0" fmla="*/ 0 w 1517650"/>
                    <a:gd name="connsiteY0" fmla="*/ 392479 h 392479"/>
                    <a:gd name="connsiteX1" fmla="*/ 577850 w 1517650"/>
                    <a:gd name="connsiteY1" fmla="*/ 49579 h 392479"/>
                    <a:gd name="connsiteX2" fmla="*/ 914400 w 1517650"/>
                    <a:gd name="connsiteY2" fmla="*/ 36879 h 392479"/>
                    <a:gd name="connsiteX3" fmla="*/ 1517650 w 1517650"/>
                    <a:gd name="connsiteY3" fmla="*/ 379779 h 392479"/>
                    <a:gd name="connsiteX0" fmla="*/ 0 w 1517650"/>
                    <a:gd name="connsiteY0" fmla="*/ 438243 h 438243"/>
                    <a:gd name="connsiteX1" fmla="*/ 577850 w 1517650"/>
                    <a:gd name="connsiteY1" fmla="*/ 95343 h 438243"/>
                    <a:gd name="connsiteX2" fmla="*/ 914400 w 1517650"/>
                    <a:gd name="connsiteY2" fmla="*/ 82643 h 438243"/>
                    <a:gd name="connsiteX3" fmla="*/ 1517650 w 1517650"/>
                    <a:gd name="connsiteY3" fmla="*/ 425543 h 438243"/>
                    <a:gd name="connsiteX0" fmla="*/ 0 w 1517650"/>
                    <a:gd name="connsiteY0" fmla="*/ 485398 h 485398"/>
                    <a:gd name="connsiteX1" fmla="*/ 577850 w 1517650"/>
                    <a:gd name="connsiteY1" fmla="*/ 142498 h 485398"/>
                    <a:gd name="connsiteX2" fmla="*/ 914400 w 1517650"/>
                    <a:gd name="connsiteY2" fmla="*/ 129798 h 485398"/>
                    <a:gd name="connsiteX3" fmla="*/ 1517650 w 1517650"/>
                    <a:gd name="connsiteY3" fmla="*/ 472698 h 485398"/>
                    <a:gd name="connsiteX0" fmla="*/ 0 w 1517650"/>
                    <a:gd name="connsiteY0" fmla="*/ 450001 h 450001"/>
                    <a:gd name="connsiteX1" fmla="*/ 577850 w 1517650"/>
                    <a:gd name="connsiteY1" fmla="*/ 107101 h 450001"/>
                    <a:gd name="connsiteX2" fmla="*/ 965200 w 1517650"/>
                    <a:gd name="connsiteY2" fmla="*/ 94401 h 450001"/>
                    <a:gd name="connsiteX3" fmla="*/ 1517650 w 1517650"/>
                    <a:gd name="connsiteY3" fmla="*/ 437301 h 450001"/>
                    <a:gd name="connsiteX0" fmla="*/ 0 w 1517650"/>
                    <a:gd name="connsiteY0" fmla="*/ 476639 h 476639"/>
                    <a:gd name="connsiteX1" fmla="*/ 577850 w 1517650"/>
                    <a:gd name="connsiteY1" fmla="*/ 133739 h 476639"/>
                    <a:gd name="connsiteX2" fmla="*/ 965200 w 1517650"/>
                    <a:gd name="connsiteY2" fmla="*/ 121039 h 476639"/>
                    <a:gd name="connsiteX3" fmla="*/ 1517650 w 1517650"/>
                    <a:gd name="connsiteY3" fmla="*/ 463939 h 476639"/>
                    <a:gd name="connsiteX0" fmla="*/ 0 w 1517650"/>
                    <a:gd name="connsiteY0" fmla="*/ 485398 h 485398"/>
                    <a:gd name="connsiteX1" fmla="*/ 577850 w 1517650"/>
                    <a:gd name="connsiteY1" fmla="*/ 142498 h 485398"/>
                    <a:gd name="connsiteX2" fmla="*/ 965200 w 1517650"/>
                    <a:gd name="connsiteY2" fmla="*/ 129798 h 485398"/>
                    <a:gd name="connsiteX3" fmla="*/ 1517650 w 1517650"/>
                    <a:gd name="connsiteY3" fmla="*/ 472698 h 485398"/>
                    <a:gd name="connsiteX0" fmla="*/ 0 w 1498600"/>
                    <a:gd name="connsiteY0" fmla="*/ 430129 h 436479"/>
                    <a:gd name="connsiteX1" fmla="*/ 558800 w 1498600"/>
                    <a:gd name="connsiteY1" fmla="*/ 106279 h 436479"/>
                    <a:gd name="connsiteX2" fmla="*/ 946150 w 1498600"/>
                    <a:gd name="connsiteY2" fmla="*/ 93579 h 436479"/>
                    <a:gd name="connsiteX3" fmla="*/ 1498600 w 1498600"/>
                    <a:gd name="connsiteY3" fmla="*/ 436479 h 436479"/>
                    <a:gd name="connsiteX0" fmla="*/ 0 w 1498600"/>
                    <a:gd name="connsiteY0" fmla="*/ 430129 h 436479"/>
                    <a:gd name="connsiteX1" fmla="*/ 558800 w 1498600"/>
                    <a:gd name="connsiteY1" fmla="*/ 106279 h 436479"/>
                    <a:gd name="connsiteX2" fmla="*/ 946150 w 1498600"/>
                    <a:gd name="connsiteY2" fmla="*/ 93579 h 436479"/>
                    <a:gd name="connsiteX3" fmla="*/ 1498600 w 1498600"/>
                    <a:gd name="connsiteY3" fmla="*/ 436479 h 436479"/>
                    <a:gd name="connsiteX0" fmla="*/ 0 w 1498600"/>
                    <a:gd name="connsiteY0" fmla="*/ 463013 h 469363"/>
                    <a:gd name="connsiteX1" fmla="*/ 558800 w 1498600"/>
                    <a:gd name="connsiteY1" fmla="*/ 139163 h 469363"/>
                    <a:gd name="connsiteX2" fmla="*/ 946150 w 1498600"/>
                    <a:gd name="connsiteY2" fmla="*/ 126463 h 469363"/>
                    <a:gd name="connsiteX3" fmla="*/ 1498600 w 1498600"/>
                    <a:gd name="connsiteY3" fmla="*/ 469363 h 469363"/>
                    <a:gd name="connsiteX0" fmla="*/ 0 w 1498600"/>
                    <a:gd name="connsiteY0" fmla="*/ 463013 h 469363"/>
                    <a:gd name="connsiteX1" fmla="*/ 558800 w 1498600"/>
                    <a:gd name="connsiteY1" fmla="*/ 139163 h 469363"/>
                    <a:gd name="connsiteX2" fmla="*/ 946150 w 1498600"/>
                    <a:gd name="connsiteY2" fmla="*/ 126463 h 469363"/>
                    <a:gd name="connsiteX3" fmla="*/ 1498600 w 1498600"/>
                    <a:gd name="connsiteY3" fmla="*/ 469363 h 469363"/>
                    <a:gd name="connsiteX0" fmla="*/ 0 w 1498600"/>
                    <a:gd name="connsiteY0" fmla="*/ 481077 h 487427"/>
                    <a:gd name="connsiteX1" fmla="*/ 558800 w 1498600"/>
                    <a:gd name="connsiteY1" fmla="*/ 157227 h 487427"/>
                    <a:gd name="connsiteX2" fmla="*/ 946150 w 1498600"/>
                    <a:gd name="connsiteY2" fmla="*/ 144527 h 487427"/>
                    <a:gd name="connsiteX3" fmla="*/ 1498600 w 1498600"/>
                    <a:gd name="connsiteY3" fmla="*/ 487427 h 487427"/>
                    <a:gd name="connsiteX0" fmla="*/ 0 w 1498600"/>
                    <a:gd name="connsiteY0" fmla="*/ 496947 h 503297"/>
                    <a:gd name="connsiteX1" fmla="*/ 558800 w 1498600"/>
                    <a:gd name="connsiteY1" fmla="*/ 173097 h 503297"/>
                    <a:gd name="connsiteX2" fmla="*/ 946150 w 1498600"/>
                    <a:gd name="connsiteY2" fmla="*/ 160397 h 503297"/>
                    <a:gd name="connsiteX3" fmla="*/ 1498600 w 1498600"/>
                    <a:gd name="connsiteY3" fmla="*/ 503297 h 503297"/>
                    <a:gd name="connsiteX0" fmla="*/ 0 w 1498600"/>
                    <a:gd name="connsiteY0" fmla="*/ 524718 h 531068"/>
                    <a:gd name="connsiteX1" fmla="*/ 558800 w 1498600"/>
                    <a:gd name="connsiteY1" fmla="*/ 200868 h 531068"/>
                    <a:gd name="connsiteX2" fmla="*/ 946150 w 1498600"/>
                    <a:gd name="connsiteY2" fmla="*/ 188168 h 531068"/>
                    <a:gd name="connsiteX3" fmla="*/ 1498600 w 1498600"/>
                    <a:gd name="connsiteY3" fmla="*/ 531068 h 531068"/>
                    <a:gd name="connsiteX0" fmla="*/ 0 w 1498600"/>
                    <a:gd name="connsiteY0" fmla="*/ 527213 h 533563"/>
                    <a:gd name="connsiteX1" fmla="*/ 558800 w 1498600"/>
                    <a:gd name="connsiteY1" fmla="*/ 203363 h 533563"/>
                    <a:gd name="connsiteX2" fmla="*/ 946150 w 1498600"/>
                    <a:gd name="connsiteY2" fmla="*/ 190663 h 533563"/>
                    <a:gd name="connsiteX3" fmla="*/ 1498600 w 1498600"/>
                    <a:gd name="connsiteY3" fmla="*/ 533563 h 533563"/>
                  </a:gdLst>
                  <a:ahLst/>
                  <a:cxnLst>
                    <a:cxn ang="0">
                      <a:pos x="connsiteX0" y="connsiteY0"/>
                    </a:cxn>
                    <a:cxn ang="0">
                      <a:pos x="connsiteX1" y="connsiteY1"/>
                    </a:cxn>
                    <a:cxn ang="0">
                      <a:pos x="connsiteX2" y="connsiteY2"/>
                    </a:cxn>
                    <a:cxn ang="0">
                      <a:pos x="connsiteX3" y="connsiteY3"/>
                    </a:cxn>
                  </a:cxnLst>
                  <a:rect l="l" t="t" r="r" b="b"/>
                  <a:pathLst>
                    <a:path w="1498600" h="533563">
                      <a:moveTo>
                        <a:pt x="0" y="527213"/>
                      </a:moveTo>
                      <a:cubicBezTo>
                        <a:pt x="442383" y="448367"/>
                        <a:pt x="420158" y="449955"/>
                        <a:pt x="558800" y="203363"/>
                      </a:cubicBezTo>
                      <a:cubicBezTo>
                        <a:pt x="697442" y="-43229"/>
                        <a:pt x="783167" y="-86620"/>
                        <a:pt x="946150" y="190663"/>
                      </a:cubicBezTo>
                      <a:cubicBezTo>
                        <a:pt x="1109133" y="467946"/>
                        <a:pt x="1172633" y="477471"/>
                        <a:pt x="1498600" y="533563"/>
                      </a:cubicBezTo>
                    </a:path>
                  </a:pathLst>
                </a:custGeom>
                <a:solidFill>
                  <a:srgbClr val="00263E">
                    <a:lumMod val="10000"/>
                    <a:lumOff val="90000"/>
                  </a:srgbClr>
                </a:solidFill>
                <a:ln w="28575" cap="flat" cmpd="sng" algn="ctr">
                  <a:solidFill>
                    <a:srgbClr val="00263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cxnSp>
              <p:nvCxnSpPr>
                <p:cNvPr id="32" name="Gerade Verbindung mit Pfeil 31">
                  <a:extLst>
                    <a:ext uri="{FF2B5EF4-FFF2-40B4-BE49-F238E27FC236}">
                      <a16:creationId xmlns:a16="http://schemas.microsoft.com/office/drawing/2014/main" id="{7657E964-C97F-585D-D3CF-894BF415EF41}"/>
                    </a:ext>
                  </a:extLst>
                </p:cNvPr>
                <p:cNvCxnSpPr>
                  <a:cxnSpLocks/>
                </p:cNvCxnSpPr>
                <p:nvPr/>
              </p:nvCxnSpPr>
              <p:spPr>
                <a:xfrm>
                  <a:off x="5247461" y="5450445"/>
                  <a:ext cx="403020" cy="0"/>
                </a:xfrm>
                <a:prstGeom prst="straightConnector1">
                  <a:avLst/>
                </a:prstGeom>
                <a:noFill/>
                <a:ln w="28575" cap="flat" cmpd="sng" algn="ctr">
                  <a:solidFill>
                    <a:srgbClr val="00263E"/>
                  </a:solidFill>
                  <a:prstDash val="solid"/>
                  <a:headEnd type="triangle"/>
                  <a:tailEnd type="triangle"/>
                </a:ln>
                <a:effectLst/>
              </p:spPr>
            </p:cxnSp>
          </p:grpSp>
        </p:grpSp>
        <p:sp>
          <p:nvSpPr>
            <p:cNvPr id="28" name="Rechteck 27">
              <a:extLst>
                <a:ext uri="{FF2B5EF4-FFF2-40B4-BE49-F238E27FC236}">
                  <a16:creationId xmlns:a16="http://schemas.microsoft.com/office/drawing/2014/main" id="{5248D0F3-404B-A4AA-53FE-62C5B39EA31F}"/>
                </a:ext>
              </a:extLst>
            </p:cNvPr>
            <p:cNvSpPr/>
            <p:nvPr/>
          </p:nvSpPr>
          <p:spPr>
            <a:xfrm>
              <a:off x="828302" y="5062879"/>
              <a:ext cx="4720392" cy="122885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33" name="Gruppieren 32">
            <a:extLst>
              <a:ext uri="{FF2B5EF4-FFF2-40B4-BE49-F238E27FC236}">
                <a16:creationId xmlns:a16="http://schemas.microsoft.com/office/drawing/2014/main" id="{FD9BD0C9-54F9-4D0C-D290-F8747BACBF4D}"/>
              </a:ext>
            </a:extLst>
          </p:cNvPr>
          <p:cNvGrpSpPr/>
          <p:nvPr/>
        </p:nvGrpSpPr>
        <p:grpSpPr>
          <a:xfrm>
            <a:off x="540271" y="1040639"/>
            <a:ext cx="4720392" cy="527190"/>
            <a:chOff x="820673" y="1040639"/>
            <a:chExt cx="4720392" cy="527190"/>
          </a:xfrm>
        </p:grpSpPr>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AC57049B-37FC-45A1-7A63-20C4B3BEA59D}"/>
                    </a:ext>
                  </a:extLst>
                </p:cNvPr>
                <p:cNvSpPr txBox="1"/>
                <p:nvPr/>
              </p:nvSpPr>
              <p:spPr>
                <a:xfrm>
                  <a:off x="835269" y="1102280"/>
                  <a:ext cx="3233394" cy="381515"/>
                </a:xfrm>
                <a:prstGeom prst="rect">
                  <a:avLst/>
                </a:prstGeom>
                <a:noFill/>
                <a:ln w="28575">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rPr>
                    <a:t>1. </a:t>
                  </a:r>
                  <a:r>
                    <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rPr>
                    <a:t>Define safety level:   </a:t>
                  </a:r>
                  <a14:m>
                    <m:oMath xmlns:m="http://schemas.openxmlformats.org/officeDocument/2006/math">
                      <m:sSub>
                        <m:sSubPr>
                          <m:ctrlP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ctrlPr>
                        </m:sSubPr>
                        <m:e>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𝝀</m:t>
                          </m:r>
                        </m:e>
                        <m:sub>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𝒄</m:t>
                          </m:r>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m:t>
                          </m:r>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𝒕</m:t>
                          </m:r>
                        </m:sub>
                      </m:sSub>
                    </m:oMath>
                  </a14:m>
                  <a:endPar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endParaRPr>
                </a:p>
              </p:txBody>
            </p:sp>
          </mc:Choice>
          <mc:Fallback xmlns="">
            <p:sp>
              <p:nvSpPr>
                <p:cNvPr id="34" name="Textfeld 33">
                  <a:extLst>
                    <a:ext uri="{FF2B5EF4-FFF2-40B4-BE49-F238E27FC236}">
                      <a16:creationId xmlns:a16="http://schemas.microsoft.com/office/drawing/2014/main" id="{AC57049B-37FC-45A1-7A63-20C4B3BEA59D}"/>
                    </a:ext>
                  </a:extLst>
                </p:cNvPr>
                <p:cNvSpPr txBox="1">
                  <a:spLocks noRot="1" noChangeAspect="1" noMove="1" noResize="1" noEditPoints="1" noAdjustHandles="1" noChangeArrowheads="1" noChangeShapeType="1" noTextEdit="1"/>
                </p:cNvSpPr>
                <p:nvPr/>
              </p:nvSpPr>
              <p:spPr>
                <a:xfrm>
                  <a:off x="835269" y="1102280"/>
                  <a:ext cx="3233394" cy="381515"/>
                </a:xfrm>
                <a:prstGeom prst="rect">
                  <a:avLst/>
                </a:prstGeom>
                <a:blipFill>
                  <a:blip r:embed="rId5"/>
                  <a:stretch>
                    <a:fillRect l="-1509" t="-11290" b="-20968"/>
                  </a:stretch>
                </a:blipFill>
                <a:ln w="28575">
                  <a:noFill/>
                </a:ln>
              </p:spPr>
              <p:txBody>
                <a:bodyPr/>
                <a:lstStyle/>
                <a:p>
                  <a:r>
                    <a:rPr lang="de-DE">
                      <a:noFill/>
                    </a:rPr>
                    <a:t> </a:t>
                  </a:r>
                </a:p>
              </p:txBody>
            </p:sp>
          </mc:Fallback>
        </mc:AlternateContent>
        <p:sp>
          <p:nvSpPr>
            <p:cNvPr id="35" name="Rechteck 34">
              <a:extLst>
                <a:ext uri="{FF2B5EF4-FFF2-40B4-BE49-F238E27FC236}">
                  <a16:creationId xmlns:a16="http://schemas.microsoft.com/office/drawing/2014/main" id="{DF2E31DA-9842-3BE5-A1DD-8866230D3916}"/>
                </a:ext>
              </a:extLst>
            </p:cNvPr>
            <p:cNvSpPr/>
            <p:nvPr/>
          </p:nvSpPr>
          <p:spPr>
            <a:xfrm>
              <a:off x="820673" y="1040639"/>
              <a:ext cx="4720392" cy="52719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36" name="Gruppieren 35">
            <a:extLst>
              <a:ext uri="{FF2B5EF4-FFF2-40B4-BE49-F238E27FC236}">
                <a16:creationId xmlns:a16="http://schemas.microsoft.com/office/drawing/2014/main" id="{3A4002AE-F5A5-14F5-BB37-8A245AD82CE2}"/>
              </a:ext>
            </a:extLst>
          </p:cNvPr>
          <p:cNvGrpSpPr/>
          <p:nvPr/>
        </p:nvGrpSpPr>
        <p:grpSpPr>
          <a:xfrm>
            <a:off x="6092821" y="4705527"/>
            <a:ext cx="5679857" cy="1311757"/>
            <a:chOff x="6182393" y="4705527"/>
            <a:chExt cx="4812835" cy="1311757"/>
          </a:xfrm>
        </p:grpSpPr>
        <mc:AlternateContent xmlns:mc="http://schemas.openxmlformats.org/markup-compatibility/2006" xmlns:a14="http://schemas.microsoft.com/office/drawing/2010/main">
          <mc:Choice Requires="a14">
            <p:sp>
              <p:nvSpPr>
                <p:cNvPr id="37" name="Textfeld 36">
                  <a:extLst>
                    <a:ext uri="{FF2B5EF4-FFF2-40B4-BE49-F238E27FC236}">
                      <a16:creationId xmlns:a16="http://schemas.microsoft.com/office/drawing/2014/main" id="{7D51F9FB-8C65-FA89-989D-32256E8ACE6B}"/>
                    </a:ext>
                  </a:extLst>
                </p:cNvPr>
                <p:cNvSpPr txBox="1"/>
                <p:nvPr/>
              </p:nvSpPr>
              <p:spPr>
                <a:xfrm>
                  <a:off x="6190531" y="4788421"/>
                  <a:ext cx="4488499" cy="122886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rPr>
                    <a:t>5. </a:t>
                  </a:r>
                  <a:r>
                    <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rPr>
                    <a:t>Calculate target collapse capacity:</a:t>
                  </a: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500" b="0" i="0" u="none" strike="noStrike" kern="0" cap="none" spc="0" normalizeH="0" baseline="0" noProof="0" dirty="0">
                    <a:ln>
                      <a:noFill/>
                    </a:ln>
                    <a:solidFill>
                      <a:srgbClr val="333333"/>
                    </a:solidFill>
                    <a:effectLst/>
                    <a:uLnTx/>
                    <a:uFillTx/>
                    <a:latin typeface="Futura LT Pro Light" panose="020B04020202040203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AU" sz="1600" b="1" i="1" u="none"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600" b="1" i="1" u="none" strike="noStrike" kern="0" cap="none" spc="0" normalizeH="0" baseline="0" noProof="0" smtClean="0">
                                <a:ln>
                                  <a:noFill/>
                                </a:ln>
                                <a:solidFill>
                                  <a:srgbClr val="333333"/>
                                </a:solidFill>
                                <a:effectLst/>
                                <a:uLnTx/>
                                <a:uFillTx/>
                                <a:latin typeface="Cambria Math" panose="02040503050406030204" pitchFamily="18" charset="0"/>
                              </a:rPr>
                              <m:t>𝜽</m:t>
                            </m:r>
                          </m:e>
                          <m:sub>
                            <m:r>
                              <a:rPr kumimoji="0" lang="en-AU" sz="1600" b="1" i="1" u="none" strike="noStrike" kern="0" cap="none" spc="0" normalizeH="0" baseline="0" noProof="0" smtClean="0">
                                <a:ln>
                                  <a:noFill/>
                                </a:ln>
                                <a:solidFill>
                                  <a:srgbClr val="333333"/>
                                </a:solidFill>
                                <a:effectLst/>
                                <a:uLnTx/>
                                <a:uFillTx/>
                                <a:latin typeface="Cambria Math" panose="02040503050406030204" pitchFamily="18" charset="0"/>
                              </a:rPr>
                              <m:t>𝒄</m:t>
                            </m:r>
                            <m:r>
                              <a:rPr kumimoji="0" lang="en-AU" sz="1600" b="1" i="1" u="none" strike="noStrike" kern="0" cap="none" spc="0" normalizeH="0" baseline="0" noProof="0" smtClean="0">
                                <a:ln>
                                  <a:noFill/>
                                </a:ln>
                                <a:solidFill>
                                  <a:srgbClr val="333333"/>
                                </a:solidFill>
                                <a:effectLst/>
                                <a:uLnTx/>
                                <a:uFillTx/>
                                <a:latin typeface="Cambria Math" panose="02040503050406030204" pitchFamily="18" charset="0"/>
                              </a:rPr>
                              <m:t>,</m:t>
                            </m:r>
                            <m:r>
                              <a:rPr kumimoji="0" lang="en-AU" sz="1600" b="1" i="1" u="none" strike="noStrike" kern="0" cap="none" spc="0" normalizeH="0" baseline="0" noProof="0" smtClean="0">
                                <a:ln>
                                  <a:noFill/>
                                </a:ln>
                                <a:solidFill>
                                  <a:srgbClr val="333333"/>
                                </a:solidFill>
                                <a:effectLst/>
                                <a:uLnTx/>
                                <a:uFillTx/>
                                <a:latin typeface="Cambria Math" panose="02040503050406030204" pitchFamily="18" charset="0"/>
                              </a:rPr>
                              <m:t>𝒕</m:t>
                            </m:r>
                          </m:sub>
                        </m:sSub>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m:t>
                        </m:r>
                        <m:func>
                          <m:func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funcPr>
                          <m:fName>
                            <m:r>
                              <m:rPr>
                                <m:sty m:val="p"/>
                              </m:rPr>
                              <a:rPr kumimoji="0" lang="en-AU" sz="1600" b="0" i="0" u="none" strike="noStrike" kern="0" cap="none" spc="0" normalizeH="0" baseline="0" noProof="0" smtClean="0">
                                <a:ln>
                                  <a:noFill/>
                                </a:ln>
                                <a:solidFill>
                                  <a:srgbClr val="333333"/>
                                </a:solidFill>
                                <a:effectLst/>
                                <a:uLnTx/>
                                <a:uFillTx/>
                                <a:latin typeface="Cambria Math" panose="02040503050406030204" pitchFamily="18" charset="0"/>
                              </a:rPr>
                              <m:t>exp</m:t>
                            </m:r>
                          </m:fName>
                          <m:e>
                            <m:d>
                              <m:dPr>
                                <m:begChr m:val="["/>
                                <m:endChr m:val="]"/>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dPr>
                              <m:e>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0,5∙</m:t>
                                </m:r>
                                <m:sSub>
                                  <m:sSub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𝑘</m:t>
                                    </m:r>
                                  </m:e>
                                  <m:sub>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1</m:t>
                                    </m:r>
                                  </m:sub>
                                </m:sSub>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m:t>
                                </m:r>
                                <m:sSubSup>
                                  <m:sSubSup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sSubSupPr>
                                  <m:e>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𝛽</m:t>
                                    </m:r>
                                  </m:e>
                                  <m:sub>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𝑐</m:t>
                                    </m:r>
                                  </m:sub>
                                  <m:sup>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2</m:t>
                                    </m:r>
                                  </m:sup>
                                </m:sSubSup>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 −</m:t>
                                </m:r>
                                <m:f>
                                  <m:f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fPr>
                                  <m:num>
                                    <m:func>
                                      <m:func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funcPr>
                                      <m:fName>
                                        <m:r>
                                          <m:rPr>
                                            <m:sty m:val="p"/>
                                          </m:rPr>
                                          <a:rPr kumimoji="0" lang="en-AU" sz="1600" b="0" i="0" u="none" strike="noStrike" kern="0" cap="none" spc="0" normalizeH="0" baseline="0" noProof="0" smtClean="0">
                                            <a:ln>
                                              <a:noFill/>
                                            </a:ln>
                                            <a:solidFill>
                                              <a:srgbClr val="333333"/>
                                            </a:solidFill>
                                            <a:effectLst/>
                                            <a:uLnTx/>
                                            <a:uFillTx/>
                                            <a:latin typeface="Cambria Math" panose="02040503050406030204" pitchFamily="18" charset="0"/>
                                          </a:rPr>
                                          <m:t>ln</m:t>
                                        </m:r>
                                      </m:fName>
                                      <m:e>
                                        <m:d>
                                          <m:d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dPr>
                                          <m:e>
                                            <m:f>
                                              <m:f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fPr>
                                              <m:num>
                                                <m:sSub>
                                                  <m:sSub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𝜆</m:t>
                                                    </m:r>
                                                  </m:e>
                                                  <m:sub>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𝑐</m:t>
                                                    </m:r>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m:t>
                                                    </m:r>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𝑡</m:t>
                                                    </m:r>
                                                  </m:sub>
                                                </m:sSub>
                                              </m:num>
                                              <m:den>
                                                <m:sSub>
                                                  <m:sSub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𝑘</m:t>
                                                    </m:r>
                                                  </m:e>
                                                  <m:sub>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0</m:t>
                                                    </m:r>
                                                  </m:sub>
                                                </m:sSub>
                                              </m:den>
                                            </m:f>
                                          </m:e>
                                        </m:d>
                                      </m:e>
                                    </m:func>
                                  </m:num>
                                  <m:den>
                                    <m:sSub>
                                      <m:sSubPr>
                                        <m:ctrlP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𝑘</m:t>
                                        </m:r>
                                      </m:e>
                                      <m:sub>
                                        <m:r>
                                          <a:rPr kumimoji="0" lang="en-AU" sz="1600" b="0" i="1" u="none" strike="noStrike" kern="0" cap="none" spc="0" normalizeH="0" baseline="0" noProof="0" smtClean="0">
                                            <a:ln>
                                              <a:noFill/>
                                            </a:ln>
                                            <a:solidFill>
                                              <a:srgbClr val="333333"/>
                                            </a:solidFill>
                                            <a:effectLst/>
                                            <a:uLnTx/>
                                            <a:uFillTx/>
                                            <a:latin typeface="Cambria Math" panose="02040503050406030204" pitchFamily="18" charset="0"/>
                                          </a:rPr>
                                          <m:t>1</m:t>
                                        </m:r>
                                      </m:sub>
                                    </m:sSub>
                                  </m:den>
                                </m:f>
                              </m:e>
                            </m:d>
                          </m:e>
                        </m:func>
                      </m:oMath>
                    </m:oMathPara>
                  </a14:m>
                  <a:endPar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endParaRPr>
                </a:p>
              </p:txBody>
            </p:sp>
          </mc:Choice>
          <mc:Fallback xmlns="">
            <p:sp>
              <p:nvSpPr>
                <p:cNvPr id="37" name="Textfeld 36">
                  <a:extLst>
                    <a:ext uri="{FF2B5EF4-FFF2-40B4-BE49-F238E27FC236}">
                      <a16:creationId xmlns:a16="http://schemas.microsoft.com/office/drawing/2014/main" id="{7D51F9FB-8C65-FA89-989D-32256E8ACE6B}"/>
                    </a:ext>
                  </a:extLst>
                </p:cNvPr>
                <p:cNvSpPr txBox="1">
                  <a:spLocks noRot="1" noChangeAspect="1" noMove="1" noResize="1" noEditPoints="1" noAdjustHandles="1" noChangeArrowheads="1" noChangeShapeType="1" noTextEdit="1"/>
                </p:cNvSpPr>
                <p:nvPr/>
              </p:nvSpPr>
              <p:spPr>
                <a:xfrm>
                  <a:off x="6190531" y="4788421"/>
                  <a:ext cx="4488499" cy="1228863"/>
                </a:xfrm>
                <a:prstGeom prst="rect">
                  <a:avLst/>
                </a:prstGeom>
                <a:blipFill>
                  <a:blip r:embed="rId6"/>
                  <a:stretch>
                    <a:fillRect l="-921" t="-2985"/>
                  </a:stretch>
                </a:blipFill>
              </p:spPr>
              <p:txBody>
                <a:bodyPr/>
                <a:lstStyle/>
                <a:p>
                  <a:r>
                    <a:rPr lang="de-DE">
                      <a:noFill/>
                    </a:rPr>
                    <a:t> </a:t>
                  </a:r>
                </a:p>
              </p:txBody>
            </p:sp>
          </mc:Fallback>
        </mc:AlternateContent>
        <p:sp>
          <p:nvSpPr>
            <p:cNvPr id="38" name="Rechteck 37">
              <a:extLst>
                <a:ext uri="{FF2B5EF4-FFF2-40B4-BE49-F238E27FC236}">
                  <a16:creationId xmlns:a16="http://schemas.microsoft.com/office/drawing/2014/main" id="{2F45121E-906C-DF65-71AA-64E64C1DFEE5}"/>
                </a:ext>
              </a:extLst>
            </p:cNvPr>
            <p:cNvSpPr/>
            <p:nvPr/>
          </p:nvSpPr>
          <p:spPr>
            <a:xfrm>
              <a:off x="6182393" y="4705527"/>
              <a:ext cx="4812835" cy="13117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sp>
        <p:nvSpPr>
          <p:cNvPr id="39" name="Textfeld 38">
            <a:extLst>
              <a:ext uri="{FF2B5EF4-FFF2-40B4-BE49-F238E27FC236}">
                <a16:creationId xmlns:a16="http://schemas.microsoft.com/office/drawing/2014/main" id="{9615BDB1-172D-5AFD-2441-B803CBD932A4}"/>
              </a:ext>
            </a:extLst>
          </p:cNvPr>
          <p:cNvSpPr txBox="1"/>
          <p:nvPr/>
        </p:nvSpPr>
        <p:spPr>
          <a:xfrm>
            <a:off x="351467" y="6300712"/>
            <a:ext cx="4256256" cy="230832"/>
          </a:xfrm>
          <a:prstGeom prst="rect">
            <a:avLst/>
          </a:prstGeom>
          <a:noFill/>
        </p:spPr>
        <p:txBody>
          <a:bodyPr wrap="square">
            <a:spAutoFit/>
          </a:bodyPr>
          <a:lstStyle/>
          <a:p>
            <a:r>
              <a:rPr lang="en-AU" sz="900" noProof="0" dirty="0">
                <a:solidFill>
                  <a:srgbClr val="333333"/>
                </a:solidFill>
                <a:latin typeface="Futura LT Pro Light" panose="020B0402020204020303" pitchFamily="34" charset="0"/>
                <a:cs typeface="+mn-cs"/>
              </a:rPr>
              <a:t>based on Shahnazaryan and O‘Reilly (2021), Žižmond and Dolšek (2019)</a:t>
            </a:r>
          </a:p>
        </p:txBody>
      </p:sp>
      <p:grpSp>
        <p:nvGrpSpPr>
          <p:cNvPr id="2" name="Gruppieren 1">
            <a:extLst>
              <a:ext uri="{FF2B5EF4-FFF2-40B4-BE49-F238E27FC236}">
                <a16:creationId xmlns:a16="http://schemas.microsoft.com/office/drawing/2014/main" id="{F44EA877-B974-99B5-CFDF-2C4AD3CD298F}"/>
              </a:ext>
            </a:extLst>
          </p:cNvPr>
          <p:cNvGrpSpPr/>
          <p:nvPr/>
        </p:nvGrpSpPr>
        <p:grpSpPr>
          <a:xfrm>
            <a:off x="6084887" y="3188632"/>
            <a:ext cx="5679857" cy="1311757"/>
            <a:chOff x="6084887" y="3188632"/>
            <a:chExt cx="5679857" cy="1311757"/>
          </a:xfrm>
        </p:grpSpPr>
        <mc:AlternateContent xmlns:mc="http://schemas.openxmlformats.org/markup-compatibility/2006" xmlns:a14="http://schemas.microsoft.com/office/drawing/2010/main">
          <mc:Choice Requires="a14">
            <p:sp>
              <p:nvSpPr>
                <p:cNvPr id="41" name="Textfeld 40">
                  <a:extLst>
                    <a:ext uri="{FF2B5EF4-FFF2-40B4-BE49-F238E27FC236}">
                      <a16:creationId xmlns:a16="http://schemas.microsoft.com/office/drawing/2014/main" id="{C3BB3F8F-08B8-7A84-F85C-DCB1513DB955}"/>
                    </a:ext>
                  </a:extLst>
                </p:cNvPr>
                <p:cNvSpPr txBox="1"/>
                <p:nvPr/>
              </p:nvSpPr>
              <p:spPr>
                <a:xfrm>
                  <a:off x="6088790" y="3340403"/>
                  <a:ext cx="4541627" cy="10894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1200"/>
                    </a:spcAft>
                    <a:buClrTx/>
                    <a:buSzTx/>
                    <a:buFontTx/>
                    <a:buNone/>
                    <a:tabLst/>
                    <a:defRPr/>
                  </a:pPr>
                  <a:r>
                    <a:rPr kumimoji="0" lang="en-AU" sz="1800" b="1" i="0" strike="noStrike" kern="0" cap="none" spc="0" normalizeH="0" baseline="0" noProof="0" dirty="0">
                      <a:ln>
                        <a:noFill/>
                      </a:ln>
                      <a:solidFill>
                        <a:srgbClr val="333333"/>
                      </a:solidFill>
                      <a:effectLst/>
                      <a:uLnTx/>
                      <a:uFillTx/>
                      <a:latin typeface="Futura LT Pro Light" panose="020B0402020204020303" pitchFamily="34" charset="0"/>
                    </a:rPr>
                    <a:t>6. </a:t>
                  </a:r>
                  <a:r>
                    <a:rPr kumimoji="0" lang="en-AU" sz="1800" b="0" i="0" strike="noStrike" kern="0" cap="none" spc="0" normalizeH="0" baseline="0" noProof="0" dirty="0">
                      <a:ln>
                        <a:noFill/>
                      </a:ln>
                      <a:solidFill>
                        <a:srgbClr val="333333"/>
                      </a:solidFill>
                      <a:effectLst/>
                      <a:uLnTx/>
                      <a:uFillTx/>
                      <a:latin typeface="Futura LT Pro Light" panose="020B0402020204020303" pitchFamily="34" charset="0"/>
                    </a:rPr>
                    <a:t>Calculate the seismic forces using CC2D-Models:</a:t>
                  </a:r>
                  <a:endParaRPr kumimoji="0" lang="en-AU" sz="1000" b="0" i="0" strike="noStrike" kern="0" cap="none" spc="0" normalizeH="0" baseline="0" noProof="0" dirty="0">
                    <a:ln>
                      <a:noFill/>
                    </a:ln>
                    <a:solidFill>
                      <a:srgbClr val="333333"/>
                    </a:solidFill>
                    <a:effectLst/>
                    <a:uLnTx/>
                    <a:uFillTx/>
                    <a:latin typeface="Futura LT Pro Light" panose="020B04020202040203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0" lang="en-AU" sz="1800" b="1" i="1" strike="noStrike" kern="0" cap="none" spc="0" normalizeH="0" baseline="0" noProof="0" smtClean="0">
                              <a:ln>
                                <a:noFill/>
                              </a:ln>
                              <a:solidFill>
                                <a:srgbClr val="333333"/>
                              </a:solidFill>
                              <a:effectLst/>
                              <a:uLnTx/>
                              <a:uFillTx/>
                              <a:latin typeface="Cambria Math" panose="02040503050406030204" pitchFamily="18" charset="0"/>
                            </a:rPr>
                          </m:ctrlPr>
                        </m:sSubSupPr>
                        <m:e>
                          <m:r>
                            <a:rPr kumimoji="0" lang="en-AU" sz="1800" b="1" i="1" strike="noStrike" kern="0" cap="none" spc="0" normalizeH="0" baseline="0" noProof="0" smtClean="0">
                              <a:ln>
                                <a:noFill/>
                              </a:ln>
                              <a:solidFill>
                                <a:srgbClr val="333333"/>
                              </a:solidFill>
                              <a:effectLst/>
                              <a:uLnTx/>
                              <a:uFillTx/>
                              <a:latin typeface="Cambria Math" panose="02040503050406030204" pitchFamily="18" charset="0"/>
                            </a:rPr>
                            <m:t>𝑪</m:t>
                          </m:r>
                        </m:e>
                        <m:sub>
                          <m:r>
                            <a:rPr kumimoji="0" lang="en-AU" sz="1800" b="1" i="1" strike="noStrike" kern="0" cap="none" spc="0" normalizeH="0" baseline="0" noProof="0" smtClean="0">
                              <a:ln>
                                <a:noFill/>
                              </a:ln>
                              <a:solidFill>
                                <a:srgbClr val="333333"/>
                              </a:solidFill>
                              <a:effectLst/>
                              <a:uLnTx/>
                              <a:uFillTx/>
                              <a:latin typeface="Cambria Math" panose="02040503050406030204" pitchFamily="18" charset="0"/>
                            </a:rPr>
                            <m:t>𝒔</m:t>
                          </m:r>
                        </m:sub>
                        <m:sup>
                          <m:r>
                            <a:rPr kumimoji="0" lang="en-AU" sz="1800" b="1" i="1" strike="noStrike" kern="0" cap="none" spc="0" normalizeH="0" baseline="0" noProof="0" smtClean="0">
                              <a:ln>
                                <a:noFill/>
                              </a:ln>
                              <a:solidFill>
                                <a:srgbClr val="333333"/>
                              </a:solidFill>
                              <a:effectLst/>
                              <a:uLnTx/>
                              <a:uFillTx/>
                              <a:latin typeface="Cambria Math" panose="02040503050406030204" pitchFamily="18" charset="0"/>
                            </a:rPr>
                            <m:t>∗</m:t>
                          </m:r>
                        </m:sup>
                      </m:sSubSup>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m:t>
                      </m:r>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𝑓</m:t>
                      </m:r>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m:t>
                      </m:r>
                      <m:sSub>
                        <m:sSubPr>
                          <m:ctrlP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𝜃</m:t>
                          </m:r>
                        </m:e>
                        <m:sub>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𝑐</m:t>
                          </m:r>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m:t>
                          </m:r>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𝑡</m:t>
                          </m:r>
                        </m:sub>
                      </m:sSub>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  </m:t>
                      </m:r>
                      <m:sSub>
                        <m:sSubPr>
                          <m:ctrlP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ctrlPr>
                        </m:sSubPr>
                        <m:e>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𝑇</m:t>
                          </m:r>
                        </m:e>
                        <m:sub>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1</m:t>
                          </m:r>
                        </m:sub>
                      </m:sSub>
                      <m:r>
                        <a:rPr kumimoji="0" lang="en-AU" sz="1800" b="0" i="1" strike="noStrike" kern="0" cap="none" spc="0" normalizeH="0" baseline="0" noProof="0" smtClean="0">
                          <a:ln>
                            <a:noFill/>
                          </a:ln>
                          <a:solidFill>
                            <a:srgbClr val="333333"/>
                          </a:solidFill>
                          <a:effectLst/>
                          <a:uLnTx/>
                          <a:uFillTx/>
                          <a:latin typeface="Cambria Math" panose="02040503050406030204" pitchFamily="18" charset="0"/>
                        </a:rPr>
                        <m:t>, …)</m:t>
                      </m:r>
                    </m:oMath>
                  </a14:m>
                  <a:r>
                    <a:rPr kumimoji="0" lang="en-AU" sz="1800" b="0" i="0" strike="noStrike" kern="0" cap="none" spc="0" normalizeH="0" baseline="0" noProof="0" dirty="0">
                      <a:ln>
                        <a:noFill/>
                      </a:ln>
                      <a:solidFill>
                        <a:srgbClr val="333333"/>
                      </a:solidFill>
                      <a:effectLst/>
                      <a:uLnTx/>
                      <a:uFillTx/>
                    </a:rPr>
                    <a:t> </a:t>
                  </a:r>
                  <a:r>
                    <a:rPr lang="en-AU" kern="0" noProof="0" dirty="0">
                      <a:solidFill>
                        <a:srgbClr val="333333"/>
                      </a:solidFill>
                      <a:latin typeface="Futura LT Pro Light" panose="020B0402020204020303" pitchFamily="34" charset="0"/>
                    </a:rPr>
                    <a:t>and </a:t>
                  </a:r>
                  <a14:m>
                    <m:oMath xmlns:m="http://schemas.openxmlformats.org/officeDocument/2006/math">
                      <m:sSub>
                        <m:sSubPr>
                          <m:ctrlPr>
                            <a:rPr lang="en-AU" b="1" i="1" kern="0" noProof="0" smtClean="0">
                              <a:solidFill>
                                <a:srgbClr val="333333"/>
                              </a:solidFill>
                              <a:latin typeface="Cambria Math" panose="02040503050406030204" pitchFamily="18" charset="0"/>
                            </a:rPr>
                          </m:ctrlPr>
                        </m:sSubPr>
                        <m:e>
                          <m:r>
                            <a:rPr lang="en-AU" b="1" i="1" kern="0" noProof="0" smtClean="0">
                              <a:solidFill>
                                <a:srgbClr val="333333"/>
                              </a:solidFill>
                              <a:latin typeface="Cambria Math" panose="02040503050406030204" pitchFamily="18" charset="0"/>
                            </a:rPr>
                            <m:t>𝑭</m:t>
                          </m:r>
                        </m:e>
                        <m:sub>
                          <m:r>
                            <a:rPr lang="en-AU" b="1" i="1" kern="0" noProof="0" smtClean="0">
                              <a:solidFill>
                                <a:srgbClr val="333333"/>
                              </a:solidFill>
                              <a:latin typeface="Cambria Math" panose="02040503050406030204" pitchFamily="18" charset="0"/>
                            </a:rPr>
                            <m:t>𝒃</m:t>
                          </m:r>
                        </m:sub>
                      </m:sSub>
                      <m:r>
                        <a:rPr lang="en-AU" b="0" i="1" kern="0" noProof="0" smtClean="0">
                          <a:solidFill>
                            <a:srgbClr val="333333"/>
                          </a:solidFill>
                          <a:latin typeface="Cambria Math" panose="02040503050406030204" pitchFamily="18" charset="0"/>
                        </a:rPr>
                        <m:t>=</m:t>
                      </m:r>
                      <m:sSubSup>
                        <m:sSubSupPr>
                          <m:ctrlPr>
                            <a:rPr lang="en-AU" b="0" i="1" kern="0" noProof="0" smtClean="0">
                              <a:solidFill>
                                <a:srgbClr val="333333"/>
                              </a:solidFill>
                              <a:latin typeface="Cambria Math" panose="02040503050406030204" pitchFamily="18" charset="0"/>
                            </a:rPr>
                          </m:ctrlPr>
                        </m:sSubSupPr>
                        <m:e>
                          <m:r>
                            <a:rPr lang="en-AU" b="0" i="1" kern="0" noProof="0" smtClean="0">
                              <a:solidFill>
                                <a:srgbClr val="333333"/>
                              </a:solidFill>
                              <a:latin typeface="Cambria Math" panose="02040503050406030204" pitchFamily="18" charset="0"/>
                            </a:rPr>
                            <m:t>𝐶</m:t>
                          </m:r>
                        </m:e>
                        <m:sub>
                          <m:r>
                            <a:rPr lang="en-AU" b="0" i="1" kern="0" noProof="0" smtClean="0">
                              <a:solidFill>
                                <a:srgbClr val="333333"/>
                              </a:solidFill>
                              <a:latin typeface="Cambria Math" panose="02040503050406030204" pitchFamily="18" charset="0"/>
                            </a:rPr>
                            <m:t>𝑠</m:t>
                          </m:r>
                        </m:sub>
                        <m:sup>
                          <m:r>
                            <a:rPr lang="en-AU" b="0" i="1" kern="0" noProof="0" smtClean="0">
                              <a:solidFill>
                                <a:srgbClr val="333333"/>
                              </a:solidFill>
                              <a:latin typeface="Cambria Math" panose="02040503050406030204" pitchFamily="18" charset="0"/>
                            </a:rPr>
                            <m:t>∗</m:t>
                          </m:r>
                        </m:sup>
                      </m:sSubSup>
                      <m:r>
                        <a:rPr lang="en-AU" b="0" i="1" kern="0" noProof="0" smtClean="0">
                          <a:solidFill>
                            <a:srgbClr val="333333"/>
                          </a:solidFill>
                          <a:latin typeface="Cambria Math" panose="02040503050406030204" pitchFamily="18" charset="0"/>
                        </a:rPr>
                        <m:t>∙</m:t>
                      </m:r>
                      <m:r>
                        <a:rPr lang="en-AU" b="0" i="1" kern="0" noProof="0" smtClean="0">
                          <a:solidFill>
                            <a:srgbClr val="333333"/>
                          </a:solidFill>
                          <a:latin typeface="Cambria Math" panose="02040503050406030204" pitchFamily="18" charset="0"/>
                        </a:rPr>
                        <m:t>𝑊</m:t>
                      </m:r>
                    </m:oMath>
                  </a14:m>
                  <a:endParaRPr lang="en-AU" kern="0" noProof="0" dirty="0">
                    <a:solidFill>
                      <a:srgbClr val="333333"/>
                    </a:solidFill>
                    <a:latin typeface="Futura LT Pro Light" panose="020B0402020204020303" pitchFamily="34" charset="0"/>
                  </a:endParaRPr>
                </a:p>
              </p:txBody>
            </p:sp>
          </mc:Choice>
          <mc:Fallback xmlns="">
            <p:sp>
              <p:nvSpPr>
                <p:cNvPr id="41" name="Textfeld 40">
                  <a:extLst>
                    <a:ext uri="{FF2B5EF4-FFF2-40B4-BE49-F238E27FC236}">
                      <a16:creationId xmlns:a16="http://schemas.microsoft.com/office/drawing/2014/main" id="{C3BB3F8F-08B8-7A84-F85C-DCB1513DB955}"/>
                    </a:ext>
                  </a:extLst>
                </p:cNvPr>
                <p:cNvSpPr txBox="1">
                  <a:spLocks noRot="1" noChangeAspect="1" noMove="1" noResize="1" noEditPoints="1" noAdjustHandles="1" noChangeArrowheads="1" noChangeShapeType="1" noTextEdit="1"/>
                </p:cNvSpPr>
                <p:nvPr/>
              </p:nvSpPr>
              <p:spPr>
                <a:xfrm>
                  <a:off x="6088790" y="3340403"/>
                  <a:ext cx="4541627" cy="1089401"/>
                </a:xfrm>
                <a:prstGeom prst="rect">
                  <a:avLst/>
                </a:prstGeom>
                <a:blipFill>
                  <a:blip r:embed="rId7"/>
                  <a:stretch>
                    <a:fillRect l="-1208" t="-3352" b="-6145"/>
                  </a:stretch>
                </a:blipFill>
              </p:spPr>
              <p:txBody>
                <a:bodyPr/>
                <a:lstStyle/>
                <a:p>
                  <a:r>
                    <a:rPr lang="de-DE">
                      <a:noFill/>
                    </a:rPr>
                    <a:t> </a:t>
                  </a:r>
                </a:p>
              </p:txBody>
            </p:sp>
          </mc:Fallback>
        </mc:AlternateContent>
        <p:grpSp>
          <p:nvGrpSpPr>
            <p:cNvPr id="42" name="Gruppieren 41">
              <a:extLst>
                <a:ext uri="{FF2B5EF4-FFF2-40B4-BE49-F238E27FC236}">
                  <a16:creationId xmlns:a16="http://schemas.microsoft.com/office/drawing/2014/main" id="{81859A1A-5A69-E347-801F-5CDF97C17658}"/>
                </a:ext>
              </a:extLst>
            </p:cNvPr>
            <p:cNvGrpSpPr/>
            <p:nvPr/>
          </p:nvGrpSpPr>
          <p:grpSpPr>
            <a:xfrm>
              <a:off x="10343588" y="3490437"/>
              <a:ext cx="1330249" cy="794255"/>
              <a:chOff x="5554371" y="4500389"/>
              <a:chExt cx="1941648" cy="1368152"/>
            </a:xfrm>
          </p:grpSpPr>
          <p:cxnSp>
            <p:nvCxnSpPr>
              <p:cNvPr id="44" name="Gerader Verbinder 43">
                <a:extLst>
                  <a:ext uri="{FF2B5EF4-FFF2-40B4-BE49-F238E27FC236}">
                    <a16:creationId xmlns:a16="http://schemas.microsoft.com/office/drawing/2014/main" id="{5D704C87-674E-F0D2-70AF-FF716EDBF3D2}"/>
                  </a:ext>
                </a:extLst>
              </p:cNvPr>
              <p:cNvCxnSpPr>
                <a:cxnSpLocks/>
              </p:cNvCxnSpPr>
              <p:nvPr/>
            </p:nvCxnSpPr>
            <p:spPr>
              <a:xfrm>
                <a:off x="6055859" y="5868541"/>
                <a:ext cx="1440160" cy="0"/>
              </a:xfrm>
              <a:prstGeom prst="line">
                <a:avLst/>
              </a:prstGeom>
              <a:noFill/>
              <a:ln w="57150" cap="flat" cmpd="sng" algn="ctr">
                <a:solidFill>
                  <a:srgbClr val="00263E"/>
                </a:solidFill>
                <a:prstDash val="solid"/>
              </a:ln>
              <a:effectLst/>
            </p:spPr>
          </p:cxnSp>
          <p:cxnSp>
            <p:nvCxnSpPr>
              <p:cNvPr id="45" name="Gerader Verbinder 44">
                <a:extLst>
                  <a:ext uri="{FF2B5EF4-FFF2-40B4-BE49-F238E27FC236}">
                    <a16:creationId xmlns:a16="http://schemas.microsoft.com/office/drawing/2014/main" id="{8623A305-1509-251F-A019-082AE5AC1A67}"/>
                  </a:ext>
                </a:extLst>
              </p:cNvPr>
              <p:cNvCxnSpPr/>
              <p:nvPr/>
            </p:nvCxnSpPr>
            <p:spPr>
              <a:xfrm flipV="1">
                <a:off x="6242293" y="4500389"/>
                <a:ext cx="0" cy="1368152"/>
              </a:xfrm>
              <a:prstGeom prst="line">
                <a:avLst/>
              </a:prstGeom>
              <a:noFill/>
              <a:ln w="28575" cap="flat" cmpd="sng" algn="ctr">
                <a:solidFill>
                  <a:srgbClr val="00263E"/>
                </a:solidFill>
                <a:prstDash val="solid"/>
              </a:ln>
              <a:effectLst/>
            </p:spPr>
          </p:cxnSp>
          <p:cxnSp>
            <p:nvCxnSpPr>
              <p:cNvPr id="46" name="Gerader Verbinder 45">
                <a:extLst>
                  <a:ext uri="{FF2B5EF4-FFF2-40B4-BE49-F238E27FC236}">
                    <a16:creationId xmlns:a16="http://schemas.microsoft.com/office/drawing/2014/main" id="{9318DCC7-401A-FA92-2DB7-A7F9B0449852}"/>
                  </a:ext>
                </a:extLst>
              </p:cNvPr>
              <p:cNvCxnSpPr/>
              <p:nvPr/>
            </p:nvCxnSpPr>
            <p:spPr>
              <a:xfrm flipV="1">
                <a:off x="7309023" y="4500389"/>
                <a:ext cx="0" cy="1368152"/>
              </a:xfrm>
              <a:prstGeom prst="line">
                <a:avLst/>
              </a:prstGeom>
              <a:noFill/>
              <a:ln w="28575" cap="flat" cmpd="sng" algn="ctr">
                <a:solidFill>
                  <a:srgbClr val="00263E"/>
                </a:solidFill>
                <a:prstDash val="solid"/>
              </a:ln>
              <a:effectLst/>
            </p:spPr>
          </p:cxnSp>
          <p:cxnSp>
            <p:nvCxnSpPr>
              <p:cNvPr id="47" name="Gerader Verbinder 46">
                <a:extLst>
                  <a:ext uri="{FF2B5EF4-FFF2-40B4-BE49-F238E27FC236}">
                    <a16:creationId xmlns:a16="http://schemas.microsoft.com/office/drawing/2014/main" id="{30192582-AB8E-F142-6FBD-9F5F9A3EB217}"/>
                  </a:ext>
                </a:extLst>
              </p:cNvPr>
              <p:cNvCxnSpPr>
                <a:cxnSpLocks/>
              </p:cNvCxnSpPr>
              <p:nvPr/>
            </p:nvCxnSpPr>
            <p:spPr>
              <a:xfrm>
                <a:off x="6242293" y="4500389"/>
                <a:ext cx="1066730" cy="0"/>
              </a:xfrm>
              <a:prstGeom prst="line">
                <a:avLst/>
              </a:prstGeom>
              <a:noFill/>
              <a:ln w="28575" cap="flat" cmpd="sng" algn="ctr">
                <a:solidFill>
                  <a:srgbClr val="00263E"/>
                </a:solidFill>
                <a:prstDash val="solid"/>
              </a:ln>
              <a:effectLst/>
            </p:spPr>
          </p:cxnSp>
          <p:cxnSp>
            <p:nvCxnSpPr>
              <p:cNvPr id="48" name="Gerader Verbinder 47">
                <a:extLst>
                  <a:ext uri="{FF2B5EF4-FFF2-40B4-BE49-F238E27FC236}">
                    <a16:creationId xmlns:a16="http://schemas.microsoft.com/office/drawing/2014/main" id="{4A95EB3D-B4FA-F12D-D9D6-20F9DDFB6556}"/>
                  </a:ext>
                </a:extLst>
              </p:cNvPr>
              <p:cNvCxnSpPr>
                <a:cxnSpLocks/>
              </p:cNvCxnSpPr>
              <p:nvPr/>
            </p:nvCxnSpPr>
            <p:spPr>
              <a:xfrm>
                <a:off x="6242293" y="4932437"/>
                <a:ext cx="1066730" cy="0"/>
              </a:xfrm>
              <a:prstGeom prst="line">
                <a:avLst/>
              </a:prstGeom>
              <a:noFill/>
              <a:ln w="28575" cap="flat" cmpd="sng" algn="ctr">
                <a:solidFill>
                  <a:srgbClr val="00263E"/>
                </a:solidFill>
                <a:prstDash val="solid"/>
              </a:ln>
              <a:effectLst/>
            </p:spPr>
          </p:cxnSp>
          <p:cxnSp>
            <p:nvCxnSpPr>
              <p:cNvPr id="49" name="Gerader Verbinder 48">
                <a:extLst>
                  <a:ext uri="{FF2B5EF4-FFF2-40B4-BE49-F238E27FC236}">
                    <a16:creationId xmlns:a16="http://schemas.microsoft.com/office/drawing/2014/main" id="{14698686-1B90-5A0F-83E2-09280DA20FA3}"/>
                  </a:ext>
                </a:extLst>
              </p:cNvPr>
              <p:cNvCxnSpPr>
                <a:cxnSpLocks/>
              </p:cNvCxnSpPr>
              <p:nvPr/>
            </p:nvCxnSpPr>
            <p:spPr>
              <a:xfrm>
                <a:off x="6242293" y="5364485"/>
                <a:ext cx="1066730" cy="0"/>
              </a:xfrm>
              <a:prstGeom prst="line">
                <a:avLst/>
              </a:prstGeom>
              <a:noFill/>
              <a:ln w="28575" cap="flat" cmpd="sng" algn="ctr">
                <a:solidFill>
                  <a:srgbClr val="00263E"/>
                </a:solidFill>
                <a:prstDash val="solid"/>
              </a:ln>
              <a:effectLst/>
            </p:spPr>
          </p:cxnSp>
          <p:cxnSp>
            <p:nvCxnSpPr>
              <p:cNvPr id="50" name="Gerader Verbinder 49">
                <a:extLst>
                  <a:ext uri="{FF2B5EF4-FFF2-40B4-BE49-F238E27FC236}">
                    <a16:creationId xmlns:a16="http://schemas.microsoft.com/office/drawing/2014/main" id="{5879AF3F-9ADB-5A8A-DA98-F6F812BE110D}"/>
                  </a:ext>
                </a:extLst>
              </p:cNvPr>
              <p:cNvCxnSpPr/>
              <p:nvPr/>
            </p:nvCxnSpPr>
            <p:spPr>
              <a:xfrm flipV="1">
                <a:off x="6775658" y="4500389"/>
                <a:ext cx="0" cy="1368152"/>
              </a:xfrm>
              <a:prstGeom prst="line">
                <a:avLst/>
              </a:prstGeom>
              <a:noFill/>
              <a:ln w="28575" cap="flat" cmpd="sng" algn="ctr">
                <a:solidFill>
                  <a:srgbClr val="00263E"/>
                </a:solidFill>
                <a:prstDash val="solid"/>
              </a:ln>
              <a:effectLst/>
            </p:spPr>
          </p:cxnSp>
          <p:cxnSp>
            <p:nvCxnSpPr>
              <p:cNvPr id="51" name="Gerader Verbinder 50">
                <a:extLst>
                  <a:ext uri="{FF2B5EF4-FFF2-40B4-BE49-F238E27FC236}">
                    <a16:creationId xmlns:a16="http://schemas.microsoft.com/office/drawing/2014/main" id="{CA60D372-AF92-B7FD-DEBF-23495AA4392B}"/>
                  </a:ext>
                </a:extLst>
              </p:cNvPr>
              <p:cNvCxnSpPr/>
              <p:nvPr/>
            </p:nvCxnSpPr>
            <p:spPr>
              <a:xfrm flipV="1">
                <a:off x="6242293" y="4500389"/>
                <a:ext cx="533646" cy="432048"/>
              </a:xfrm>
              <a:prstGeom prst="line">
                <a:avLst/>
              </a:prstGeom>
              <a:noFill/>
              <a:ln w="19050" cap="flat" cmpd="sng" algn="ctr">
                <a:solidFill>
                  <a:srgbClr val="00263E"/>
                </a:solidFill>
                <a:prstDash val="solid"/>
              </a:ln>
              <a:effectLst/>
            </p:spPr>
          </p:cxnSp>
          <p:cxnSp>
            <p:nvCxnSpPr>
              <p:cNvPr id="52" name="Gerader Verbinder 51">
                <a:extLst>
                  <a:ext uri="{FF2B5EF4-FFF2-40B4-BE49-F238E27FC236}">
                    <a16:creationId xmlns:a16="http://schemas.microsoft.com/office/drawing/2014/main" id="{CB23AEFA-7698-93A0-79A3-80727A6F306C}"/>
                  </a:ext>
                </a:extLst>
              </p:cNvPr>
              <p:cNvCxnSpPr/>
              <p:nvPr/>
            </p:nvCxnSpPr>
            <p:spPr>
              <a:xfrm flipV="1">
                <a:off x="6242293" y="4932439"/>
                <a:ext cx="533646" cy="432048"/>
              </a:xfrm>
              <a:prstGeom prst="line">
                <a:avLst/>
              </a:prstGeom>
              <a:noFill/>
              <a:ln w="19050" cap="flat" cmpd="sng" algn="ctr">
                <a:solidFill>
                  <a:srgbClr val="00263E"/>
                </a:solidFill>
                <a:prstDash val="solid"/>
              </a:ln>
              <a:effectLst/>
            </p:spPr>
          </p:cxnSp>
          <p:cxnSp>
            <p:nvCxnSpPr>
              <p:cNvPr id="53" name="Gerader Verbinder 52">
                <a:extLst>
                  <a:ext uri="{FF2B5EF4-FFF2-40B4-BE49-F238E27FC236}">
                    <a16:creationId xmlns:a16="http://schemas.microsoft.com/office/drawing/2014/main" id="{ED3DC069-3C49-446D-2293-85BE5ED4FB52}"/>
                  </a:ext>
                </a:extLst>
              </p:cNvPr>
              <p:cNvCxnSpPr>
                <a:cxnSpLocks/>
              </p:cNvCxnSpPr>
              <p:nvPr/>
            </p:nvCxnSpPr>
            <p:spPr>
              <a:xfrm flipV="1">
                <a:off x="6241732" y="5364487"/>
                <a:ext cx="533646" cy="476248"/>
              </a:xfrm>
              <a:prstGeom prst="line">
                <a:avLst/>
              </a:prstGeom>
              <a:noFill/>
              <a:ln w="19050" cap="flat" cmpd="sng" algn="ctr">
                <a:solidFill>
                  <a:srgbClr val="00263E"/>
                </a:solidFill>
                <a:prstDash val="solid"/>
              </a:ln>
              <a:effectLst/>
            </p:spPr>
          </p:cxnSp>
          <p:grpSp>
            <p:nvGrpSpPr>
              <p:cNvPr id="54" name="Gruppieren 53">
                <a:extLst>
                  <a:ext uri="{FF2B5EF4-FFF2-40B4-BE49-F238E27FC236}">
                    <a16:creationId xmlns:a16="http://schemas.microsoft.com/office/drawing/2014/main" id="{9DC66064-9E7F-667A-76DC-DB3815BE1F21}"/>
                  </a:ext>
                </a:extLst>
              </p:cNvPr>
              <p:cNvGrpSpPr/>
              <p:nvPr/>
            </p:nvGrpSpPr>
            <p:grpSpPr>
              <a:xfrm flipH="1">
                <a:off x="6785465" y="4509529"/>
                <a:ext cx="534207" cy="1340346"/>
                <a:chOff x="6394132" y="4652789"/>
                <a:chExt cx="534207" cy="1340346"/>
              </a:xfrm>
            </p:grpSpPr>
            <p:cxnSp>
              <p:nvCxnSpPr>
                <p:cNvPr id="58" name="Gerader Verbinder 57">
                  <a:extLst>
                    <a:ext uri="{FF2B5EF4-FFF2-40B4-BE49-F238E27FC236}">
                      <a16:creationId xmlns:a16="http://schemas.microsoft.com/office/drawing/2014/main" id="{99F77E90-8CFD-E000-6E28-BD4D9C65E8D7}"/>
                    </a:ext>
                  </a:extLst>
                </p:cNvPr>
                <p:cNvCxnSpPr/>
                <p:nvPr/>
              </p:nvCxnSpPr>
              <p:spPr>
                <a:xfrm flipV="1">
                  <a:off x="6394693" y="4652789"/>
                  <a:ext cx="533646" cy="432048"/>
                </a:xfrm>
                <a:prstGeom prst="line">
                  <a:avLst/>
                </a:prstGeom>
                <a:noFill/>
                <a:ln w="19050" cap="flat" cmpd="sng" algn="ctr">
                  <a:solidFill>
                    <a:srgbClr val="00263E"/>
                  </a:solidFill>
                  <a:prstDash val="solid"/>
                </a:ln>
                <a:effectLst/>
              </p:spPr>
            </p:cxnSp>
            <p:cxnSp>
              <p:nvCxnSpPr>
                <p:cNvPr id="59" name="Gerader Verbinder 58">
                  <a:extLst>
                    <a:ext uri="{FF2B5EF4-FFF2-40B4-BE49-F238E27FC236}">
                      <a16:creationId xmlns:a16="http://schemas.microsoft.com/office/drawing/2014/main" id="{F25E6830-0C8B-0BEC-9028-DA15044794E8}"/>
                    </a:ext>
                  </a:extLst>
                </p:cNvPr>
                <p:cNvCxnSpPr/>
                <p:nvPr/>
              </p:nvCxnSpPr>
              <p:spPr>
                <a:xfrm flipV="1">
                  <a:off x="6394693" y="5084839"/>
                  <a:ext cx="533646" cy="432048"/>
                </a:xfrm>
                <a:prstGeom prst="line">
                  <a:avLst/>
                </a:prstGeom>
                <a:noFill/>
                <a:ln w="19050" cap="flat" cmpd="sng" algn="ctr">
                  <a:solidFill>
                    <a:srgbClr val="00263E"/>
                  </a:solidFill>
                  <a:prstDash val="solid"/>
                </a:ln>
                <a:effectLst/>
              </p:spPr>
            </p:cxnSp>
            <p:cxnSp>
              <p:nvCxnSpPr>
                <p:cNvPr id="60" name="Gerader Verbinder 59">
                  <a:extLst>
                    <a:ext uri="{FF2B5EF4-FFF2-40B4-BE49-F238E27FC236}">
                      <a16:creationId xmlns:a16="http://schemas.microsoft.com/office/drawing/2014/main" id="{84BE466B-4396-0F8E-2501-AB1B0C2262BF}"/>
                    </a:ext>
                  </a:extLst>
                </p:cNvPr>
                <p:cNvCxnSpPr>
                  <a:cxnSpLocks/>
                </p:cNvCxnSpPr>
                <p:nvPr/>
              </p:nvCxnSpPr>
              <p:spPr>
                <a:xfrm flipV="1">
                  <a:off x="6394132" y="5516887"/>
                  <a:ext cx="533646" cy="476248"/>
                </a:xfrm>
                <a:prstGeom prst="line">
                  <a:avLst/>
                </a:prstGeom>
                <a:noFill/>
                <a:ln w="19050" cap="flat" cmpd="sng" algn="ctr">
                  <a:solidFill>
                    <a:srgbClr val="00263E"/>
                  </a:solidFill>
                  <a:prstDash val="solid"/>
                </a:ln>
                <a:effectLst/>
              </p:spPr>
            </p:cxnSp>
          </p:grpSp>
          <p:cxnSp>
            <p:nvCxnSpPr>
              <p:cNvPr id="55" name="Gerade Verbindung mit Pfeil 54">
                <a:extLst>
                  <a:ext uri="{FF2B5EF4-FFF2-40B4-BE49-F238E27FC236}">
                    <a16:creationId xmlns:a16="http://schemas.microsoft.com/office/drawing/2014/main" id="{1E462161-58A3-0F9E-C92D-3793E4B2B2FD}"/>
                  </a:ext>
                </a:extLst>
              </p:cNvPr>
              <p:cNvCxnSpPr/>
              <p:nvPr/>
            </p:nvCxnSpPr>
            <p:spPr>
              <a:xfrm>
                <a:off x="5554371" y="4509529"/>
                <a:ext cx="605092" cy="0"/>
              </a:xfrm>
              <a:prstGeom prst="straightConnector1">
                <a:avLst/>
              </a:prstGeom>
              <a:noFill/>
              <a:ln w="19050" cap="flat" cmpd="sng" algn="ctr">
                <a:solidFill>
                  <a:srgbClr val="000000"/>
                </a:solidFill>
                <a:prstDash val="solid"/>
                <a:tailEnd type="triangle"/>
              </a:ln>
              <a:effectLst/>
            </p:spPr>
          </p:cxnSp>
          <p:cxnSp>
            <p:nvCxnSpPr>
              <p:cNvPr id="56" name="Gerade Verbindung mit Pfeil 55">
                <a:extLst>
                  <a:ext uri="{FF2B5EF4-FFF2-40B4-BE49-F238E27FC236}">
                    <a16:creationId xmlns:a16="http://schemas.microsoft.com/office/drawing/2014/main" id="{3502C405-1D2A-ABB8-158D-8848C9837AF8}"/>
                  </a:ext>
                </a:extLst>
              </p:cNvPr>
              <p:cNvCxnSpPr>
                <a:cxnSpLocks/>
              </p:cNvCxnSpPr>
              <p:nvPr/>
            </p:nvCxnSpPr>
            <p:spPr>
              <a:xfrm>
                <a:off x="5724847" y="4932437"/>
                <a:ext cx="443329" cy="0"/>
              </a:xfrm>
              <a:prstGeom prst="straightConnector1">
                <a:avLst/>
              </a:prstGeom>
              <a:noFill/>
              <a:ln w="19050" cap="flat" cmpd="sng" algn="ctr">
                <a:solidFill>
                  <a:srgbClr val="000000"/>
                </a:solidFill>
                <a:prstDash val="solid"/>
                <a:tailEnd type="triangle"/>
              </a:ln>
              <a:effectLst/>
            </p:spPr>
          </p:cxnSp>
          <p:cxnSp>
            <p:nvCxnSpPr>
              <p:cNvPr id="57" name="Gerade Verbindung mit Pfeil 56">
                <a:extLst>
                  <a:ext uri="{FF2B5EF4-FFF2-40B4-BE49-F238E27FC236}">
                    <a16:creationId xmlns:a16="http://schemas.microsoft.com/office/drawing/2014/main" id="{B4EBD6DC-E8FC-6FAC-FD3A-D13221B84513}"/>
                  </a:ext>
                </a:extLst>
              </p:cNvPr>
              <p:cNvCxnSpPr>
                <a:cxnSpLocks/>
              </p:cNvCxnSpPr>
              <p:nvPr/>
            </p:nvCxnSpPr>
            <p:spPr>
              <a:xfrm>
                <a:off x="5946511" y="5364485"/>
                <a:ext cx="203562" cy="0"/>
              </a:xfrm>
              <a:prstGeom prst="straightConnector1">
                <a:avLst/>
              </a:prstGeom>
              <a:noFill/>
              <a:ln w="19050" cap="flat" cmpd="sng" algn="ctr">
                <a:solidFill>
                  <a:srgbClr val="000000"/>
                </a:solidFill>
                <a:prstDash val="solid"/>
                <a:tailEnd type="triangle"/>
              </a:ln>
              <a:effectLst/>
            </p:spPr>
          </p:cxnSp>
        </p:grpSp>
        <p:sp>
          <p:nvSpPr>
            <p:cNvPr id="43" name="Rechteck 42">
              <a:extLst>
                <a:ext uri="{FF2B5EF4-FFF2-40B4-BE49-F238E27FC236}">
                  <a16:creationId xmlns:a16="http://schemas.microsoft.com/office/drawing/2014/main" id="{7936CA2C-8F12-7016-026A-2679F8E66830}"/>
                </a:ext>
              </a:extLst>
            </p:cNvPr>
            <p:cNvSpPr/>
            <p:nvPr/>
          </p:nvSpPr>
          <p:spPr>
            <a:xfrm>
              <a:off x="6084887" y="3188632"/>
              <a:ext cx="5679857" cy="13117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61" name="Gruppieren 60">
            <a:extLst>
              <a:ext uri="{FF2B5EF4-FFF2-40B4-BE49-F238E27FC236}">
                <a16:creationId xmlns:a16="http://schemas.microsoft.com/office/drawing/2014/main" id="{7B2FD5E9-ABD0-3C5C-361F-F82C2EBBF19C}"/>
              </a:ext>
            </a:extLst>
          </p:cNvPr>
          <p:cNvGrpSpPr/>
          <p:nvPr/>
        </p:nvGrpSpPr>
        <p:grpSpPr>
          <a:xfrm>
            <a:off x="6655933" y="1779865"/>
            <a:ext cx="3650646" cy="1208356"/>
            <a:chOff x="7020991" y="1346527"/>
            <a:chExt cx="3650646" cy="1208356"/>
          </a:xfrm>
        </p:grpSpPr>
        <p:sp>
          <p:nvSpPr>
            <p:cNvPr id="62" name="Textfeld 61">
              <a:extLst>
                <a:ext uri="{FF2B5EF4-FFF2-40B4-BE49-F238E27FC236}">
                  <a16:creationId xmlns:a16="http://schemas.microsoft.com/office/drawing/2014/main" id="{4DABDFE2-EC83-9DF8-7DDA-6F05FB1DA952}"/>
                </a:ext>
              </a:extLst>
            </p:cNvPr>
            <p:cNvSpPr txBox="1"/>
            <p:nvPr/>
          </p:nvSpPr>
          <p:spPr>
            <a:xfrm>
              <a:off x="7154367" y="1607122"/>
              <a:ext cx="2600069" cy="646331"/>
            </a:xfrm>
            <a:prstGeom prst="rect">
              <a:avLst/>
            </a:prstGeom>
            <a:noFill/>
          </p:spPr>
          <p:txBody>
            <a:bodyPr wrap="square" rtlCol="0">
              <a:spAutoFit/>
            </a:bodyPr>
            <a:lstStyle/>
            <a:p>
              <a:r>
                <a:rPr lang="en-AU" b="1" noProof="0" dirty="0">
                  <a:solidFill>
                    <a:srgbClr val="333333"/>
                  </a:solidFill>
                  <a:latin typeface="Futura LT Pro Light" panose="020B0402020204020303" pitchFamily="34" charset="0"/>
                  <a:cs typeface="+mn-cs"/>
                </a:rPr>
                <a:t>7. </a:t>
              </a:r>
              <a:r>
                <a:rPr lang="en-AU" noProof="0" dirty="0">
                  <a:solidFill>
                    <a:srgbClr val="333333"/>
                  </a:solidFill>
                  <a:latin typeface="Futura LT Pro Light" panose="020B0402020204020303" pitchFamily="34" charset="0"/>
                  <a:cs typeface="+mn-cs"/>
                </a:rPr>
                <a:t>Design structure and check period</a:t>
              </a:r>
            </a:p>
          </p:txBody>
        </p:sp>
        <p:grpSp>
          <p:nvGrpSpPr>
            <p:cNvPr id="63" name="Gruppieren 62">
              <a:extLst>
                <a:ext uri="{FF2B5EF4-FFF2-40B4-BE49-F238E27FC236}">
                  <a16:creationId xmlns:a16="http://schemas.microsoft.com/office/drawing/2014/main" id="{76ECBFDE-C8C8-A5CF-DF2C-39358EC0BD26}"/>
                </a:ext>
              </a:extLst>
            </p:cNvPr>
            <p:cNvGrpSpPr/>
            <p:nvPr/>
          </p:nvGrpSpPr>
          <p:grpSpPr>
            <a:xfrm>
              <a:off x="9600229" y="1522397"/>
              <a:ext cx="857718" cy="858395"/>
              <a:chOff x="4068663" y="2411011"/>
              <a:chExt cx="1800000" cy="1801421"/>
            </a:xfrm>
          </p:grpSpPr>
          <p:sp>
            <p:nvSpPr>
              <p:cNvPr id="65" name="Freihandform: Form 64">
                <a:extLst>
                  <a:ext uri="{FF2B5EF4-FFF2-40B4-BE49-F238E27FC236}">
                    <a16:creationId xmlns:a16="http://schemas.microsoft.com/office/drawing/2014/main" id="{FD2842DC-414C-4324-C681-35735E24E71E}"/>
                  </a:ext>
                </a:extLst>
              </p:cNvPr>
              <p:cNvSpPr/>
              <p:nvPr/>
            </p:nvSpPr>
            <p:spPr>
              <a:xfrm>
                <a:off x="4071837" y="2412206"/>
                <a:ext cx="1795608" cy="1800226"/>
              </a:xfrm>
              <a:custGeom>
                <a:avLst/>
                <a:gdLst>
                  <a:gd name="connsiteX0" fmla="*/ 161658 w 2137418"/>
                  <a:gd name="connsiteY0" fmla="*/ 25365 h 1862499"/>
                  <a:gd name="connsiteX1" fmla="*/ 1961883 w 2137418"/>
                  <a:gd name="connsiteY1" fmla="*/ 30127 h 1862499"/>
                  <a:gd name="connsiteX2" fmla="*/ 1961883 w 2137418"/>
                  <a:gd name="connsiteY2" fmla="*/ 253965 h 1862499"/>
                  <a:gd name="connsiteX3" fmla="*/ 1257033 w 2137418"/>
                  <a:gd name="connsiteY3" fmla="*/ 249202 h 1862499"/>
                  <a:gd name="connsiteX4" fmla="*/ 1104633 w 2137418"/>
                  <a:gd name="connsiteY4" fmla="*/ 373027 h 1862499"/>
                  <a:gd name="connsiteX5" fmla="*/ 1109396 w 2137418"/>
                  <a:gd name="connsiteY5" fmla="*/ 1482690 h 1862499"/>
                  <a:gd name="connsiteX6" fmla="*/ 1247508 w 2137418"/>
                  <a:gd name="connsiteY6" fmla="*/ 1616040 h 1862499"/>
                  <a:gd name="connsiteX7" fmla="*/ 1966646 w 2137418"/>
                  <a:gd name="connsiteY7" fmla="*/ 1616040 h 1862499"/>
                  <a:gd name="connsiteX8" fmla="*/ 1976171 w 2137418"/>
                  <a:gd name="connsiteY8" fmla="*/ 1835115 h 1862499"/>
                  <a:gd name="connsiteX9" fmla="*/ 166421 w 2137418"/>
                  <a:gd name="connsiteY9" fmla="*/ 1835115 h 1862499"/>
                  <a:gd name="connsiteX10" fmla="*/ 171183 w 2137418"/>
                  <a:gd name="connsiteY10" fmla="*/ 1616040 h 1862499"/>
                  <a:gd name="connsiteX11" fmla="*/ 899846 w 2137418"/>
                  <a:gd name="connsiteY11" fmla="*/ 1620802 h 1862499"/>
                  <a:gd name="connsiteX12" fmla="*/ 1018908 w 2137418"/>
                  <a:gd name="connsiteY12" fmla="*/ 1487452 h 1862499"/>
                  <a:gd name="connsiteX13" fmla="*/ 1028433 w 2137418"/>
                  <a:gd name="connsiteY13" fmla="*/ 377790 h 1862499"/>
                  <a:gd name="connsiteX14" fmla="*/ 876033 w 2137418"/>
                  <a:gd name="connsiteY14" fmla="*/ 239677 h 1862499"/>
                  <a:gd name="connsiteX15" fmla="*/ 166421 w 2137418"/>
                  <a:gd name="connsiteY15" fmla="*/ 244440 h 1862499"/>
                  <a:gd name="connsiteX16" fmla="*/ 161658 w 2137418"/>
                  <a:gd name="connsiteY16" fmla="*/ 25365 h 1862499"/>
                  <a:gd name="connsiteX0" fmla="*/ 161658 w 2137418"/>
                  <a:gd name="connsiteY0" fmla="*/ 25365 h 1862499"/>
                  <a:gd name="connsiteX1" fmla="*/ 1961883 w 2137418"/>
                  <a:gd name="connsiteY1" fmla="*/ 30127 h 1862499"/>
                  <a:gd name="connsiteX2" fmla="*/ 1961883 w 2137418"/>
                  <a:gd name="connsiteY2" fmla="*/ 253965 h 1862499"/>
                  <a:gd name="connsiteX3" fmla="*/ 1257033 w 2137418"/>
                  <a:gd name="connsiteY3" fmla="*/ 249202 h 1862499"/>
                  <a:gd name="connsiteX4" fmla="*/ 1104633 w 2137418"/>
                  <a:gd name="connsiteY4" fmla="*/ 373027 h 1862499"/>
                  <a:gd name="connsiteX5" fmla="*/ 1109396 w 2137418"/>
                  <a:gd name="connsiteY5" fmla="*/ 1482690 h 1862499"/>
                  <a:gd name="connsiteX6" fmla="*/ 1247508 w 2137418"/>
                  <a:gd name="connsiteY6" fmla="*/ 1616040 h 1862499"/>
                  <a:gd name="connsiteX7" fmla="*/ 1966646 w 2137418"/>
                  <a:gd name="connsiteY7" fmla="*/ 1616040 h 1862499"/>
                  <a:gd name="connsiteX8" fmla="*/ 1976171 w 2137418"/>
                  <a:gd name="connsiteY8" fmla="*/ 1835115 h 1862499"/>
                  <a:gd name="connsiteX9" fmla="*/ 166421 w 2137418"/>
                  <a:gd name="connsiteY9" fmla="*/ 1835115 h 1862499"/>
                  <a:gd name="connsiteX10" fmla="*/ 171183 w 2137418"/>
                  <a:gd name="connsiteY10" fmla="*/ 1616040 h 1862499"/>
                  <a:gd name="connsiteX11" fmla="*/ 899846 w 2137418"/>
                  <a:gd name="connsiteY11" fmla="*/ 1620802 h 1862499"/>
                  <a:gd name="connsiteX12" fmla="*/ 1018908 w 2137418"/>
                  <a:gd name="connsiteY12" fmla="*/ 1487452 h 1862499"/>
                  <a:gd name="connsiteX13" fmla="*/ 1028433 w 2137418"/>
                  <a:gd name="connsiteY13" fmla="*/ 377790 h 1862499"/>
                  <a:gd name="connsiteX14" fmla="*/ 876033 w 2137418"/>
                  <a:gd name="connsiteY14" fmla="*/ 239677 h 1862499"/>
                  <a:gd name="connsiteX15" fmla="*/ 166421 w 2137418"/>
                  <a:gd name="connsiteY15" fmla="*/ 244440 h 1862499"/>
                  <a:gd name="connsiteX16" fmla="*/ 161658 w 2137418"/>
                  <a:gd name="connsiteY16" fmla="*/ 25365 h 1862499"/>
                  <a:gd name="connsiteX0" fmla="*/ 161658 w 2137418"/>
                  <a:gd name="connsiteY0" fmla="*/ 25365 h 1862499"/>
                  <a:gd name="connsiteX1" fmla="*/ 1961883 w 2137418"/>
                  <a:gd name="connsiteY1" fmla="*/ 30127 h 1862499"/>
                  <a:gd name="connsiteX2" fmla="*/ 1961883 w 2137418"/>
                  <a:gd name="connsiteY2" fmla="*/ 253965 h 1862499"/>
                  <a:gd name="connsiteX3" fmla="*/ 1257033 w 2137418"/>
                  <a:gd name="connsiteY3" fmla="*/ 249202 h 1862499"/>
                  <a:gd name="connsiteX4" fmla="*/ 1104633 w 2137418"/>
                  <a:gd name="connsiteY4" fmla="*/ 373027 h 1862499"/>
                  <a:gd name="connsiteX5" fmla="*/ 1109396 w 2137418"/>
                  <a:gd name="connsiteY5" fmla="*/ 1482690 h 1862499"/>
                  <a:gd name="connsiteX6" fmla="*/ 1247508 w 2137418"/>
                  <a:gd name="connsiteY6" fmla="*/ 1616040 h 1862499"/>
                  <a:gd name="connsiteX7" fmla="*/ 1966646 w 2137418"/>
                  <a:gd name="connsiteY7" fmla="*/ 1616040 h 1862499"/>
                  <a:gd name="connsiteX8" fmla="*/ 1976171 w 2137418"/>
                  <a:gd name="connsiteY8" fmla="*/ 1835115 h 1862499"/>
                  <a:gd name="connsiteX9" fmla="*/ 166421 w 2137418"/>
                  <a:gd name="connsiteY9" fmla="*/ 1835115 h 1862499"/>
                  <a:gd name="connsiteX10" fmla="*/ 171183 w 2137418"/>
                  <a:gd name="connsiteY10" fmla="*/ 1616040 h 1862499"/>
                  <a:gd name="connsiteX11" fmla="*/ 899846 w 2137418"/>
                  <a:gd name="connsiteY11" fmla="*/ 1620802 h 1862499"/>
                  <a:gd name="connsiteX12" fmla="*/ 1018908 w 2137418"/>
                  <a:gd name="connsiteY12" fmla="*/ 1487452 h 1862499"/>
                  <a:gd name="connsiteX13" fmla="*/ 1028433 w 2137418"/>
                  <a:gd name="connsiteY13" fmla="*/ 377790 h 1862499"/>
                  <a:gd name="connsiteX14" fmla="*/ 876033 w 2137418"/>
                  <a:gd name="connsiteY14" fmla="*/ 239677 h 1862499"/>
                  <a:gd name="connsiteX15" fmla="*/ 166421 w 2137418"/>
                  <a:gd name="connsiteY15" fmla="*/ 244440 h 1862499"/>
                  <a:gd name="connsiteX16" fmla="*/ 161658 w 2137418"/>
                  <a:gd name="connsiteY16" fmla="*/ 25365 h 1862499"/>
                  <a:gd name="connsiteX0" fmla="*/ 161658 w 2137418"/>
                  <a:gd name="connsiteY0" fmla="*/ 13844 h 1850978"/>
                  <a:gd name="connsiteX1" fmla="*/ 1961883 w 2137418"/>
                  <a:gd name="connsiteY1" fmla="*/ 18606 h 1850978"/>
                  <a:gd name="connsiteX2" fmla="*/ 1961883 w 2137418"/>
                  <a:gd name="connsiteY2" fmla="*/ 242444 h 1850978"/>
                  <a:gd name="connsiteX3" fmla="*/ 1257033 w 2137418"/>
                  <a:gd name="connsiteY3" fmla="*/ 237681 h 1850978"/>
                  <a:gd name="connsiteX4" fmla="*/ 1104633 w 2137418"/>
                  <a:gd name="connsiteY4" fmla="*/ 361506 h 1850978"/>
                  <a:gd name="connsiteX5" fmla="*/ 1109396 w 2137418"/>
                  <a:gd name="connsiteY5" fmla="*/ 1471169 h 1850978"/>
                  <a:gd name="connsiteX6" fmla="*/ 1247508 w 2137418"/>
                  <a:gd name="connsiteY6" fmla="*/ 1604519 h 1850978"/>
                  <a:gd name="connsiteX7" fmla="*/ 1966646 w 2137418"/>
                  <a:gd name="connsiteY7" fmla="*/ 1604519 h 1850978"/>
                  <a:gd name="connsiteX8" fmla="*/ 1976171 w 2137418"/>
                  <a:gd name="connsiteY8" fmla="*/ 1823594 h 1850978"/>
                  <a:gd name="connsiteX9" fmla="*/ 166421 w 2137418"/>
                  <a:gd name="connsiteY9" fmla="*/ 1823594 h 1850978"/>
                  <a:gd name="connsiteX10" fmla="*/ 171183 w 2137418"/>
                  <a:gd name="connsiteY10" fmla="*/ 1604519 h 1850978"/>
                  <a:gd name="connsiteX11" fmla="*/ 899846 w 2137418"/>
                  <a:gd name="connsiteY11" fmla="*/ 1609281 h 1850978"/>
                  <a:gd name="connsiteX12" fmla="*/ 1018908 w 2137418"/>
                  <a:gd name="connsiteY12" fmla="*/ 1475931 h 1850978"/>
                  <a:gd name="connsiteX13" fmla="*/ 1028433 w 2137418"/>
                  <a:gd name="connsiteY13" fmla="*/ 366269 h 1850978"/>
                  <a:gd name="connsiteX14" fmla="*/ 876033 w 2137418"/>
                  <a:gd name="connsiteY14" fmla="*/ 228156 h 1850978"/>
                  <a:gd name="connsiteX15" fmla="*/ 166421 w 2137418"/>
                  <a:gd name="connsiteY15" fmla="*/ 232919 h 1850978"/>
                  <a:gd name="connsiteX16" fmla="*/ 161658 w 2137418"/>
                  <a:gd name="connsiteY16" fmla="*/ 13844 h 1850978"/>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4291 w 2137076"/>
                  <a:gd name="connsiteY5" fmla="*/ 1453867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4291 w 2137076"/>
                  <a:gd name="connsiteY5" fmla="*/ 1453867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4291 w 2137076"/>
                  <a:gd name="connsiteY5" fmla="*/ 1453867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05819"/>
                  <a:gd name="connsiteY0" fmla="*/ 13211 h 1850345"/>
                  <a:gd name="connsiteX1" fmla="*/ 1956779 w 2105819"/>
                  <a:gd name="connsiteY1" fmla="*/ 20354 h 1850345"/>
                  <a:gd name="connsiteX2" fmla="*/ 1961541 w 2105819"/>
                  <a:gd name="connsiteY2" fmla="*/ 241811 h 1850345"/>
                  <a:gd name="connsiteX3" fmla="*/ 1268598 w 2105819"/>
                  <a:gd name="connsiteY3" fmla="*/ 234667 h 1850345"/>
                  <a:gd name="connsiteX4" fmla="*/ 1104291 w 2105819"/>
                  <a:gd name="connsiteY4" fmla="*/ 360873 h 1850345"/>
                  <a:gd name="connsiteX5" fmla="*/ 1104291 w 2105819"/>
                  <a:gd name="connsiteY5" fmla="*/ 1453867 h 1850345"/>
                  <a:gd name="connsiteX6" fmla="*/ 1259072 w 2105819"/>
                  <a:gd name="connsiteY6" fmla="*/ 1603886 h 1850345"/>
                  <a:gd name="connsiteX7" fmla="*/ 1966304 w 2105819"/>
                  <a:gd name="connsiteY7" fmla="*/ 1603886 h 1850345"/>
                  <a:gd name="connsiteX8" fmla="*/ 1975829 w 2105819"/>
                  <a:gd name="connsiteY8" fmla="*/ 1822961 h 1850345"/>
                  <a:gd name="connsiteX9" fmla="*/ 166079 w 2105819"/>
                  <a:gd name="connsiteY9" fmla="*/ 1822961 h 1850345"/>
                  <a:gd name="connsiteX10" fmla="*/ 170841 w 2105819"/>
                  <a:gd name="connsiteY10" fmla="*/ 1603886 h 1850345"/>
                  <a:gd name="connsiteX11" fmla="*/ 899504 w 2105819"/>
                  <a:gd name="connsiteY11" fmla="*/ 1608648 h 1850345"/>
                  <a:gd name="connsiteX12" fmla="*/ 1018566 w 2105819"/>
                  <a:gd name="connsiteY12" fmla="*/ 1475298 h 1850345"/>
                  <a:gd name="connsiteX13" fmla="*/ 1028091 w 2105819"/>
                  <a:gd name="connsiteY13" fmla="*/ 365636 h 1850345"/>
                  <a:gd name="connsiteX14" fmla="*/ 875691 w 2105819"/>
                  <a:gd name="connsiteY14" fmla="*/ 227523 h 1850345"/>
                  <a:gd name="connsiteX15" fmla="*/ 166079 w 2105819"/>
                  <a:gd name="connsiteY15" fmla="*/ 232286 h 1850345"/>
                  <a:gd name="connsiteX16" fmla="*/ 161316 w 2105819"/>
                  <a:gd name="connsiteY16" fmla="*/ 13211 h 1850345"/>
                  <a:gd name="connsiteX0" fmla="*/ 161316 w 2105819"/>
                  <a:gd name="connsiteY0" fmla="*/ 13211 h 1850345"/>
                  <a:gd name="connsiteX1" fmla="*/ 1956779 w 2105819"/>
                  <a:gd name="connsiteY1" fmla="*/ 20354 h 1850345"/>
                  <a:gd name="connsiteX2" fmla="*/ 1961541 w 2105819"/>
                  <a:gd name="connsiteY2" fmla="*/ 241811 h 1850345"/>
                  <a:gd name="connsiteX3" fmla="*/ 1268598 w 2105819"/>
                  <a:gd name="connsiteY3" fmla="*/ 234667 h 1850345"/>
                  <a:gd name="connsiteX4" fmla="*/ 1104291 w 2105819"/>
                  <a:gd name="connsiteY4" fmla="*/ 360873 h 1850345"/>
                  <a:gd name="connsiteX5" fmla="*/ 1104291 w 2105819"/>
                  <a:gd name="connsiteY5" fmla="*/ 1453867 h 1850345"/>
                  <a:gd name="connsiteX6" fmla="*/ 1259072 w 2105819"/>
                  <a:gd name="connsiteY6" fmla="*/ 1603886 h 1850345"/>
                  <a:gd name="connsiteX7" fmla="*/ 1966304 w 2105819"/>
                  <a:gd name="connsiteY7" fmla="*/ 1603886 h 1850345"/>
                  <a:gd name="connsiteX8" fmla="*/ 1975829 w 2105819"/>
                  <a:gd name="connsiteY8" fmla="*/ 1822961 h 1850345"/>
                  <a:gd name="connsiteX9" fmla="*/ 166079 w 2105819"/>
                  <a:gd name="connsiteY9" fmla="*/ 1822961 h 1850345"/>
                  <a:gd name="connsiteX10" fmla="*/ 170841 w 2105819"/>
                  <a:gd name="connsiteY10" fmla="*/ 1603886 h 1850345"/>
                  <a:gd name="connsiteX11" fmla="*/ 899504 w 2105819"/>
                  <a:gd name="connsiteY11" fmla="*/ 1608648 h 1850345"/>
                  <a:gd name="connsiteX12" fmla="*/ 1018566 w 2105819"/>
                  <a:gd name="connsiteY12" fmla="*/ 1475298 h 1850345"/>
                  <a:gd name="connsiteX13" fmla="*/ 1028091 w 2105819"/>
                  <a:gd name="connsiteY13" fmla="*/ 365636 h 1850345"/>
                  <a:gd name="connsiteX14" fmla="*/ 875691 w 2105819"/>
                  <a:gd name="connsiteY14" fmla="*/ 227523 h 1850345"/>
                  <a:gd name="connsiteX15" fmla="*/ 166079 w 2105819"/>
                  <a:gd name="connsiteY15" fmla="*/ 232286 h 1850345"/>
                  <a:gd name="connsiteX16" fmla="*/ 161316 w 2105819"/>
                  <a:gd name="connsiteY16" fmla="*/ 13211 h 1850345"/>
                  <a:gd name="connsiteX0" fmla="*/ 161316 w 2102802"/>
                  <a:gd name="connsiteY0" fmla="*/ 13211 h 1850345"/>
                  <a:gd name="connsiteX1" fmla="*/ 1956779 w 2102802"/>
                  <a:gd name="connsiteY1" fmla="*/ 20354 h 1850345"/>
                  <a:gd name="connsiteX2" fmla="*/ 1961541 w 2102802"/>
                  <a:gd name="connsiteY2" fmla="*/ 241811 h 1850345"/>
                  <a:gd name="connsiteX3" fmla="*/ 1268598 w 2102802"/>
                  <a:gd name="connsiteY3" fmla="*/ 234667 h 1850345"/>
                  <a:gd name="connsiteX4" fmla="*/ 1104291 w 2102802"/>
                  <a:gd name="connsiteY4" fmla="*/ 360873 h 1850345"/>
                  <a:gd name="connsiteX5" fmla="*/ 1104291 w 2102802"/>
                  <a:gd name="connsiteY5" fmla="*/ 1453867 h 1850345"/>
                  <a:gd name="connsiteX6" fmla="*/ 1259072 w 2102802"/>
                  <a:gd name="connsiteY6" fmla="*/ 1603886 h 1850345"/>
                  <a:gd name="connsiteX7" fmla="*/ 1956779 w 2102802"/>
                  <a:gd name="connsiteY7" fmla="*/ 1603886 h 1850345"/>
                  <a:gd name="connsiteX8" fmla="*/ 1975829 w 2102802"/>
                  <a:gd name="connsiteY8" fmla="*/ 1822961 h 1850345"/>
                  <a:gd name="connsiteX9" fmla="*/ 166079 w 2102802"/>
                  <a:gd name="connsiteY9" fmla="*/ 1822961 h 1850345"/>
                  <a:gd name="connsiteX10" fmla="*/ 170841 w 2102802"/>
                  <a:gd name="connsiteY10" fmla="*/ 1603886 h 1850345"/>
                  <a:gd name="connsiteX11" fmla="*/ 899504 w 2102802"/>
                  <a:gd name="connsiteY11" fmla="*/ 1608648 h 1850345"/>
                  <a:gd name="connsiteX12" fmla="*/ 1018566 w 2102802"/>
                  <a:gd name="connsiteY12" fmla="*/ 1475298 h 1850345"/>
                  <a:gd name="connsiteX13" fmla="*/ 1028091 w 2102802"/>
                  <a:gd name="connsiteY13" fmla="*/ 365636 h 1850345"/>
                  <a:gd name="connsiteX14" fmla="*/ 875691 w 2102802"/>
                  <a:gd name="connsiteY14" fmla="*/ 227523 h 1850345"/>
                  <a:gd name="connsiteX15" fmla="*/ 166079 w 2102802"/>
                  <a:gd name="connsiteY15" fmla="*/ 232286 h 1850345"/>
                  <a:gd name="connsiteX16" fmla="*/ 161316 w 2102802"/>
                  <a:gd name="connsiteY16" fmla="*/ 13211 h 1850345"/>
                  <a:gd name="connsiteX0" fmla="*/ 161316 w 2102802"/>
                  <a:gd name="connsiteY0" fmla="*/ 13211 h 1850345"/>
                  <a:gd name="connsiteX1" fmla="*/ 1956779 w 2102802"/>
                  <a:gd name="connsiteY1" fmla="*/ 20354 h 1850345"/>
                  <a:gd name="connsiteX2" fmla="*/ 1961541 w 2102802"/>
                  <a:gd name="connsiteY2" fmla="*/ 241811 h 1850345"/>
                  <a:gd name="connsiteX3" fmla="*/ 1268598 w 2102802"/>
                  <a:gd name="connsiteY3" fmla="*/ 234667 h 1850345"/>
                  <a:gd name="connsiteX4" fmla="*/ 1104291 w 2102802"/>
                  <a:gd name="connsiteY4" fmla="*/ 360873 h 1850345"/>
                  <a:gd name="connsiteX5" fmla="*/ 1104291 w 2102802"/>
                  <a:gd name="connsiteY5" fmla="*/ 1453867 h 1850345"/>
                  <a:gd name="connsiteX6" fmla="*/ 1259072 w 2102802"/>
                  <a:gd name="connsiteY6" fmla="*/ 1603886 h 1850345"/>
                  <a:gd name="connsiteX7" fmla="*/ 1956779 w 2102802"/>
                  <a:gd name="connsiteY7" fmla="*/ 1603886 h 1850345"/>
                  <a:gd name="connsiteX8" fmla="*/ 1975829 w 2102802"/>
                  <a:gd name="connsiteY8" fmla="*/ 1822961 h 1850345"/>
                  <a:gd name="connsiteX9" fmla="*/ 166079 w 2102802"/>
                  <a:gd name="connsiteY9" fmla="*/ 1822961 h 1850345"/>
                  <a:gd name="connsiteX10" fmla="*/ 170841 w 2102802"/>
                  <a:gd name="connsiteY10" fmla="*/ 1603886 h 1850345"/>
                  <a:gd name="connsiteX11" fmla="*/ 899504 w 2102802"/>
                  <a:gd name="connsiteY11" fmla="*/ 1608648 h 1850345"/>
                  <a:gd name="connsiteX12" fmla="*/ 1018566 w 2102802"/>
                  <a:gd name="connsiteY12" fmla="*/ 1475298 h 1850345"/>
                  <a:gd name="connsiteX13" fmla="*/ 1028091 w 2102802"/>
                  <a:gd name="connsiteY13" fmla="*/ 365636 h 1850345"/>
                  <a:gd name="connsiteX14" fmla="*/ 875691 w 2102802"/>
                  <a:gd name="connsiteY14" fmla="*/ 227523 h 1850345"/>
                  <a:gd name="connsiteX15" fmla="*/ 166079 w 2102802"/>
                  <a:gd name="connsiteY15" fmla="*/ 232286 h 1850345"/>
                  <a:gd name="connsiteX16" fmla="*/ 161316 w 2102802"/>
                  <a:gd name="connsiteY16" fmla="*/ 13211 h 1850345"/>
                  <a:gd name="connsiteX0" fmla="*/ 161316 w 2084927"/>
                  <a:gd name="connsiteY0" fmla="*/ 13211 h 1849030"/>
                  <a:gd name="connsiteX1" fmla="*/ 1956779 w 2084927"/>
                  <a:gd name="connsiteY1" fmla="*/ 20354 h 1849030"/>
                  <a:gd name="connsiteX2" fmla="*/ 1961541 w 2084927"/>
                  <a:gd name="connsiteY2" fmla="*/ 241811 h 1849030"/>
                  <a:gd name="connsiteX3" fmla="*/ 1268598 w 2084927"/>
                  <a:gd name="connsiteY3" fmla="*/ 234667 h 1849030"/>
                  <a:gd name="connsiteX4" fmla="*/ 1104291 w 2084927"/>
                  <a:gd name="connsiteY4" fmla="*/ 360873 h 1849030"/>
                  <a:gd name="connsiteX5" fmla="*/ 1104291 w 2084927"/>
                  <a:gd name="connsiteY5" fmla="*/ 1453867 h 1849030"/>
                  <a:gd name="connsiteX6" fmla="*/ 1259072 w 2084927"/>
                  <a:gd name="connsiteY6" fmla="*/ 1603886 h 1849030"/>
                  <a:gd name="connsiteX7" fmla="*/ 1956779 w 2084927"/>
                  <a:gd name="connsiteY7" fmla="*/ 1603886 h 1849030"/>
                  <a:gd name="connsiteX8" fmla="*/ 1952017 w 2084927"/>
                  <a:gd name="connsiteY8" fmla="*/ 1820580 h 1849030"/>
                  <a:gd name="connsiteX9" fmla="*/ 166079 w 2084927"/>
                  <a:gd name="connsiteY9" fmla="*/ 1822961 h 1849030"/>
                  <a:gd name="connsiteX10" fmla="*/ 170841 w 2084927"/>
                  <a:gd name="connsiteY10" fmla="*/ 1603886 h 1849030"/>
                  <a:gd name="connsiteX11" fmla="*/ 899504 w 2084927"/>
                  <a:gd name="connsiteY11" fmla="*/ 1608648 h 1849030"/>
                  <a:gd name="connsiteX12" fmla="*/ 1018566 w 2084927"/>
                  <a:gd name="connsiteY12" fmla="*/ 1475298 h 1849030"/>
                  <a:gd name="connsiteX13" fmla="*/ 1028091 w 2084927"/>
                  <a:gd name="connsiteY13" fmla="*/ 365636 h 1849030"/>
                  <a:gd name="connsiteX14" fmla="*/ 875691 w 2084927"/>
                  <a:gd name="connsiteY14" fmla="*/ 227523 h 1849030"/>
                  <a:gd name="connsiteX15" fmla="*/ 166079 w 2084927"/>
                  <a:gd name="connsiteY15" fmla="*/ 232286 h 1849030"/>
                  <a:gd name="connsiteX16" fmla="*/ 161316 w 2084927"/>
                  <a:gd name="connsiteY16" fmla="*/ 13211 h 1849030"/>
                  <a:gd name="connsiteX0" fmla="*/ 161316 w 2092013"/>
                  <a:gd name="connsiteY0" fmla="*/ 13211 h 1849030"/>
                  <a:gd name="connsiteX1" fmla="*/ 1956779 w 2092013"/>
                  <a:gd name="connsiteY1" fmla="*/ 20354 h 1849030"/>
                  <a:gd name="connsiteX2" fmla="*/ 1961541 w 2092013"/>
                  <a:gd name="connsiteY2" fmla="*/ 241811 h 1849030"/>
                  <a:gd name="connsiteX3" fmla="*/ 1268598 w 2092013"/>
                  <a:gd name="connsiteY3" fmla="*/ 234667 h 1849030"/>
                  <a:gd name="connsiteX4" fmla="*/ 1104291 w 2092013"/>
                  <a:gd name="connsiteY4" fmla="*/ 360873 h 1849030"/>
                  <a:gd name="connsiteX5" fmla="*/ 1104291 w 2092013"/>
                  <a:gd name="connsiteY5" fmla="*/ 1453867 h 1849030"/>
                  <a:gd name="connsiteX6" fmla="*/ 1259072 w 2092013"/>
                  <a:gd name="connsiteY6" fmla="*/ 1603886 h 1849030"/>
                  <a:gd name="connsiteX7" fmla="*/ 1956779 w 2092013"/>
                  <a:gd name="connsiteY7" fmla="*/ 1603886 h 1849030"/>
                  <a:gd name="connsiteX8" fmla="*/ 1961542 w 2092013"/>
                  <a:gd name="connsiteY8" fmla="*/ 1820580 h 1849030"/>
                  <a:gd name="connsiteX9" fmla="*/ 166079 w 2092013"/>
                  <a:gd name="connsiteY9" fmla="*/ 1822961 h 1849030"/>
                  <a:gd name="connsiteX10" fmla="*/ 170841 w 2092013"/>
                  <a:gd name="connsiteY10" fmla="*/ 1603886 h 1849030"/>
                  <a:gd name="connsiteX11" fmla="*/ 899504 w 2092013"/>
                  <a:gd name="connsiteY11" fmla="*/ 1608648 h 1849030"/>
                  <a:gd name="connsiteX12" fmla="*/ 1018566 w 2092013"/>
                  <a:gd name="connsiteY12" fmla="*/ 1475298 h 1849030"/>
                  <a:gd name="connsiteX13" fmla="*/ 1028091 w 2092013"/>
                  <a:gd name="connsiteY13" fmla="*/ 365636 h 1849030"/>
                  <a:gd name="connsiteX14" fmla="*/ 875691 w 2092013"/>
                  <a:gd name="connsiteY14" fmla="*/ 227523 h 1849030"/>
                  <a:gd name="connsiteX15" fmla="*/ 166079 w 2092013"/>
                  <a:gd name="connsiteY15" fmla="*/ 232286 h 1849030"/>
                  <a:gd name="connsiteX16" fmla="*/ 161316 w 2092013"/>
                  <a:gd name="connsiteY16" fmla="*/ 13211 h 1849030"/>
                  <a:gd name="connsiteX0" fmla="*/ 161316 w 2092013"/>
                  <a:gd name="connsiteY0" fmla="*/ 13211 h 1849030"/>
                  <a:gd name="connsiteX1" fmla="*/ 1956779 w 2092013"/>
                  <a:gd name="connsiteY1" fmla="*/ 20354 h 1849030"/>
                  <a:gd name="connsiteX2" fmla="*/ 1961541 w 2092013"/>
                  <a:gd name="connsiteY2" fmla="*/ 241811 h 1849030"/>
                  <a:gd name="connsiteX3" fmla="*/ 1268598 w 2092013"/>
                  <a:gd name="connsiteY3" fmla="*/ 234667 h 1849030"/>
                  <a:gd name="connsiteX4" fmla="*/ 1104291 w 2092013"/>
                  <a:gd name="connsiteY4" fmla="*/ 360873 h 1849030"/>
                  <a:gd name="connsiteX5" fmla="*/ 1104291 w 2092013"/>
                  <a:gd name="connsiteY5" fmla="*/ 1453867 h 1849030"/>
                  <a:gd name="connsiteX6" fmla="*/ 1259072 w 2092013"/>
                  <a:gd name="connsiteY6" fmla="*/ 1603886 h 1849030"/>
                  <a:gd name="connsiteX7" fmla="*/ 1956779 w 2092013"/>
                  <a:gd name="connsiteY7" fmla="*/ 1603886 h 1849030"/>
                  <a:gd name="connsiteX8" fmla="*/ 1961542 w 2092013"/>
                  <a:gd name="connsiteY8" fmla="*/ 1820580 h 1849030"/>
                  <a:gd name="connsiteX9" fmla="*/ 166079 w 2092013"/>
                  <a:gd name="connsiteY9" fmla="*/ 1822961 h 1849030"/>
                  <a:gd name="connsiteX10" fmla="*/ 170841 w 2092013"/>
                  <a:gd name="connsiteY10" fmla="*/ 1603886 h 1849030"/>
                  <a:gd name="connsiteX11" fmla="*/ 899504 w 2092013"/>
                  <a:gd name="connsiteY11" fmla="*/ 1608648 h 1849030"/>
                  <a:gd name="connsiteX12" fmla="*/ 1018566 w 2092013"/>
                  <a:gd name="connsiteY12" fmla="*/ 1475298 h 1849030"/>
                  <a:gd name="connsiteX13" fmla="*/ 1028091 w 2092013"/>
                  <a:gd name="connsiteY13" fmla="*/ 365636 h 1849030"/>
                  <a:gd name="connsiteX14" fmla="*/ 875691 w 2092013"/>
                  <a:gd name="connsiteY14" fmla="*/ 227523 h 1849030"/>
                  <a:gd name="connsiteX15" fmla="*/ 166079 w 2092013"/>
                  <a:gd name="connsiteY15" fmla="*/ 232286 h 1849030"/>
                  <a:gd name="connsiteX16" fmla="*/ 161316 w 2092013"/>
                  <a:gd name="connsiteY16" fmla="*/ 13211 h 1849030"/>
                  <a:gd name="connsiteX0" fmla="*/ 161316 w 1961587"/>
                  <a:gd name="connsiteY0" fmla="*/ 13211 h 1849030"/>
                  <a:gd name="connsiteX1" fmla="*/ 1956779 w 1961587"/>
                  <a:gd name="connsiteY1" fmla="*/ 20354 h 1849030"/>
                  <a:gd name="connsiteX2" fmla="*/ 1961541 w 1961587"/>
                  <a:gd name="connsiteY2" fmla="*/ 241811 h 1849030"/>
                  <a:gd name="connsiteX3" fmla="*/ 1268598 w 1961587"/>
                  <a:gd name="connsiteY3" fmla="*/ 234667 h 1849030"/>
                  <a:gd name="connsiteX4" fmla="*/ 1104291 w 1961587"/>
                  <a:gd name="connsiteY4" fmla="*/ 360873 h 1849030"/>
                  <a:gd name="connsiteX5" fmla="*/ 1104291 w 1961587"/>
                  <a:gd name="connsiteY5" fmla="*/ 1453867 h 1849030"/>
                  <a:gd name="connsiteX6" fmla="*/ 1259072 w 1961587"/>
                  <a:gd name="connsiteY6" fmla="*/ 1603886 h 1849030"/>
                  <a:gd name="connsiteX7" fmla="*/ 1956779 w 1961587"/>
                  <a:gd name="connsiteY7" fmla="*/ 1603886 h 1849030"/>
                  <a:gd name="connsiteX8" fmla="*/ 1961542 w 1961587"/>
                  <a:gd name="connsiteY8" fmla="*/ 1820580 h 1849030"/>
                  <a:gd name="connsiteX9" fmla="*/ 166079 w 1961587"/>
                  <a:gd name="connsiteY9" fmla="*/ 1822961 h 1849030"/>
                  <a:gd name="connsiteX10" fmla="*/ 170841 w 1961587"/>
                  <a:gd name="connsiteY10" fmla="*/ 1603886 h 1849030"/>
                  <a:gd name="connsiteX11" fmla="*/ 899504 w 1961587"/>
                  <a:gd name="connsiteY11" fmla="*/ 1608648 h 1849030"/>
                  <a:gd name="connsiteX12" fmla="*/ 1018566 w 1961587"/>
                  <a:gd name="connsiteY12" fmla="*/ 1475298 h 1849030"/>
                  <a:gd name="connsiteX13" fmla="*/ 1028091 w 1961587"/>
                  <a:gd name="connsiteY13" fmla="*/ 365636 h 1849030"/>
                  <a:gd name="connsiteX14" fmla="*/ 875691 w 1961587"/>
                  <a:gd name="connsiteY14" fmla="*/ 227523 h 1849030"/>
                  <a:gd name="connsiteX15" fmla="*/ 166079 w 1961587"/>
                  <a:gd name="connsiteY15" fmla="*/ 232286 h 1849030"/>
                  <a:gd name="connsiteX16" fmla="*/ 161316 w 1961587"/>
                  <a:gd name="connsiteY16" fmla="*/ 13211 h 1849030"/>
                  <a:gd name="connsiteX0" fmla="*/ 161316 w 1961587"/>
                  <a:gd name="connsiteY0" fmla="*/ 13211 h 1838092"/>
                  <a:gd name="connsiteX1" fmla="*/ 1956779 w 1961587"/>
                  <a:gd name="connsiteY1" fmla="*/ 20354 h 1838092"/>
                  <a:gd name="connsiteX2" fmla="*/ 1961541 w 1961587"/>
                  <a:gd name="connsiteY2" fmla="*/ 241811 h 1838092"/>
                  <a:gd name="connsiteX3" fmla="*/ 1268598 w 1961587"/>
                  <a:gd name="connsiteY3" fmla="*/ 234667 h 1838092"/>
                  <a:gd name="connsiteX4" fmla="*/ 1104291 w 1961587"/>
                  <a:gd name="connsiteY4" fmla="*/ 360873 h 1838092"/>
                  <a:gd name="connsiteX5" fmla="*/ 1104291 w 1961587"/>
                  <a:gd name="connsiteY5" fmla="*/ 1453867 h 1838092"/>
                  <a:gd name="connsiteX6" fmla="*/ 1259072 w 1961587"/>
                  <a:gd name="connsiteY6" fmla="*/ 1603886 h 1838092"/>
                  <a:gd name="connsiteX7" fmla="*/ 1956779 w 1961587"/>
                  <a:gd name="connsiteY7" fmla="*/ 1603886 h 1838092"/>
                  <a:gd name="connsiteX8" fmla="*/ 1961542 w 1961587"/>
                  <a:gd name="connsiteY8" fmla="*/ 1820580 h 1838092"/>
                  <a:gd name="connsiteX9" fmla="*/ 166079 w 1961587"/>
                  <a:gd name="connsiteY9" fmla="*/ 1822961 h 1838092"/>
                  <a:gd name="connsiteX10" fmla="*/ 170841 w 1961587"/>
                  <a:gd name="connsiteY10" fmla="*/ 1603886 h 1838092"/>
                  <a:gd name="connsiteX11" fmla="*/ 899504 w 1961587"/>
                  <a:gd name="connsiteY11" fmla="*/ 1608648 h 1838092"/>
                  <a:gd name="connsiteX12" fmla="*/ 1018566 w 1961587"/>
                  <a:gd name="connsiteY12" fmla="*/ 1475298 h 1838092"/>
                  <a:gd name="connsiteX13" fmla="*/ 1028091 w 1961587"/>
                  <a:gd name="connsiteY13" fmla="*/ 365636 h 1838092"/>
                  <a:gd name="connsiteX14" fmla="*/ 875691 w 1961587"/>
                  <a:gd name="connsiteY14" fmla="*/ 227523 h 1838092"/>
                  <a:gd name="connsiteX15" fmla="*/ 166079 w 1961587"/>
                  <a:gd name="connsiteY15" fmla="*/ 232286 h 1838092"/>
                  <a:gd name="connsiteX16" fmla="*/ 161316 w 1961587"/>
                  <a:gd name="connsiteY16" fmla="*/ 13211 h 1838092"/>
                  <a:gd name="connsiteX0" fmla="*/ 161316 w 1961587"/>
                  <a:gd name="connsiteY0" fmla="*/ 13211 h 1838092"/>
                  <a:gd name="connsiteX1" fmla="*/ 1956779 w 1961587"/>
                  <a:gd name="connsiteY1" fmla="*/ 20354 h 1838092"/>
                  <a:gd name="connsiteX2" fmla="*/ 1961541 w 1961587"/>
                  <a:gd name="connsiteY2" fmla="*/ 241811 h 1838092"/>
                  <a:gd name="connsiteX3" fmla="*/ 1268598 w 1961587"/>
                  <a:gd name="connsiteY3" fmla="*/ 234667 h 1838092"/>
                  <a:gd name="connsiteX4" fmla="*/ 1104291 w 1961587"/>
                  <a:gd name="connsiteY4" fmla="*/ 360873 h 1838092"/>
                  <a:gd name="connsiteX5" fmla="*/ 1104291 w 1961587"/>
                  <a:gd name="connsiteY5" fmla="*/ 1453867 h 1838092"/>
                  <a:gd name="connsiteX6" fmla="*/ 1259072 w 1961587"/>
                  <a:gd name="connsiteY6" fmla="*/ 1603886 h 1838092"/>
                  <a:gd name="connsiteX7" fmla="*/ 1956779 w 1961587"/>
                  <a:gd name="connsiteY7" fmla="*/ 1603886 h 1838092"/>
                  <a:gd name="connsiteX8" fmla="*/ 1961542 w 1961587"/>
                  <a:gd name="connsiteY8" fmla="*/ 1820580 h 1838092"/>
                  <a:gd name="connsiteX9" fmla="*/ 166079 w 1961587"/>
                  <a:gd name="connsiteY9" fmla="*/ 1822961 h 1838092"/>
                  <a:gd name="connsiteX10" fmla="*/ 170841 w 1961587"/>
                  <a:gd name="connsiteY10" fmla="*/ 1603886 h 1838092"/>
                  <a:gd name="connsiteX11" fmla="*/ 899504 w 1961587"/>
                  <a:gd name="connsiteY11" fmla="*/ 1608648 h 1838092"/>
                  <a:gd name="connsiteX12" fmla="*/ 1018566 w 1961587"/>
                  <a:gd name="connsiteY12" fmla="*/ 1475298 h 1838092"/>
                  <a:gd name="connsiteX13" fmla="*/ 1028091 w 1961587"/>
                  <a:gd name="connsiteY13" fmla="*/ 365636 h 1838092"/>
                  <a:gd name="connsiteX14" fmla="*/ 875691 w 1961587"/>
                  <a:gd name="connsiteY14" fmla="*/ 227523 h 1838092"/>
                  <a:gd name="connsiteX15" fmla="*/ 166079 w 1961587"/>
                  <a:gd name="connsiteY15" fmla="*/ 232286 h 1838092"/>
                  <a:gd name="connsiteX16" fmla="*/ 161316 w 1961587"/>
                  <a:gd name="connsiteY16" fmla="*/ 13211 h 1838092"/>
                  <a:gd name="connsiteX0" fmla="*/ 161316 w 1961587"/>
                  <a:gd name="connsiteY0" fmla="*/ 13211 h 1822961"/>
                  <a:gd name="connsiteX1" fmla="*/ 1956779 w 1961587"/>
                  <a:gd name="connsiteY1" fmla="*/ 20354 h 1822961"/>
                  <a:gd name="connsiteX2" fmla="*/ 1961541 w 1961587"/>
                  <a:gd name="connsiteY2" fmla="*/ 241811 h 1822961"/>
                  <a:gd name="connsiteX3" fmla="*/ 1268598 w 1961587"/>
                  <a:gd name="connsiteY3" fmla="*/ 234667 h 1822961"/>
                  <a:gd name="connsiteX4" fmla="*/ 1104291 w 1961587"/>
                  <a:gd name="connsiteY4" fmla="*/ 360873 h 1822961"/>
                  <a:gd name="connsiteX5" fmla="*/ 1104291 w 1961587"/>
                  <a:gd name="connsiteY5" fmla="*/ 1453867 h 1822961"/>
                  <a:gd name="connsiteX6" fmla="*/ 1259072 w 1961587"/>
                  <a:gd name="connsiteY6" fmla="*/ 1603886 h 1822961"/>
                  <a:gd name="connsiteX7" fmla="*/ 1956779 w 1961587"/>
                  <a:gd name="connsiteY7" fmla="*/ 1603886 h 1822961"/>
                  <a:gd name="connsiteX8" fmla="*/ 1961542 w 1961587"/>
                  <a:gd name="connsiteY8" fmla="*/ 1820580 h 1822961"/>
                  <a:gd name="connsiteX9" fmla="*/ 166079 w 1961587"/>
                  <a:gd name="connsiteY9" fmla="*/ 1822961 h 1822961"/>
                  <a:gd name="connsiteX10" fmla="*/ 170841 w 1961587"/>
                  <a:gd name="connsiteY10" fmla="*/ 1603886 h 1822961"/>
                  <a:gd name="connsiteX11" fmla="*/ 899504 w 1961587"/>
                  <a:gd name="connsiteY11" fmla="*/ 1608648 h 1822961"/>
                  <a:gd name="connsiteX12" fmla="*/ 1018566 w 1961587"/>
                  <a:gd name="connsiteY12" fmla="*/ 1475298 h 1822961"/>
                  <a:gd name="connsiteX13" fmla="*/ 1028091 w 1961587"/>
                  <a:gd name="connsiteY13" fmla="*/ 365636 h 1822961"/>
                  <a:gd name="connsiteX14" fmla="*/ 875691 w 1961587"/>
                  <a:gd name="connsiteY14" fmla="*/ 227523 h 1822961"/>
                  <a:gd name="connsiteX15" fmla="*/ 166079 w 1961587"/>
                  <a:gd name="connsiteY15" fmla="*/ 232286 h 1822961"/>
                  <a:gd name="connsiteX16" fmla="*/ 161316 w 1961587"/>
                  <a:gd name="connsiteY16" fmla="*/ 13211 h 1822961"/>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31682 w 1931953"/>
                  <a:gd name="connsiteY0" fmla="*/ 13211 h 1820580"/>
                  <a:gd name="connsiteX1" fmla="*/ 1927145 w 1931953"/>
                  <a:gd name="connsiteY1" fmla="*/ 20354 h 1820580"/>
                  <a:gd name="connsiteX2" fmla="*/ 1931907 w 1931953"/>
                  <a:gd name="connsiteY2" fmla="*/ 241811 h 1820580"/>
                  <a:gd name="connsiteX3" fmla="*/ 1238964 w 1931953"/>
                  <a:gd name="connsiteY3" fmla="*/ 234667 h 1820580"/>
                  <a:gd name="connsiteX4" fmla="*/ 1074657 w 1931953"/>
                  <a:gd name="connsiteY4" fmla="*/ 360873 h 1820580"/>
                  <a:gd name="connsiteX5" fmla="*/ 1074657 w 1931953"/>
                  <a:gd name="connsiteY5" fmla="*/ 1453867 h 1820580"/>
                  <a:gd name="connsiteX6" fmla="*/ 1229438 w 1931953"/>
                  <a:gd name="connsiteY6" fmla="*/ 1603886 h 1820580"/>
                  <a:gd name="connsiteX7" fmla="*/ 1927145 w 1931953"/>
                  <a:gd name="connsiteY7" fmla="*/ 1603886 h 1820580"/>
                  <a:gd name="connsiteX8" fmla="*/ 1931908 w 1931953"/>
                  <a:gd name="connsiteY8" fmla="*/ 1820580 h 1820580"/>
                  <a:gd name="connsiteX9" fmla="*/ 138826 w 1931953"/>
                  <a:gd name="connsiteY9" fmla="*/ 1815818 h 1820580"/>
                  <a:gd name="connsiteX10" fmla="*/ 141207 w 1931953"/>
                  <a:gd name="connsiteY10" fmla="*/ 1603886 h 1820580"/>
                  <a:gd name="connsiteX11" fmla="*/ 829389 w 1931953"/>
                  <a:gd name="connsiteY11" fmla="*/ 1603886 h 1820580"/>
                  <a:gd name="connsiteX12" fmla="*/ 988932 w 1931953"/>
                  <a:gd name="connsiteY12" fmla="*/ 1475298 h 1820580"/>
                  <a:gd name="connsiteX13" fmla="*/ 988932 w 1931953"/>
                  <a:gd name="connsiteY13" fmla="*/ 363255 h 1820580"/>
                  <a:gd name="connsiteX14" fmla="*/ 853201 w 1931953"/>
                  <a:gd name="connsiteY14" fmla="*/ 234667 h 1820580"/>
                  <a:gd name="connsiteX15" fmla="*/ 136445 w 1931953"/>
                  <a:gd name="connsiteY15" fmla="*/ 232286 h 1820580"/>
                  <a:gd name="connsiteX16" fmla="*/ 131682 w 1931953"/>
                  <a:gd name="connsiteY16" fmla="*/ 13211 h 1820580"/>
                  <a:gd name="connsiteX0" fmla="*/ 131682 w 1931953"/>
                  <a:gd name="connsiteY0" fmla="*/ 13211 h 1820580"/>
                  <a:gd name="connsiteX1" fmla="*/ 1927145 w 1931953"/>
                  <a:gd name="connsiteY1" fmla="*/ 20354 h 1820580"/>
                  <a:gd name="connsiteX2" fmla="*/ 1931907 w 1931953"/>
                  <a:gd name="connsiteY2" fmla="*/ 241811 h 1820580"/>
                  <a:gd name="connsiteX3" fmla="*/ 1238964 w 1931953"/>
                  <a:gd name="connsiteY3" fmla="*/ 234667 h 1820580"/>
                  <a:gd name="connsiteX4" fmla="*/ 1074657 w 1931953"/>
                  <a:gd name="connsiteY4" fmla="*/ 360873 h 1820580"/>
                  <a:gd name="connsiteX5" fmla="*/ 1074657 w 1931953"/>
                  <a:gd name="connsiteY5" fmla="*/ 1453867 h 1820580"/>
                  <a:gd name="connsiteX6" fmla="*/ 1229438 w 1931953"/>
                  <a:gd name="connsiteY6" fmla="*/ 1603886 h 1820580"/>
                  <a:gd name="connsiteX7" fmla="*/ 1927145 w 1931953"/>
                  <a:gd name="connsiteY7" fmla="*/ 1603886 h 1820580"/>
                  <a:gd name="connsiteX8" fmla="*/ 1931908 w 1931953"/>
                  <a:gd name="connsiteY8" fmla="*/ 1820580 h 1820580"/>
                  <a:gd name="connsiteX9" fmla="*/ 138826 w 1931953"/>
                  <a:gd name="connsiteY9" fmla="*/ 1815818 h 1820580"/>
                  <a:gd name="connsiteX10" fmla="*/ 141207 w 1931953"/>
                  <a:gd name="connsiteY10" fmla="*/ 1603886 h 1820580"/>
                  <a:gd name="connsiteX11" fmla="*/ 829389 w 1931953"/>
                  <a:gd name="connsiteY11" fmla="*/ 1603886 h 1820580"/>
                  <a:gd name="connsiteX12" fmla="*/ 988932 w 1931953"/>
                  <a:gd name="connsiteY12" fmla="*/ 1475298 h 1820580"/>
                  <a:gd name="connsiteX13" fmla="*/ 988932 w 1931953"/>
                  <a:gd name="connsiteY13" fmla="*/ 363255 h 1820580"/>
                  <a:gd name="connsiteX14" fmla="*/ 853201 w 1931953"/>
                  <a:gd name="connsiteY14" fmla="*/ 234667 h 1820580"/>
                  <a:gd name="connsiteX15" fmla="*/ 136445 w 1931953"/>
                  <a:gd name="connsiteY15" fmla="*/ 232286 h 1820580"/>
                  <a:gd name="connsiteX16" fmla="*/ 131682 w 1931953"/>
                  <a:gd name="connsiteY16" fmla="*/ 13211 h 1820580"/>
                  <a:gd name="connsiteX0" fmla="*/ 0 w 1800271"/>
                  <a:gd name="connsiteY0" fmla="*/ 13211 h 1820580"/>
                  <a:gd name="connsiteX1" fmla="*/ 1795463 w 1800271"/>
                  <a:gd name="connsiteY1" fmla="*/ 20354 h 1820580"/>
                  <a:gd name="connsiteX2" fmla="*/ 1800225 w 1800271"/>
                  <a:gd name="connsiteY2" fmla="*/ 241811 h 1820580"/>
                  <a:gd name="connsiteX3" fmla="*/ 1107282 w 1800271"/>
                  <a:gd name="connsiteY3" fmla="*/ 234667 h 1820580"/>
                  <a:gd name="connsiteX4" fmla="*/ 942975 w 1800271"/>
                  <a:gd name="connsiteY4" fmla="*/ 360873 h 1820580"/>
                  <a:gd name="connsiteX5" fmla="*/ 942975 w 1800271"/>
                  <a:gd name="connsiteY5" fmla="*/ 1453867 h 1820580"/>
                  <a:gd name="connsiteX6" fmla="*/ 1097756 w 1800271"/>
                  <a:gd name="connsiteY6" fmla="*/ 1603886 h 1820580"/>
                  <a:gd name="connsiteX7" fmla="*/ 1795463 w 1800271"/>
                  <a:gd name="connsiteY7" fmla="*/ 1603886 h 1820580"/>
                  <a:gd name="connsiteX8" fmla="*/ 1800226 w 1800271"/>
                  <a:gd name="connsiteY8" fmla="*/ 1820580 h 1820580"/>
                  <a:gd name="connsiteX9" fmla="*/ 7144 w 1800271"/>
                  <a:gd name="connsiteY9" fmla="*/ 1815818 h 1820580"/>
                  <a:gd name="connsiteX10" fmla="*/ 9525 w 1800271"/>
                  <a:gd name="connsiteY10" fmla="*/ 1603886 h 1820580"/>
                  <a:gd name="connsiteX11" fmla="*/ 697707 w 1800271"/>
                  <a:gd name="connsiteY11" fmla="*/ 1603886 h 1820580"/>
                  <a:gd name="connsiteX12" fmla="*/ 857250 w 1800271"/>
                  <a:gd name="connsiteY12" fmla="*/ 1475298 h 1820580"/>
                  <a:gd name="connsiteX13" fmla="*/ 857250 w 1800271"/>
                  <a:gd name="connsiteY13" fmla="*/ 363255 h 1820580"/>
                  <a:gd name="connsiteX14" fmla="*/ 721519 w 1800271"/>
                  <a:gd name="connsiteY14" fmla="*/ 234667 h 1820580"/>
                  <a:gd name="connsiteX15" fmla="*/ 4763 w 1800271"/>
                  <a:gd name="connsiteY15" fmla="*/ 232286 h 1820580"/>
                  <a:gd name="connsiteX16" fmla="*/ 0 w 1800271"/>
                  <a:gd name="connsiteY16" fmla="*/ 13211 h 1820580"/>
                  <a:gd name="connsiteX0" fmla="*/ 183 w 1795691"/>
                  <a:gd name="connsiteY0" fmla="*/ 14163 h 1816770"/>
                  <a:gd name="connsiteX1" fmla="*/ 1790883 w 1795691"/>
                  <a:gd name="connsiteY1" fmla="*/ 16544 h 1816770"/>
                  <a:gd name="connsiteX2" fmla="*/ 1795645 w 1795691"/>
                  <a:gd name="connsiteY2" fmla="*/ 238001 h 1816770"/>
                  <a:gd name="connsiteX3" fmla="*/ 1102702 w 1795691"/>
                  <a:gd name="connsiteY3" fmla="*/ 230857 h 1816770"/>
                  <a:gd name="connsiteX4" fmla="*/ 938395 w 1795691"/>
                  <a:gd name="connsiteY4" fmla="*/ 357063 h 1816770"/>
                  <a:gd name="connsiteX5" fmla="*/ 938395 w 1795691"/>
                  <a:gd name="connsiteY5" fmla="*/ 1450057 h 1816770"/>
                  <a:gd name="connsiteX6" fmla="*/ 1093176 w 1795691"/>
                  <a:gd name="connsiteY6" fmla="*/ 1600076 h 1816770"/>
                  <a:gd name="connsiteX7" fmla="*/ 1790883 w 1795691"/>
                  <a:gd name="connsiteY7" fmla="*/ 1600076 h 1816770"/>
                  <a:gd name="connsiteX8" fmla="*/ 1795646 w 1795691"/>
                  <a:gd name="connsiteY8" fmla="*/ 1816770 h 1816770"/>
                  <a:gd name="connsiteX9" fmla="*/ 2564 w 1795691"/>
                  <a:gd name="connsiteY9" fmla="*/ 1812008 h 1816770"/>
                  <a:gd name="connsiteX10" fmla="*/ 4945 w 1795691"/>
                  <a:gd name="connsiteY10" fmla="*/ 1600076 h 1816770"/>
                  <a:gd name="connsiteX11" fmla="*/ 693127 w 1795691"/>
                  <a:gd name="connsiteY11" fmla="*/ 1600076 h 1816770"/>
                  <a:gd name="connsiteX12" fmla="*/ 852670 w 1795691"/>
                  <a:gd name="connsiteY12" fmla="*/ 1471488 h 1816770"/>
                  <a:gd name="connsiteX13" fmla="*/ 852670 w 1795691"/>
                  <a:gd name="connsiteY13" fmla="*/ 359445 h 1816770"/>
                  <a:gd name="connsiteX14" fmla="*/ 716939 w 1795691"/>
                  <a:gd name="connsiteY14" fmla="*/ 230857 h 1816770"/>
                  <a:gd name="connsiteX15" fmla="*/ 183 w 1795691"/>
                  <a:gd name="connsiteY15" fmla="*/ 228476 h 1816770"/>
                  <a:gd name="connsiteX16" fmla="*/ 183 w 1795691"/>
                  <a:gd name="connsiteY16" fmla="*/ 14163 h 1816770"/>
                  <a:gd name="connsiteX0" fmla="*/ 183 w 1795691"/>
                  <a:gd name="connsiteY0" fmla="*/ 1009 h 1803616"/>
                  <a:gd name="connsiteX1" fmla="*/ 1790883 w 1795691"/>
                  <a:gd name="connsiteY1" fmla="*/ 3390 h 1803616"/>
                  <a:gd name="connsiteX2" fmla="*/ 1795645 w 1795691"/>
                  <a:gd name="connsiteY2" fmla="*/ 224847 h 1803616"/>
                  <a:gd name="connsiteX3" fmla="*/ 1102702 w 1795691"/>
                  <a:gd name="connsiteY3" fmla="*/ 217703 h 1803616"/>
                  <a:gd name="connsiteX4" fmla="*/ 938395 w 1795691"/>
                  <a:gd name="connsiteY4" fmla="*/ 343909 h 1803616"/>
                  <a:gd name="connsiteX5" fmla="*/ 938395 w 1795691"/>
                  <a:gd name="connsiteY5" fmla="*/ 1436903 h 1803616"/>
                  <a:gd name="connsiteX6" fmla="*/ 1093176 w 1795691"/>
                  <a:gd name="connsiteY6" fmla="*/ 1586922 h 1803616"/>
                  <a:gd name="connsiteX7" fmla="*/ 1790883 w 1795691"/>
                  <a:gd name="connsiteY7" fmla="*/ 1586922 h 1803616"/>
                  <a:gd name="connsiteX8" fmla="*/ 1795646 w 1795691"/>
                  <a:gd name="connsiteY8" fmla="*/ 1803616 h 1803616"/>
                  <a:gd name="connsiteX9" fmla="*/ 2564 w 1795691"/>
                  <a:gd name="connsiteY9" fmla="*/ 1798854 h 1803616"/>
                  <a:gd name="connsiteX10" fmla="*/ 4945 w 1795691"/>
                  <a:gd name="connsiteY10" fmla="*/ 1586922 h 1803616"/>
                  <a:gd name="connsiteX11" fmla="*/ 693127 w 1795691"/>
                  <a:gd name="connsiteY11" fmla="*/ 1586922 h 1803616"/>
                  <a:gd name="connsiteX12" fmla="*/ 852670 w 1795691"/>
                  <a:gd name="connsiteY12" fmla="*/ 1458334 h 1803616"/>
                  <a:gd name="connsiteX13" fmla="*/ 852670 w 1795691"/>
                  <a:gd name="connsiteY13" fmla="*/ 346291 h 1803616"/>
                  <a:gd name="connsiteX14" fmla="*/ 716939 w 1795691"/>
                  <a:gd name="connsiteY14" fmla="*/ 217703 h 1803616"/>
                  <a:gd name="connsiteX15" fmla="*/ 183 w 1795691"/>
                  <a:gd name="connsiteY15" fmla="*/ 215322 h 1803616"/>
                  <a:gd name="connsiteX16" fmla="*/ 183 w 1795691"/>
                  <a:gd name="connsiteY16" fmla="*/ 1009 h 1803616"/>
                  <a:gd name="connsiteX0" fmla="*/ 4863 w 1795608"/>
                  <a:gd name="connsiteY0" fmla="*/ 4763 h 1800226"/>
                  <a:gd name="connsiteX1" fmla="*/ 1790800 w 1795608"/>
                  <a:gd name="connsiteY1" fmla="*/ 0 h 1800226"/>
                  <a:gd name="connsiteX2" fmla="*/ 1795562 w 1795608"/>
                  <a:gd name="connsiteY2" fmla="*/ 221457 h 1800226"/>
                  <a:gd name="connsiteX3" fmla="*/ 1102619 w 1795608"/>
                  <a:gd name="connsiteY3" fmla="*/ 214313 h 1800226"/>
                  <a:gd name="connsiteX4" fmla="*/ 938312 w 1795608"/>
                  <a:gd name="connsiteY4" fmla="*/ 340519 h 1800226"/>
                  <a:gd name="connsiteX5" fmla="*/ 938312 w 1795608"/>
                  <a:gd name="connsiteY5" fmla="*/ 1433513 h 1800226"/>
                  <a:gd name="connsiteX6" fmla="*/ 1093093 w 1795608"/>
                  <a:gd name="connsiteY6" fmla="*/ 1583532 h 1800226"/>
                  <a:gd name="connsiteX7" fmla="*/ 1790800 w 1795608"/>
                  <a:gd name="connsiteY7" fmla="*/ 1583532 h 1800226"/>
                  <a:gd name="connsiteX8" fmla="*/ 1795563 w 1795608"/>
                  <a:gd name="connsiteY8" fmla="*/ 1800226 h 1800226"/>
                  <a:gd name="connsiteX9" fmla="*/ 2481 w 1795608"/>
                  <a:gd name="connsiteY9" fmla="*/ 1795464 h 1800226"/>
                  <a:gd name="connsiteX10" fmla="*/ 4862 w 1795608"/>
                  <a:gd name="connsiteY10" fmla="*/ 1583532 h 1800226"/>
                  <a:gd name="connsiteX11" fmla="*/ 693044 w 1795608"/>
                  <a:gd name="connsiteY11" fmla="*/ 1583532 h 1800226"/>
                  <a:gd name="connsiteX12" fmla="*/ 852587 w 1795608"/>
                  <a:gd name="connsiteY12" fmla="*/ 1454944 h 1800226"/>
                  <a:gd name="connsiteX13" fmla="*/ 852587 w 1795608"/>
                  <a:gd name="connsiteY13" fmla="*/ 342901 h 1800226"/>
                  <a:gd name="connsiteX14" fmla="*/ 716856 w 1795608"/>
                  <a:gd name="connsiteY14" fmla="*/ 214313 h 1800226"/>
                  <a:gd name="connsiteX15" fmla="*/ 100 w 1795608"/>
                  <a:gd name="connsiteY15" fmla="*/ 211932 h 1800226"/>
                  <a:gd name="connsiteX16" fmla="*/ 4863 w 1795608"/>
                  <a:gd name="connsiteY16" fmla="*/ 4763 h 1800226"/>
                  <a:gd name="connsiteX0" fmla="*/ 4863 w 1795608"/>
                  <a:gd name="connsiteY0" fmla="*/ 4763 h 1800226"/>
                  <a:gd name="connsiteX1" fmla="*/ 1790800 w 1795608"/>
                  <a:gd name="connsiteY1" fmla="*/ 0 h 1800226"/>
                  <a:gd name="connsiteX2" fmla="*/ 1795562 w 1795608"/>
                  <a:gd name="connsiteY2" fmla="*/ 221457 h 1800226"/>
                  <a:gd name="connsiteX3" fmla="*/ 1102619 w 1795608"/>
                  <a:gd name="connsiteY3" fmla="*/ 214313 h 1800226"/>
                  <a:gd name="connsiteX4" fmla="*/ 938312 w 1795608"/>
                  <a:gd name="connsiteY4" fmla="*/ 340519 h 1800226"/>
                  <a:gd name="connsiteX5" fmla="*/ 938312 w 1795608"/>
                  <a:gd name="connsiteY5" fmla="*/ 1433513 h 1800226"/>
                  <a:gd name="connsiteX6" fmla="*/ 1093093 w 1795608"/>
                  <a:gd name="connsiteY6" fmla="*/ 1583532 h 1800226"/>
                  <a:gd name="connsiteX7" fmla="*/ 1790800 w 1795608"/>
                  <a:gd name="connsiteY7" fmla="*/ 1583532 h 1800226"/>
                  <a:gd name="connsiteX8" fmla="*/ 1795563 w 1795608"/>
                  <a:gd name="connsiteY8" fmla="*/ 1800226 h 1800226"/>
                  <a:gd name="connsiteX9" fmla="*/ 2481 w 1795608"/>
                  <a:gd name="connsiteY9" fmla="*/ 1795464 h 1800226"/>
                  <a:gd name="connsiteX10" fmla="*/ 4862 w 1795608"/>
                  <a:gd name="connsiteY10" fmla="*/ 1583532 h 1800226"/>
                  <a:gd name="connsiteX11" fmla="*/ 693044 w 1795608"/>
                  <a:gd name="connsiteY11" fmla="*/ 1583532 h 1800226"/>
                  <a:gd name="connsiteX12" fmla="*/ 852587 w 1795608"/>
                  <a:gd name="connsiteY12" fmla="*/ 1454944 h 1800226"/>
                  <a:gd name="connsiteX13" fmla="*/ 852587 w 1795608"/>
                  <a:gd name="connsiteY13" fmla="*/ 342901 h 1800226"/>
                  <a:gd name="connsiteX14" fmla="*/ 716856 w 1795608"/>
                  <a:gd name="connsiteY14" fmla="*/ 214313 h 1800226"/>
                  <a:gd name="connsiteX15" fmla="*/ 100 w 1795608"/>
                  <a:gd name="connsiteY15" fmla="*/ 211932 h 1800226"/>
                  <a:gd name="connsiteX16" fmla="*/ 4863 w 1795608"/>
                  <a:gd name="connsiteY16" fmla="*/ 4763 h 1800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95608" h="1800226">
                    <a:moveTo>
                      <a:pt x="4863" y="4763"/>
                    </a:moveTo>
                    <a:cubicBezTo>
                      <a:pt x="312838" y="397"/>
                      <a:pt x="1505051" y="4763"/>
                      <a:pt x="1790800" y="0"/>
                    </a:cubicBezTo>
                    <a:cubicBezTo>
                      <a:pt x="1790801" y="83344"/>
                      <a:pt x="1793180" y="142479"/>
                      <a:pt x="1795562" y="221457"/>
                    </a:cubicBezTo>
                    <a:cubicBezTo>
                      <a:pt x="1664594" y="214711"/>
                      <a:pt x="1176438" y="215900"/>
                      <a:pt x="1102619" y="214313"/>
                    </a:cubicBezTo>
                    <a:cubicBezTo>
                      <a:pt x="1028800" y="212726"/>
                      <a:pt x="944265" y="251619"/>
                      <a:pt x="938312" y="340519"/>
                    </a:cubicBezTo>
                    <a:cubicBezTo>
                      <a:pt x="932359" y="429419"/>
                      <a:pt x="931565" y="1312069"/>
                      <a:pt x="938312" y="1433513"/>
                    </a:cubicBezTo>
                    <a:cubicBezTo>
                      <a:pt x="945059" y="1554957"/>
                      <a:pt x="984349" y="1575197"/>
                      <a:pt x="1093093" y="1583532"/>
                    </a:cubicBezTo>
                    <a:cubicBezTo>
                      <a:pt x="1201837" y="1591867"/>
                      <a:pt x="1668959" y="1573213"/>
                      <a:pt x="1790800" y="1583532"/>
                    </a:cubicBezTo>
                    <a:cubicBezTo>
                      <a:pt x="1786435" y="1674814"/>
                      <a:pt x="1796357" y="1694658"/>
                      <a:pt x="1795563" y="1800226"/>
                    </a:cubicBezTo>
                    <a:lnTo>
                      <a:pt x="2481" y="1795464"/>
                    </a:lnTo>
                    <a:cubicBezTo>
                      <a:pt x="1687" y="1697436"/>
                      <a:pt x="3671" y="1689498"/>
                      <a:pt x="4862" y="1583532"/>
                    </a:cubicBezTo>
                    <a:lnTo>
                      <a:pt x="693044" y="1583532"/>
                    </a:lnTo>
                    <a:cubicBezTo>
                      <a:pt x="753368" y="1578769"/>
                      <a:pt x="849809" y="1552179"/>
                      <a:pt x="852587" y="1454944"/>
                    </a:cubicBezTo>
                    <a:cubicBezTo>
                      <a:pt x="855365" y="1357709"/>
                      <a:pt x="856159" y="402036"/>
                      <a:pt x="852587" y="342901"/>
                    </a:cubicBezTo>
                    <a:cubicBezTo>
                      <a:pt x="849015" y="283766"/>
                      <a:pt x="805756" y="217488"/>
                      <a:pt x="716856" y="214313"/>
                    </a:cubicBezTo>
                    <a:cubicBezTo>
                      <a:pt x="627956" y="211138"/>
                      <a:pt x="127496" y="222647"/>
                      <a:pt x="100" y="211932"/>
                    </a:cubicBezTo>
                    <a:cubicBezTo>
                      <a:pt x="-1090" y="113110"/>
                      <a:pt x="8831" y="78185"/>
                      <a:pt x="4863" y="4763"/>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cxnSp>
            <p:nvCxnSpPr>
              <p:cNvPr id="66" name="Gerader Verbinder 65">
                <a:extLst>
                  <a:ext uri="{FF2B5EF4-FFF2-40B4-BE49-F238E27FC236}">
                    <a16:creationId xmlns:a16="http://schemas.microsoft.com/office/drawing/2014/main" id="{13CACEE4-6C13-4468-E878-77C80C08D5C5}"/>
                  </a:ext>
                </a:extLst>
              </p:cNvPr>
              <p:cNvCxnSpPr/>
              <p:nvPr/>
            </p:nvCxnSpPr>
            <p:spPr>
              <a:xfrm>
                <a:off x="4068663" y="2412157"/>
                <a:ext cx="18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7DFBEB49-F130-B1C1-D43D-D7CDC2C2C265}"/>
                  </a:ext>
                </a:extLst>
              </p:cNvPr>
              <p:cNvCxnSpPr>
                <a:cxnSpLocks/>
              </p:cNvCxnSpPr>
              <p:nvPr/>
            </p:nvCxnSpPr>
            <p:spPr>
              <a:xfrm>
                <a:off x="4074219" y="2625800"/>
                <a:ext cx="713702" cy="12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798A166A-1361-4813-07C6-DF4C78D370A3}"/>
                  </a:ext>
                </a:extLst>
              </p:cNvPr>
              <p:cNvCxnSpPr>
                <a:cxnSpLocks/>
                <a:endCxn id="79" idx="0"/>
              </p:cNvCxnSpPr>
              <p:nvPr/>
            </p:nvCxnSpPr>
            <p:spPr>
              <a:xfrm>
                <a:off x="4068663" y="3996132"/>
                <a:ext cx="713702"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C1C83161-365D-D965-E5FF-09E3BB5477FD}"/>
                  </a:ext>
                </a:extLst>
              </p:cNvPr>
              <p:cNvCxnSpPr/>
              <p:nvPr/>
            </p:nvCxnSpPr>
            <p:spPr>
              <a:xfrm>
                <a:off x="4068663" y="4212157"/>
                <a:ext cx="18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0" name="Gruppieren 69">
                <a:extLst>
                  <a:ext uri="{FF2B5EF4-FFF2-40B4-BE49-F238E27FC236}">
                    <a16:creationId xmlns:a16="http://schemas.microsoft.com/office/drawing/2014/main" id="{DF1A91A0-A2D5-36A4-7D80-5B047794DF69}"/>
                  </a:ext>
                </a:extLst>
              </p:cNvPr>
              <p:cNvGrpSpPr/>
              <p:nvPr/>
            </p:nvGrpSpPr>
            <p:grpSpPr>
              <a:xfrm>
                <a:off x="4926381" y="2748034"/>
                <a:ext cx="83913" cy="1116000"/>
                <a:chOff x="4931244" y="2773434"/>
                <a:chExt cx="83913" cy="1116000"/>
              </a:xfrm>
            </p:grpSpPr>
            <p:cxnSp>
              <p:nvCxnSpPr>
                <p:cNvPr id="83" name="Gerader Verbinder 82">
                  <a:extLst>
                    <a:ext uri="{FF2B5EF4-FFF2-40B4-BE49-F238E27FC236}">
                      <a16:creationId xmlns:a16="http://schemas.microsoft.com/office/drawing/2014/main" id="{3FEDC3FE-E6E3-2D0D-C4BB-EC3D27B9373E}"/>
                    </a:ext>
                  </a:extLst>
                </p:cNvPr>
                <p:cNvCxnSpPr>
                  <a:cxnSpLocks/>
                  <a:endCxn id="79" idx="2"/>
                </p:cNvCxnSpPr>
                <p:nvPr/>
              </p:nvCxnSpPr>
              <p:spPr>
                <a:xfrm flipH="1">
                  <a:off x="4931244" y="2795660"/>
                  <a:ext cx="3175" cy="10818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Gerader Verbinder 83">
                  <a:extLst>
                    <a:ext uri="{FF2B5EF4-FFF2-40B4-BE49-F238E27FC236}">
                      <a16:creationId xmlns:a16="http://schemas.microsoft.com/office/drawing/2014/main" id="{E79BC039-D26B-8EC2-793F-5D59147E1909}"/>
                    </a:ext>
                  </a:extLst>
                </p:cNvPr>
                <p:cNvCxnSpPr>
                  <a:cxnSpLocks/>
                  <a:stCxn id="82" idx="2"/>
                </p:cNvCxnSpPr>
                <p:nvPr/>
              </p:nvCxnSpPr>
              <p:spPr>
                <a:xfrm flipH="1">
                  <a:off x="5014293" y="2773434"/>
                  <a:ext cx="864" cy="1116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1" name="Gruppieren 70">
                <a:extLst>
                  <a:ext uri="{FF2B5EF4-FFF2-40B4-BE49-F238E27FC236}">
                    <a16:creationId xmlns:a16="http://schemas.microsoft.com/office/drawing/2014/main" id="{3D412948-DBE7-AFE4-B523-984B4F6BE075}"/>
                  </a:ext>
                </a:extLst>
              </p:cNvPr>
              <p:cNvGrpSpPr/>
              <p:nvPr/>
            </p:nvGrpSpPr>
            <p:grpSpPr>
              <a:xfrm>
                <a:off x="4641524" y="2629419"/>
                <a:ext cx="656802" cy="288032"/>
                <a:chOff x="4641524" y="2627038"/>
                <a:chExt cx="656802" cy="288032"/>
              </a:xfrm>
            </p:grpSpPr>
            <p:sp>
              <p:nvSpPr>
                <p:cNvPr id="81" name="Bogen 80">
                  <a:extLst>
                    <a:ext uri="{FF2B5EF4-FFF2-40B4-BE49-F238E27FC236}">
                      <a16:creationId xmlns:a16="http://schemas.microsoft.com/office/drawing/2014/main" id="{12154AB3-204A-F3B3-DC51-2C999C22C0A2}"/>
                    </a:ext>
                  </a:extLst>
                </p:cNvPr>
                <p:cNvSpPr/>
                <p:nvPr/>
              </p:nvSpPr>
              <p:spPr>
                <a:xfrm>
                  <a:off x="4641524" y="2627038"/>
                  <a:ext cx="288032" cy="288032"/>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sp>
              <p:nvSpPr>
                <p:cNvPr id="82" name="Bogen 81">
                  <a:extLst>
                    <a:ext uri="{FF2B5EF4-FFF2-40B4-BE49-F238E27FC236}">
                      <a16:creationId xmlns:a16="http://schemas.microsoft.com/office/drawing/2014/main" id="{6B5953B9-FA7C-ED36-5736-593719E7855C}"/>
                    </a:ext>
                  </a:extLst>
                </p:cNvPr>
                <p:cNvSpPr/>
                <p:nvPr/>
              </p:nvSpPr>
              <p:spPr>
                <a:xfrm flipH="1">
                  <a:off x="5010294" y="2627038"/>
                  <a:ext cx="288032" cy="288032"/>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grpSp>
          <p:grpSp>
            <p:nvGrpSpPr>
              <p:cNvPr id="72" name="Gruppieren 71">
                <a:extLst>
                  <a:ext uri="{FF2B5EF4-FFF2-40B4-BE49-F238E27FC236}">
                    <a16:creationId xmlns:a16="http://schemas.microsoft.com/office/drawing/2014/main" id="{0254B659-7442-1172-315E-B7D4EEE592D4}"/>
                  </a:ext>
                </a:extLst>
              </p:cNvPr>
              <p:cNvGrpSpPr/>
              <p:nvPr/>
            </p:nvGrpSpPr>
            <p:grpSpPr>
              <a:xfrm flipV="1">
                <a:off x="4638349" y="3708102"/>
                <a:ext cx="659977" cy="288032"/>
                <a:chOff x="4640730" y="2627038"/>
                <a:chExt cx="659977" cy="288032"/>
              </a:xfrm>
            </p:grpSpPr>
            <p:sp>
              <p:nvSpPr>
                <p:cNvPr id="79" name="Bogen 78">
                  <a:extLst>
                    <a:ext uri="{FF2B5EF4-FFF2-40B4-BE49-F238E27FC236}">
                      <a16:creationId xmlns:a16="http://schemas.microsoft.com/office/drawing/2014/main" id="{667DB939-FA2E-7E19-ACAB-09213A9716CD}"/>
                    </a:ext>
                  </a:extLst>
                </p:cNvPr>
                <p:cNvSpPr/>
                <p:nvPr/>
              </p:nvSpPr>
              <p:spPr>
                <a:xfrm>
                  <a:off x="4640730" y="2627038"/>
                  <a:ext cx="288032" cy="288032"/>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sp>
              <p:nvSpPr>
                <p:cNvPr id="80" name="Bogen 79">
                  <a:extLst>
                    <a:ext uri="{FF2B5EF4-FFF2-40B4-BE49-F238E27FC236}">
                      <a16:creationId xmlns:a16="http://schemas.microsoft.com/office/drawing/2014/main" id="{4B1F64EA-505E-100D-714A-5CB7B582DFE3}"/>
                    </a:ext>
                  </a:extLst>
                </p:cNvPr>
                <p:cNvSpPr/>
                <p:nvPr/>
              </p:nvSpPr>
              <p:spPr>
                <a:xfrm flipH="1">
                  <a:off x="5012675" y="2627038"/>
                  <a:ext cx="288032" cy="288032"/>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grpSp>
          <p:cxnSp>
            <p:nvCxnSpPr>
              <p:cNvPr id="73" name="Gerader Verbinder 72">
                <a:extLst>
                  <a:ext uri="{FF2B5EF4-FFF2-40B4-BE49-F238E27FC236}">
                    <a16:creationId xmlns:a16="http://schemas.microsoft.com/office/drawing/2014/main" id="{97021595-AE07-6323-478D-FEDDCE096F26}"/>
                  </a:ext>
                </a:extLst>
              </p:cNvPr>
              <p:cNvCxnSpPr>
                <a:cxnSpLocks/>
              </p:cNvCxnSpPr>
              <p:nvPr/>
            </p:nvCxnSpPr>
            <p:spPr>
              <a:xfrm>
                <a:off x="5149547" y="3996132"/>
                <a:ext cx="718464"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Gerader Verbinder 73">
                <a:extLst>
                  <a:ext uri="{FF2B5EF4-FFF2-40B4-BE49-F238E27FC236}">
                    <a16:creationId xmlns:a16="http://schemas.microsoft.com/office/drawing/2014/main" id="{8C341E63-A63E-F0E0-D849-5A1788C6242A}"/>
                  </a:ext>
                </a:extLst>
              </p:cNvPr>
              <p:cNvCxnSpPr>
                <a:cxnSpLocks/>
                <a:stCxn id="82" idx="0"/>
              </p:cNvCxnSpPr>
              <p:nvPr/>
            </p:nvCxnSpPr>
            <p:spPr>
              <a:xfrm>
                <a:off x="5154310" y="2629419"/>
                <a:ext cx="714278" cy="12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986E711E-4EA0-EF19-CF27-8F37B09DDF52}"/>
                  </a:ext>
                </a:extLst>
              </p:cNvPr>
              <p:cNvCxnSpPr/>
              <p:nvPr/>
            </p:nvCxnSpPr>
            <p:spPr>
              <a:xfrm flipV="1">
                <a:off x="4074219" y="3996132"/>
                <a:ext cx="0" cy="216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Gerader Verbinder 75">
                <a:extLst>
                  <a:ext uri="{FF2B5EF4-FFF2-40B4-BE49-F238E27FC236}">
                    <a16:creationId xmlns:a16="http://schemas.microsoft.com/office/drawing/2014/main" id="{751D97AE-00BF-5005-FC0C-05951C23971F}"/>
                  </a:ext>
                </a:extLst>
              </p:cNvPr>
              <p:cNvCxnSpPr/>
              <p:nvPr/>
            </p:nvCxnSpPr>
            <p:spPr>
              <a:xfrm flipV="1">
                <a:off x="5865630" y="3996134"/>
                <a:ext cx="0" cy="216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Gerader Verbinder 76">
                <a:extLst>
                  <a:ext uri="{FF2B5EF4-FFF2-40B4-BE49-F238E27FC236}">
                    <a16:creationId xmlns:a16="http://schemas.microsoft.com/office/drawing/2014/main" id="{D3709BFD-5F7C-DBE0-89FF-8E88AC8D7DF9}"/>
                  </a:ext>
                </a:extLst>
              </p:cNvPr>
              <p:cNvCxnSpPr/>
              <p:nvPr/>
            </p:nvCxnSpPr>
            <p:spPr>
              <a:xfrm flipV="1">
                <a:off x="4074219" y="2411011"/>
                <a:ext cx="0" cy="216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Gerader Verbinder 77">
                <a:extLst>
                  <a:ext uri="{FF2B5EF4-FFF2-40B4-BE49-F238E27FC236}">
                    <a16:creationId xmlns:a16="http://schemas.microsoft.com/office/drawing/2014/main" id="{E1A5FF50-74AF-E55C-3208-4BF203557500}"/>
                  </a:ext>
                </a:extLst>
              </p:cNvPr>
              <p:cNvCxnSpPr/>
              <p:nvPr/>
            </p:nvCxnSpPr>
            <p:spPr>
              <a:xfrm flipV="1">
                <a:off x="5865630" y="2411013"/>
                <a:ext cx="0" cy="216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Rechteck 63">
              <a:extLst>
                <a:ext uri="{FF2B5EF4-FFF2-40B4-BE49-F238E27FC236}">
                  <a16:creationId xmlns:a16="http://schemas.microsoft.com/office/drawing/2014/main" id="{8C624894-4829-26D7-3CCA-9BC8321B0362}"/>
                </a:ext>
              </a:extLst>
            </p:cNvPr>
            <p:cNvSpPr/>
            <p:nvPr/>
          </p:nvSpPr>
          <p:spPr>
            <a:xfrm>
              <a:off x="7020991" y="1346527"/>
              <a:ext cx="3650646" cy="1208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85" name="Gruppieren 84">
            <a:extLst>
              <a:ext uri="{FF2B5EF4-FFF2-40B4-BE49-F238E27FC236}">
                <a16:creationId xmlns:a16="http://schemas.microsoft.com/office/drawing/2014/main" id="{7D20D687-5DC9-5E17-B7DD-B6931D82CC7D}"/>
              </a:ext>
            </a:extLst>
          </p:cNvPr>
          <p:cNvGrpSpPr/>
          <p:nvPr/>
        </p:nvGrpSpPr>
        <p:grpSpPr>
          <a:xfrm>
            <a:off x="11131768" y="2155312"/>
            <a:ext cx="715032" cy="379380"/>
            <a:chOff x="7674111" y="1030591"/>
            <a:chExt cx="715032" cy="379380"/>
          </a:xfrm>
        </p:grpSpPr>
        <p:sp>
          <p:nvSpPr>
            <p:cNvPr id="86" name="Textfeld 85">
              <a:extLst>
                <a:ext uri="{FF2B5EF4-FFF2-40B4-BE49-F238E27FC236}">
                  <a16:creationId xmlns:a16="http://schemas.microsoft.com/office/drawing/2014/main" id="{0DF35196-F4F8-A9C4-D381-5B419510A832}"/>
                </a:ext>
              </a:extLst>
            </p:cNvPr>
            <p:cNvSpPr txBox="1"/>
            <p:nvPr/>
          </p:nvSpPr>
          <p:spPr>
            <a:xfrm>
              <a:off x="7684159" y="1040639"/>
              <a:ext cx="704984"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END</a:t>
              </a:r>
            </a:p>
          </p:txBody>
        </p:sp>
        <p:sp>
          <p:nvSpPr>
            <p:cNvPr id="87" name="Rechteck 86">
              <a:extLst>
                <a:ext uri="{FF2B5EF4-FFF2-40B4-BE49-F238E27FC236}">
                  <a16:creationId xmlns:a16="http://schemas.microsoft.com/office/drawing/2014/main" id="{A20A3323-E129-ED60-002D-F72B777B10B4}"/>
                </a:ext>
              </a:extLst>
            </p:cNvPr>
            <p:cNvSpPr/>
            <p:nvPr/>
          </p:nvSpPr>
          <p:spPr>
            <a:xfrm>
              <a:off x="7674111" y="1030591"/>
              <a:ext cx="632976" cy="3693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sp>
        <p:nvSpPr>
          <p:cNvPr id="88" name="Pfeil: nach unten 87">
            <a:extLst>
              <a:ext uri="{FF2B5EF4-FFF2-40B4-BE49-F238E27FC236}">
                <a16:creationId xmlns:a16="http://schemas.microsoft.com/office/drawing/2014/main" id="{F39E5E6D-A42F-1543-A9B3-98657AE4A461}"/>
              </a:ext>
            </a:extLst>
          </p:cNvPr>
          <p:cNvSpPr/>
          <p:nvPr/>
        </p:nvSpPr>
        <p:spPr>
          <a:xfrm>
            <a:off x="2751343" y="1485889"/>
            <a:ext cx="288032" cy="37194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89" name="Pfeil: nach unten 88">
            <a:extLst>
              <a:ext uri="{FF2B5EF4-FFF2-40B4-BE49-F238E27FC236}">
                <a16:creationId xmlns:a16="http://schemas.microsoft.com/office/drawing/2014/main" id="{ECA0F89E-F614-C15F-CF43-0D5471CA83C0}"/>
              </a:ext>
            </a:extLst>
          </p:cNvPr>
          <p:cNvSpPr/>
          <p:nvPr/>
        </p:nvSpPr>
        <p:spPr>
          <a:xfrm>
            <a:off x="2751343" y="3059105"/>
            <a:ext cx="288032" cy="37194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0" name="Pfeil: nach unten 89">
            <a:extLst>
              <a:ext uri="{FF2B5EF4-FFF2-40B4-BE49-F238E27FC236}">
                <a16:creationId xmlns:a16="http://schemas.microsoft.com/office/drawing/2014/main" id="{A607C253-DAA2-F94B-93CF-FA191B625FD5}"/>
              </a:ext>
            </a:extLst>
          </p:cNvPr>
          <p:cNvSpPr/>
          <p:nvPr/>
        </p:nvSpPr>
        <p:spPr>
          <a:xfrm>
            <a:off x="2751343" y="4510248"/>
            <a:ext cx="288032" cy="37194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1" name="Pfeil: nach unten 90">
            <a:extLst>
              <a:ext uri="{FF2B5EF4-FFF2-40B4-BE49-F238E27FC236}">
                <a16:creationId xmlns:a16="http://schemas.microsoft.com/office/drawing/2014/main" id="{B7E0A25E-4A82-BB5C-D1D4-BB9411B350A3}"/>
              </a:ext>
            </a:extLst>
          </p:cNvPr>
          <p:cNvSpPr/>
          <p:nvPr/>
        </p:nvSpPr>
        <p:spPr>
          <a:xfrm rot="10800000">
            <a:off x="8355222" y="4411030"/>
            <a:ext cx="288032" cy="37194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2" name="Pfeil: nach unten 91">
            <a:extLst>
              <a:ext uri="{FF2B5EF4-FFF2-40B4-BE49-F238E27FC236}">
                <a16:creationId xmlns:a16="http://schemas.microsoft.com/office/drawing/2014/main" id="{9EAC1E04-62BC-9BE1-F060-862B528C5B90}"/>
              </a:ext>
            </a:extLst>
          </p:cNvPr>
          <p:cNvSpPr/>
          <p:nvPr/>
        </p:nvSpPr>
        <p:spPr>
          <a:xfrm rot="10800000">
            <a:off x="8356926" y="2893430"/>
            <a:ext cx="288032" cy="37194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3" name="Pfeil: nach unten 92">
            <a:extLst>
              <a:ext uri="{FF2B5EF4-FFF2-40B4-BE49-F238E27FC236}">
                <a16:creationId xmlns:a16="http://schemas.microsoft.com/office/drawing/2014/main" id="{A50B3AB8-3639-D9D1-D2CA-C89872B5513B}"/>
              </a:ext>
            </a:extLst>
          </p:cNvPr>
          <p:cNvSpPr/>
          <p:nvPr/>
        </p:nvSpPr>
        <p:spPr>
          <a:xfrm rot="16200000">
            <a:off x="5516639" y="4887466"/>
            <a:ext cx="288032" cy="992484"/>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4" name="Pfeil: nach unten 93">
            <a:extLst>
              <a:ext uri="{FF2B5EF4-FFF2-40B4-BE49-F238E27FC236}">
                <a16:creationId xmlns:a16="http://schemas.microsoft.com/office/drawing/2014/main" id="{6236FCC0-2AC6-F4AE-958D-90FD89CA3DAF}"/>
              </a:ext>
            </a:extLst>
          </p:cNvPr>
          <p:cNvSpPr/>
          <p:nvPr/>
        </p:nvSpPr>
        <p:spPr>
          <a:xfrm rot="16200000">
            <a:off x="10557197" y="1849537"/>
            <a:ext cx="288032" cy="992484"/>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5" name="Pfeil: nach unten 94">
            <a:extLst>
              <a:ext uri="{FF2B5EF4-FFF2-40B4-BE49-F238E27FC236}">
                <a16:creationId xmlns:a16="http://schemas.microsoft.com/office/drawing/2014/main" id="{9BBDDAC8-AB98-2817-CF4C-0A8DA5AEE4CC}"/>
              </a:ext>
            </a:extLst>
          </p:cNvPr>
          <p:cNvSpPr/>
          <p:nvPr/>
        </p:nvSpPr>
        <p:spPr>
          <a:xfrm rot="5400000">
            <a:off x="5835687" y="1560707"/>
            <a:ext cx="288032" cy="1570144"/>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Tree>
    <p:extLst>
      <p:ext uri="{BB962C8B-B14F-4D97-AF65-F5344CB8AC3E}">
        <p14:creationId xmlns:p14="http://schemas.microsoft.com/office/powerpoint/2010/main" val="229239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9" grpId="0" animBg="1"/>
      <p:bldP spid="90" grpId="0" animBg="1"/>
      <p:bldP spid="91" grpId="0" animBg="1"/>
      <p:bldP spid="92" grpId="0" animBg="1"/>
      <p:bldP spid="93" grpId="0" animBg="1"/>
      <p:bldP spid="94" grpId="0" animBg="1"/>
      <p:bldP spid="9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65CA2-8C45-F0A0-8AA6-394BB354E85F}"/>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4889A5C-BE00-3F58-2415-8F846D63E461}"/>
              </a:ext>
            </a:extLst>
          </p:cNvPr>
          <p:cNvSpPr>
            <a:spLocks noGrp="1"/>
          </p:cNvSpPr>
          <p:nvPr>
            <p:ph type="title"/>
          </p:nvPr>
        </p:nvSpPr>
        <p:spPr/>
        <p:txBody>
          <a:bodyPr/>
          <a:lstStyle/>
          <a:p>
            <a:r>
              <a:rPr lang="en-AU" noProof="0" dirty="0"/>
              <a:t>CC2D-Models in a reliability-based Design Procedure</a:t>
            </a:r>
          </a:p>
        </p:txBody>
      </p:sp>
      <p:grpSp>
        <p:nvGrpSpPr>
          <p:cNvPr id="96" name="Gruppieren 95">
            <a:extLst>
              <a:ext uri="{FF2B5EF4-FFF2-40B4-BE49-F238E27FC236}">
                <a16:creationId xmlns:a16="http://schemas.microsoft.com/office/drawing/2014/main" id="{7C17CD15-9210-61C4-1C71-4BB405AA7D13}"/>
              </a:ext>
            </a:extLst>
          </p:cNvPr>
          <p:cNvGrpSpPr/>
          <p:nvPr/>
        </p:nvGrpSpPr>
        <p:grpSpPr>
          <a:xfrm>
            <a:off x="547901" y="1775994"/>
            <a:ext cx="4720392" cy="1367237"/>
            <a:chOff x="547901" y="1775994"/>
            <a:chExt cx="4720392" cy="1367237"/>
          </a:xfrm>
        </p:grpSpPr>
        <p:grpSp>
          <p:nvGrpSpPr>
            <p:cNvPr id="5" name="Gruppieren 4">
              <a:extLst>
                <a:ext uri="{FF2B5EF4-FFF2-40B4-BE49-F238E27FC236}">
                  <a16:creationId xmlns:a16="http://schemas.microsoft.com/office/drawing/2014/main" id="{E9CA6C80-F845-EFF1-F880-A1734289B6C0}"/>
                </a:ext>
              </a:extLst>
            </p:cNvPr>
            <p:cNvGrpSpPr/>
            <p:nvPr/>
          </p:nvGrpSpPr>
          <p:grpSpPr>
            <a:xfrm>
              <a:off x="4222846" y="1908101"/>
              <a:ext cx="781921" cy="1088002"/>
              <a:chOff x="7849083" y="2889305"/>
              <a:chExt cx="950900" cy="1323127"/>
            </a:xfrm>
          </p:grpSpPr>
          <p:cxnSp>
            <p:nvCxnSpPr>
              <p:cNvPr id="9" name="Gerader Verbinder 8">
                <a:extLst>
                  <a:ext uri="{FF2B5EF4-FFF2-40B4-BE49-F238E27FC236}">
                    <a16:creationId xmlns:a16="http://schemas.microsoft.com/office/drawing/2014/main" id="{874E8E02-5735-736D-E051-214BA1F491D7}"/>
                  </a:ext>
                </a:extLst>
              </p:cNvPr>
              <p:cNvCxnSpPr/>
              <p:nvPr/>
            </p:nvCxnSpPr>
            <p:spPr>
              <a:xfrm flipV="1">
                <a:off x="8317135" y="3060304"/>
                <a:ext cx="0" cy="1152128"/>
              </a:xfrm>
              <a:prstGeom prst="line">
                <a:avLst/>
              </a:prstGeom>
              <a:noFill/>
              <a:ln w="28575" cap="flat" cmpd="sng" algn="ctr">
                <a:solidFill>
                  <a:schemeClr val="bg1">
                    <a:lumMod val="85000"/>
                  </a:schemeClr>
                </a:solidFill>
                <a:prstDash val="dash"/>
              </a:ln>
              <a:effectLst/>
            </p:spPr>
          </p:cxnSp>
          <p:sp>
            <p:nvSpPr>
              <p:cNvPr id="10" name="Freihandform: Form 9">
                <a:extLst>
                  <a:ext uri="{FF2B5EF4-FFF2-40B4-BE49-F238E27FC236}">
                    <a16:creationId xmlns:a16="http://schemas.microsoft.com/office/drawing/2014/main" id="{C3444B96-44E5-AE13-D1EC-87A428475A03}"/>
                  </a:ext>
                </a:extLst>
              </p:cNvPr>
              <p:cNvSpPr/>
              <p:nvPr/>
            </p:nvSpPr>
            <p:spPr>
              <a:xfrm>
                <a:off x="7948763" y="3102034"/>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chemeClr val="bg1">
                    <a:lumMod val="8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cxnSp>
            <p:nvCxnSpPr>
              <p:cNvPr id="11" name="Gerader Verbinder 10">
                <a:extLst>
                  <a:ext uri="{FF2B5EF4-FFF2-40B4-BE49-F238E27FC236}">
                    <a16:creationId xmlns:a16="http://schemas.microsoft.com/office/drawing/2014/main" id="{1E40D9BB-D3D3-6BC1-6574-A1FAAD31DDEC}"/>
                  </a:ext>
                </a:extLst>
              </p:cNvPr>
              <p:cNvCxnSpPr>
                <a:cxnSpLocks/>
              </p:cNvCxnSpPr>
              <p:nvPr/>
            </p:nvCxnSpPr>
            <p:spPr>
              <a:xfrm>
                <a:off x="7957095" y="4212432"/>
                <a:ext cx="720080" cy="0"/>
              </a:xfrm>
              <a:prstGeom prst="line">
                <a:avLst/>
              </a:prstGeom>
              <a:noFill/>
              <a:ln w="57150" cap="flat" cmpd="sng" algn="ctr">
                <a:solidFill>
                  <a:schemeClr val="bg1">
                    <a:lumMod val="85000"/>
                  </a:schemeClr>
                </a:solidFill>
                <a:prstDash val="solid"/>
              </a:ln>
              <a:effectLst/>
            </p:spPr>
          </p:cxnSp>
          <p:sp>
            <p:nvSpPr>
              <p:cNvPr id="12" name="Freihandform: Form 11">
                <a:extLst>
                  <a:ext uri="{FF2B5EF4-FFF2-40B4-BE49-F238E27FC236}">
                    <a16:creationId xmlns:a16="http://schemas.microsoft.com/office/drawing/2014/main" id="{B2B2D662-0FB0-FA32-F966-9E29E86D36FD}"/>
                  </a:ext>
                </a:extLst>
              </p:cNvPr>
              <p:cNvSpPr/>
              <p:nvPr/>
            </p:nvSpPr>
            <p:spPr>
              <a:xfrm flipH="1">
                <a:off x="8323485" y="3102033"/>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chemeClr val="bg1">
                    <a:lumMod val="8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13" name="Ellipse 12">
                <a:extLst>
                  <a:ext uri="{FF2B5EF4-FFF2-40B4-BE49-F238E27FC236}">
                    <a16:creationId xmlns:a16="http://schemas.microsoft.com/office/drawing/2014/main" id="{74EF7707-C148-0F78-E9D2-A3BCF6016787}"/>
                  </a:ext>
                </a:extLst>
              </p:cNvPr>
              <p:cNvSpPr/>
              <p:nvPr/>
            </p:nvSpPr>
            <p:spPr>
              <a:xfrm>
                <a:off x="7849083" y="2994022"/>
                <a:ext cx="216024" cy="216024"/>
              </a:xfrm>
              <a:prstGeom prst="ellipse">
                <a:avLst/>
              </a:prstGeom>
              <a:solidFill>
                <a:schemeClr val="bg1">
                  <a:lumMod val="85000"/>
                </a:schemeClr>
              </a:solidFill>
              <a:ln w="10795" cap="flat" cmpd="sng" algn="ctr">
                <a:solidFill>
                  <a:schemeClr val="bg1">
                    <a:lumMod val="8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14" name="Ellipse 13">
                <a:extLst>
                  <a:ext uri="{FF2B5EF4-FFF2-40B4-BE49-F238E27FC236}">
                    <a16:creationId xmlns:a16="http://schemas.microsoft.com/office/drawing/2014/main" id="{DBBD9A66-981C-70E0-2DFA-6259F2E2D3E2}"/>
                  </a:ext>
                </a:extLst>
              </p:cNvPr>
              <p:cNvSpPr/>
              <p:nvPr/>
            </p:nvSpPr>
            <p:spPr>
              <a:xfrm>
                <a:off x="8583959" y="2994080"/>
                <a:ext cx="216024" cy="216024"/>
              </a:xfrm>
              <a:prstGeom prst="ellipse">
                <a:avLst/>
              </a:prstGeom>
              <a:solidFill>
                <a:schemeClr val="bg1">
                  <a:lumMod val="85000"/>
                </a:schemeClr>
              </a:solidFill>
              <a:ln w="10795" cap="flat" cmpd="sng" algn="ctr">
                <a:solidFill>
                  <a:schemeClr val="bg1">
                    <a:lumMod val="8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15" name="Freihandform: Form 14">
                <a:extLst>
                  <a:ext uri="{FF2B5EF4-FFF2-40B4-BE49-F238E27FC236}">
                    <a16:creationId xmlns:a16="http://schemas.microsoft.com/office/drawing/2014/main" id="{383DF19B-D36E-C4A0-80F2-E3C3E63121FE}"/>
                  </a:ext>
                </a:extLst>
              </p:cNvPr>
              <p:cNvSpPr/>
              <p:nvPr/>
            </p:nvSpPr>
            <p:spPr>
              <a:xfrm rot="2074661">
                <a:off x="8153920" y="2889305"/>
                <a:ext cx="298450" cy="209550"/>
              </a:xfrm>
              <a:custGeom>
                <a:avLst/>
                <a:gdLst>
                  <a:gd name="connsiteX0" fmla="*/ 0 w 298450"/>
                  <a:gd name="connsiteY0" fmla="*/ 209550 h 209550"/>
                  <a:gd name="connsiteX1" fmla="*/ 298450 w 298450"/>
                  <a:gd name="connsiteY1" fmla="*/ 0 h 209550"/>
                  <a:gd name="connsiteX0" fmla="*/ 0 w 298450"/>
                  <a:gd name="connsiteY0" fmla="*/ 209550 h 209550"/>
                  <a:gd name="connsiteX1" fmla="*/ 298450 w 298450"/>
                  <a:gd name="connsiteY1" fmla="*/ 0 h 209550"/>
                  <a:gd name="connsiteX0" fmla="*/ 0 w 298450"/>
                  <a:gd name="connsiteY0" fmla="*/ 216991 h 216991"/>
                  <a:gd name="connsiteX1" fmla="*/ 298450 w 298450"/>
                  <a:gd name="connsiteY1" fmla="*/ 7441 h 216991"/>
                  <a:gd name="connsiteX0" fmla="*/ 0 w 298450"/>
                  <a:gd name="connsiteY0" fmla="*/ 209550 h 209550"/>
                  <a:gd name="connsiteX1" fmla="*/ 298450 w 298450"/>
                  <a:gd name="connsiteY1" fmla="*/ 0 h 209550"/>
                </a:gdLst>
                <a:ahLst/>
                <a:cxnLst>
                  <a:cxn ang="0">
                    <a:pos x="connsiteX0" y="connsiteY0"/>
                  </a:cxn>
                  <a:cxn ang="0">
                    <a:pos x="connsiteX1" y="connsiteY1"/>
                  </a:cxn>
                </a:cxnLst>
                <a:rect l="l" t="t" r="r" b="b"/>
                <a:pathLst>
                  <a:path w="298450" h="209550">
                    <a:moveTo>
                      <a:pt x="0" y="209550"/>
                    </a:moveTo>
                    <a:cubicBezTo>
                      <a:pt x="55033" y="38100"/>
                      <a:pt x="135467" y="0"/>
                      <a:pt x="298450" y="0"/>
                    </a:cubicBezTo>
                  </a:path>
                </a:pathLst>
              </a:custGeom>
              <a:noFill/>
              <a:ln w="28575" cap="flat" cmpd="sng" algn="ctr">
                <a:solidFill>
                  <a:schemeClr val="bg1">
                    <a:lumMod val="85000"/>
                  </a:schemeClr>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grpSp>
        <p:grpSp>
          <p:nvGrpSpPr>
            <p:cNvPr id="6" name="Gruppieren 5">
              <a:extLst>
                <a:ext uri="{FF2B5EF4-FFF2-40B4-BE49-F238E27FC236}">
                  <a16:creationId xmlns:a16="http://schemas.microsoft.com/office/drawing/2014/main" id="{E9029E63-792E-BD7C-F049-7995E10ACE6E}"/>
                </a:ext>
              </a:extLst>
            </p:cNvPr>
            <p:cNvGrpSpPr/>
            <p:nvPr/>
          </p:nvGrpSpPr>
          <p:grpSpPr>
            <a:xfrm>
              <a:off x="547901" y="1775994"/>
              <a:ext cx="4720392" cy="1367237"/>
              <a:chOff x="828303" y="1803098"/>
              <a:chExt cx="4720392" cy="1367237"/>
            </a:xfrm>
          </p:grpSpPr>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27CE4E99-EDB8-4D25-EC69-175CB91052C3}"/>
                      </a:ext>
                    </a:extLst>
                  </p:cNvPr>
                  <p:cNvSpPr txBox="1"/>
                  <p:nvPr/>
                </p:nvSpPr>
                <p:spPr>
                  <a:xfrm>
                    <a:off x="835269" y="2318674"/>
                    <a:ext cx="3075440" cy="381515"/>
                  </a:xfrm>
                  <a:prstGeom prst="rect">
                    <a:avLst/>
                  </a:prstGeom>
                  <a:noFill/>
                  <a:ln>
                    <a:noFill/>
                  </a:ln>
                </p:spPr>
                <p:txBody>
                  <a:bodyPr wrap="square" rtlCol="0">
                    <a:spAutoFit/>
                  </a:bodyPr>
                  <a:lstStyle/>
                  <a:p>
                    <a:r>
                      <a:rPr lang="en-AU" b="1" noProof="0" dirty="0">
                        <a:solidFill>
                          <a:schemeClr val="bg1">
                            <a:lumMod val="85000"/>
                          </a:schemeClr>
                        </a:solidFill>
                        <a:latin typeface="Futura LT Pro Light" panose="020B0402020204020303" pitchFamily="34" charset="0"/>
                        <a:cs typeface="+mn-cs"/>
                      </a:rPr>
                      <a:t>2</a:t>
                    </a:r>
                    <a:r>
                      <a:rPr lang="en-AU" noProof="0" dirty="0">
                        <a:solidFill>
                          <a:schemeClr val="bg1">
                            <a:lumMod val="85000"/>
                          </a:schemeClr>
                        </a:solidFill>
                        <a:latin typeface="Futura LT Pro Light" panose="020B0402020204020303" pitchFamily="34" charset="0"/>
                        <a:cs typeface="+mn-cs"/>
                      </a:rPr>
                      <a:t>. Estimate period:    </a:t>
                    </a:r>
                    <a14:m>
                      <m:oMath xmlns:m="http://schemas.openxmlformats.org/officeDocument/2006/math">
                        <m:sSub>
                          <m:sSubPr>
                            <m:ctrlPr>
                              <a:rPr lang="en-AU" b="1" i="1" noProof="0" smtClean="0">
                                <a:solidFill>
                                  <a:schemeClr val="bg1">
                                    <a:lumMod val="85000"/>
                                  </a:schemeClr>
                                </a:solidFill>
                                <a:latin typeface="Cambria Math" panose="02040503050406030204" pitchFamily="18" charset="0"/>
                                <a:cs typeface="+mn-cs"/>
                              </a:rPr>
                            </m:ctrlPr>
                          </m:sSubPr>
                          <m:e>
                            <m:r>
                              <a:rPr lang="en-AU" b="1" i="1" noProof="0" smtClean="0">
                                <a:solidFill>
                                  <a:schemeClr val="bg1">
                                    <a:lumMod val="85000"/>
                                  </a:schemeClr>
                                </a:solidFill>
                                <a:latin typeface="Cambria Math" panose="02040503050406030204" pitchFamily="18" charset="0"/>
                                <a:cs typeface="+mn-cs"/>
                              </a:rPr>
                              <m:t>𝑻</m:t>
                            </m:r>
                          </m:e>
                          <m:sub>
                            <m:r>
                              <a:rPr lang="en-AU" b="1" i="1" noProof="0" smtClean="0">
                                <a:solidFill>
                                  <a:schemeClr val="bg1">
                                    <a:lumMod val="85000"/>
                                  </a:schemeClr>
                                </a:solidFill>
                                <a:latin typeface="Cambria Math" panose="02040503050406030204" pitchFamily="18" charset="0"/>
                                <a:cs typeface="+mn-cs"/>
                              </a:rPr>
                              <m:t>𝟏</m:t>
                            </m:r>
                          </m:sub>
                        </m:sSub>
                      </m:oMath>
                    </a14:m>
                    <a:endParaRPr lang="en-AU" b="1" noProof="0" dirty="0">
                      <a:solidFill>
                        <a:schemeClr val="bg1">
                          <a:lumMod val="85000"/>
                        </a:schemeClr>
                      </a:solidFill>
                      <a:latin typeface="Futura LT Pro Light" panose="020B0402020204020303" pitchFamily="34" charset="0"/>
                      <a:cs typeface="+mn-cs"/>
                    </a:endParaRPr>
                  </a:p>
                </p:txBody>
              </p:sp>
            </mc:Choice>
            <mc:Fallback xmlns="">
              <p:sp>
                <p:nvSpPr>
                  <p:cNvPr id="7" name="Textfeld 6">
                    <a:extLst>
                      <a:ext uri="{FF2B5EF4-FFF2-40B4-BE49-F238E27FC236}">
                        <a16:creationId xmlns:a16="http://schemas.microsoft.com/office/drawing/2014/main" id="{27CE4E99-EDB8-4D25-EC69-175CB91052C3}"/>
                      </a:ext>
                    </a:extLst>
                  </p:cNvPr>
                  <p:cNvSpPr txBox="1">
                    <a:spLocks noRot="1" noChangeAspect="1" noMove="1" noResize="1" noEditPoints="1" noAdjustHandles="1" noChangeArrowheads="1" noChangeShapeType="1" noTextEdit="1"/>
                  </p:cNvSpPr>
                  <p:nvPr/>
                </p:nvSpPr>
                <p:spPr>
                  <a:xfrm>
                    <a:off x="835269" y="2318674"/>
                    <a:ext cx="3075440" cy="381515"/>
                  </a:xfrm>
                  <a:prstGeom prst="rect">
                    <a:avLst/>
                  </a:prstGeom>
                  <a:blipFill>
                    <a:blip r:embed="rId2"/>
                    <a:stretch>
                      <a:fillRect l="-1584" t="-9677" b="-22581"/>
                    </a:stretch>
                  </a:blipFill>
                  <a:ln>
                    <a:noFill/>
                  </a:ln>
                </p:spPr>
                <p:txBody>
                  <a:bodyPr/>
                  <a:lstStyle/>
                  <a:p>
                    <a:r>
                      <a:rPr lang="de-DE">
                        <a:noFill/>
                      </a:rPr>
                      <a:t> </a:t>
                    </a:r>
                  </a:p>
                </p:txBody>
              </p:sp>
            </mc:Fallback>
          </mc:AlternateContent>
          <p:sp>
            <p:nvSpPr>
              <p:cNvPr id="8" name="Rechteck 7">
                <a:extLst>
                  <a:ext uri="{FF2B5EF4-FFF2-40B4-BE49-F238E27FC236}">
                    <a16:creationId xmlns:a16="http://schemas.microsoft.com/office/drawing/2014/main" id="{7A9EB18E-5ACD-D511-06FD-CC26C72F1D5B}"/>
                  </a:ext>
                </a:extLst>
              </p:cNvPr>
              <p:cNvSpPr/>
              <p:nvPr/>
            </p:nvSpPr>
            <p:spPr>
              <a:xfrm>
                <a:off x="828303" y="1803098"/>
                <a:ext cx="4720392" cy="1367237"/>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grpSp>
        <p:nvGrpSpPr>
          <p:cNvPr id="16" name="Gruppieren 15">
            <a:extLst>
              <a:ext uri="{FF2B5EF4-FFF2-40B4-BE49-F238E27FC236}">
                <a16:creationId xmlns:a16="http://schemas.microsoft.com/office/drawing/2014/main" id="{3B7F7349-92F9-1662-162E-4D4804A465E7}"/>
              </a:ext>
            </a:extLst>
          </p:cNvPr>
          <p:cNvGrpSpPr/>
          <p:nvPr/>
        </p:nvGrpSpPr>
        <p:grpSpPr>
          <a:xfrm>
            <a:off x="547900" y="3351396"/>
            <a:ext cx="4720392" cy="1228859"/>
            <a:chOff x="828302" y="3678711"/>
            <a:chExt cx="4720392" cy="1228859"/>
          </a:xfrm>
        </p:grpSpPr>
        <p:grpSp>
          <p:nvGrpSpPr>
            <p:cNvPr id="17" name="Gruppieren 16">
              <a:extLst>
                <a:ext uri="{FF2B5EF4-FFF2-40B4-BE49-F238E27FC236}">
                  <a16:creationId xmlns:a16="http://schemas.microsoft.com/office/drawing/2014/main" id="{59F72A55-51EA-7BD5-6097-E814359F928B}"/>
                </a:ext>
              </a:extLst>
            </p:cNvPr>
            <p:cNvGrpSpPr/>
            <p:nvPr/>
          </p:nvGrpSpPr>
          <p:grpSpPr>
            <a:xfrm>
              <a:off x="838350" y="3813615"/>
              <a:ext cx="4442641" cy="894713"/>
              <a:chOff x="1722774" y="4356373"/>
              <a:chExt cx="4442641" cy="894713"/>
            </a:xfrm>
          </p:grpSpPr>
          <mc:AlternateContent xmlns:mc="http://schemas.openxmlformats.org/markup-compatibility/2006" xmlns:a14="http://schemas.microsoft.com/office/drawing/2010/main">
            <mc:Choice Requires="a14">
              <p:sp>
                <p:nvSpPr>
                  <p:cNvPr id="19" name="Textfeld 18">
                    <a:extLst>
                      <a:ext uri="{FF2B5EF4-FFF2-40B4-BE49-F238E27FC236}">
                        <a16:creationId xmlns:a16="http://schemas.microsoft.com/office/drawing/2014/main" id="{06B1E441-42CF-C8FA-311F-22CD251F9174}"/>
                      </a:ext>
                    </a:extLst>
                  </p:cNvPr>
                  <p:cNvSpPr txBox="1"/>
                  <p:nvPr/>
                </p:nvSpPr>
                <p:spPr>
                  <a:xfrm>
                    <a:off x="1722774" y="4687046"/>
                    <a:ext cx="3175163" cy="369332"/>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3. </a:t>
                    </a:r>
                    <a:r>
                      <a:rPr kumimoji="0" lang="en-AU" sz="1800" b="0"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Define hazard: </a:t>
                    </a:r>
                    <a14:m>
                      <m:oMath xmlns:m="http://schemas.openxmlformats.org/officeDocument/2006/math">
                        <m:sSub>
                          <m:sSubPr>
                            <m:ctrlP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ctrlPr>
                          </m:sSubPr>
                          <m:e>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t>𝒌</m:t>
                            </m:r>
                          </m:e>
                          <m:sub>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t>𝟎</m:t>
                            </m:r>
                          </m:sub>
                        </m:sSub>
                      </m:oMath>
                    </a14:m>
                    <a:r>
                      <a:rPr kumimoji="0" lang="en-AU" sz="1800" b="1"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 </a:t>
                    </a:r>
                    <a14:m>
                      <m:oMath xmlns:m="http://schemas.openxmlformats.org/officeDocument/2006/math">
                        <m:sSub>
                          <m:sSubPr>
                            <m:ctrlP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sSubPr>
                          <m:e>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𝒌</m:t>
                            </m:r>
                          </m:e>
                          <m:sub>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𝟏</m:t>
                            </m:r>
                          </m:sub>
                        </m:sSub>
                      </m:oMath>
                    </a14:m>
                    <a:r>
                      <a:rPr kumimoji="0" lang="en-AU" sz="1800" b="1"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 </a:t>
                    </a:r>
                    <a:endParaRPr kumimoji="0" lang="en-AU" sz="1800" b="0" i="0" u="none" strike="noStrike" kern="0" cap="none" spc="0" normalizeH="0" baseline="0" noProof="0" dirty="0">
                      <a:ln>
                        <a:noFill/>
                      </a:ln>
                      <a:solidFill>
                        <a:schemeClr val="bg1">
                          <a:lumMod val="85000"/>
                        </a:schemeClr>
                      </a:solidFill>
                      <a:effectLst/>
                      <a:uLnTx/>
                      <a:uFillTx/>
                      <a:latin typeface="Futura LT Pro Light" panose="020B0402020204020303" pitchFamily="34" charset="0"/>
                    </a:endParaRPr>
                  </a:p>
                </p:txBody>
              </p:sp>
            </mc:Choice>
            <mc:Fallback xmlns="">
              <p:sp>
                <p:nvSpPr>
                  <p:cNvPr id="19" name="Textfeld 18">
                    <a:extLst>
                      <a:ext uri="{FF2B5EF4-FFF2-40B4-BE49-F238E27FC236}">
                        <a16:creationId xmlns:a16="http://schemas.microsoft.com/office/drawing/2014/main" id="{06B1E441-42CF-C8FA-311F-22CD251F9174}"/>
                      </a:ext>
                    </a:extLst>
                  </p:cNvPr>
                  <p:cNvSpPr txBox="1">
                    <a:spLocks noRot="1" noChangeAspect="1" noMove="1" noResize="1" noEditPoints="1" noAdjustHandles="1" noChangeArrowheads="1" noChangeShapeType="1" noTextEdit="1"/>
                  </p:cNvSpPr>
                  <p:nvPr/>
                </p:nvSpPr>
                <p:spPr>
                  <a:xfrm>
                    <a:off x="1722774" y="4687046"/>
                    <a:ext cx="3175163" cy="369332"/>
                  </a:xfrm>
                  <a:prstGeom prst="rect">
                    <a:avLst/>
                  </a:prstGeom>
                  <a:blipFill>
                    <a:blip r:embed="rId3"/>
                    <a:stretch>
                      <a:fillRect l="-1731" t="-8197" b="-24590"/>
                    </a:stretch>
                  </a:blipFill>
                  <a:ln>
                    <a:noFill/>
                  </a:ln>
                </p:spPr>
                <p:txBody>
                  <a:bodyPr/>
                  <a:lstStyle/>
                  <a:p>
                    <a:r>
                      <a:rPr lang="de-DE">
                        <a:noFill/>
                      </a:rPr>
                      <a:t> </a:t>
                    </a:r>
                  </a:p>
                </p:txBody>
              </p:sp>
            </mc:Fallback>
          </mc:AlternateContent>
          <p:grpSp>
            <p:nvGrpSpPr>
              <p:cNvPr id="20" name="Gruppieren 19">
                <a:extLst>
                  <a:ext uri="{FF2B5EF4-FFF2-40B4-BE49-F238E27FC236}">
                    <a16:creationId xmlns:a16="http://schemas.microsoft.com/office/drawing/2014/main" id="{0D4AA174-1E64-FA2B-3938-C8C497FD4054}"/>
                  </a:ext>
                </a:extLst>
              </p:cNvPr>
              <p:cNvGrpSpPr/>
              <p:nvPr/>
            </p:nvGrpSpPr>
            <p:grpSpPr>
              <a:xfrm>
                <a:off x="5025096" y="4356373"/>
                <a:ext cx="1140319" cy="894713"/>
                <a:chOff x="4665045" y="3205667"/>
                <a:chExt cx="1869354" cy="1466725"/>
              </a:xfrm>
            </p:grpSpPr>
            <p:grpSp>
              <p:nvGrpSpPr>
                <p:cNvPr id="21" name="Gruppieren 20">
                  <a:extLst>
                    <a:ext uri="{FF2B5EF4-FFF2-40B4-BE49-F238E27FC236}">
                      <a16:creationId xmlns:a16="http://schemas.microsoft.com/office/drawing/2014/main" id="{BE0655CB-5C57-13BD-B42D-2015705D98F9}"/>
                    </a:ext>
                  </a:extLst>
                </p:cNvPr>
                <p:cNvGrpSpPr/>
                <p:nvPr/>
              </p:nvGrpSpPr>
              <p:grpSpPr>
                <a:xfrm>
                  <a:off x="4665045" y="3205667"/>
                  <a:ext cx="1869354" cy="1466725"/>
                  <a:chOff x="4902525" y="4002975"/>
                  <a:chExt cx="1869354" cy="1466725"/>
                </a:xfrm>
              </p:grpSpPr>
              <p:cxnSp>
                <p:nvCxnSpPr>
                  <p:cNvPr id="23" name="Gerader Verbinder 22">
                    <a:extLst>
                      <a:ext uri="{FF2B5EF4-FFF2-40B4-BE49-F238E27FC236}">
                        <a16:creationId xmlns:a16="http://schemas.microsoft.com/office/drawing/2014/main" id="{7895A8BF-D886-7E91-78EB-85D71EC2001D}"/>
                      </a:ext>
                    </a:extLst>
                  </p:cNvPr>
                  <p:cNvCxnSpPr>
                    <a:cxnSpLocks/>
                  </p:cNvCxnSpPr>
                  <p:nvPr/>
                </p:nvCxnSpPr>
                <p:spPr>
                  <a:xfrm flipV="1">
                    <a:off x="4902528" y="4002975"/>
                    <a:ext cx="0" cy="1466725"/>
                  </a:xfrm>
                  <a:prstGeom prst="line">
                    <a:avLst/>
                  </a:prstGeom>
                  <a:noFill/>
                  <a:ln w="28575" cap="flat" cmpd="sng" algn="ctr">
                    <a:solidFill>
                      <a:schemeClr val="bg1">
                        <a:lumMod val="85000"/>
                      </a:schemeClr>
                    </a:solidFill>
                    <a:prstDash val="solid"/>
                    <a:headEnd type="none" w="med" len="med"/>
                    <a:tailEnd type="triangle" w="med" len="med"/>
                  </a:ln>
                  <a:effectLst/>
                </p:spPr>
              </p:cxnSp>
              <p:cxnSp>
                <p:nvCxnSpPr>
                  <p:cNvPr id="24" name="Gerader Verbinder 23">
                    <a:extLst>
                      <a:ext uri="{FF2B5EF4-FFF2-40B4-BE49-F238E27FC236}">
                        <a16:creationId xmlns:a16="http://schemas.microsoft.com/office/drawing/2014/main" id="{7A8FBEDC-A7B0-E62D-4F58-7D4904FE415E}"/>
                      </a:ext>
                    </a:extLst>
                  </p:cNvPr>
                  <p:cNvCxnSpPr>
                    <a:cxnSpLocks/>
                  </p:cNvCxnSpPr>
                  <p:nvPr/>
                </p:nvCxnSpPr>
                <p:spPr>
                  <a:xfrm>
                    <a:off x="4902525" y="5469700"/>
                    <a:ext cx="1869354" cy="0"/>
                  </a:xfrm>
                  <a:prstGeom prst="line">
                    <a:avLst/>
                  </a:prstGeom>
                  <a:noFill/>
                  <a:ln w="28575" cap="flat" cmpd="sng" algn="ctr">
                    <a:solidFill>
                      <a:schemeClr val="bg1">
                        <a:lumMod val="85000"/>
                      </a:schemeClr>
                    </a:solidFill>
                    <a:prstDash val="solid"/>
                    <a:headEnd type="none" w="med" len="med"/>
                    <a:tailEnd type="triangle" w="med" len="med"/>
                  </a:ln>
                  <a:effectLst/>
                </p:spPr>
              </p:cxnSp>
              <p:sp>
                <p:nvSpPr>
                  <p:cNvPr id="25" name="Freihandform: Form 24">
                    <a:extLst>
                      <a:ext uri="{FF2B5EF4-FFF2-40B4-BE49-F238E27FC236}">
                        <a16:creationId xmlns:a16="http://schemas.microsoft.com/office/drawing/2014/main" id="{9E5AC71D-5FE5-9155-2142-B5E0E6498D8E}"/>
                      </a:ext>
                    </a:extLst>
                  </p:cNvPr>
                  <p:cNvSpPr/>
                  <p:nvPr/>
                </p:nvSpPr>
                <p:spPr>
                  <a:xfrm>
                    <a:off x="5065390" y="4325269"/>
                    <a:ext cx="1364344" cy="1045028"/>
                  </a:xfrm>
                  <a:custGeom>
                    <a:avLst/>
                    <a:gdLst>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 name="connsiteX0" fmla="*/ 0 w 1364343"/>
                      <a:gd name="connsiteY0" fmla="*/ 0 h 1045028"/>
                      <a:gd name="connsiteX1" fmla="*/ 1364343 w 1364343"/>
                      <a:gd name="connsiteY1" fmla="*/ 1045028 h 1045028"/>
                    </a:gdLst>
                    <a:ahLst/>
                    <a:cxnLst>
                      <a:cxn ang="0">
                        <a:pos x="connsiteX0" y="connsiteY0"/>
                      </a:cxn>
                      <a:cxn ang="0">
                        <a:pos x="connsiteX1" y="connsiteY1"/>
                      </a:cxn>
                    </a:cxnLst>
                    <a:rect l="l" t="t" r="r" b="b"/>
                    <a:pathLst>
                      <a:path w="1364343" h="1045028">
                        <a:moveTo>
                          <a:pt x="0" y="0"/>
                        </a:moveTo>
                        <a:cubicBezTo>
                          <a:pt x="846667" y="261258"/>
                          <a:pt x="953105" y="362856"/>
                          <a:pt x="1364343" y="1045028"/>
                        </a:cubicBezTo>
                      </a:path>
                    </a:pathLst>
                  </a:custGeom>
                  <a:noFill/>
                  <a:ln w="28575" cap="flat" cmpd="sng" algn="ctr">
                    <a:solidFill>
                      <a:schemeClr val="bg1">
                        <a:lumMod val="8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FFFFFF"/>
                      </a:solidFill>
                      <a:effectLst/>
                      <a:uLnTx/>
                      <a:uFillTx/>
                      <a:latin typeface="Futura LT Pro Book"/>
                      <a:ea typeface="+mn-ea"/>
                      <a:cs typeface="+mn-cs"/>
                    </a:endParaRPr>
                  </a:p>
                </p:txBody>
              </p:sp>
            </p:grpSp>
            <p:cxnSp>
              <p:nvCxnSpPr>
                <p:cNvPr id="22" name="Gerader Verbinder 21">
                  <a:extLst>
                    <a:ext uri="{FF2B5EF4-FFF2-40B4-BE49-F238E27FC236}">
                      <a16:creationId xmlns:a16="http://schemas.microsoft.com/office/drawing/2014/main" id="{BBAC34CB-9794-B345-29FF-F23F063A9CDC}"/>
                    </a:ext>
                  </a:extLst>
                </p:cNvPr>
                <p:cNvCxnSpPr>
                  <a:cxnSpLocks/>
                </p:cNvCxnSpPr>
                <p:nvPr/>
              </p:nvCxnSpPr>
              <p:spPr>
                <a:xfrm>
                  <a:off x="5127377" y="3339182"/>
                  <a:ext cx="1175092" cy="1175092"/>
                </a:xfrm>
                <a:prstGeom prst="line">
                  <a:avLst/>
                </a:prstGeom>
                <a:noFill/>
                <a:ln w="28575" cap="flat" cmpd="sng" algn="ctr">
                  <a:solidFill>
                    <a:schemeClr val="bg1">
                      <a:lumMod val="85000"/>
                    </a:schemeClr>
                  </a:solidFill>
                  <a:prstDash val="sysDot"/>
                </a:ln>
                <a:effectLst/>
              </p:spPr>
            </p:cxnSp>
          </p:grpSp>
        </p:grpSp>
        <p:sp>
          <p:nvSpPr>
            <p:cNvPr id="18" name="Rechteck 17">
              <a:extLst>
                <a:ext uri="{FF2B5EF4-FFF2-40B4-BE49-F238E27FC236}">
                  <a16:creationId xmlns:a16="http://schemas.microsoft.com/office/drawing/2014/main" id="{A12F7CAD-7EC0-D0B1-1F25-6F9C272EA1DA}"/>
                </a:ext>
              </a:extLst>
            </p:cNvPr>
            <p:cNvSpPr/>
            <p:nvPr/>
          </p:nvSpPr>
          <p:spPr>
            <a:xfrm>
              <a:off x="828302" y="3678711"/>
              <a:ext cx="4720392" cy="1228859"/>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33" name="Gruppieren 32">
            <a:extLst>
              <a:ext uri="{FF2B5EF4-FFF2-40B4-BE49-F238E27FC236}">
                <a16:creationId xmlns:a16="http://schemas.microsoft.com/office/drawing/2014/main" id="{B606413D-0C41-294C-5625-FA8AD165E3E6}"/>
              </a:ext>
            </a:extLst>
          </p:cNvPr>
          <p:cNvGrpSpPr/>
          <p:nvPr/>
        </p:nvGrpSpPr>
        <p:grpSpPr>
          <a:xfrm>
            <a:off x="540271" y="1040639"/>
            <a:ext cx="4720392" cy="527190"/>
            <a:chOff x="820673" y="1040639"/>
            <a:chExt cx="4720392" cy="527190"/>
          </a:xfrm>
        </p:grpSpPr>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2D39FC48-CAD9-B0C2-1D0C-BE70DB9240A9}"/>
                    </a:ext>
                  </a:extLst>
                </p:cNvPr>
                <p:cNvSpPr txBox="1"/>
                <p:nvPr/>
              </p:nvSpPr>
              <p:spPr>
                <a:xfrm>
                  <a:off x="835269" y="1102280"/>
                  <a:ext cx="3233394" cy="381515"/>
                </a:xfrm>
                <a:prstGeom prst="rect">
                  <a:avLst/>
                </a:prstGeom>
                <a:noFill/>
                <a:ln w="28575">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1. </a:t>
                  </a:r>
                  <a:r>
                    <a:rPr kumimoji="0" lang="en-AU" sz="1800" b="0"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Define safety level:   </a:t>
                  </a:r>
                  <a14:m>
                    <m:oMath xmlns:m="http://schemas.openxmlformats.org/officeDocument/2006/math">
                      <m:sSub>
                        <m:sSubPr>
                          <m:ctrlP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ctrlPr>
                        </m:sSubPr>
                        <m:e>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t>𝝀</m:t>
                          </m:r>
                        </m:e>
                        <m:sub>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t>𝒄</m:t>
                          </m:r>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t>,</m:t>
                          </m:r>
                          <m:r>
                            <a:rPr kumimoji="0" lang="en-AU" sz="18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cs typeface="+mn-cs"/>
                            </a:rPr>
                            <m:t>𝒕</m:t>
                          </m:r>
                        </m:sub>
                      </m:sSub>
                    </m:oMath>
                  </a14:m>
                  <a:endParaRPr kumimoji="0" lang="en-AU" sz="1800" b="0" i="0" u="none" strike="noStrike" kern="0" cap="none" spc="0" normalizeH="0" baseline="0" noProof="0" dirty="0">
                    <a:ln>
                      <a:noFill/>
                    </a:ln>
                    <a:solidFill>
                      <a:schemeClr val="bg1">
                        <a:lumMod val="85000"/>
                      </a:schemeClr>
                    </a:solidFill>
                    <a:effectLst/>
                    <a:uLnTx/>
                    <a:uFillTx/>
                    <a:latin typeface="Futura LT Pro Light" panose="020B0402020204020303" pitchFamily="34" charset="0"/>
                  </a:endParaRPr>
                </a:p>
              </p:txBody>
            </p:sp>
          </mc:Choice>
          <mc:Fallback xmlns="">
            <p:sp>
              <p:nvSpPr>
                <p:cNvPr id="34" name="Textfeld 33">
                  <a:extLst>
                    <a:ext uri="{FF2B5EF4-FFF2-40B4-BE49-F238E27FC236}">
                      <a16:creationId xmlns:a16="http://schemas.microsoft.com/office/drawing/2014/main" id="{2D39FC48-CAD9-B0C2-1D0C-BE70DB9240A9}"/>
                    </a:ext>
                  </a:extLst>
                </p:cNvPr>
                <p:cNvSpPr txBox="1">
                  <a:spLocks noRot="1" noChangeAspect="1" noMove="1" noResize="1" noEditPoints="1" noAdjustHandles="1" noChangeArrowheads="1" noChangeShapeType="1" noTextEdit="1"/>
                </p:cNvSpPr>
                <p:nvPr/>
              </p:nvSpPr>
              <p:spPr>
                <a:xfrm>
                  <a:off x="835269" y="1102280"/>
                  <a:ext cx="3233394" cy="381515"/>
                </a:xfrm>
                <a:prstGeom prst="rect">
                  <a:avLst/>
                </a:prstGeom>
                <a:blipFill>
                  <a:blip r:embed="rId4"/>
                  <a:stretch>
                    <a:fillRect l="-1509" t="-11290" b="-20968"/>
                  </a:stretch>
                </a:blipFill>
                <a:ln w="28575">
                  <a:noFill/>
                </a:ln>
              </p:spPr>
              <p:txBody>
                <a:bodyPr/>
                <a:lstStyle/>
                <a:p>
                  <a:r>
                    <a:rPr lang="de-DE">
                      <a:noFill/>
                    </a:rPr>
                    <a:t> </a:t>
                  </a:r>
                </a:p>
              </p:txBody>
            </p:sp>
          </mc:Fallback>
        </mc:AlternateContent>
        <p:sp>
          <p:nvSpPr>
            <p:cNvPr id="35" name="Rechteck 34">
              <a:extLst>
                <a:ext uri="{FF2B5EF4-FFF2-40B4-BE49-F238E27FC236}">
                  <a16:creationId xmlns:a16="http://schemas.microsoft.com/office/drawing/2014/main" id="{05D022CF-C6E1-AB47-7A72-D1FD2BEDD25E}"/>
                </a:ext>
              </a:extLst>
            </p:cNvPr>
            <p:cNvSpPr/>
            <p:nvPr/>
          </p:nvSpPr>
          <p:spPr>
            <a:xfrm>
              <a:off x="820673" y="1040639"/>
              <a:ext cx="4720392" cy="527190"/>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36" name="Gruppieren 35">
            <a:extLst>
              <a:ext uri="{FF2B5EF4-FFF2-40B4-BE49-F238E27FC236}">
                <a16:creationId xmlns:a16="http://schemas.microsoft.com/office/drawing/2014/main" id="{680EA328-A697-5555-C75F-56761623997F}"/>
              </a:ext>
            </a:extLst>
          </p:cNvPr>
          <p:cNvGrpSpPr/>
          <p:nvPr/>
        </p:nvGrpSpPr>
        <p:grpSpPr>
          <a:xfrm>
            <a:off x="6092821" y="4705527"/>
            <a:ext cx="5679857" cy="1311757"/>
            <a:chOff x="6182393" y="4705527"/>
            <a:chExt cx="4812835" cy="1311757"/>
          </a:xfrm>
        </p:grpSpPr>
        <mc:AlternateContent xmlns:mc="http://schemas.openxmlformats.org/markup-compatibility/2006" xmlns:a14="http://schemas.microsoft.com/office/drawing/2010/main">
          <mc:Choice Requires="a14">
            <p:sp>
              <p:nvSpPr>
                <p:cNvPr id="37" name="Textfeld 36">
                  <a:extLst>
                    <a:ext uri="{FF2B5EF4-FFF2-40B4-BE49-F238E27FC236}">
                      <a16:creationId xmlns:a16="http://schemas.microsoft.com/office/drawing/2014/main" id="{D0DB289E-F563-9C9D-ECCA-51AAA92F9019}"/>
                    </a:ext>
                  </a:extLst>
                </p:cNvPr>
                <p:cNvSpPr txBox="1"/>
                <p:nvPr/>
              </p:nvSpPr>
              <p:spPr>
                <a:xfrm>
                  <a:off x="6190531" y="4788421"/>
                  <a:ext cx="4488499" cy="1228863"/>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5. </a:t>
                  </a:r>
                  <a:r>
                    <a:rPr kumimoji="0" lang="en-AU" sz="1800" b="0" i="0" u="none" strike="noStrike" kern="0" cap="none" spc="0" normalizeH="0" baseline="0" noProof="0" dirty="0">
                      <a:ln>
                        <a:noFill/>
                      </a:ln>
                      <a:solidFill>
                        <a:schemeClr val="bg1">
                          <a:lumMod val="85000"/>
                        </a:schemeClr>
                      </a:solidFill>
                      <a:effectLst/>
                      <a:uLnTx/>
                      <a:uFillTx/>
                      <a:latin typeface="Futura LT Pro Light" panose="020B0402020204020303" pitchFamily="34" charset="0"/>
                    </a:rPr>
                    <a:t>Calculate target collapse capacity:</a:t>
                  </a: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500" b="0" i="0" u="none" strike="noStrike" kern="0" cap="none" spc="0" normalizeH="0" baseline="0" noProof="0" dirty="0">
                    <a:ln>
                      <a:noFill/>
                    </a:ln>
                    <a:solidFill>
                      <a:schemeClr val="bg1">
                        <a:lumMod val="85000"/>
                      </a:schemeClr>
                    </a:solidFill>
                    <a:effectLst/>
                    <a:uLnTx/>
                    <a:uFillTx/>
                    <a:latin typeface="Futura LT Pro Light" panose="020B04020202040203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AU" sz="16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sSubPr>
                          <m:e>
                            <m:r>
                              <a:rPr kumimoji="0" lang="en-AU" sz="16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𝜽</m:t>
                            </m:r>
                          </m:e>
                          <m:sub>
                            <m:r>
                              <a:rPr kumimoji="0" lang="en-AU" sz="16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𝒄</m:t>
                            </m:r>
                            <m:r>
                              <a:rPr kumimoji="0" lang="en-AU" sz="16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m:t>
                            </m:r>
                            <m:r>
                              <a:rPr kumimoji="0" lang="en-AU" sz="1600" b="1"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𝒕</m:t>
                            </m:r>
                          </m:sub>
                        </m:sSub>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m:t>
                        </m:r>
                        <m:func>
                          <m:func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funcPr>
                          <m:fName>
                            <m:r>
                              <m:rPr>
                                <m:sty m:val="p"/>
                              </m:rPr>
                              <a:rPr kumimoji="0" lang="en-AU" sz="1600" b="0" i="0" u="none" strike="noStrike" kern="0" cap="none" spc="0" normalizeH="0" baseline="0" noProof="0" smtClean="0">
                                <a:ln>
                                  <a:noFill/>
                                </a:ln>
                                <a:solidFill>
                                  <a:schemeClr val="bg1">
                                    <a:lumMod val="85000"/>
                                  </a:schemeClr>
                                </a:solidFill>
                                <a:effectLst/>
                                <a:uLnTx/>
                                <a:uFillTx/>
                                <a:latin typeface="Cambria Math" panose="02040503050406030204" pitchFamily="18" charset="0"/>
                              </a:rPr>
                              <m:t>exp</m:t>
                            </m:r>
                          </m:fName>
                          <m:e>
                            <m:d>
                              <m:dPr>
                                <m:begChr m:val="["/>
                                <m:endChr m:val="]"/>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dPr>
                              <m:e>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0,5∙</m:t>
                                </m:r>
                                <m:sSub>
                                  <m:sSub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𝑘</m:t>
                                    </m:r>
                                  </m:e>
                                  <m:sub>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1</m:t>
                                    </m:r>
                                  </m:sub>
                                </m:sSub>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m:t>
                                </m:r>
                                <m:sSubSup>
                                  <m:sSubSup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sSubSupPr>
                                  <m:e>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𝛽</m:t>
                                    </m:r>
                                  </m:e>
                                  <m:sub>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𝑐</m:t>
                                    </m:r>
                                  </m:sub>
                                  <m:sup>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2</m:t>
                                    </m:r>
                                  </m:sup>
                                </m:sSubSup>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 −</m:t>
                                </m:r>
                                <m:f>
                                  <m:f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fPr>
                                  <m:num>
                                    <m:func>
                                      <m:func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funcPr>
                                      <m:fName>
                                        <m:r>
                                          <m:rPr>
                                            <m:sty m:val="p"/>
                                          </m:rPr>
                                          <a:rPr kumimoji="0" lang="en-AU" sz="1600" b="0" i="0" u="none" strike="noStrike" kern="0" cap="none" spc="0" normalizeH="0" baseline="0" noProof="0" smtClean="0">
                                            <a:ln>
                                              <a:noFill/>
                                            </a:ln>
                                            <a:solidFill>
                                              <a:schemeClr val="bg1">
                                                <a:lumMod val="85000"/>
                                              </a:schemeClr>
                                            </a:solidFill>
                                            <a:effectLst/>
                                            <a:uLnTx/>
                                            <a:uFillTx/>
                                            <a:latin typeface="Cambria Math" panose="02040503050406030204" pitchFamily="18" charset="0"/>
                                          </a:rPr>
                                          <m:t>ln</m:t>
                                        </m:r>
                                      </m:fName>
                                      <m:e>
                                        <m:d>
                                          <m:d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dPr>
                                          <m:e>
                                            <m:f>
                                              <m:f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fPr>
                                              <m:num>
                                                <m:sSub>
                                                  <m:sSub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𝜆</m:t>
                                                    </m:r>
                                                  </m:e>
                                                  <m:sub>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𝑐</m:t>
                                                    </m:r>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m:t>
                                                    </m:r>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𝑡</m:t>
                                                    </m:r>
                                                  </m:sub>
                                                </m:sSub>
                                              </m:num>
                                              <m:den>
                                                <m:sSub>
                                                  <m:sSub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𝑘</m:t>
                                                    </m:r>
                                                  </m:e>
                                                  <m:sub>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0</m:t>
                                                    </m:r>
                                                  </m:sub>
                                                </m:sSub>
                                              </m:den>
                                            </m:f>
                                          </m:e>
                                        </m:d>
                                      </m:e>
                                    </m:func>
                                  </m:num>
                                  <m:den>
                                    <m:sSub>
                                      <m:sSubPr>
                                        <m:ctrlP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ctrlPr>
                                      </m:sSubPr>
                                      <m:e>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𝑘</m:t>
                                        </m:r>
                                      </m:e>
                                      <m:sub>
                                        <m:r>
                                          <a:rPr kumimoji="0" lang="en-AU" sz="1600" b="0" i="1" u="none" strike="noStrike" kern="0" cap="none" spc="0" normalizeH="0" baseline="0" noProof="0" smtClean="0">
                                            <a:ln>
                                              <a:noFill/>
                                            </a:ln>
                                            <a:solidFill>
                                              <a:schemeClr val="bg1">
                                                <a:lumMod val="85000"/>
                                              </a:schemeClr>
                                            </a:solidFill>
                                            <a:effectLst/>
                                            <a:uLnTx/>
                                            <a:uFillTx/>
                                            <a:latin typeface="Cambria Math" panose="02040503050406030204" pitchFamily="18" charset="0"/>
                                          </a:rPr>
                                          <m:t>1</m:t>
                                        </m:r>
                                      </m:sub>
                                    </m:sSub>
                                  </m:den>
                                </m:f>
                              </m:e>
                            </m:d>
                          </m:e>
                        </m:func>
                      </m:oMath>
                    </m:oMathPara>
                  </a14:m>
                  <a:endParaRPr kumimoji="0" lang="en-AU" sz="1800" b="0" i="0" u="none" strike="noStrike" kern="0" cap="none" spc="0" normalizeH="0" baseline="0" noProof="0" dirty="0">
                    <a:ln>
                      <a:noFill/>
                    </a:ln>
                    <a:solidFill>
                      <a:schemeClr val="bg1">
                        <a:lumMod val="85000"/>
                      </a:schemeClr>
                    </a:solidFill>
                    <a:effectLst/>
                    <a:uLnTx/>
                    <a:uFillTx/>
                    <a:latin typeface="Futura LT Pro Light" panose="020B0402020204020303" pitchFamily="34" charset="0"/>
                  </a:endParaRPr>
                </a:p>
              </p:txBody>
            </p:sp>
          </mc:Choice>
          <mc:Fallback xmlns="">
            <p:sp>
              <p:nvSpPr>
                <p:cNvPr id="37" name="Textfeld 36">
                  <a:extLst>
                    <a:ext uri="{FF2B5EF4-FFF2-40B4-BE49-F238E27FC236}">
                      <a16:creationId xmlns:a16="http://schemas.microsoft.com/office/drawing/2014/main" id="{D0DB289E-F563-9C9D-ECCA-51AAA92F9019}"/>
                    </a:ext>
                  </a:extLst>
                </p:cNvPr>
                <p:cNvSpPr txBox="1">
                  <a:spLocks noRot="1" noChangeAspect="1" noMove="1" noResize="1" noEditPoints="1" noAdjustHandles="1" noChangeArrowheads="1" noChangeShapeType="1" noTextEdit="1"/>
                </p:cNvSpPr>
                <p:nvPr/>
              </p:nvSpPr>
              <p:spPr>
                <a:xfrm>
                  <a:off x="6190531" y="4788421"/>
                  <a:ext cx="4488499" cy="1228863"/>
                </a:xfrm>
                <a:prstGeom prst="rect">
                  <a:avLst/>
                </a:prstGeom>
                <a:blipFill>
                  <a:blip r:embed="rId5"/>
                  <a:stretch>
                    <a:fillRect l="-921" t="-2985"/>
                  </a:stretch>
                </a:blipFill>
                <a:ln>
                  <a:noFill/>
                </a:ln>
              </p:spPr>
              <p:txBody>
                <a:bodyPr/>
                <a:lstStyle/>
                <a:p>
                  <a:r>
                    <a:rPr lang="de-DE">
                      <a:noFill/>
                    </a:rPr>
                    <a:t> </a:t>
                  </a:r>
                </a:p>
              </p:txBody>
            </p:sp>
          </mc:Fallback>
        </mc:AlternateContent>
        <p:sp>
          <p:nvSpPr>
            <p:cNvPr id="38" name="Rechteck 37">
              <a:extLst>
                <a:ext uri="{FF2B5EF4-FFF2-40B4-BE49-F238E27FC236}">
                  <a16:creationId xmlns:a16="http://schemas.microsoft.com/office/drawing/2014/main" id="{BB45112C-808A-5BD3-3B5A-C3F9B0E7CF65}"/>
                </a:ext>
              </a:extLst>
            </p:cNvPr>
            <p:cNvSpPr/>
            <p:nvPr/>
          </p:nvSpPr>
          <p:spPr>
            <a:xfrm>
              <a:off x="6182393" y="4705527"/>
              <a:ext cx="4812835" cy="1311757"/>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sp>
        <p:nvSpPr>
          <p:cNvPr id="39" name="Textfeld 38">
            <a:extLst>
              <a:ext uri="{FF2B5EF4-FFF2-40B4-BE49-F238E27FC236}">
                <a16:creationId xmlns:a16="http://schemas.microsoft.com/office/drawing/2014/main" id="{836FE036-0CBC-0938-162C-A012BCB63854}"/>
              </a:ext>
            </a:extLst>
          </p:cNvPr>
          <p:cNvSpPr txBox="1"/>
          <p:nvPr/>
        </p:nvSpPr>
        <p:spPr>
          <a:xfrm>
            <a:off x="351467" y="6300712"/>
            <a:ext cx="4256256" cy="230832"/>
          </a:xfrm>
          <a:prstGeom prst="rect">
            <a:avLst/>
          </a:prstGeom>
          <a:noFill/>
        </p:spPr>
        <p:txBody>
          <a:bodyPr wrap="square">
            <a:spAutoFit/>
          </a:bodyPr>
          <a:lstStyle/>
          <a:p>
            <a:r>
              <a:rPr lang="en-AU" sz="900" noProof="0" dirty="0">
                <a:solidFill>
                  <a:srgbClr val="333333"/>
                </a:solidFill>
                <a:latin typeface="Futura LT Pro Light" panose="020B0402020204020303" pitchFamily="34" charset="0"/>
                <a:cs typeface="+mn-cs"/>
              </a:rPr>
              <a:t>based on Shahnazaryan and O‘Reilly (2021), Žižmond and Dolšek (2019)</a:t>
            </a:r>
          </a:p>
        </p:txBody>
      </p:sp>
      <p:grpSp>
        <p:nvGrpSpPr>
          <p:cNvPr id="61" name="Gruppieren 60">
            <a:extLst>
              <a:ext uri="{FF2B5EF4-FFF2-40B4-BE49-F238E27FC236}">
                <a16:creationId xmlns:a16="http://schemas.microsoft.com/office/drawing/2014/main" id="{5B8D523A-F9A8-BE71-81A8-C079EAFB9029}"/>
              </a:ext>
            </a:extLst>
          </p:cNvPr>
          <p:cNvGrpSpPr/>
          <p:nvPr/>
        </p:nvGrpSpPr>
        <p:grpSpPr>
          <a:xfrm>
            <a:off x="6655933" y="1779865"/>
            <a:ext cx="3650646" cy="1208356"/>
            <a:chOff x="7020991" y="1346527"/>
            <a:chExt cx="3650646" cy="1208356"/>
          </a:xfrm>
        </p:grpSpPr>
        <p:sp>
          <p:nvSpPr>
            <p:cNvPr id="62" name="Textfeld 61">
              <a:extLst>
                <a:ext uri="{FF2B5EF4-FFF2-40B4-BE49-F238E27FC236}">
                  <a16:creationId xmlns:a16="http://schemas.microsoft.com/office/drawing/2014/main" id="{018D28FD-324D-2646-B697-84983B9467A3}"/>
                </a:ext>
              </a:extLst>
            </p:cNvPr>
            <p:cNvSpPr txBox="1"/>
            <p:nvPr/>
          </p:nvSpPr>
          <p:spPr>
            <a:xfrm>
              <a:off x="7154367" y="1607122"/>
              <a:ext cx="2600069" cy="646331"/>
            </a:xfrm>
            <a:prstGeom prst="rect">
              <a:avLst/>
            </a:prstGeom>
            <a:noFill/>
            <a:ln>
              <a:noFill/>
            </a:ln>
          </p:spPr>
          <p:txBody>
            <a:bodyPr wrap="square" rtlCol="0">
              <a:spAutoFit/>
            </a:bodyPr>
            <a:lstStyle/>
            <a:p>
              <a:r>
                <a:rPr lang="en-AU" b="1" noProof="0" dirty="0">
                  <a:solidFill>
                    <a:schemeClr val="bg1">
                      <a:lumMod val="85000"/>
                    </a:schemeClr>
                  </a:solidFill>
                  <a:latin typeface="Futura LT Pro Light" panose="020B0402020204020303" pitchFamily="34" charset="0"/>
                  <a:cs typeface="+mn-cs"/>
                </a:rPr>
                <a:t>7. </a:t>
              </a:r>
              <a:r>
                <a:rPr lang="en-AU" noProof="0" dirty="0">
                  <a:solidFill>
                    <a:schemeClr val="bg1">
                      <a:lumMod val="85000"/>
                    </a:schemeClr>
                  </a:solidFill>
                  <a:latin typeface="Futura LT Pro Light" panose="020B0402020204020303" pitchFamily="34" charset="0"/>
                  <a:cs typeface="+mn-cs"/>
                </a:rPr>
                <a:t>Design structure and check period</a:t>
              </a:r>
            </a:p>
          </p:txBody>
        </p:sp>
        <p:grpSp>
          <p:nvGrpSpPr>
            <p:cNvPr id="63" name="Gruppieren 62">
              <a:extLst>
                <a:ext uri="{FF2B5EF4-FFF2-40B4-BE49-F238E27FC236}">
                  <a16:creationId xmlns:a16="http://schemas.microsoft.com/office/drawing/2014/main" id="{875379F5-E2DB-D166-48D8-69E7D19A489D}"/>
                </a:ext>
              </a:extLst>
            </p:cNvPr>
            <p:cNvGrpSpPr/>
            <p:nvPr/>
          </p:nvGrpSpPr>
          <p:grpSpPr>
            <a:xfrm>
              <a:off x="9600229" y="1522397"/>
              <a:ext cx="857718" cy="858395"/>
              <a:chOff x="4068663" y="2411011"/>
              <a:chExt cx="1800000" cy="1801421"/>
            </a:xfrm>
          </p:grpSpPr>
          <p:sp>
            <p:nvSpPr>
              <p:cNvPr id="65" name="Freihandform: Form 64">
                <a:extLst>
                  <a:ext uri="{FF2B5EF4-FFF2-40B4-BE49-F238E27FC236}">
                    <a16:creationId xmlns:a16="http://schemas.microsoft.com/office/drawing/2014/main" id="{9741A42C-A6C3-9D58-097F-F45F037CCB6D}"/>
                  </a:ext>
                </a:extLst>
              </p:cNvPr>
              <p:cNvSpPr/>
              <p:nvPr/>
            </p:nvSpPr>
            <p:spPr>
              <a:xfrm>
                <a:off x="4071837" y="2412206"/>
                <a:ext cx="1795608" cy="1800226"/>
              </a:xfrm>
              <a:custGeom>
                <a:avLst/>
                <a:gdLst>
                  <a:gd name="connsiteX0" fmla="*/ 161658 w 2137418"/>
                  <a:gd name="connsiteY0" fmla="*/ 25365 h 1862499"/>
                  <a:gd name="connsiteX1" fmla="*/ 1961883 w 2137418"/>
                  <a:gd name="connsiteY1" fmla="*/ 30127 h 1862499"/>
                  <a:gd name="connsiteX2" fmla="*/ 1961883 w 2137418"/>
                  <a:gd name="connsiteY2" fmla="*/ 253965 h 1862499"/>
                  <a:gd name="connsiteX3" fmla="*/ 1257033 w 2137418"/>
                  <a:gd name="connsiteY3" fmla="*/ 249202 h 1862499"/>
                  <a:gd name="connsiteX4" fmla="*/ 1104633 w 2137418"/>
                  <a:gd name="connsiteY4" fmla="*/ 373027 h 1862499"/>
                  <a:gd name="connsiteX5" fmla="*/ 1109396 w 2137418"/>
                  <a:gd name="connsiteY5" fmla="*/ 1482690 h 1862499"/>
                  <a:gd name="connsiteX6" fmla="*/ 1247508 w 2137418"/>
                  <a:gd name="connsiteY6" fmla="*/ 1616040 h 1862499"/>
                  <a:gd name="connsiteX7" fmla="*/ 1966646 w 2137418"/>
                  <a:gd name="connsiteY7" fmla="*/ 1616040 h 1862499"/>
                  <a:gd name="connsiteX8" fmla="*/ 1976171 w 2137418"/>
                  <a:gd name="connsiteY8" fmla="*/ 1835115 h 1862499"/>
                  <a:gd name="connsiteX9" fmla="*/ 166421 w 2137418"/>
                  <a:gd name="connsiteY9" fmla="*/ 1835115 h 1862499"/>
                  <a:gd name="connsiteX10" fmla="*/ 171183 w 2137418"/>
                  <a:gd name="connsiteY10" fmla="*/ 1616040 h 1862499"/>
                  <a:gd name="connsiteX11" fmla="*/ 899846 w 2137418"/>
                  <a:gd name="connsiteY11" fmla="*/ 1620802 h 1862499"/>
                  <a:gd name="connsiteX12" fmla="*/ 1018908 w 2137418"/>
                  <a:gd name="connsiteY12" fmla="*/ 1487452 h 1862499"/>
                  <a:gd name="connsiteX13" fmla="*/ 1028433 w 2137418"/>
                  <a:gd name="connsiteY13" fmla="*/ 377790 h 1862499"/>
                  <a:gd name="connsiteX14" fmla="*/ 876033 w 2137418"/>
                  <a:gd name="connsiteY14" fmla="*/ 239677 h 1862499"/>
                  <a:gd name="connsiteX15" fmla="*/ 166421 w 2137418"/>
                  <a:gd name="connsiteY15" fmla="*/ 244440 h 1862499"/>
                  <a:gd name="connsiteX16" fmla="*/ 161658 w 2137418"/>
                  <a:gd name="connsiteY16" fmla="*/ 25365 h 1862499"/>
                  <a:gd name="connsiteX0" fmla="*/ 161658 w 2137418"/>
                  <a:gd name="connsiteY0" fmla="*/ 25365 h 1862499"/>
                  <a:gd name="connsiteX1" fmla="*/ 1961883 w 2137418"/>
                  <a:gd name="connsiteY1" fmla="*/ 30127 h 1862499"/>
                  <a:gd name="connsiteX2" fmla="*/ 1961883 w 2137418"/>
                  <a:gd name="connsiteY2" fmla="*/ 253965 h 1862499"/>
                  <a:gd name="connsiteX3" fmla="*/ 1257033 w 2137418"/>
                  <a:gd name="connsiteY3" fmla="*/ 249202 h 1862499"/>
                  <a:gd name="connsiteX4" fmla="*/ 1104633 w 2137418"/>
                  <a:gd name="connsiteY4" fmla="*/ 373027 h 1862499"/>
                  <a:gd name="connsiteX5" fmla="*/ 1109396 w 2137418"/>
                  <a:gd name="connsiteY5" fmla="*/ 1482690 h 1862499"/>
                  <a:gd name="connsiteX6" fmla="*/ 1247508 w 2137418"/>
                  <a:gd name="connsiteY6" fmla="*/ 1616040 h 1862499"/>
                  <a:gd name="connsiteX7" fmla="*/ 1966646 w 2137418"/>
                  <a:gd name="connsiteY7" fmla="*/ 1616040 h 1862499"/>
                  <a:gd name="connsiteX8" fmla="*/ 1976171 w 2137418"/>
                  <a:gd name="connsiteY8" fmla="*/ 1835115 h 1862499"/>
                  <a:gd name="connsiteX9" fmla="*/ 166421 w 2137418"/>
                  <a:gd name="connsiteY9" fmla="*/ 1835115 h 1862499"/>
                  <a:gd name="connsiteX10" fmla="*/ 171183 w 2137418"/>
                  <a:gd name="connsiteY10" fmla="*/ 1616040 h 1862499"/>
                  <a:gd name="connsiteX11" fmla="*/ 899846 w 2137418"/>
                  <a:gd name="connsiteY11" fmla="*/ 1620802 h 1862499"/>
                  <a:gd name="connsiteX12" fmla="*/ 1018908 w 2137418"/>
                  <a:gd name="connsiteY12" fmla="*/ 1487452 h 1862499"/>
                  <a:gd name="connsiteX13" fmla="*/ 1028433 w 2137418"/>
                  <a:gd name="connsiteY13" fmla="*/ 377790 h 1862499"/>
                  <a:gd name="connsiteX14" fmla="*/ 876033 w 2137418"/>
                  <a:gd name="connsiteY14" fmla="*/ 239677 h 1862499"/>
                  <a:gd name="connsiteX15" fmla="*/ 166421 w 2137418"/>
                  <a:gd name="connsiteY15" fmla="*/ 244440 h 1862499"/>
                  <a:gd name="connsiteX16" fmla="*/ 161658 w 2137418"/>
                  <a:gd name="connsiteY16" fmla="*/ 25365 h 1862499"/>
                  <a:gd name="connsiteX0" fmla="*/ 161658 w 2137418"/>
                  <a:gd name="connsiteY0" fmla="*/ 25365 h 1862499"/>
                  <a:gd name="connsiteX1" fmla="*/ 1961883 w 2137418"/>
                  <a:gd name="connsiteY1" fmla="*/ 30127 h 1862499"/>
                  <a:gd name="connsiteX2" fmla="*/ 1961883 w 2137418"/>
                  <a:gd name="connsiteY2" fmla="*/ 253965 h 1862499"/>
                  <a:gd name="connsiteX3" fmla="*/ 1257033 w 2137418"/>
                  <a:gd name="connsiteY3" fmla="*/ 249202 h 1862499"/>
                  <a:gd name="connsiteX4" fmla="*/ 1104633 w 2137418"/>
                  <a:gd name="connsiteY4" fmla="*/ 373027 h 1862499"/>
                  <a:gd name="connsiteX5" fmla="*/ 1109396 w 2137418"/>
                  <a:gd name="connsiteY5" fmla="*/ 1482690 h 1862499"/>
                  <a:gd name="connsiteX6" fmla="*/ 1247508 w 2137418"/>
                  <a:gd name="connsiteY6" fmla="*/ 1616040 h 1862499"/>
                  <a:gd name="connsiteX7" fmla="*/ 1966646 w 2137418"/>
                  <a:gd name="connsiteY7" fmla="*/ 1616040 h 1862499"/>
                  <a:gd name="connsiteX8" fmla="*/ 1976171 w 2137418"/>
                  <a:gd name="connsiteY8" fmla="*/ 1835115 h 1862499"/>
                  <a:gd name="connsiteX9" fmla="*/ 166421 w 2137418"/>
                  <a:gd name="connsiteY9" fmla="*/ 1835115 h 1862499"/>
                  <a:gd name="connsiteX10" fmla="*/ 171183 w 2137418"/>
                  <a:gd name="connsiteY10" fmla="*/ 1616040 h 1862499"/>
                  <a:gd name="connsiteX11" fmla="*/ 899846 w 2137418"/>
                  <a:gd name="connsiteY11" fmla="*/ 1620802 h 1862499"/>
                  <a:gd name="connsiteX12" fmla="*/ 1018908 w 2137418"/>
                  <a:gd name="connsiteY12" fmla="*/ 1487452 h 1862499"/>
                  <a:gd name="connsiteX13" fmla="*/ 1028433 w 2137418"/>
                  <a:gd name="connsiteY13" fmla="*/ 377790 h 1862499"/>
                  <a:gd name="connsiteX14" fmla="*/ 876033 w 2137418"/>
                  <a:gd name="connsiteY14" fmla="*/ 239677 h 1862499"/>
                  <a:gd name="connsiteX15" fmla="*/ 166421 w 2137418"/>
                  <a:gd name="connsiteY15" fmla="*/ 244440 h 1862499"/>
                  <a:gd name="connsiteX16" fmla="*/ 161658 w 2137418"/>
                  <a:gd name="connsiteY16" fmla="*/ 25365 h 1862499"/>
                  <a:gd name="connsiteX0" fmla="*/ 161658 w 2137418"/>
                  <a:gd name="connsiteY0" fmla="*/ 13844 h 1850978"/>
                  <a:gd name="connsiteX1" fmla="*/ 1961883 w 2137418"/>
                  <a:gd name="connsiteY1" fmla="*/ 18606 h 1850978"/>
                  <a:gd name="connsiteX2" fmla="*/ 1961883 w 2137418"/>
                  <a:gd name="connsiteY2" fmla="*/ 242444 h 1850978"/>
                  <a:gd name="connsiteX3" fmla="*/ 1257033 w 2137418"/>
                  <a:gd name="connsiteY3" fmla="*/ 237681 h 1850978"/>
                  <a:gd name="connsiteX4" fmla="*/ 1104633 w 2137418"/>
                  <a:gd name="connsiteY4" fmla="*/ 361506 h 1850978"/>
                  <a:gd name="connsiteX5" fmla="*/ 1109396 w 2137418"/>
                  <a:gd name="connsiteY5" fmla="*/ 1471169 h 1850978"/>
                  <a:gd name="connsiteX6" fmla="*/ 1247508 w 2137418"/>
                  <a:gd name="connsiteY6" fmla="*/ 1604519 h 1850978"/>
                  <a:gd name="connsiteX7" fmla="*/ 1966646 w 2137418"/>
                  <a:gd name="connsiteY7" fmla="*/ 1604519 h 1850978"/>
                  <a:gd name="connsiteX8" fmla="*/ 1976171 w 2137418"/>
                  <a:gd name="connsiteY8" fmla="*/ 1823594 h 1850978"/>
                  <a:gd name="connsiteX9" fmla="*/ 166421 w 2137418"/>
                  <a:gd name="connsiteY9" fmla="*/ 1823594 h 1850978"/>
                  <a:gd name="connsiteX10" fmla="*/ 171183 w 2137418"/>
                  <a:gd name="connsiteY10" fmla="*/ 1604519 h 1850978"/>
                  <a:gd name="connsiteX11" fmla="*/ 899846 w 2137418"/>
                  <a:gd name="connsiteY11" fmla="*/ 1609281 h 1850978"/>
                  <a:gd name="connsiteX12" fmla="*/ 1018908 w 2137418"/>
                  <a:gd name="connsiteY12" fmla="*/ 1475931 h 1850978"/>
                  <a:gd name="connsiteX13" fmla="*/ 1028433 w 2137418"/>
                  <a:gd name="connsiteY13" fmla="*/ 366269 h 1850978"/>
                  <a:gd name="connsiteX14" fmla="*/ 876033 w 2137418"/>
                  <a:gd name="connsiteY14" fmla="*/ 228156 h 1850978"/>
                  <a:gd name="connsiteX15" fmla="*/ 166421 w 2137418"/>
                  <a:gd name="connsiteY15" fmla="*/ 232919 h 1850978"/>
                  <a:gd name="connsiteX16" fmla="*/ 161658 w 2137418"/>
                  <a:gd name="connsiteY16" fmla="*/ 13844 h 1850978"/>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37048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56691 w 2137076"/>
                  <a:gd name="connsiteY3" fmla="*/ 241811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9054 w 2137076"/>
                  <a:gd name="connsiteY5" fmla="*/ 1470536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4291 w 2137076"/>
                  <a:gd name="connsiteY5" fmla="*/ 1453867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4291 w 2137076"/>
                  <a:gd name="connsiteY5" fmla="*/ 1453867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7076"/>
                  <a:gd name="connsiteY0" fmla="*/ 13211 h 1850345"/>
                  <a:gd name="connsiteX1" fmla="*/ 1956779 w 2137076"/>
                  <a:gd name="connsiteY1" fmla="*/ 20354 h 1850345"/>
                  <a:gd name="connsiteX2" fmla="*/ 1961541 w 2137076"/>
                  <a:gd name="connsiteY2" fmla="*/ 241811 h 1850345"/>
                  <a:gd name="connsiteX3" fmla="*/ 1268598 w 2137076"/>
                  <a:gd name="connsiteY3" fmla="*/ 234667 h 1850345"/>
                  <a:gd name="connsiteX4" fmla="*/ 1104291 w 2137076"/>
                  <a:gd name="connsiteY4" fmla="*/ 360873 h 1850345"/>
                  <a:gd name="connsiteX5" fmla="*/ 1104291 w 2137076"/>
                  <a:gd name="connsiteY5" fmla="*/ 1453867 h 1850345"/>
                  <a:gd name="connsiteX6" fmla="*/ 1247166 w 2137076"/>
                  <a:gd name="connsiteY6" fmla="*/ 1603886 h 1850345"/>
                  <a:gd name="connsiteX7" fmla="*/ 1966304 w 2137076"/>
                  <a:gd name="connsiteY7" fmla="*/ 1603886 h 1850345"/>
                  <a:gd name="connsiteX8" fmla="*/ 1975829 w 2137076"/>
                  <a:gd name="connsiteY8" fmla="*/ 1822961 h 1850345"/>
                  <a:gd name="connsiteX9" fmla="*/ 166079 w 2137076"/>
                  <a:gd name="connsiteY9" fmla="*/ 1822961 h 1850345"/>
                  <a:gd name="connsiteX10" fmla="*/ 170841 w 2137076"/>
                  <a:gd name="connsiteY10" fmla="*/ 1603886 h 1850345"/>
                  <a:gd name="connsiteX11" fmla="*/ 899504 w 2137076"/>
                  <a:gd name="connsiteY11" fmla="*/ 1608648 h 1850345"/>
                  <a:gd name="connsiteX12" fmla="*/ 1018566 w 2137076"/>
                  <a:gd name="connsiteY12" fmla="*/ 1475298 h 1850345"/>
                  <a:gd name="connsiteX13" fmla="*/ 1028091 w 2137076"/>
                  <a:gd name="connsiteY13" fmla="*/ 365636 h 1850345"/>
                  <a:gd name="connsiteX14" fmla="*/ 875691 w 2137076"/>
                  <a:gd name="connsiteY14" fmla="*/ 227523 h 1850345"/>
                  <a:gd name="connsiteX15" fmla="*/ 166079 w 2137076"/>
                  <a:gd name="connsiteY15" fmla="*/ 232286 h 1850345"/>
                  <a:gd name="connsiteX16" fmla="*/ 161316 w 2137076"/>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36512"/>
                  <a:gd name="connsiteY0" fmla="*/ 13211 h 1850345"/>
                  <a:gd name="connsiteX1" fmla="*/ 1956779 w 2136512"/>
                  <a:gd name="connsiteY1" fmla="*/ 20354 h 1850345"/>
                  <a:gd name="connsiteX2" fmla="*/ 1961541 w 2136512"/>
                  <a:gd name="connsiteY2" fmla="*/ 241811 h 1850345"/>
                  <a:gd name="connsiteX3" fmla="*/ 1268598 w 2136512"/>
                  <a:gd name="connsiteY3" fmla="*/ 234667 h 1850345"/>
                  <a:gd name="connsiteX4" fmla="*/ 1104291 w 2136512"/>
                  <a:gd name="connsiteY4" fmla="*/ 360873 h 1850345"/>
                  <a:gd name="connsiteX5" fmla="*/ 1104291 w 2136512"/>
                  <a:gd name="connsiteY5" fmla="*/ 1453867 h 1850345"/>
                  <a:gd name="connsiteX6" fmla="*/ 1259072 w 2136512"/>
                  <a:gd name="connsiteY6" fmla="*/ 1603886 h 1850345"/>
                  <a:gd name="connsiteX7" fmla="*/ 1966304 w 2136512"/>
                  <a:gd name="connsiteY7" fmla="*/ 1603886 h 1850345"/>
                  <a:gd name="connsiteX8" fmla="*/ 1975829 w 2136512"/>
                  <a:gd name="connsiteY8" fmla="*/ 1822961 h 1850345"/>
                  <a:gd name="connsiteX9" fmla="*/ 166079 w 2136512"/>
                  <a:gd name="connsiteY9" fmla="*/ 1822961 h 1850345"/>
                  <a:gd name="connsiteX10" fmla="*/ 170841 w 2136512"/>
                  <a:gd name="connsiteY10" fmla="*/ 1603886 h 1850345"/>
                  <a:gd name="connsiteX11" fmla="*/ 899504 w 2136512"/>
                  <a:gd name="connsiteY11" fmla="*/ 1608648 h 1850345"/>
                  <a:gd name="connsiteX12" fmla="*/ 1018566 w 2136512"/>
                  <a:gd name="connsiteY12" fmla="*/ 1475298 h 1850345"/>
                  <a:gd name="connsiteX13" fmla="*/ 1028091 w 2136512"/>
                  <a:gd name="connsiteY13" fmla="*/ 365636 h 1850345"/>
                  <a:gd name="connsiteX14" fmla="*/ 875691 w 2136512"/>
                  <a:gd name="connsiteY14" fmla="*/ 227523 h 1850345"/>
                  <a:gd name="connsiteX15" fmla="*/ 166079 w 2136512"/>
                  <a:gd name="connsiteY15" fmla="*/ 232286 h 1850345"/>
                  <a:gd name="connsiteX16" fmla="*/ 161316 w 2136512"/>
                  <a:gd name="connsiteY16" fmla="*/ 13211 h 1850345"/>
                  <a:gd name="connsiteX0" fmla="*/ 161316 w 2105819"/>
                  <a:gd name="connsiteY0" fmla="*/ 13211 h 1850345"/>
                  <a:gd name="connsiteX1" fmla="*/ 1956779 w 2105819"/>
                  <a:gd name="connsiteY1" fmla="*/ 20354 h 1850345"/>
                  <a:gd name="connsiteX2" fmla="*/ 1961541 w 2105819"/>
                  <a:gd name="connsiteY2" fmla="*/ 241811 h 1850345"/>
                  <a:gd name="connsiteX3" fmla="*/ 1268598 w 2105819"/>
                  <a:gd name="connsiteY3" fmla="*/ 234667 h 1850345"/>
                  <a:gd name="connsiteX4" fmla="*/ 1104291 w 2105819"/>
                  <a:gd name="connsiteY4" fmla="*/ 360873 h 1850345"/>
                  <a:gd name="connsiteX5" fmla="*/ 1104291 w 2105819"/>
                  <a:gd name="connsiteY5" fmla="*/ 1453867 h 1850345"/>
                  <a:gd name="connsiteX6" fmla="*/ 1259072 w 2105819"/>
                  <a:gd name="connsiteY6" fmla="*/ 1603886 h 1850345"/>
                  <a:gd name="connsiteX7" fmla="*/ 1966304 w 2105819"/>
                  <a:gd name="connsiteY7" fmla="*/ 1603886 h 1850345"/>
                  <a:gd name="connsiteX8" fmla="*/ 1975829 w 2105819"/>
                  <a:gd name="connsiteY8" fmla="*/ 1822961 h 1850345"/>
                  <a:gd name="connsiteX9" fmla="*/ 166079 w 2105819"/>
                  <a:gd name="connsiteY9" fmla="*/ 1822961 h 1850345"/>
                  <a:gd name="connsiteX10" fmla="*/ 170841 w 2105819"/>
                  <a:gd name="connsiteY10" fmla="*/ 1603886 h 1850345"/>
                  <a:gd name="connsiteX11" fmla="*/ 899504 w 2105819"/>
                  <a:gd name="connsiteY11" fmla="*/ 1608648 h 1850345"/>
                  <a:gd name="connsiteX12" fmla="*/ 1018566 w 2105819"/>
                  <a:gd name="connsiteY12" fmla="*/ 1475298 h 1850345"/>
                  <a:gd name="connsiteX13" fmla="*/ 1028091 w 2105819"/>
                  <a:gd name="connsiteY13" fmla="*/ 365636 h 1850345"/>
                  <a:gd name="connsiteX14" fmla="*/ 875691 w 2105819"/>
                  <a:gd name="connsiteY14" fmla="*/ 227523 h 1850345"/>
                  <a:gd name="connsiteX15" fmla="*/ 166079 w 2105819"/>
                  <a:gd name="connsiteY15" fmla="*/ 232286 h 1850345"/>
                  <a:gd name="connsiteX16" fmla="*/ 161316 w 2105819"/>
                  <a:gd name="connsiteY16" fmla="*/ 13211 h 1850345"/>
                  <a:gd name="connsiteX0" fmla="*/ 161316 w 2105819"/>
                  <a:gd name="connsiteY0" fmla="*/ 13211 h 1850345"/>
                  <a:gd name="connsiteX1" fmla="*/ 1956779 w 2105819"/>
                  <a:gd name="connsiteY1" fmla="*/ 20354 h 1850345"/>
                  <a:gd name="connsiteX2" fmla="*/ 1961541 w 2105819"/>
                  <a:gd name="connsiteY2" fmla="*/ 241811 h 1850345"/>
                  <a:gd name="connsiteX3" fmla="*/ 1268598 w 2105819"/>
                  <a:gd name="connsiteY3" fmla="*/ 234667 h 1850345"/>
                  <a:gd name="connsiteX4" fmla="*/ 1104291 w 2105819"/>
                  <a:gd name="connsiteY4" fmla="*/ 360873 h 1850345"/>
                  <a:gd name="connsiteX5" fmla="*/ 1104291 w 2105819"/>
                  <a:gd name="connsiteY5" fmla="*/ 1453867 h 1850345"/>
                  <a:gd name="connsiteX6" fmla="*/ 1259072 w 2105819"/>
                  <a:gd name="connsiteY6" fmla="*/ 1603886 h 1850345"/>
                  <a:gd name="connsiteX7" fmla="*/ 1966304 w 2105819"/>
                  <a:gd name="connsiteY7" fmla="*/ 1603886 h 1850345"/>
                  <a:gd name="connsiteX8" fmla="*/ 1975829 w 2105819"/>
                  <a:gd name="connsiteY8" fmla="*/ 1822961 h 1850345"/>
                  <a:gd name="connsiteX9" fmla="*/ 166079 w 2105819"/>
                  <a:gd name="connsiteY9" fmla="*/ 1822961 h 1850345"/>
                  <a:gd name="connsiteX10" fmla="*/ 170841 w 2105819"/>
                  <a:gd name="connsiteY10" fmla="*/ 1603886 h 1850345"/>
                  <a:gd name="connsiteX11" fmla="*/ 899504 w 2105819"/>
                  <a:gd name="connsiteY11" fmla="*/ 1608648 h 1850345"/>
                  <a:gd name="connsiteX12" fmla="*/ 1018566 w 2105819"/>
                  <a:gd name="connsiteY12" fmla="*/ 1475298 h 1850345"/>
                  <a:gd name="connsiteX13" fmla="*/ 1028091 w 2105819"/>
                  <a:gd name="connsiteY13" fmla="*/ 365636 h 1850345"/>
                  <a:gd name="connsiteX14" fmla="*/ 875691 w 2105819"/>
                  <a:gd name="connsiteY14" fmla="*/ 227523 h 1850345"/>
                  <a:gd name="connsiteX15" fmla="*/ 166079 w 2105819"/>
                  <a:gd name="connsiteY15" fmla="*/ 232286 h 1850345"/>
                  <a:gd name="connsiteX16" fmla="*/ 161316 w 2105819"/>
                  <a:gd name="connsiteY16" fmla="*/ 13211 h 1850345"/>
                  <a:gd name="connsiteX0" fmla="*/ 161316 w 2102802"/>
                  <a:gd name="connsiteY0" fmla="*/ 13211 h 1850345"/>
                  <a:gd name="connsiteX1" fmla="*/ 1956779 w 2102802"/>
                  <a:gd name="connsiteY1" fmla="*/ 20354 h 1850345"/>
                  <a:gd name="connsiteX2" fmla="*/ 1961541 w 2102802"/>
                  <a:gd name="connsiteY2" fmla="*/ 241811 h 1850345"/>
                  <a:gd name="connsiteX3" fmla="*/ 1268598 w 2102802"/>
                  <a:gd name="connsiteY3" fmla="*/ 234667 h 1850345"/>
                  <a:gd name="connsiteX4" fmla="*/ 1104291 w 2102802"/>
                  <a:gd name="connsiteY4" fmla="*/ 360873 h 1850345"/>
                  <a:gd name="connsiteX5" fmla="*/ 1104291 w 2102802"/>
                  <a:gd name="connsiteY5" fmla="*/ 1453867 h 1850345"/>
                  <a:gd name="connsiteX6" fmla="*/ 1259072 w 2102802"/>
                  <a:gd name="connsiteY6" fmla="*/ 1603886 h 1850345"/>
                  <a:gd name="connsiteX7" fmla="*/ 1956779 w 2102802"/>
                  <a:gd name="connsiteY7" fmla="*/ 1603886 h 1850345"/>
                  <a:gd name="connsiteX8" fmla="*/ 1975829 w 2102802"/>
                  <a:gd name="connsiteY8" fmla="*/ 1822961 h 1850345"/>
                  <a:gd name="connsiteX9" fmla="*/ 166079 w 2102802"/>
                  <a:gd name="connsiteY9" fmla="*/ 1822961 h 1850345"/>
                  <a:gd name="connsiteX10" fmla="*/ 170841 w 2102802"/>
                  <a:gd name="connsiteY10" fmla="*/ 1603886 h 1850345"/>
                  <a:gd name="connsiteX11" fmla="*/ 899504 w 2102802"/>
                  <a:gd name="connsiteY11" fmla="*/ 1608648 h 1850345"/>
                  <a:gd name="connsiteX12" fmla="*/ 1018566 w 2102802"/>
                  <a:gd name="connsiteY12" fmla="*/ 1475298 h 1850345"/>
                  <a:gd name="connsiteX13" fmla="*/ 1028091 w 2102802"/>
                  <a:gd name="connsiteY13" fmla="*/ 365636 h 1850345"/>
                  <a:gd name="connsiteX14" fmla="*/ 875691 w 2102802"/>
                  <a:gd name="connsiteY14" fmla="*/ 227523 h 1850345"/>
                  <a:gd name="connsiteX15" fmla="*/ 166079 w 2102802"/>
                  <a:gd name="connsiteY15" fmla="*/ 232286 h 1850345"/>
                  <a:gd name="connsiteX16" fmla="*/ 161316 w 2102802"/>
                  <a:gd name="connsiteY16" fmla="*/ 13211 h 1850345"/>
                  <a:gd name="connsiteX0" fmla="*/ 161316 w 2102802"/>
                  <a:gd name="connsiteY0" fmla="*/ 13211 h 1850345"/>
                  <a:gd name="connsiteX1" fmla="*/ 1956779 w 2102802"/>
                  <a:gd name="connsiteY1" fmla="*/ 20354 h 1850345"/>
                  <a:gd name="connsiteX2" fmla="*/ 1961541 w 2102802"/>
                  <a:gd name="connsiteY2" fmla="*/ 241811 h 1850345"/>
                  <a:gd name="connsiteX3" fmla="*/ 1268598 w 2102802"/>
                  <a:gd name="connsiteY3" fmla="*/ 234667 h 1850345"/>
                  <a:gd name="connsiteX4" fmla="*/ 1104291 w 2102802"/>
                  <a:gd name="connsiteY4" fmla="*/ 360873 h 1850345"/>
                  <a:gd name="connsiteX5" fmla="*/ 1104291 w 2102802"/>
                  <a:gd name="connsiteY5" fmla="*/ 1453867 h 1850345"/>
                  <a:gd name="connsiteX6" fmla="*/ 1259072 w 2102802"/>
                  <a:gd name="connsiteY6" fmla="*/ 1603886 h 1850345"/>
                  <a:gd name="connsiteX7" fmla="*/ 1956779 w 2102802"/>
                  <a:gd name="connsiteY7" fmla="*/ 1603886 h 1850345"/>
                  <a:gd name="connsiteX8" fmla="*/ 1975829 w 2102802"/>
                  <a:gd name="connsiteY8" fmla="*/ 1822961 h 1850345"/>
                  <a:gd name="connsiteX9" fmla="*/ 166079 w 2102802"/>
                  <a:gd name="connsiteY9" fmla="*/ 1822961 h 1850345"/>
                  <a:gd name="connsiteX10" fmla="*/ 170841 w 2102802"/>
                  <a:gd name="connsiteY10" fmla="*/ 1603886 h 1850345"/>
                  <a:gd name="connsiteX11" fmla="*/ 899504 w 2102802"/>
                  <a:gd name="connsiteY11" fmla="*/ 1608648 h 1850345"/>
                  <a:gd name="connsiteX12" fmla="*/ 1018566 w 2102802"/>
                  <a:gd name="connsiteY12" fmla="*/ 1475298 h 1850345"/>
                  <a:gd name="connsiteX13" fmla="*/ 1028091 w 2102802"/>
                  <a:gd name="connsiteY13" fmla="*/ 365636 h 1850345"/>
                  <a:gd name="connsiteX14" fmla="*/ 875691 w 2102802"/>
                  <a:gd name="connsiteY14" fmla="*/ 227523 h 1850345"/>
                  <a:gd name="connsiteX15" fmla="*/ 166079 w 2102802"/>
                  <a:gd name="connsiteY15" fmla="*/ 232286 h 1850345"/>
                  <a:gd name="connsiteX16" fmla="*/ 161316 w 2102802"/>
                  <a:gd name="connsiteY16" fmla="*/ 13211 h 1850345"/>
                  <a:gd name="connsiteX0" fmla="*/ 161316 w 2084927"/>
                  <a:gd name="connsiteY0" fmla="*/ 13211 h 1849030"/>
                  <a:gd name="connsiteX1" fmla="*/ 1956779 w 2084927"/>
                  <a:gd name="connsiteY1" fmla="*/ 20354 h 1849030"/>
                  <a:gd name="connsiteX2" fmla="*/ 1961541 w 2084927"/>
                  <a:gd name="connsiteY2" fmla="*/ 241811 h 1849030"/>
                  <a:gd name="connsiteX3" fmla="*/ 1268598 w 2084927"/>
                  <a:gd name="connsiteY3" fmla="*/ 234667 h 1849030"/>
                  <a:gd name="connsiteX4" fmla="*/ 1104291 w 2084927"/>
                  <a:gd name="connsiteY4" fmla="*/ 360873 h 1849030"/>
                  <a:gd name="connsiteX5" fmla="*/ 1104291 w 2084927"/>
                  <a:gd name="connsiteY5" fmla="*/ 1453867 h 1849030"/>
                  <a:gd name="connsiteX6" fmla="*/ 1259072 w 2084927"/>
                  <a:gd name="connsiteY6" fmla="*/ 1603886 h 1849030"/>
                  <a:gd name="connsiteX7" fmla="*/ 1956779 w 2084927"/>
                  <a:gd name="connsiteY7" fmla="*/ 1603886 h 1849030"/>
                  <a:gd name="connsiteX8" fmla="*/ 1952017 w 2084927"/>
                  <a:gd name="connsiteY8" fmla="*/ 1820580 h 1849030"/>
                  <a:gd name="connsiteX9" fmla="*/ 166079 w 2084927"/>
                  <a:gd name="connsiteY9" fmla="*/ 1822961 h 1849030"/>
                  <a:gd name="connsiteX10" fmla="*/ 170841 w 2084927"/>
                  <a:gd name="connsiteY10" fmla="*/ 1603886 h 1849030"/>
                  <a:gd name="connsiteX11" fmla="*/ 899504 w 2084927"/>
                  <a:gd name="connsiteY11" fmla="*/ 1608648 h 1849030"/>
                  <a:gd name="connsiteX12" fmla="*/ 1018566 w 2084927"/>
                  <a:gd name="connsiteY12" fmla="*/ 1475298 h 1849030"/>
                  <a:gd name="connsiteX13" fmla="*/ 1028091 w 2084927"/>
                  <a:gd name="connsiteY13" fmla="*/ 365636 h 1849030"/>
                  <a:gd name="connsiteX14" fmla="*/ 875691 w 2084927"/>
                  <a:gd name="connsiteY14" fmla="*/ 227523 h 1849030"/>
                  <a:gd name="connsiteX15" fmla="*/ 166079 w 2084927"/>
                  <a:gd name="connsiteY15" fmla="*/ 232286 h 1849030"/>
                  <a:gd name="connsiteX16" fmla="*/ 161316 w 2084927"/>
                  <a:gd name="connsiteY16" fmla="*/ 13211 h 1849030"/>
                  <a:gd name="connsiteX0" fmla="*/ 161316 w 2092013"/>
                  <a:gd name="connsiteY0" fmla="*/ 13211 h 1849030"/>
                  <a:gd name="connsiteX1" fmla="*/ 1956779 w 2092013"/>
                  <a:gd name="connsiteY1" fmla="*/ 20354 h 1849030"/>
                  <a:gd name="connsiteX2" fmla="*/ 1961541 w 2092013"/>
                  <a:gd name="connsiteY2" fmla="*/ 241811 h 1849030"/>
                  <a:gd name="connsiteX3" fmla="*/ 1268598 w 2092013"/>
                  <a:gd name="connsiteY3" fmla="*/ 234667 h 1849030"/>
                  <a:gd name="connsiteX4" fmla="*/ 1104291 w 2092013"/>
                  <a:gd name="connsiteY4" fmla="*/ 360873 h 1849030"/>
                  <a:gd name="connsiteX5" fmla="*/ 1104291 w 2092013"/>
                  <a:gd name="connsiteY5" fmla="*/ 1453867 h 1849030"/>
                  <a:gd name="connsiteX6" fmla="*/ 1259072 w 2092013"/>
                  <a:gd name="connsiteY6" fmla="*/ 1603886 h 1849030"/>
                  <a:gd name="connsiteX7" fmla="*/ 1956779 w 2092013"/>
                  <a:gd name="connsiteY7" fmla="*/ 1603886 h 1849030"/>
                  <a:gd name="connsiteX8" fmla="*/ 1961542 w 2092013"/>
                  <a:gd name="connsiteY8" fmla="*/ 1820580 h 1849030"/>
                  <a:gd name="connsiteX9" fmla="*/ 166079 w 2092013"/>
                  <a:gd name="connsiteY9" fmla="*/ 1822961 h 1849030"/>
                  <a:gd name="connsiteX10" fmla="*/ 170841 w 2092013"/>
                  <a:gd name="connsiteY10" fmla="*/ 1603886 h 1849030"/>
                  <a:gd name="connsiteX11" fmla="*/ 899504 w 2092013"/>
                  <a:gd name="connsiteY11" fmla="*/ 1608648 h 1849030"/>
                  <a:gd name="connsiteX12" fmla="*/ 1018566 w 2092013"/>
                  <a:gd name="connsiteY12" fmla="*/ 1475298 h 1849030"/>
                  <a:gd name="connsiteX13" fmla="*/ 1028091 w 2092013"/>
                  <a:gd name="connsiteY13" fmla="*/ 365636 h 1849030"/>
                  <a:gd name="connsiteX14" fmla="*/ 875691 w 2092013"/>
                  <a:gd name="connsiteY14" fmla="*/ 227523 h 1849030"/>
                  <a:gd name="connsiteX15" fmla="*/ 166079 w 2092013"/>
                  <a:gd name="connsiteY15" fmla="*/ 232286 h 1849030"/>
                  <a:gd name="connsiteX16" fmla="*/ 161316 w 2092013"/>
                  <a:gd name="connsiteY16" fmla="*/ 13211 h 1849030"/>
                  <a:gd name="connsiteX0" fmla="*/ 161316 w 2092013"/>
                  <a:gd name="connsiteY0" fmla="*/ 13211 h 1849030"/>
                  <a:gd name="connsiteX1" fmla="*/ 1956779 w 2092013"/>
                  <a:gd name="connsiteY1" fmla="*/ 20354 h 1849030"/>
                  <a:gd name="connsiteX2" fmla="*/ 1961541 w 2092013"/>
                  <a:gd name="connsiteY2" fmla="*/ 241811 h 1849030"/>
                  <a:gd name="connsiteX3" fmla="*/ 1268598 w 2092013"/>
                  <a:gd name="connsiteY3" fmla="*/ 234667 h 1849030"/>
                  <a:gd name="connsiteX4" fmla="*/ 1104291 w 2092013"/>
                  <a:gd name="connsiteY4" fmla="*/ 360873 h 1849030"/>
                  <a:gd name="connsiteX5" fmla="*/ 1104291 w 2092013"/>
                  <a:gd name="connsiteY5" fmla="*/ 1453867 h 1849030"/>
                  <a:gd name="connsiteX6" fmla="*/ 1259072 w 2092013"/>
                  <a:gd name="connsiteY6" fmla="*/ 1603886 h 1849030"/>
                  <a:gd name="connsiteX7" fmla="*/ 1956779 w 2092013"/>
                  <a:gd name="connsiteY7" fmla="*/ 1603886 h 1849030"/>
                  <a:gd name="connsiteX8" fmla="*/ 1961542 w 2092013"/>
                  <a:gd name="connsiteY8" fmla="*/ 1820580 h 1849030"/>
                  <a:gd name="connsiteX9" fmla="*/ 166079 w 2092013"/>
                  <a:gd name="connsiteY9" fmla="*/ 1822961 h 1849030"/>
                  <a:gd name="connsiteX10" fmla="*/ 170841 w 2092013"/>
                  <a:gd name="connsiteY10" fmla="*/ 1603886 h 1849030"/>
                  <a:gd name="connsiteX11" fmla="*/ 899504 w 2092013"/>
                  <a:gd name="connsiteY11" fmla="*/ 1608648 h 1849030"/>
                  <a:gd name="connsiteX12" fmla="*/ 1018566 w 2092013"/>
                  <a:gd name="connsiteY12" fmla="*/ 1475298 h 1849030"/>
                  <a:gd name="connsiteX13" fmla="*/ 1028091 w 2092013"/>
                  <a:gd name="connsiteY13" fmla="*/ 365636 h 1849030"/>
                  <a:gd name="connsiteX14" fmla="*/ 875691 w 2092013"/>
                  <a:gd name="connsiteY14" fmla="*/ 227523 h 1849030"/>
                  <a:gd name="connsiteX15" fmla="*/ 166079 w 2092013"/>
                  <a:gd name="connsiteY15" fmla="*/ 232286 h 1849030"/>
                  <a:gd name="connsiteX16" fmla="*/ 161316 w 2092013"/>
                  <a:gd name="connsiteY16" fmla="*/ 13211 h 1849030"/>
                  <a:gd name="connsiteX0" fmla="*/ 161316 w 1961587"/>
                  <a:gd name="connsiteY0" fmla="*/ 13211 h 1849030"/>
                  <a:gd name="connsiteX1" fmla="*/ 1956779 w 1961587"/>
                  <a:gd name="connsiteY1" fmla="*/ 20354 h 1849030"/>
                  <a:gd name="connsiteX2" fmla="*/ 1961541 w 1961587"/>
                  <a:gd name="connsiteY2" fmla="*/ 241811 h 1849030"/>
                  <a:gd name="connsiteX3" fmla="*/ 1268598 w 1961587"/>
                  <a:gd name="connsiteY3" fmla="*/ 234667 h 1849030"/>
                  <a:gd name="connsiteX4" fmla="*/ 1104291 w 1961587"/>
                  <a:gd name="connsiteY4" fmla="*/ 360873 h 1849030"/>
                  <a:gd name="connsiteX5" fmla="*/ 1104291 w 1961587"/>
                  <a:gd name="connsiteY5" fmla="*/ 1453867 h 1849030"/>
                  <a:gd name="connsiteX6" fmla="*/ 1259072 w 1961587"/>
                  <a:gd name="connsiteY6" fmla="*/ 1603886 h 1849030"/>
                  <a:gd name="connsiteX7" fmla="*/ 1956779 w 1961587"/>
                  <a:gd name="connsiteY7" fmla="*/ 1603886 h 1849030"/>
                  <a:gd name="connsiteX8" fmla="*/ 1961542 w 1961587"/>
                  <a:gd name="connsiteY8" fmla="*/ 1820580 h 1849030"/>
                  <a:gd name="connsiteX9" fmla="*/ 166079 w 1961587"/>
                  <a:gd name="connsiteY9" fmla="*/ 1822961 h 1849030"/>
                  <a:gd name="connsiteX10" fmla="*/ 170841 w 1961587"/>
                  <a:gd name="connsiteY10" fmla="*/ 1603886 h 1849030"/>
                  <a:gd name="connsiteX11" fmla="*/ 899504 w 1961587"/>
                  <a:gd name="connsiteY11" fmla="*/ 1608648 h 1849030"/>
                  <a:gd name="connsiteX12" fmla="*/ 1018566 w 1961587"/>
                  <a:gd name="connsiteY12" fmla="*/ 1475298 h 1849030"/>
                  <a:gd name="connsiteX13" fmla="*/ 1028091 w 1961587"/>
                  <a:gd name="connsiteY13" fmla="*/ 365636 h 1849030"/>
                  <a:gd name="connsiteX14" fmla="*/ 875691 w 1961587"/>
                  <a:gd name="connsiteY14" fmla="*/ 227523 h 1849030"/>
                  <a:gd name="connsiteX15" fmla="*/ 166079 w 1961587"/>
                  <a:gd name="connsiteY15" fmla="*/ 232286 h 1849030"/>
                  <a:gd name="connsiteX16" fmla="*/ 161316 w 1961587"/>
                  <a:gd name="connsiteY16" fmla="*/ 13211 h 1849030"/>
                  <a:gd name="connsiteX0" fmla="*/ 161316 w 1961587"/>
                  <a:gd name="connsiteY0" fmla="*/ 13211 h 1838092"/>
                  <a:gd name="connsiteX1" fmla="*/ 1956779 w 1961587"/>
                  <a:gd name="connsiteY1" fmla="*/ 20354 h 1838092"/>
                  <a:gd name="connsiteX2" fmla="*/ 1961541 w 1961587"/>
                  <a:gd name="connsiteY2" fmla="*/ 241811 h 1838092"/>
                  <a:gd name="connsiteX3" fmla="*/ 1268598 w 1961587"/>
                  <a:gd name="connsiteY3" fmla="*/ 234667 h 1838092"/>
                  <a:gd name="connsiteX4" fmla="*/ 1104291 w 1961587"/>
                  <a:gd name="connsiteY4" fmla="*/ 360873 h 1838092"/>
                  <a:gd name="connsiteX5" fmla="*/ 1104291 w 1961587"/>
                  <a:gd name="connsiteY5" fmla="*/ 1453867 h 1838092"/>
                  <a:gd name="connsiteX6" fmla="*/ 1259072 w 1961587"/>
                  <a:gd name="connsiteY6" fmla="*/ 1603886 h 1838092"/>
                  <a:gd name="connsiteX7" fmla="*/ 1956779 w 1961587"/>
                  <a:gd name="connsiteY7" fmla="*/ 1603886 h 1838092"/>
                  <a:gd name="connsiteX8" fmla="*/ 1961542 w 1961587"/>
                  <a:gd name="connsiteY8" fmla="*/ 1820580 h 1838092"/>
                  <a:gd name="connsiteX9" fmla="*/ 166079 w 1961587"/>
                  <a:gd name="connsiteY9" fmla="*/ 1822961 h 1838092"/>
                  <a:gd name="connsiteX10" fmla="*/ 170841 w 1961587"/>
                  <a:gd name="connsiteY10" fmla="*/ 1603886 h 1838092"/>
                  <a:gd name="connsiteX11" fmla="*/ 899504 w 1961587"/>
                  <a:gd name="connsiteY11" fmla="*/ 1608648 h 1838092"/>
                  <a:gd name="connsiteX12" fmla="*/ 1018566 w 1961587"/>
                  <a:gd name="connsiteY12" fmla="*/ 1475298 h 1838092"/>
                  <a:gd name="connsiteX13" fmla="*/ 1028091 w 1961587"/>
                  <a:gd name="connsiteY13" fmla="*/ 365636 h 1838092"/>
                  <a:gd name="connsiteX14" fmla="*/ 875691 w 1961587"/>
                  <a:gd name="connsiteY14" fmla="*/ 227523 h 1838092"/>
                  <a:gd name="connsiteX15" fmla="*/ 166079 w 1961587"/>
                  <a:gd name="connsiteY15" fmla="*/ 232286 h 1838092"/>
                  <a:gd name="connsiteX16" fmla="*/ 161316 w 1961587"/>
                  <a:gd name="connsiteY16" fmla="*/ 13211 h 1838092"/>
                  <a:gd name="connsiteX0" fmla="*/ 161316 w 1961587"/>
                  <a:gd name="connsiteY0" fmla="*/ 13211 h 1838092"/>
                  <a:gd name="connsiteX1" fmla="*/ 1956779 w 1961587"/>
                  <a:gd name="connsiteY1" fmla="*/ 20354 h 1838092"/>
                  <a:gd name="connsiteX2" fmla="*/ 1961541 w 1961587"/>
                  <a:gd name="connsiteY2" fmla="*/ 241811 h 1838092"/>
                  <a:gd name="connsiteX3" fmla="*/ 1268598 w 1961587"/>
                  <a:gd name="connsiteY3" fmla="*/ 234667 h 1838092"/>
                  <a:gd name="connsiteX4" fmla="*/ 1104291 w 1961587"/>
                  <a:gd name="connsiteY4" fmla="*/ 360873 h 1838092"/>
                  <a:gd name="connsiteX5" fmla="*/ 1104291 w 1961587"/>
                  <a:gd name="connsiteY5" fmla="*/ 1453867 h 1838092"/>
                  <a:gd name="connsiteX6" fmla="*/ 1259072 w 1961587"/>
                  <a:gd name="connsiteY6" fmla="*/ 1603886 h 1838092"/>
                  <a:gd name="connsiteX7" fmla="*/ 1956779 w 1961587"/>
                  <a:gd name="connsiteY7" fmla="*/ 1603886 h 1838092"/>
                  <a:gd name="connsiteX8" fmla="*/ 1961542 w 1961587"/>
                  <a:gd name="connsiteY8" fmla="*/ 1820580 h 1838092"/>
                  <a:gd name="connsiteX9" fmla="*/ 166079 w 1961587"/>
                  <a:gd name="connsiteY9" fmla="*/ 1822961 h 1838092"/>
                  <a:gd name="connsiteX10" fmla="*/ 170841 w 1961587"/>
                  <a:gd name="connsiteY10" fmla="*/ 1603886 h 1838092"/>
                  <a:gd name="connsiteX11" fmla="*/ 899504 w 1961587"/>
                  <a:gd name="connsiteY11" fmla="*/ 1608648 h 1838092"/>
                  <a:gd name="connsiteX12" fmla="*/ 1018566 w 1961587"/>
                  <a:gd name="connsiteY12" fmla="*/ 1475298 h 1838092"/>
                  <a:gd name="connsiteX13" fmla="*/ 1028091 w 1961587"/>
                  <a:gd name="connsiteY13" fmla="*/ 365636 h 1838092"/>
                  <a:gd name="connsiteX14" fmla="*/ 875691 w 1961587"/>
                  <a:gd name="connsiteY14" fmla="*/ 227523 h 1838092"/>
                  <a:gd name="connsiteX15" fmla="*/ 166079 w 1961587"/>
                  <a:gd name="connsiteY15" fmla="*/ 232286 h 1838092"/>
                  <a:gd name="connsiteX16" fmla="*/ 161316 w 1961587"/>
                  <a:gd name="connsiteY16" fmla="*/ 13211 h 1838092"/>
                  <a:gd name="connsiteX0" fmla="*/ 161316 w 1961587"/>
                  <a:gd name="connsiteY0" fmla="*/ 13211 h 1822961"/>
                  <a:gd name="connsiteX1" fmla="*/ 1956779 w 1961587"/>
                  <a:gd name="connsiteY1" fmla="*/ 20354 h 1822961"/>
                  <a:gd name="connsiteX2" fmla="*/ 1961541 w 1961587"/>
                  <a:gd name="connsiteY2" fmla="*/ 241811 h 1822961"/>
                  <a:gd name="connsiteX3" fmla="*/ 1268598 w 1961587"/>
                  <a:gd name="connsiteY3" fmla="*/ 234667 h 1822961"/>
                  <a:gd name="connsiteX4" fmla="*/ 1104291 w 1961587"/>
                  <a:gd name="connsiteY4" fmla="*/ 360873 h 1822961"/>
                  <a:gd name="connsiteX5" fmla="*/ 1104291 w 1961587"/>
                  <a:gd name="connsiteY5" fmla="*/ 1453867 h 1822961"/>
                  <a:gd name="connsiteX6" fmla="*/ 1259072 w 1961587"/>
                  <a:gd name="connsiteY6" fmla="*/ 1603886 h 1822961"/>
                  <a:gd name="connsiteX7" fmla="*/ 1956779 w 1961587"/>
                  <a:gd name="connsiteY7" fmla="*/ 1603886 h 1822961"/>
                  <a:gd name="connsiteX8" fmla="*/ 1961542 w 1961587"/>
                  <a:gd name="connsiteY8" fmla="*/ 1820580 h 1822961"/>
                  <a:gd name="connsiteX9" fmla="*/ 166079 w 1961587"/>
                  <a:gd name="connsiteY9" fmla="*/ 1822961 h 1822961"/>
                  <a:gd name="connsiteX10" fmla="*/ 170841 w 1961587"/>
                  <a:gd name="connsiteY10" fmla="*/ 1603886 h 1822961"/>
                  <a:gd name="connsiteX11" fmla="*/ 899504 w 1961587"/>
                  <a:gd name="connsiteY11" fmla="*/ 1608648 h 1822961"/>
                  <a:gd name="connsiteX12" fmla="*/ 1018566 w 1961587"/>
                  <a:gd name="connsiteY12" fmla="*/ 1475298 h 1822961"/>
                  <a:gd name="connsiteX13" fmla="*/ 1028091 w 1961587"/>
                  <a:gd name="connsiteY13" fmla="*/ 365636 h 1822961"/>
                  <a:gd name="connsiteX14" fmla="*/ 875691 w 1961587"/>
                  <a:gd name="connsiteY14" fmla="*/ 227523 h 1822961"/>
                  <a:gd name="connsiteX15" fmla="*/ 166079 w 1961587"/>
                  <a:gd name="connsiteY15" fmla="*/ 232286 h 1822961"/>
                  <a:gd name="connsiteX16" fmla="*/ 161316 w 1961587"/>
                  <a:gd name="connsiteY16" fmla="*/ 13211 h 1822961"/>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99504 w 1961587"/>
                  <a:gd name="connsiteY11" fmla="*/ 1608648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28091 w 1961587"/>
                  <a:gd name="connsiteY13" fmla="*/ 365636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316 w 1961587"/>
                  <a:gd name="connsiteY0" fmla="*/ 13211 h 1820580"/>
                  <a:gd name="connsiteX1" fmla="*/ 1956779 w 1961587"/>
                  <a:gd name="connsiteY1" fmla="*/ 20354 h 1820580"/>
                  <a:gd name="connsiteX2" fmla="*/ 1961541 w 1961587"/>
                  <a:gd name="connsiteY2" fmla="*/ 241811 h 1820580"/>
                  <a:gd name="connsiteX3" fmla="*/ 1268598 w 1961587"/>
                  <a:gd name="connsiteY3" fmla="*/ 234667 h 1820580"/>
                  <a:gd name="connsiteX4" fmla="*/ 1104291 w 1961587"/>
                  <a:gd name="connsiteY4" fmla="*/ 360873 h 1820580"/>
                  <a:gd name="connsiteX5" fmla="*/ 1104291 w 1961587"/>
                  <a:gd name="connsiteY5" fmla="*/ 1453867 h 1820580"/>
                  <a:gd name="connsiteX6" fmla="*/ 1259072 w 1961587"/>
                  <a:gd name="connsiteY6" fmla="*/ 1603886 h 1820580"/>
                  <a:gd name="connsiteX7" fmla="*/ 1956779 w 1961587"/>
                  <a:gd name="connsiteY7" fmla="*/ 1603886 h 1820580"/>
                  <a:gd name="connsiteX8" fmla="*/ 1961542 w 1961587"/>
                  <a:gd name="connsiteY8" fmla="*/ 1820580 h 1820580"/>
                  <a:gd name="connsiteX9" fmla="*/ 168460 w 1961587"/>
                  <a:gd name="connsiteY9" fmla="*/ 1815818 h 1820580"/>
                  <a:gd name="connsiteX10" fmla="*/ 170841 w 1961587"/>
                  <a:gd name="connsiteY10" fmla="*/ 1603886 h 1820580"/>
                  <a:gd name="connsiteX11" fmla="*/ 859023 w 1961587"/>
                  <a:gd name="connsiteY11" fmla="*/ 1603886 h 1820580"/>
                  <a:gd name="connsiteX12" fmla="*/ 1018566 w 1961587"/>
                  <a:gd name="connsiteY12" fmla="*/ 1475298 h 1820580"/>
                  <a:gd name="connsiteX13" fmla="*/ 1018566 w 1961587"/>
                  <a:gd name="connsiteY13" fmla="*/ 363255 h 1820580"/>
                  <a:gd name="connsiteX14" fmla="*/ 875691 w 1961587"/>
                  <a:gd name="connsiteY14" fmla="*/ 227523 h 1820580"/>
                  <a:gd name="connsiteX15" fmla="*/ 166079 w 1961587"/>
                  <a:gd name="connsiteY15" fmla="*/ 232286 h 1820580"/>
                  <a:gd name="connsiteX16" fmla="*/ 161316 w 1961587"/>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61887 w 1962158"/>
                  <a:gd name="connsiteY0" fmla="*/ 13211 h 1820580"/>
                  <a:gd name="connsiteX1" fmla="*/ 1957350 w 1962158"/>
                  <a:gd name="connsiteY1" fmla="*/ 20354 h 1820580"/>
                  <a:gd name="connsiteX2" fmla="*/ 1962112 w 1962158"/>
                  <a:gd name="connsiteY2" fmla="*/ 241811 h 1820580"/>
                  <a:gd name="connsiteX3" fmla="*/ 1269169 w 1962158"/>
                  <a:gd name="connsiteY3" fmla="*/ 234667 h 1820580"/>
                  <a:gd name="connsiteX4" fmla="*/ 1104862 w 1962158"/>
                  <a:gd name="connsiteY4" fmla="*/ 360873 h 1820580"/>
                  <a:gd name="connsiteX5" fmla="*/ 1104862 w 1962158"/>
                  <a:gd name="connsiteY5" fmla="*/ 1453867 h 1820580"/>
                  <a:gd name="connsiteX6" fmla="*/ 1259643 w 1962158"/>
                  <a:gd name="connsiteY6" fmla="*/ 1603886 h 1820580"/>
                  <a:gd name="connsiteX7" fmla="*/ 1957350 w 1962158"/>
                  <a:gd name="connsiteY7" fmla="*/ 1603886 h 1820580"/>
                  <a:gd name="connsiteX8" fmla="*/ 1962113 w 1962158"/>
                  <a:gd name="connsiteY8" fmla="*/ 1820580 h 1820580"/>
                  <a:gd name="connsiteX9" fmla="*/ 169031 w 1962158"/>
                  <a:gd name="connsiteY9" fmla="*/ 1815818 h 1820580"/>
                  <a:gd name="connsiteX10" fmla="*/ 171412 w 1962158"/>
                  <a:gd name="connsiteY10" fmla="*/ 1603886 h 1820580"/>
                  <a:gd name="connsiteX11" fmla="*/ 859594 w 1962158"/>
                  <a:gd name="connsiteY11" fmla="*/ 1603886 h 1820580"/>
                  <a:gd name="connsiteX12" fmla="*/ 1019137 w 1962158"/>
                  <a:gd name="connsiteY12" fmla="*/ 1475298 h 1820580"/>
                  <a:gd name="connsiteX13" fmla="*/ 1019137 w 1962158"/>
                  <a:gd name="connsiteY13" fmla="*/ 363255 h 1820580"/>
                  <a:gd name="connsiteX14" fmla="*/ 883406 w 1962158"/>
                  <a:gd name="connsiteY14" fmla="*/ 234667 h 1820580"/>
                  <a:gd name="connsiteX15" fmla="*/ 166650 w 1962158"/>
                  <a:gd name="connsiteY15" fmla="*/ 232286 h 1820580"/>
                  <a:gd name="connsiteX16" fmla="*/ 161887 w 1962158"/>
                  <a:gd name="connsiteY16" fmla="*/ 13211 h 1820580"/>
                  <a:gd name="connsiteX0" fmla="*/ 131682 w 1931953"/>
                  <a:gd name="connsiteY0" fmla="*/ 13211 h 1820580"/>
                  <a:gd name="connsiteX1" fmla="*/ 1927145 w 1931953"/>
                  <a:gd name="connsiteY1" fmla="*/ 20354 h 1820580"/>
                  <a:gd name="connsiteX2" fmla="*/ 1931907 w 1931953"/>
                  <a:gd name="connsiteY2" fmla="*/ 241811 h 1820580"/>
                  <a:gd name="connsiteX3" fmla="*/ 1238964 w 1931953"/>
                  <a:gd name="connsiteY3" fmla="*/ 234667 h 1820580"/>
                  <a:gd name="connsiteX4" fmla="*/ 1074657 w 1931953"/>
                  <a:gd name="connsiteY4" fmla="*/ 360873 h 1820580"/>
                  <a:gd name="connsiteX5" fmla="*/ 1074657 w 1931953"/>
                  <a:gd name="connsiteY5" fmla="*/ 1453867 h 1820580"/>
                  <a:gd name="connsiteX6" fmla="*/ 1229438 w 1931953"/>
                  <a:gd name="connsiteY6" fmla="*/ 1603886 h 1820580"/>
                  <a:gd name="connsiteX7" fmla="*/ 1927145 w 1931953"/>
                  <a:gd name="connsiteY7" fmla="*/ 1603886 h 1820580"/>
                  <a:gd name="connsiteX8" fmla="*/ 1931908 w 1931953"/>
                  <a:gd name="connsiteY8" fmla="*/ 1820580 h 1820580"/>
                  <a:gd name="connsiteX9" fmla="*/ 138826 w 1931953"/>
                  <a:gd name="connsiteY9" fmla="*/ 1815818 h 1820580"/>
                  <a:gd name="connsiteX10" fmla="*/ 141207 w 1931953"/>
                  <a:gd name="connsiteY10" fmla="*/ 1603886 h 1820580"/>
                  <a:gd name="connsiteX11" fmla="*/ 829389 w 1931953"/>
                  <a:gd name="connsiteY11" fmla="*/ 1603886 h 1820580"/>
                  <a:gd name="connsiteX12" fmla="*/ 988932 w 1931953"/>
                  <a:gd name="connsiteY12" fmla="*/ 1475298 h 1820580"/>
                  <a:gd name="connsiteX13" fmla="*/ 988932 w 1931953"/>
                  <a:gd name="connsiteY13" fmla="*/ 363255 h 1820580"/>
                  <a:gd name="connsiteX14" fmla="*/ 853201 w 1931953"/>
                  <a:gd name="connsiteY14" fmla="*/ 234667 h 1820580"/>
                  <a:gd name="connsiteX15" fmla="*/ 136445 w 1931953"/>
                  <a:gd name="connsiteY15" fmla="*/ 232286 h 1820580"/>
                  <a:gd name="connsiteX16" fmla="*/ 131682 w 1931953"/>
                  <a:gd name="connsiteY16" fmla="*/ 13211 h 1820580"/>
                  <a:gd name="connsiteX0" fmla="*/ 131682 w 1931953"/>
                  <a:gd name="connsiteY0" fmla="*/ 13211 h 1820580"/>
                  <a:gd name="connsiteX1" fmla="*/ 1927145 w 1931953"/>
                  <a:gd name="connsiteY1" fmla="*/ 20354 h 1820580"/>
                  <a:gd name="connsiteX2" fmla="*/ 1931907 w 1931953"/>
                  <a:gd name="connsiteY2" fmla="*/ 241811 h 1820580"/>
                  <a:gd name="connsiteX3" fmla="*/ 1238964 w 1931953"/>
                  <a:gd name="connsiteY3" fmla="*/ 234667 h 1820580"/>
                  <a:gd name="connsiteX4" fmla="*/ 1074657 w 1931953"/>
                  <a:gd name="connsiteY4" fmla="*/ 360873 h 1820580"/>
                  <a:gd name="connsiteX5" fmla="*/ 1074657 w 1931953"/>
                  <a:gd name="connsiteY5" fmla="*/ 1453867 h 1820580"/>
                  <a:gd name="connsiteX6" fmla="*/ 1229438 w 1931953"/>
                  <a:gd name="connsiteY6" fmla="*/ 1603886 h 1820580"/>
                  <a:gd name="connsiteX7" fmla="*/ 1927145 w 1931953"/>
                  <a:gd name="connsiteY7" fmla="*/ 1603886 h 1820580"/>
                  <a:gd name="connsiteX8" fmla="*/ 1931908 w 1931953"/>
                  <a:gd name="connsiteY8" fmla="*/ 1820580 h 1820580"/>
                  <a:gd name="connsiteX9" fmla="*/ 138826 w 1931953"/>
                  <a:gd name="connsiteY9" fmla="*/ 1815818 h 1820580"/>
                  <a:gd name="connsiteX10" fmla="*/ 141207 w 1931953"/>
                  <a:gd name="connsiteY10" fmla="*/ 1603886 h 1820580"/>
                  <a:gd name="connsiteX11" fmla="*/ 829389 w 1931953"/>
                  <a:gd name="connsiteY11" fmla="*/ 1603886 h 1820580"/>
                  <a:gd name="connsiteX12" fmla="*/ 988932 w 1931953"/>
                  <a:gd name="connsiteY12" fmla="*/ 1475298 h 1820580"/>
                  <a:gd name="connsiteX13" fmla="*/ 988932 w 1931953"/>
                  <a:gd name="connsiteY13" fmla="*/ 363255 h 1820580"/>
                  <a:gd name="connsiteX14" fmla="*/ 853201 w 1931953"/>
                  <a:gd name="connsiteY14" fmla="*/ 234667 h 1820580"/>
                  <a:gd name="connsiteX15" fmla="*/ 136445 w 1931953"/>
                  <a:gd name="connsiteY15" fmla="*/ 232286 h 1820580"/>
                  <a:gd name="connsiteX16" fmla="*/ 131682 w 1931953"/>
                  <a:gd name="connsiteY16" fmla="*/ 13211 h 1820580"/>
                  <a:gd name="connsiteX0" fmla="*/ 0 w 1800271"/>
                  <a:gd name="connsiteY0" fmla="*/ 13211 h 1820580"/>
                  <a:gd name="connsiteX1" fmla="*/ 1795463 w 1800271"/>
                  <a:gd name="connsiteY1" fmla="*/ 20354 h 1820580"/>
                  <a:gd name="connsiteX2" fmla="*/ 1800225 w 1800271"/>
                  <a:gd name="connsiteY2" fmla="*/ 241811 h 1820580"/>
                  <a:gd name="connsiteX3" fmla="*/ 1107282 w 1800271"/>
                  <a:gd name="connsiteY3" fmla="*/ 234667 h 1820580"/>
                  <a:gd name="connsiteX4" fmla="*/ 942975 w 1800271"/>
                  <a:gd name="connsiteY4" fmla="*/ 360873 h 1820580"/>
                  <a:gd name="connsiteX5" fmla="*/ 942975 w 1800271"/>
                  <a:gd name="connsiteY5" fmla="*/ 1453867 h 1820580"/>
                  <a:gd name="connsiteX6" fmla="*/ 1097756 w 1800271"/>
                  <a:gd name="connsiteY6" fmla="*/ 1603886 h 1820580"/>
                  <a:gd name="connsiteX7" fmla="*/ 1795463 w 1800271"/>
                  <a:gd name="connsiteY7" fmla="*/ 1603886 h 1820580"/>
                  <a:gd name="connsiteX8" fmla="*/ 1800226 w 1800271"/>
                  <a:gd name="connsiteY8" fmla="*/ 1820580 h 1820580"/>
                  <a:gd name="connsiteX9" fmla="*/ 7144 w 1800271"/>
                  <a:gd name="connsiteY9" fmla="*/ 1815818 h 1820580"/>
                  <a:gd name="connsiteX10" fmla="*/ 9525 w 1800271"/>
                  <a:gd name="connsiteY10" fmla="*/ 1603886 h 1820580"/>
                  <a:gd name="connsiteX11" fmla="*/ 697707 w 1800271"/>
                  <a:gd name="connsiteY11" fmla="*/ 1603886 h 1820580"/>
                  <a:gd name="connsiteX12" fmla="*/ 857250 w 1800271"/>
                  <a:gd name="connsiteY12" fmla="*/ 1475298 h 1820580"/>
                  <a:gd name="connsiteX13" fmla="*/ 857250 w 1800271"/>
                  <a:gd name="connsiteY13" fmla="*/ 363255 h 1820580"/>
                  <a:gd name="connsiteX14" fmla="*/ 721519 w 1800271"/>
                  <a:gd name="connsiteY14" fmla="*/ 234667 h 1820580"/>
                  <a:gd name="connsiteX15" fmla="*/ 4763 w 1800271"/>
                  <a:gd name="connsiteY15" fmla="*/ 232286 h 1820580"/>
                  <a:gd name="connsiteX16" fmla="*/ 0 w 1800271"/>
                  <a:gd name="connsiteY16" fmla="*/ 13211 h 1820580"/>
                  <a:gd name="connsiteX0" fmla="*/ 183 w 1795691"/>
                  <a:gd name="connsiteY0" fmla="*/ 14163 h 1816770"/>
                  <a:gd name="connsiteX1" fmla="*/ 1790883 w 1795691"/>
                  <a:gd name="connsiteY1" fmla="*/ 16544 h 1816770"/>
                  <a:gd name="connsiteX2" fmla="*/ 1795645 w 1795691"/>
                  <a:gd name="connsiteY2" fmla="*/ 238001 h 1816770"/>
                  <a:gd name="connsiteX3" fmla="*/ 1102702 w 1795691"/>
                  <a:gd name="connsiteY3" fmla="*/ 230857 h 1816770"/>
                  <a:gd name="connsiteX4" fmla="*/ 938395 w 1795691"/>
                  <a:gd name="connsiteY4" fmla="*/ 357063 h 1816770"/>
                  <a:gd name="connsiteX5" fmla="*/ 938395 w 1795691"/>
                  <a:gd name="connsiteY5" fmla="*/ 1450057 h 1816770"/>
                  <a:gd name="connsiteX6" fmla="*/ 1093176 w 1795691"/>
                  <a:gd name="connsiteY6" fmla="*/ 1600076 h 1816770"/>
                  <a:gd name="connsiteX7" fmla="*/ 1790883 w 1795691"/>
                  <a:gd name="connsiteY7" fmla="*/ 1600076 h 1816770"/>
                  <a:gd name="connsiteX8" fmla="*/ 1795646 w 1795691"/>
                  <a:gd name="connsiteY8" fmla="*/ 1816770 h 1816770"/>
                  <a:gd name="connsiteX9" fmla="*/ 2564 w 1795691"/>
                  <a:gd name="connsiteY9" fmla="*/ 1812008 h 1816770"/>
                  <a:gd name="connsiteX10" fmla="*/ 4945 w 1795691"/>
                  <a:gd name="connsiteY10" fmla="*/ 1600076 h 1816770"/>
                  <a:gd name="connsiteX11" fmla="*/ 693127 w 1795691"/>
                  <a:gd name="connsiteY11" fmla="*/ 1600076 h 1816770"/>
                  <a:gd name="connsiteX12" fmla="*/ 852670 w 1795691"/>
                  <a:gd name="connsiteY12" fmla="*/ 1471488 h 1816770"/>
                  <a:gd name="connsiteX13" fmla="*/ 852670 w 1795691"/>
                  <a:gd name="connsiteY13" fmla="*/ 359445 h 1816770"/>
                  <a:gd name="connsiteX14" fmla="*/ 716939 w 1795691"/>
                  <a:gd name="connsiteY14" fmla="*/ 230857 h 1816770"/>
                  <a:gd name="connsiteX15" fmla="*/ 183 w 1795691"/>
                  <a:gd name="connsiteY15" fmla="*/ 228476 h 1816770"/>
                  <a:gd name="connsiteX16" fmla="*/ 183 w 1795691"/>
                  <a:gd name="connsiteY16" fmla="*/ 14163 h 1816770"/>
                  <a:gd name="connsiteX0" fmla="*/ 183 w 1795691"/>
                  <a:gd name="connsiteY0" fmla="*/ 1009 h 1803616"/>
                  <a:gd name="connsiteX1" fmla="*/ 1790883 w 1795691"/>
                  <a:gd name="connsiteY1" fmla="*/ 3390 h 1803616"/>
                  <a:gd name="connsiteX2" fmla="*/ 1795645 w 1795691"/>
                  <a:gd name="connsiteY2" fmla="*/ 224847 h 1803616"/>
                  <a:gd name="connsiteX3" fmla="*/ 1102702 w 1795691"/>
                  <a:gd name="connsiteY3" fmla="*/ 217703 h 1803616"/>
                  <a:gd name="connsiteX4" fmla="*/ 938395 w 1795691"/>
                  <a:gd name="connsiteY4" fmla="*/ 343909 h 1803616"/>
                  <a:gd name="connsiteX5" fmla="*/ 938395 w 1795691"/>
                  <a:gd name="connsiteY5" fmla="*/ 1436903 h 1803616"/>
                  <a:gd name="connsiteX6" fmla="*/ 1093176 w 1795691"/>
                  <a:gd name="connsiteY6" fmla="*/ 1586922 h 1803616"/>
                  <a:gd name="connsiteX7" fmla="*/ 1790883 w 1795691"/>
                  <a:gd name="connsiteY7" fmla="*/ 1586922 h 1803616"/>
                  <a:gd name="connsiteX8" fmla="*/ 1795646 w 1795691"/>
                  <a:gd name="connsiteY8" fmla="*/ 1803616 h 1803616"/>
                  <a:gd name="connsiteX9" fmla="*/ 2564 w 1795691"/>
                  <a:gd name="connsiteY9" fmla="*/ 1798854 h 1803616"/>
                  <a:gd name="connsiteX10" fmla="*/ 4945 w 1795691"/>
                  <a:gd name="connsiteY10" fmla="*/ 1586922 h 1803616"/>
                  <a:gd name="connsiteX11" fmla="*/ 693127 w 1795691"/>
                  <a:gd name="connsiteY11" fmla="*/ 1586922 h 1803616"/>
                  <a:gd name="connsiteX12" fmla="*/ 852670 w 1795691"/>
                  <a:gd name="connsiteY12" fmla="*/ 1458334 h 1803616"/>
                  <a:gd name="connsiteX13" fmla="*/ 852670 w 1795691"/>
                  <a:gd name="connsiteY13" fmla="*/ 346291 h 1803616"/>
                  <a:gd name="connsiteX14" fmla="*/ 716939 w 1795691"/>
                  <a:gd name="connsiteY14" fmla="*/ 217703 h 1803616"/>
                  <a:gd name="connsiteX15" fmla="*/ 183 w 1795691"/>
                  <a:gd name="connsiteY15" fmla="*/ 215322 h 1803616"/>
                  <a:gd name="connsiteX16" fmla="*/ 183 w 1795691"/>
                  <a:gd name="connsiteY16" fmla="*/ 1009 h 1803616"/>
                  <a:gd name="connsiteX0" fmla="*/ 4863 w 1795608"/>
                  <a:gd name="connsiteY0" fmla="*/ 4763 h 1800226"/>
                  <a:gd name="connsiteX1" fmla="*/ 1790800 w 1795608"/>
                  <a:gd name="connsiteY1" fmla="*/ 0 h 1800226"/>
                  <a:gd name="connsiteX2" fmla="*/ 1795562 w 1795608"/>
                  <a:gd name="connsiteY2" fmla="*/ 221457 h 1800226"/>
                  <a:gd name="connsiteX3" fmla="*/ 1102619 w 1795608"/>
                  <a:gd name="connsiteY3" fmla="*/ 214313 h 1800226"/>
                  <a:gd name="connsiteX4" fmla="*/ 938312 w 1795608"/>
                  <a:gd name="connsiteY4" fmla="*/ 340519 h 1800226"/>
                  <a:gd name="connsiteX5" fmla="*/ 938312 w 1795608"/>
                  <a:gd name="connsiteY5" fmla="*/ 1433513 h 1800226"/>
                  <a:gd name="connsiteX6" fmla="*/ 1093093 w 1795608"/>
                  <a:gd name="connsiteY6" fmla="*/ 1583532 h 1800226"/>
                  <a:gd name="connsiteX7" fmla="*/ 1790800 w 1795608"/>
                  <a:gd name="connsiteY7" fmla="*/ 1583532 h 1800226"/>
                  <a:gd name="connsiteX8" fmla="*/ 1795563 w 1795608"/>
                  <a:gd name="connsiteY8" fmla="*/ 1800226 h 1800226"/>
                  <a:gd name="connsiteX9" fmla="*/ 2481 w 1795608"/>
                  <a:gd name="connsiteY9" fmla="*/ 1795464 h 1800226"/>
                  <a:gd name="connsiteX10" fmla="*/ 4862 w 1795608"/>
                  <a:gd name="connsiteY10" fmla="*/ 1583532 h 1800226"/>
                  <a:gd name="connsiteX11" fmla="*/ 693044 w 1795608"/>
                  <a:gd name="connsiteY11" fmla="*/ 1583532 h 1800226"/>
                  <a:gd name="connsiteX12" fmla="*/ 852587 w 1795608"/>
                  <a:gd name="connsiteY12" fmla="*/ 1454944 h 1800226"/>
                  <a:gd name="connsiteX13" fmla="*/ 852587 w 1795608"/>
                  <a:gd name="connsiteY13" fmla="*/ 342901 h 1800226"/>
                  <a:gd name="connsiteX14" fmla="*/ 716856 w 1795608"/>
                  <a:gd name="connsiteY14" fmla="*/ 214313 h 1800226"/>
                  <a:gd name="connsiteX15" fmla="*/ 100 w 1795608"/>
                  <a:gd name="connsiteY15" fmla="*/ 211932 h 1800226"/>
                  <a:gd name="connsiteX16" fmla="*/ 4863 w 1795608"/>
                  <a:gd name="connsiteY16" fmla="*/ 4763 h 1800226"/>
                  <a:gd name="connsiteX0" fmla="*/ 4863 w 1795608"/>
                  <a:gd name="connsiteY0" fmla="*/ 4763 h 1800226"/>
                  <a:gd name="connsiteX1" fmla="*/ 1790800 w 1795608"/>
                  <a:gd name="connsiteY1" fmla="*/ 0 h 1800226"/>
                  <a:gd name="connsiteX2" fmla="*/ 1795562 w 1795608"/>
                  <a:gd name="connsiteY2" fmla="*/ 221457 h 1800226"/>
                  <a:gd name="connsiteX3" fmla="*/ 1102619 w 1795608"/>
                  <a:gd name="connsiteY3" fmla="*/ 214313 h 1800226"/>
                  <a:gd name="connsiteX4" fmla="*/ 938312 w 1795608"/>
                  <a:gd name="connsiteY4" fmla="*/ 340519 h 1800226"/>
                  <a:gd name="connsiteX5" fmla="*/ 938312 w 1795608"/>
                  <a:gd name="connsiteY5" fmla="*/ 1433513 h 1800226"/>
                  <a:gd name="connsiteX6" fmla="*/ 1093093 w 1795608"/>
                  <a:gd name="connsiteY6" fmla="*/ 1583532 h 1800226"/>
                  <a:gd name="connsiteX7" fmla="*/ 1790800 w 1795608"/>
                  <a:gd name="connsiteY7" fmla="*/ 1583532 h 1800226"/>
                  <a:gd name="connsiteX8" fmla="*/ 1795563 w 1795608"/>
                  <a:gd name="connsiteY8" fmla="*/ 1800226 h 1800226"/>
                  <a:gd name="connsiteX9" fmla="*/ 2481 w 1795608"/>
                  <a:gd name="connsiteY9" fmla="*/ 1795464 h 1800226"/>
                  <a:gd name="connsiteX10" fmla="*/ 4862 w 1795608"/>
                  <a:gd name="connsiteY10" fmla="*/ 1583532 h 1800226"/>
                  <a:gd name="connsiteX11" fmla="*/ 693044 w 1795608"/>
                  <a:gd name="connsiteY11" fmla="*/ 1583532 h 1800226"/>
                  <a:gd name="connsiteX12" fmla="*/ 852587 w 1795608"/>
                  <a:gd name="connsiteY12" fmla="*/ 1454944 h 1800226"/>
                  <a:gd name="connsiteX13" fmla="*/ 852587 w 1795608"/>
                  <a:gd name="connsiteY13" fmla="*/ 342901 h 1800226"/>
                  <a:gd name="connsiteX14" fmla="*/ 716856 w 1795608"/>
                  <a:gd name="connsiteY14" fmla="*/ 214313 h 1800226"/>
                  <a:gd name="connsiteX15" fmla="*/ 100 w 1795608"/>
                  <a:gd name="connsiteY15" fmla="*/ 211932 h 1800226"/>
                  <a:gd name="connsiteX16" fmla="*/ 4863 w 1795608"/>
                  <a:gd name="connsiteY16" fmla="*/ 4763 h 1800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95608" h="1800226">
                    <a:moveTo>
                      <a:pt x="4863" y="4763"/>
                    </a:moveTo>
                    <a:cubicBezTo>
                      <a:pt x="312838" y="397"/>
                      <a:pt x="1505051" y="4763"/>
                      <a:pt x="1790800" y="0"/>
                    </a:cubicBezTo>
                    <a:cubicBezTo>
                      <a:pt x="1790801" y="83344"/>
                      <a:pt x="1793180" y="142479"/>
                      <a:pt x="1795562" y="221457"/>
                    </a:cubicBezTo>
                    <a:cubicBezTo>
                      <a:pt x="1664594" y="214711"/>
                      <a:pt x="1176438" y="215900"/>
                      <a:pt x="1102619" y="214313"/>
                    </a:cubicBezTo>
                    <a:cubicBezTo>
                      <a:pt x="1028800" y="212726"/>
                      <a:pt x="944265" y="251619"/>
                      <a:pt x="938312" y="340519"/>
                    </a:cubicBezTo>
                    <a:cubicBezTo>
                      <a:pt x="932359" y="429419"/>
                      <a:pt x="931565" y="1312069"/>
                      <a:pt x="938312" y="1433513"/>
                    </a:cubicBezTo>
                    <a:cubicBezTo>
                      <a:pt x="945059" y="1554957"/>
                      <a:pt x="984349" y="1575197"/>
                      <a:pt x="1093093" y="1583532"/>
                    </a:cubicBezTo>
                    <a:cubicBezTo>
                      <a:pt x="1201837" y="1591867"/>
                      <a:pt x="1668959" y="1573213"/>
                      <a:pt x="1790800" y="1583532"/>
                    </a:cubicBezTo>
                    <a:cubicBezTo>
                      <a:pt x="1786435" y="1674814"/>
                      <a:pt x="1796357" y="1694658"/>
                      <a:pt x="1795563" y="1800226"/>
                    </a:cubicBezTo>
                    <a:lnTo>
                      <a:pt x="2481" y="1795464"/>
                    </a:lnTo>
                    <a:cubicBezTo>
                      <a:pt x="1687" y="1697436"/>
                      <a:pt x="3671" y="1689498"/>
                      <a:pt x="4862" y="1583532"/>
                    </a:cubicBezTo>
                    <a:lnTo>
                      <a:pt x="693044" y="1583532"/>
                    </a:lnTo>
                    <a:cubicBezTo>
                      <a:pt x="753368" y="1578769"/>
                      <a:pt x="849809" y="1552179"/>
                      <a:pt x="852587" y="1454944"/>
                    </a:cubicBezTo>
                    <a:cubicBezTo>
                      <a:pt x="855365" y="1357709"/>
                      <a:pt x="856159" y="402036"/>
                      <a:pt x="852587" y="342901"/>
                    </a:cubicBezTo>
                    <a:cubicBezTo>
                      <a:pt x="849015" y="283766"/>
                      <a:pt x="805756" y="217488"/>
                      <a:pt x="716856" y="214313"/>
                    </a:cubicBezTo>
                    <a:cubicBezTo>
                      <a:pt x="627956" y="211138"/>
                      <a:pt x="127496" y="222647"/>
                      <a:pt x="100" y="211932"/>
                    </a:cubicBezTo>
                    <a:cubicBezTo>
                      <a:pt x="-1090" y="113110"/>
                      <a:pt x="8831" y="78185"/>
                      <a:pt x="4863" y="4763"/>
                    </a:cubicBezTo>
                    <a:close/>
                  </a:path>
                </a:pathLst>
              </a:cu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cxnSp>
            <p:nvCxnSpPr>
              <p:cNvPr id="66" name="Gerader Verbinder 65">
                <a:extLst>
                  <a:ext uri="{FF2B5EF4-FFF2-40B4-BE49-F238E27FC236}">
                    <a16:creationId xmlns:a16="http://schemas.microsoft.com/office/drawing/2014/main" id="{95872B7A-78EA-A535-7188-E4D05C10BBF7}"/>
                  </a:ext>
                </a:extLst>
              </p:cNvPr>
              <p:cNvCxnSpPr/>
              <p:nvPr/>
            </p:nvCxnSpPr>
            <p:spPr>
              <a:xfrm>
                <a:off x="4068663" y="2412157"/>
                <a:ext cx="1800000"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08231B-54D8-EC7B-755E-2191A624C25E}"/>
                  </a:ext>
                </a:extLst>
              </p:cNvPr>
              <p:cNvCxnSpPr>
                <a:cxnSpLocks/>
              </p:cNvCxnSpPr>
              <p:nvPr/>
            </p:nvCxnSpPr>
            <p:spPr>
              <a:xfrm>
                <a:off x="4074219" y="2625800"/>
                <a:ext cx="713702" cy="123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58DDCD16-077E-912B-C7AD-F561C901B0FD}"/>
                  </a:ext>
                </a:extLst>
              </p:cNvPr>
              <p:cNvCxnSpPr>
                <a:cxnSpLocks/>
                <a:endCxn id="79" idx="0"/>
              </p:cNvCxnSpPr>
              <p:nvPr/>
            </p:nvCxnSpPr>
            <p:spPr>
              <a:xfrm>
                <a:off x="4068663" y="3996132"/>
                <a:ext cx="713702" cy="2"/>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2844BBED-10E1-F5E4-00CB-90BEB265F12C}"/>
                  </a:ext>
                </a:extLst>
              </p:cNvPr>
              <p:cNvCxnSpPr/>
              <p:nvPr/>
            </p:nvCxnSpPr>
            <p:spPr>
              <a:xfrm>
                <a:off x="4068663" y="4212157"/>
                <a:ext cx="1800000"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70" name="Gruppieren 69">
                <a:extLst>
                  <a:ext uri="{FF2B5EF4-FFF2-40B4-BE49-F238E27FC236}">
                    <a16:creationId xmlns:a16="http://schemas.microsoft.com/office/drawing/2014/main" id="{3E78BEB7-1ADF-2E02-1D5F-1AC3E8C8309E}"/>
                  </a:ext>
                </a:extLst>
              </p:cNvPr>
              <p:cNvGrpSpPr/>
              <p:nvPr/>
            </p:nvGrpSpPr>
            <p:grpSpPr>
              <a:xfrm>
                <a:off x="4926381" y="2748034"/>
                <a:ext cx="83913" cy="1116000"/>
                <a:chOff x="4931244" y="2773434"/>
                <a:chExt cx="83913" cy="1116000"/>
              </a:xfrm>
            </p:grpSpPr>
            <p:cxnSp>
              <p:nvCxnSpPr>
                <p:cNvPr id="83" name="Gerader Verbinder 82">
                  <a:extLst>
                    <a:ext uri="{FF2B5EF4-FFF2-40B4-BE49-F238E27FC236}">
                      <a16:creationId xmlns:a16="http://schemas.microsoft.com/office/drawing/2014/main" id="{03FF9377-6297-0371-5FA8-C5F9825881AE}"/>
                    </a:ext>
                  </a:extLst>
                </p:cNvPr>
                <p:cNvCxnSpPr>
                  <a:cxnSpLocks/>
                  <a:endCxn id="79" idx="2"/>
                </p:cNvCxnSpPr>
                <p:nvPr/>
              </p:nvCxnSpPr>
              <p:spPr>
                <a:xfrm flipH="1">
                  <a:off x="4931244" y="2795660"/>
                  <a:ext cx="3175" cy="108185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4" name="Gerader Verbinder 83">
                  <a:extLst>
                    <a:ext uri="{FF2B5EF4-FFF2-40B4-BE49-F238E27FC236}">
                      <a16:creationId xmlns:a16="http://schemas.microsoft.com/office/drawing/2014/main" id="{7BF2160D-1B3B-C4F6-4B4B-38229D80E2A0}"/>
                    </a:ext>
                  </a:extLst>
                </p:cNvPr>
                <p:cNvCxnSpPr>
                  <a:cxnSpLocks/>
                  <a:stCxn id="82" idx="2"/>
                </p:cNvCxnSpPr>
                <p:nvPr/>
              </p:nvCxnSpPr>
              <p:spPr>
                <a:xfrm flipH="1">
                  <a:off x="5014293" y="2773434"/>
                  <a:ext cx="864" cy="111600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1" name="Gruppieren 70">
                <a:extLst>
                  <a:ext uri="{FF2B5EF4-FFF2-40B4-BE49-F238E27FC236}">
                    <a16:creationId xmlns:a16="http://schemas.microsoft.com/office/drawing/2014/main" id="{2FB4BB95-A073-A0AA-2CF4-7ADB43AEB065}"/>
                  </a:ext>
                </a:extLst>
              </p:cNvPr>
              <p:cNvGrpSpPr/>
              <p:nvPr/>
            </p:nvGrpSpPr>
            <p:grpSpPr>
              <a:xfrm>
                <a:off x="4641524" y="2629419"/>
                <a:ext cx="656802" cy="288032"/>
                <a:chOff x="4641524" y="2627038"/>
                <a:chExt cx="656802" cy="288032"/>
              </a:xfrm>
            </p:grpSpPr>
            <p:sp>
              <p:nvSpPr>
                <p:cNvPr id="81" name="Bogen 80">
                  <a:extLst>
                    <a:ext uri="{FF2B5EF4-FFF2-40B4-BE49-F238E27FC236}">
                      <a16:creationId xmlns:a16="http://schemas.microsoft.com/office/drawing/2014/main" id="{37A823B3-A902-D6E3-3AA3-FFF2405539D8}"/>
                    </a:ext>
                  </a:extLst>
                </p:cNvPr>
                <p:cNvSpPr/>
                <p:nvPr/>
              </p:nvSpPr>
              <p:spPr>
                <a:xfrm>
                  <a:off x="4641524" y="2627038"/>
                  <a:ext cx="288032" cy="288032"/>
                </a:xfrm>
                <a:prstGeom prst="arc">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sp>
              <p:nvSpPr>
                <p:cNvPr id="82" name="Bogen 81">
                  <a:extLst>
                    <a:ext uri="{FF2B5EF4-FFF2-40B4-BE49-F238E27FC236}">
                      <a16:creationId xmlns:a16="http://schemas.microsoft.com/office/drawing/2014/main" id="{FD4FDA23-9954-DB6E-57D3-DD372C360067}"/>
                    </a:ext>
                  </a:extLst>
                </p:cNvPr>
                <p:cNvSpPr/>
                <p:nvPr/>
              </p:nvSpPr>
              <p:spPr>
                <a:xfrm flipH="1">
                  <a:off x="5010294" y="2627038"/>
                  <a:ext cx="288032" cy="288032"/>
                </a:xfrm>
                <a:prstGeom prst="arc">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grpSp>
          <p:grpSp>
            <p:nvGrpSpPr>
              <p:cNvPr id="72" name="Gruppieren 71">
                <a:extLst>
                  <a:ext uri="{FF2B5EF4-FFF2-40B4-BE49-F238E27FC236}">
                    <a16:creationId xmlns:a16="http://schemas.microsoft.com/office/drawing/2014/main" id="{2A0D250C-3F3E-2034-C595-0366811BBC8D}"/>
                  </a:ext>
                </a:extLst>
              </p:cNvPr>
              <p:cNvGrpSpPr/>
              <p:nvPr/>
            </p:nvGrpSpPr>
            <p:grpSpPr>
              <a:xfrm flipV="1">
                <a:off x="4638349" y="3708102"/>
                <a:ext cx="659977" cy="288032"/>
                <a:chOff x="4640730" y="2627038"/>
                <a:chExt cx="659977" cy="288032"/>
              </a:xfrm>
            </p:grpSpPr>
            <p:sp>
              <p:nvSpPr>
                <p:cNvPr id="79" name="Bogen 78">
                  <a:extLst>
                    <a:ext uri="{FF2B5EF4-FFF2-40B4-BE49-F238E27FC236}">
                      <a16:creationId xmlns:a16="http://schemas.microsoft.com/office/drawing/2014/main" id="{BAB9D60A-97C5-F55E-55C2-56A736CF157A}"/>
                    </a:ext>
                  </a:extLst>
                </p:cNvPr>
                <p:cNvSpPr/>
                <p:nvPr/>
              </p:nvSpPr>
              <p:spPr>
                <a:xfrm>
                  <a:off x="4640730" y="2627038"/>
                  <a:ext cx="288032" cy="288032"/>
                </a:xfrm>
                <a:prstGeom prst="arc">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sp>
              <p:nvSpPr>
                <p:cNvPr id="80" name="Bogen 79">
                  <a:extLst>
                    <a:ext uri="{FF2B5EF4-FFF2-40B4-BE49-F238E27FC236}">
                      <a16:creationId xmlns:a16="http://schemas.microsoft.com/office/drawing/2014/main" id="{A1606552-CD0F-733C-CD8C-925B77869770}"/>
                    </a:ext>
                  </a:extLst>
                </p:cNvPr>
                <p:cNvSpPr/>
                <p:nvPr/>
              </p:nvSpPr>
              <p:spPr>
                <a:xfrm flipH="1">
                  <a:off x="5012675" y="2627038"/>
                  <a:ext cx="288032" cy="288032"/>
                </a:xfrm>
                <a:prstGeom prst="arc">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grpSp>
          <p:cxnSp>
            <p:nvCxnSpPr>
              <p:cNvPr id="73" name="Gerader Verbinder 72">
                <a:extLst>
                  <a:ext uri="{FF2B5EF4-FFF2-40B4-BE49-F238E27FC236}">
                    <a16:creationId xmlns:a16="http://schemas.microsoft.com/office/drawing/2014/main" id="{619D4430-CB84-E746-E4F9-21E7F44C454A}"/>
                  </a:ext>
                </a:extLst>
              </p:cNvPr>
              <p:cNvCxnSpPr>
                <a:cxnSpLocks/>
              </p:cNvCxnSpPr>
              <p:nvPr/>
            </p:nvCxnSpPr>
            <p:spPr>
              <a:xfrm>
                <a:off x="5149547" y="3996132"/>
                <a:ext cx="718464" cy="1"/>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Gerader Verbinder 73">
                <a:extLst>
                  <a:ext uri="{FF2B5EF4-FFF2-40B4-BE49-F238E27FC236}">
                    <a16:creationId xmlns:a16="http://schemas.microsoft.com/office/drawing/2014/main" id="{C358AB6C-2131-6F39-3F17-30DCDEFB0869}"/>
                  </a:ext>
                </a:extLst>
              </p:cNvPr>
              <p:cNvCxnSpPr>
                <a:cxnSpLocks/>
                <a:stCxn id="82" idx="0"/>
              </p:cNvCxnSpPr>
              <p:nvPr/>
            </p:nvCxnSpPr>
            <p:spPr>
              <a:xfrm>
                <a:off x="5154310" y="2629419"/>
                <a:ext cx="714278" cy="123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BB1FC42B-7C5A-05E7-8B9A-9A08DA75F27C}"/>
                  </a:ext>
                </a:extLst>
              </p:cNvPr>
              <p:cNvCxnSpPr/>
              <p:nvPr/>
            </p:nvCxnSpPr>
            <p:spPr>
              <a:xfrm flipV="1">
                <a:off x="4074219" y="3996132"/>
                <a:ext cx="0" cy="216025"/>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Gerader Verbinder 75">
                <a:extLst>
                  <a:ext uri="{FF2B5EF4-FFF2-40B4-BE49-F238E27FC236}">
                    <a16:creationId xmlns:a16="http://schemas.microsoft.com/office/drawing/2014/main" id="{7F990EAA-19FF-2417-4043-6A642D9C429A}"/>
                  </a:ext>
                </a:extLst>
              </p:cNvPr>
              <p:cNvCxnSpPr/>
              <p:nvPr/>
            </p:nvCxnSpPr>
            <p:spPr>
              <a:xfrm flipV="1">
                <a:off x="5865630" y="3996134"/>
                <a:ext cx="0" cy="216025"/>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Gerader Verbinder 76">
                <a:extLst>
                  <a:ext uri="{FF2B5EF4-FFF2-40B4-BE49-F238E27FC236}">
                    <a16:creationId xmlns:a16="http://schemas.microsoft.com/office/drawing/2014/main" id="{59B8488B-44C8-FA3F-F439-F88A91EE5785}"/>
                  </a:ext>
                </a:extLst>
              </p:cNvPr>
              <p:cNvCxnSpPr/>
              <p:nvPr/>
            </p:nvCxnSpPr>
            <p:spPr>
              <a:xfrm flipV="1">
                <a:off x="4074219" y="2411011"/>
                <a:ext cx="0" cy="216025"/>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8" name="Gerader Verbinder 77">
                <a:extLst>
                  <a:ext uri="{FF2B5EF4-FFF2-40B4-BE49-F238E27FC236}">
                    <a16:creationId xmlns:a16="http://schemas.microsoft.com/office/drawing/2014/main" id="{2047CB80-B4C1-0EBA-A237-E8E51EAF1D00}"/>
                  </a:ext>
                </a:extLst>
              </p:cNvPr>
              <p:cNvCxnSpPr/>
              <p:nvPr/>
            </p:nvCxnSpPr>
            <p:spPr>
              <a:xfrm flipV="1">
                <a:off x="5865630" y="2411013"/>
                <a:ext cx="0" cy="216025"/>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4" name="Rechteck 63">
              <a:extLst>
                <a:ext uri="{FF2B5EF4-FFF2-40B4-BE49-F238E27FC236}">
                  <a16:creationId xmlns:a16="http://schemas.microsoft.com/office/drawing/2014/main" id="{4203CD2A-9CD5-7255-5D3C-3BBED30760CA}"/>
                </a:ext>
              </a:extLst>
            </p:cNvPr>
            <p:cNvSpPr/>
            <p:nvPr/>
          </p:nvSpPr>
          <p:spPr>
            <a:xfrm>
              <a:off x="7020991" y="1346527"/>
              <a:ext cx="3650646" cy="1208356"/>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grpSp>
        <p:nvGrpSpPr>
          <p:cNvPr id="85" name="Gruppieren 84">
            <a:extLst>
              <a:ext uri="{FF2B5EF4-FFF2-40B4-BE49-F238E27FC236}">
                <a16:creationId xmlns:a16="http://schemas.microsoft.com/office/drawing/2014/main" id="{F191399E-C00B-041D-FB77-CC061BEDBBBD}"/>
              </a:ext>
            </a:extLst>
          </p:cNvPr>
          <p:cNvGrpSpPr/>
          <p:nvPr/>
        </p:nvGrpSpPr>
        <p:grpSpPr>
          <a:xfrm>
            <a:off x="11131768" y="2155312"/>
            <a:ext cx="715032" cy="379380"/>
            <a:chOff x="7674111" y="1030591"/>
            <a:chExt cx="715032" cy="379380"/>
          </a:xfrm>
        </p:grpSpPr>
        <p:sp>
          <p:nvSpPr>
            <p:cNvPr id="86" name="Textfeld 85">
              <a:extLst>
                <a:ext uri="{FF2B5EF4-FFF2-40B4-BE49-F238E27FC236}">
                  <a16:creationId xmlns:a16="http://schemas.microsoft.com/office/drawing/2014/main" id="{86378DA8-8307-A3C9-BEDA-9E365915A2A2}"/>
                </a:ext>
              </a:extLst>
            </p:cNvPr>
            <p:cNvSpPr txBox="1"/>
            <p:nvPr/>
          </p:nvSpPr>
          <p:spPr>
            <a:xfrm>
              <a:off x="7684159" y="1040639"/>
              <a:ext cx="704984" cy="369332"/>
            </a:xfrm>
            <a:prstGeom prst="rect">
              <a:avLst/>
            </a:prstGeom>
            <a:noFill/>
            <a:ln>
              <a:noFill/>
            </a:ln>
          </p:spPr>
          <p:txBody>
            <a:bodyPr wrap="square" rtlCol="0">
              <a:spAutoFit/>
            </a:bodyPr>
            <a:lstStyle/>
            <a:p>
              <a:r>
                <a:rPr lang="en-AU" noProof="0" dirty="0">
                  <a:solidFill>
                    <a:srgbClr val="333333"/>
                  </a:solidFill>
                  <a:latin typeface="Futura LT Pro Light" panose="020B0402020204020303" pitchFamily="34" charset="0"/>
                  <a:cs typeface="+mn-cs"/>
                </a:rPr>
                <a:t>END</a:t>
              </a:r>
            </a:p>
          </p:txBody>
        </p:sp>
        <p:sp>
          <p:nvSpPr>
            <p:cNvPr id="87" name="Rechteck 86">
              <a:extLst>
                <a:ext uri="{FF2B5EF4-FFF2-40B4-BE49-F238E27FC236}">
                  <a16:creationId xmlns:a16="http://schemas.microsoft.com/office/drawing/2014/main" id="{FBBD77DA-5289-A0FA-A61B-FB2B0AAA41C8}"/>
                </a:ext>
              </a:extLst>
            </p:cNvPr>
            <p:cNvSpPr/>
            <p:nvPr/>
          </p:nvSpPr>
          <p:spPr>
            <a:xfrm>
              <a:off x="7674111" y="1030591"/>
              <a:ext cx="632976" cy="369332"/>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sp>
        <p:nvSpPr>
          <p:cNvPr id="88" name="Pfeil: nach unten 87">
            <a:extLst>
              <a:ext uri="{FF2B5EF4-FFF2-40B4-BE49-F238E27FC236}">
                <a16:creationId xmlns:a16="http://schemas.microsoft.com/office/drawing/2014/main" id="{5FAAA516-20AC-99F1-9249-26CC62E7AFF5}"/>
              </a:ext>
            </a:extLst>
          </p:cNvPr>
          <p:cNvSpPr/>
          <p:nvPr/>
        </p:nvSpPr>
        <p:spPr>
          <a:xfrm>
            <a:off x="2751343" y="1485889"/>
            <a:ext cx="288032" cy="371949"/>
          </a:xfrm>
          <a:prstGeom prst="downArrow">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89" name="Pfeil: nach unten 88">
            <a:extLst>
              <a:ext uri="{FF2B5EF4-FFF2-40B4-BE49-F238E27FC236}">
                <a16:creationId xmlns:a16="http://schemas.microsoft.com/office/drawing/2014/main" id="{5646DBBF-2A69-A74B-DF93-8E86A1F08CD0}"/>
              </a:ext>
            </a:extLst>
          </p:cNvPr>
          <p:cNvSpPr/>
          <p:nvPr/>
        </p:nvSpPr>
        <p:spPr>
          <a:xfrm>
            <a:off x="2751343" y="3059105"/>
            <a:ext cx="288032" cy="371949"/>
          </a:xfrm>
          <a:prstGeom prst="downArrow">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0" name="Pfeil: nach unten 89">
            <a:extLst>
              <a:ext uri="{FF2B5EF4-FFF2-40B4-BE49-F238E27FC236}">
                <a16:creationId xmlns:a16="http://schemas.microsoft.com/office/drawing/2014/main" id="{B2ACBE25-285C-2335-B739-730C889F0E98}"/>
              </a:ext>
            </a:extLst>
          </p:cNvPr>
          <p:cNvSpPr/>
          <p:nvPr/>
        </p:nvSpPr>
        <p:spPr>
          <a:xfrm>
            <a:off x="2751343" y="4510248"/>
            <a:ext cx="288032" cy="371949"/>
          </a:xfrm>
          <a:prstGeom prst="downArrow">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1" name="Pfeil: nach unten 90">
            <a:extLst>
              <a:ext uri="{FF2B5EF4-FFF2-40B4-BE49-F238E27FC236}">
                <a16:creationId xmlns:a16="http://schemas.microsoft.com/office/drawing/2014/main" id="{2355DDFF-1CC2-3E6B-B0A5-8C8FBCADF34E}"/>
              </a:ext>
            </a:extLst>
          </p:cNvPr>
          <p:cNvSpPr/>
          <p:nvPr/>
        </p:nvSpPr>
        <p:spPr>
          <a:xfrm rot="10800000">
            <a:off x="8355222" y="4411030"/>
            <a:ext cx="288032" cy="371949"/>
          </a:xfrm>
          <a:prstGeom prst="downArrow">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2" name="Pfeil: nach unten 91">
            <a:extLst>
              <a:ext uri="{FF2B5EF4-FFF2-40B4-BE49-F238E27FC236}">
                <a16:creationId xmlns:a16="http://schemas.microsoft.com/office/drawing/2014/main" id="{3975AD7B-9F07-CD0D-9B17-F9F5EAD88574}"/>
              </a:ext>
            </a:extLst>
          </p:cNvPr>
          <p:cNvSpPr/>
          <p:nvPr/>
        </p:nvSpPr>
        <p:spPr>
          <a:xfrm rot="10800000">
            <a:off x="8356926" y="2893430"/>
            <a:ext cx="288032" cy="371949"/>
          </a:xfrm>
          <a:prstGeom prst="downArrow">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3" name="Pfeil: nach unten 92">
            <a:extLst>
              <a:ext uri="{FF2B5EF4-FFF2-40B4-BE49-F238E27FC236}">
                <a16:creationId xmlns:a16="http://schemas.microsoft.com/office/drawing/2014/main" id="{77B9F3F4-65AA-52C8-BA38-02BDAA5E8D4D}"/>
              </a:ext>
            </a:extLst>
          </p:cNvPr>
          <p:cNvSpPr/>
          <p:nvPr/>
        </p:nvSpPr>
        <p:spPr>
          <a:xfrm rot="16200000">
            <a:off x="5516639" y="4887466"/>
            <a:ext cx="288032" cy="992484"/>
          </a:xfrm>
          <a:prstGeom prst="downArrow">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4" name="Pfeil: nach unten 93">
            <a:extLst>
              <a:ext uri="{FF2B5EF4-FFF2-40B4-BE49-F238E27FC236}">
                <a16:creationId xmlns:a16="http://schemas.microsoft.com/office/drawing/2014/main" id="{1B76742E-ADF7-9CFF-000A-472D96DDBC55}"/>
              </a:ext>
            </a:extLst>
          </p:cNvPr>
          <p:cNvSpPr/>
          <p:nvPr/>
        </p:nvSpPr>
        <p:spPr>
          <a:xfrm rot="16200000">
            <a:off x="10557197" y="1849537"/>
            <a:ext cx="288032" cy="992484"/>
          </a:xfrm>
          <a:prstGeom prst="downArrow">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95" name="Pfeil: nach unten 94">
            <a:extLst>
              <a:ext uri="{FF2B5EF4-FFF2-40B4-BE49-F238E27FC236}">
                <a16:creationId xmlns:a16="http://schemas.microsoft.com/office/drawing/2014/main" id="{635E4E2C-BED6-2789-5938-984A20D517FD}"/>
              </a:ext>
            </a:extLst>
          </p:cNvPr>
          <p:cNvSpPr/>
          <p:nvPr/>
        </p:nvSpPr>
        <p:spPr>
          <a:xfrm rot="5400000">
            <a:off x="5835687" y="1560707"/>
            <a:ext cx="288032" cy="1570144"/>
          </a:xfrm>
          <a:prstGeom prst="downArrow">
            <a:avLst/>
          </a:prstGeom>
          <a:solidFill>
            <a:schemeClr val="bg1"/>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nvGrpSpPr>
          <p:cNvPr id="101" name="Gruppieren 100">
            <a:extLst>
              <a:ext uri="{FF2B5EF4-FFF2-40B4-BE49-F238E27FC236}">
                <a16:creationId xmlns:a16="http://schemas.microsoft.com/office/drawing/2014/main" id="{6F319BD3-537F-C207-360A-7EC5CA7E0D86}"/>
              </a:ext>
            </a:extLst>
          </p:cNvPr>
          <p:cNvGrpSpPr/>
          <p:nvPr/>
        </p:nvGrpSpPr>
        <p:grpSpPr>
          <a:xfrm>
            <a:off x="612279" y="1382825"/>
            <a:ext cx="11230044" cy="1329391"/>
            <a:chOff x="616756" y="2946542"/>
            <a:chExt cx="11230044" cy="1329391"/>
          </a:xfrm>
        </p:grpSpPr>
        <p:sp>
          <p:nvSpPr>
            <p:cNvPr id="100" name="Rechteck 99">
              <a:extLst>
                <a:ext uri="{FF2B5EF4-FFF2-40B4-BE49-F238E27FC236}">
                  <a16:creationId xmlns:a16="http://schemas.microsoft.com/office/drawing/2014/main" id="{BC2D4810-5843-83B1-AEC0-BE0EFEC9C5C8}"/>
                </a:ext>
              </a:extLst>
            </p:cNvPr>
            <p:cNvSpPr/>
            <p:nvPr/>
          </p:nvSpPr>
          <p:spPr>
            <a:xfrm>
              <a:off x="616756" y="2946542"/>
              <a:ext cx="11057080" cy="1329391"/>
            </a:xfrm>
            <a:prstGeom prst="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nvGrpSpPr>
            <p:cNvPr id="99" name="Gruppieren 98">
              <a:extLst>
                <a:ext uri="{FF2B5EF4-FFF2-40B4-BE49-F238E27FC236}">
                  <a16:creationId xmlns:a16="http://schemas.microsoft.com/office/drawing/2014/main" id="{2758B9A1-1801-4C63-BFE3-C0D2E0C51CB2}"/>
                </a:ext>
              </a:extLst>
            </p:cNvPr>
            <p:cNvGrpSpPr/>
            <p:nvPr/>
          </p:nvGrpSpPr>
          <p:grpSpPr>
            <a:xfrm>
              <a:off x="642746" y="3112560"/>
              <a:ext cx="11204054" cy="1077218"/>
              <a:chOff x="540271" y="5220469"/>
              <a:chExt cx="11204054" cy="1077218"/>
            </a:xfrm>
          </p:grpSpPr>
          <p:sp>
            <p:nvSpPr>
              <p:cNvPr id="97" name="Textfeld 96">
                <a:extLst>
                  <a:ext uri="{FF2B5EF4-FFF2-40B4-BE49-F238E27FC236}">
                    <a16:creationId xmlns:a16="http://schemas.microsoft.com/office/drawing/2014/main" id="{68ACA8AD-3346-AB17-A2F2-F709529EC9CF}"/>
                  </a:ext>
                </a:extLst>
              </p:cNvPr>
              <p:cNvSpPr txBox="1"/>
              <p:nvPr/>
            </p:nvSpPr>
            <p:spPr>
              <a:xfrm>
                <a:off x="540271" y="5489337"/>
                <a:ext cx="1925500" cy="523220"/>
              </a:xfrm>
              <a:prstGeom prst="rect">
                <a:avLst/>
              </a:prstGeom>
              <a:noFill/>
            </p:spPr>
            <p:txBody>
              <a:bodyPr wrap="square" rtlCol="0">
                <a:spAutoFit/>
              </a:bodyPr>
              <a:lstStyle/>
              <a:p>
                <a:r>
                  <a:rPr lang="en-AU" sz="2800" b="1" noProof="0" dirty="0">
                    <a:solidFill>
                      <a:schemeClr val="tx2"/>
                    </a:solidFill>
                    <a:latin typeface="Futura LT Pro Light" panose="020B0402020204020303" pitchFamily="34" charset="0"/>
                    <a:cs typeface="+mn-cs"/>
                  </a:rPr>
                  <a:t>NEEDED:</a:t>
                </a:r>
              </a:p>
            </p:txBody>
          </p:sp>
          <p:sp>
            <p:nvSpPr>
              <p:cNvPr id="98" name="Textfeld 97">
                <a:extLst>
                  <a:ext uri="{FF2B5EF4-FFF2-40B4-BE49-F238E27FC236}">
                    <a16:creationId xmlns:a16="http://schemas.microsoft.com/office/drawing/2014/main" id="{D4375415-D65D-8723-865D-F134841AD765}"/>
                  </a:ext>
                </a:extLst>
              </p:cNvPr>
              <p:cNvSpPr txBox="1"/>
              <p:nvPr/>
            </p:nvSpPr>
            <p:spPr>
              <a:xfrm>
                <a:off x="2239269" y="5220469"/>
                <a:ext cx="9505056" cy="1077218"/>
              </a:xfrm>
              <a:prstGeom prst="rect">
                <a:avLst/>
              </a:prstGeom>
              <a:noFill/>
            </p:spPr>
            <p:txBody>
              <a:bodyPr wrap="square">
                <a:spAutoFit/>
              </a:bodyPr>
              <a:lstStyle/>
              <a:p>
                <a:r>
                  <a:rPr lang="en-AU" sz="2400" u="sng" noProof="0" dirty="0">
                    <a:solidFill>
                      <a:schemeClr val="tx2"/>
                    </a:solidFill>
                    <a:latin typeface="Futura LT Pro Light" panose="020B0402020204020303" pitchFamily="34" charset="0"/>
                  </a:rPr>
                  <a:t>Collapse capacity to design force models (CC2D-Models):</a:t>
                </a:r>
                <a:r>
                  <a:rPr lang="en-AU" sz="2400" noProof="0" dirty="0">
                    <a:solidFill>
                      <a:schemeClr val="tx2"/>
                    </a:solidFill>
                    <a:latin typeface="Futura LT Pro Light" panose="020B0402020204020303" pitchFamily="34" charset="0"/>
                  </a:rPr>
                  <a:t> </a:t>
                </a:r>
                <a:r>
                  <a:rPr lang="en-AU" sz="2000" noProof="0" dirty="0">
                    <a:latin typeface="Futura LT Pro Light" panose="020B0402020204020303" pitchFamily="34" charset="0"/>
                    <a:cs typeface="+mn-cs"/>
                  </a:rPr>
                  <a:t>models that define the relationship between the collapse capacity and design force of a structure. </a:t>
                </a:r>
                <a:endParaRPr lang="en-AU" sz="2400" noProof="0" dirty="0"/>
              </a:p>
            </p:txBody>
          </p:sp>
        </p:grpSp>
      </p:grpSp>
      <p:grpSp>
        <p:nvGrpSpPr>
          <p:cNvPr id="26" name="Gruppieren 25">
            <a:extLst>
              <a:ext uri="{FF2B5EF4-FFF2-40B4-BE49-F238E27FC236}">
                <a16:creationId xmlns:a16="http://schemas.microsoft.com/office/drawing/2014/main" id="{A1648371-AAFA-C631-6EEB-164AA79DFBF2}"/>
              </a:ext>
            </a:extLst>
          </p:cNvPr>
          <p:cNvGrpSpPr/>
          <p:nvPr/>
        </p:nvGrpSpPr>
        <p:grpSpPr>
          <a:xfrm>
            <a:off x="547900" y="4788421"/>
            <a:ext cx="4720392" cy="1228859"/>
            <a:chOff x="828302" y="5062879"/>
            <a:chExt cx="4720392" cy="1228859"/>
          </a:xfrm>
        </p:grpSpPr>
        <p:sp>
          <p:nvSpPr>
            <p:cNvPr id="28" name="Rechteck 27">
              <a:extLst>
                <a:ext uri="{FF2B5EF4-FFF2-40B4-BE49-F238E27FC236}">
                  <a16:creationId xmlns:a16="http://schemas.microsoft.com/office/drawing/2014/main" id="{57CB3259-0FF1-BC14-B428-61AC2B0B0531}"/>
                </a:ext>
              </a:extLst>
            </p:cNvPr>
            <p:cNvSpPr/>
            <p:nvPr/>
          </p:nvSpPr>
          <p:spPr>
            <a:xfrm>
              <a:off x="828302" y="5062879"/>
              <a:ext cx="4720392" cy="122885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nvGrpSpPr>
            <p:cNvPr id="27" name="Gruppieren 26">
              <a:extLst>
                <a:ext uri="{FF2B5EF4-FFF2-40B4-BE49-F238E27FC236}">
                  <a16:creationId xmlns:a16="http://schemas.microsoft.com/office/drawing/2014/main" id="{D31560E9-7127-03BC-E8F6-A6DECF37B867}"/>
                </a:ext>
              </a:extLst>
            </p:cNvPr>
            <p:cNvGrpSpPr/>
            <p:nvPr/>
          </p:nvGrpSpPr>
          <p:grpSpPr>
            <a:xfrm>
              <a:off x="838351" y="5231767"/>
              <a:ext cx="4546154" cy="852798"/>
              <a:chOff x="1484463" y="4757808"/>
              <a:chExt cx="4546154" cy="852798"/>
            </a:xfrm>
          </p:grpSpPr>
          <mc:AlternateContent xmlns:mc="http://schemas.openxmlformats.org/markup-compatibility/2006" xmlns:a14="http://schemas.microsoft.com/office/drawing/2010/main">
            <mc:Choice Requires="a14">
              <p:sp>
                <p:nvSpPr>
                  <p:cNvPr id="29" name="Textfeld 28">
                    <a:extLst>
                      <a:ext uri="{FF2B5EF4-FFF2-40B4-BE49-F238E27FC236}">
                        <a16:creationId xmlns:a16="http://schemas.microsoft.com/office/drawing/2014/main" id="{76A6DE98-6EB5-0E28-0084-3A720D8F84D1}"/>
                      </a:ext>
                    </a:extLst>
                  </p:cNvPr>
                  <p:cNvSpPr txBox="1"/>
                  <p:nvPr/>
                </p:nvSpPr>
                <p:spPr>
                  <a:xfrm>
                    <a:off x="1484463" y="5084319"/>
                    <a:ext cx="324036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rPr>
                      <a:t>4. </a:t>
                    </a:r>
                    <a:r>
                      <a:rPr kumimoji="0" lang="en-AU" sz="1800" b="0" i="0" u="none" strike="noStrike" kern="0" cap="none" spc="0" normalizeH="0" baseline="0" noProof="0" dirty="0">
                        <a:ln>
                          <a:noFill/>
                        </a:ln>
                        <a:solidFill>
                          <a:srgbClr val="333333"/>
                        </a:solidFill>
                        <a:effectLst/>
                        <a:uLnTx/>
                        <a:uFillTx/>
                        <a:latin typeface="Futura LT Pro Light" panose="020B0402020204020303" pitchFamily="34" charset="0"/>
                      </a:rPr>
                      <a:t>Estimate dispersion:    </a:t>
                    </a:r>
                    <a14:m>
                      <m:oMath xmlns:m="http://schemas.openxmlformats.org/officeDocument/2006/math">
                        <m:sSub>
                          <m:sSubPr>
                            <m:ctrlP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ctrlPr>
                          </m:sSubPr>
                          <m:e>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𝜷</m:t>
                            </m:r>
                          </m:e>
                          <m:sub>
                            <m:r>
                              <a:rPr kumimoji="0" lang="en-AU" sz="1800" b="1" i="1" u="none" strike="noStrike" kern="0" cap="none" spc="0" normalizeH="0" baseline="0" noProof="0" smtClean="0">
                                <a:ln>
                                  <a:noFill/>
                                </a:ln>
                                <a:solidFill>
                                  <a:srgbClr val="333333"/>
                                </a:solidFill>
                                <a:effectLst/>
                                <a:uLnTx/>
                                <a:uFillTx/>
                                <a:latin typeface="Cambria Math" panose="02040503050406030204" pitchFamily="18" charset="0"/>
                                <a:cs typeface="+mn-cs"/>
                              </a:rPr>
                              <m:t>𝒄</m:t>
                            </m:r>
                          </m:sub>
                        </m:sSub>
                      </m:oMath>
                    </a14:m>
                    <a:endParaRPr kumimoji="0" lang="en-AU" sz="1800" b="1" i="0" u="none" strike="noStrike" kern="0" cap="none" spc="0" normalizeH="0" baseline="0" noProof="0" dirty="0">
                      <a:ln>
                        <a:noFill/>
                      </a:ln>
                      <a:solidFill>
                        <a:srgbClr val="333333"/>
                      </a:solidFill>
                      <a:effectLst/>
                      <a:uLnTx/>
                      <a:uFillTx/>
                      <a:latin typeface="Futura LT Pro Light" panose="020B0402020204020303" pitchFamily="34" charset="0"/>
                    </a:endParaRPr>
                  </a:p>
                </p:txBody>
              </p:sp>
            </mc:Choice>
            <mc:Fallback xmlns="">
              <p:sp>
                <p:nvSpPr>
                  <p:cNvPr id="29" name="Textfeld 28">
                    <a:extLst>
                      <a:ext uri="{FF2B5EF4-FFF2-40B4-BE49-F238E27FC236}">
                        <a16:creationId xmlns:a16="http://schemas.microsoft.com/office/drawing/2014/main" id="{76A6DE98-6EB5-0E28-0084-3A720D8F84D1}"/>
                      </a:ext>
                    </a:extLst>
                  </p:cNvPr>
                  <p:cNvSpPr txBox="1">
                    <a:spLocks noRot="1" noChangeAspect="1" noMove="1" noResize="1" noEditPoints="1" noAdjustHandles="1" noChangeArrowheads="1" noChangeShapeType="1" noTextEdit="1"/>
                  </p:cNvSpPr>
                  <p:nvPr/>
                </p:nvSpPr>
                <p:spPr>
                  <a:xfrm>
                    <a:off x="1484463" y="5084319"/>
                    <a:ext cx="3240360" cy="369332"/>
                  </a:xfrm>
                  <a:prstGeom prst="rect">
                    <a:avLst/>
                  </a:prstGeom>
                  <a:blipFill>
                    <a:blip r:embed="rId6"/>
                    <a:stretch>
                      <a:fillRect l="-1695" t="-10000" b="-26667"/>
                    </a:stretch>
                  </a:blipFill>
                </p:spPr>
                <p:txBody>
                  <a:bodyPr/>
                  <a:lstStyle/>
                  <a:p>
                    <a:r>
                      <a:rPr lang="de-DE">
                        <a:noFill/>
                      </a:rPr>
                      <a:t> </a:t>
                    </a:r>
                  </a:p>
                </p:txBody>
              </p:sp>
            </mc:Fallback>
          </mc:AlternateContent>
          <p:grpSp>
            <p:nvGrpSpPr>
              <p:cNvPr id="30" name="Gruppieren 29">
                <a:extLst>
                  <a:ext uri="{FF2B5EF4-FFF2-40B4-BE49-F238E27FC236}">
                    <a16:creationId xmlns:a16="http://schemas.microsoft.com/office/drawing/2014/main" id="{E84166D9-5D67-A49F-293F-68597676A5ED}"/>
                  </a:ext>
                </a:extLst>
              </p:cNvPr>
              <p:cNvGrpSpPr/>
              <p:nvPr/>
            </p:nvGrpSpPr>
            <p:grpSpPr>
              <a:xfrm>
                <a:off x="4858791" y="4757808"/>
                <a:ext cx="1171826" cy="852798"/>
                <a:chOff x="4858791" y="4831963"/>
                <a:chExt cx="1171826" cy="852798"/>
              </a:xfrm>
            </p:grpSpPr>
            <p:sp>
              <p:nvSpPr>
                <p:cNvPr id="31" name="Freihandform: Form 30">
                  <a:extLst>
                    <a:ext uri="{FF2B5EF4-FFF2-40B4-BE49-F238E27FC236}">
                      <a16:creationId xmlns:a16="http://schemas.microsoft.com/office/drawing/2014/main" id="{FD92F19F-AE73-53F8-92DB-BEF63ABFA78C}"/>
                    </a:ext>
                  </a:extLst>
                </p:cNvPr>
                <p:cNvSpPr/>
                <p:nvPr/>
              </p:nvSpPr>
              <p:spPr>
                <a:xfrm>
                  <a:off x="4858791" y="4831963"/>
                  <a:ext cx="1171826" cy="852798"/>
                </a:xfrm>
                <a:custGeom>
                  <a:avLst/>
                  <a:gdLst>
                    <a:gd name="connsiteX0" fmla="*/ 0 w 1492250"/>
                    <a:gd name="connsiteY0" fmla="*/ 541265 h 541265"/>
                    <a:gd name="connsiteX1" fmla="*/ 641350 w 1492250"/>
                    <a:gd name="connsiteY1" fmla="*/ 84065 h 541265"/>
                    <a:gd name="connsiteX2" fmla="*/ 1206500 w 1492250"/>
                    <a:gd name="connsiteY2" fmla="*/ 39615 h 541265"/>
                    <a:gd name="connsiteX3" fmla="*/ 1492250 w 1492250"/>
                    <a:gd name="connsiteY3" fmla="*/ 515865 h 541265"/>
                    <a:gd name="connsiteX0" fmla="*/ 0 w 1492250"/>
                    <a:gd name="connsiteY0" fmla="*/ 543407 h 543407"/>
                    <a:gd name="connsiteX1" fmla="*/ 527050 w 1492250"/>
                    <a:gd name="connsiteY1" fmla="*/ 79857 h 543407"/>
                    <a:gd name="connsiteX2" fmla="*/ 1206500 w 1492250"/>
                    <a:gd name="connsiteY2" fmla="*/ 41757 h 543407"/>
                    <a:gd name="connsiteX3" fmla="*/ 1492250 w 1492250"/>
                    <a:gd name="connsiteY3" fmla="*/ 518007 h 543407"/>
                    <a:gd name="connsiteX0" fmla="*/ 0 w 1492250"/>
                    <a:gd name="connsiteY0" fmla="*/ 595033 h 595033"/>
                    <a:gd name="connsiteX1" fmla="*/ 527050 w 1492250"/>
                    <a:gd name="connsiteY1" fmla="*/ 131483 h 595033"/>
                    <a:gd name="connsiteX2" fmla="*/ 1206500 w 1492250"/>
                    <a:gd name="connsiteY2" fmla="*/ 93383 h 595033"/>
                    <a:gd name="connsiteX3" fmla="*/ 1492250 w 1492250"/>
                    <a:gd name="connsiteY3" fmla="*/ 569633 h 595033"/>
                    <a:gd name="connsiteX0" fmla="*/ 0 w 1492250"/>
                    <a:gd name="connsiteY0" fmla="*/ 512883 h 512883"/>
                    <a:gd name="connsiteX1" fmla="*/ 527050 w 1492250"/>
                    <a:gd name="connsiteY1" fmla="*/ 49333 h 512883"/>
                    <a:gd name="connsiteX2" fmla="*/ 1136650 w 1492250"/>
                    <a:gd name="connsiteY2" fmla="*/ 62033 h 512883"/>
                    <a:gd name="connsiteX3" fmla="*/ 1492250 w 1492250"/>
                    <a:gd name="connsiteY3" fmla="*/ 487483 h 512883"/>
                    <a:gd name="connsiteX0" fmla="*/ 0 w 1492250"/>
                    <a:gd name="connsiteY0" fmla="*/ 512883 h 512883"/>
                    <a:gd name="connsiteX1" fmla="*/ 527050 w 1492250"/>
                    <a:gd name="connsiteY1" fmla="*/ 49333 h 512883"/>
                    <a:gd name="connsiteX2" fmla="*/ 1136650 w 1492250"/>
                    <a:gd name="connsiteY2" fmla="*/ 62033 h 512883"/>
                    <a:gd name="connsiteX3" fmla="*/ 1492250 w 1492250"/>
                    <a:gd name="connsiteY3" fmla="*/ 487483 h 512883"/>
                    <a:gd name="connsiteX0" fmla="*/ 0 w 1492250"/>
                    <a:gd name="connsiteY0" fmla="*/ 544471 h 544471"/>
                    <a:gd name="connsiteX1" fmla="*/ 527050 w 1492250"/>
                    <a:gd name="connsiteY1" fmla="*/ 80921 h 544471"/>
                    <a:gd name="connsiteX2" fmla="*/ 1136650 w 1492250"/>
                    <a:gd name="connsiteY2" fmla="*/ 93621 h 544471"/>
                    <a:gd name="connsiteX3" fmla="*/ 1492250 w 1492250"/>
                    <a:gd name="connsiteY3" fmla="*/ 519071 h 544471"/>
                    <a:gd name="connsiteX0" fmla="*/ 0 w 1492250"/>
                    <a:gd name="connsiteY0" fmla="*/ 544471 h 544471"/>
                    <a:gd name="connsiteX1" fmla="*/ 527050 w 1492250"/>
                    <a:gd name="connsiteY1" fmla="*/ 80921 h 544471"/>
                    <a:gd name="connsiteX2" fmla="*/ 1136650 w 1492250"/>
                    <a:gd name="connsiteY2" fmla="*/ 93621 h 544471"/>
                    <a:gd name="connsiteX3" fmla="*/ 1492250 w 1492250"/>
                    <a:gd name="connsiteY3" fmla="*/ 519071 h 544471"/>
                    <a:gd name="connsiteX0" fmla="*/ 0 w 1492250"/>
                    <a:gd name="connsiteY0" fmla="*/ 544471 h 544471"/>
                    <a:gd name="connsiteX1" fmla="*/ 527050 w 1492250"/>
                    <a:gd name="connsiteY1" fmla="*/ 80921 h 544471"/>
                    <a:gd name="connsiteX2" fmla="*/ 1136650 w 1492250"/>
                    <a:gd name="connsiteY2" fmla="*/ 93621 h 544471"/>
                    <a:gd name="connsiteX3" fmla="*/ 1492250 w 1492250"/>
                    <a:gd name="connsiteY3" fmla="*/ 519071 h 544471"/>
                    <a:gd name="connsiteX0" fmla="*/ 0 w 1492250"/>
                    <a:gd name="connsiteY0" fmla="*/ 512300 h 512300"/>
                    <a:gd name="connsiteX1" fmla="*/ 527050 w 1492250"/>
                    <a:gd name="connsiteY1" fmla="*/ 48750 h 512300"/>
                    <a:gd name="connsiteX2" fmla="*/ 1035050 w 1492250"/>
                    <a:gd name="connsiteY2" fmla="*/ 118600 h 512300"/>
                    <a:gd name="connsiteX3" fmla="*/ 1492250 w 1492250"/>
                    <a:gd name="connsiteY3" fmla="*/ 486900 h 512300"/>
                    <a:gd name="connsiteX0" fmla="*/ 0 w 1492250"/>
                    <a:gd name="connsiteY0" fmla="*/ 557701 h 557701"/>
                    <a:gd name="connsiteX1" fmla="*/ 527050 w 1492250"/>
                    <a:gd name="connsiteY1" fmla="*/ 94151 h 557701"/>
                    <a:gd name="connsiteX2" fmla="*/ 1035050 w 1492250"/>
                    <a:gd name="connsiteY2" fmla="*/ 164001 h 557701"/>
                    <a:gd name="connsiteX3" fmla="*/ 1492250 w 1492250"/>
                    <a:gd name="connsiteY3" fmla="*/ 532301 h 557701"/>
                    <a:gd name="connsiteX0" fmla="*/ 0 w 1492250"/>
                    <a:gd name="connsiteY0" fmla="*/ 434454 h 434454"/>
                    <a:gd name="connsiteX1" fmla="*/ 495300 w 1492250"/>
                    <a:gd name="connsiteY1" fmla="*/ 53454 h 434454"/>
                    <a:gd name="connsiteX2" fmla="*/ 1035050 w 1492250"/>
                    <a:gd name="connsiteY2" fmla="*/ 40754 h 434454"/>
                    <a:gd name="connsiteX3" fmla="*/ 1492250 w 1492250"/>
                    <a:gd name="connsiteY3" fmla="*/ 409054 h 434454"/>
                    <a:gd name="connsiteX0" fmla="*/ 0 w 1492250"/>
                    <a:gd name="connsiteY0" fmla="*/ 516064 h 516064"/>
                    <a:gd name="connsiteX1" fmla="*/ 495300 w 1492250"/>
                    <a:gd name="connsiteY1" fmla="*/ 135064 h 516064"/>
                    <a:gd name="connsiteX2" fmla="*/ 1035050 w 1492250"/>
                    <a:gd name="connsiteY2" fmla="*/ 122364 h 516064"/>
                    <a:gd name="connsiteX3" fmla="*/ 1492250 w 1492250"/>
                    <a:gd name="connsiteY3" fmla="*/ 490664 h 516064"/>
                    <a:gd name="connsiteX0" fmla="*/ 0 w 1492250"/>
                    <a:gd name="connsiteY0" fmla="*/ 558410 h 558410"/>
                    <a:gd name="connsiteX1" fmla="*/ 495300 w 1492250"/>
                    <a:gd name="connsiteY1" fmla="*/ 177410 h 558410"/>
                    <a:gd name="connsiteX2" fmla="*/ 1035050 w 1492250"/>
                    <a:gd name="connsiteY2" fmla="*/ 164710 h 558410"/>
                    <a:gd name="connsiteX3" fmla="*/ 1492250 w 1492250"/>
                    <a:gd name="connsiteY3" fmla="*/ 533010 h 558410"/>
                    <a:gd name="connsiteX0" fmla="*/ 0 w 1492250"/>
                    <a:gd name="connsiteY0" fmla="*/ 653534 h 653534"/>
                    <a:gd name="connsiteX1" fmla="*/ 495300 w 1492250"/>
                    <a:gd name="connsiteY1" fmla="*/ 272534 h 653534"/>
                    <a:gd name="connsiteX2" fmla="*/ 1035050 w 1492250"/>
                    <a:gd name="connsiteY2" fmla="*/ 259834 h 653534"/>
                    <a:gd name="connsiteX3" fmla="*/ 1492250 w 1492250"/>
                    <a:gd name="connsiteY3" fmla="*/ 628134 h 653534"/>
                    <a:gd name="connsiteX0" fmla="*/ 0 w 1492250"/>
                    <a:gd name="connsiteY0" fmla="*/ 661745 h 661745"/>
                    <a:gd name="connsiteX1" fmla="*/ 495300 w 1492250"/>
                    <a:gd name="connsiteY1" fmla="*/ 280745 h 661745"/>
                    <a:gd name="connsiteX2" fmla="*/ 1035050 w 1492250"/>
                    <a:gd name="connsiteY2" fmla="*/ 268045 h 661745"/>
                    <a:gd name="connsiteX3" fmla="*/ 1492250 w 1492250"/>
                    <a:gd name="connsiteY3" fmla="*/ 636345 h 661745"/>
                    <a:gd name="connsiteX0" fmla="*/ 0 w 1492250"/>
                    <a:gd name="connsiteY0" fmla="*/ 522621 h 522621"/>
                    <a:gd name="connsiteX1" fmla="*/ 584200 w 1492250"/>
                    <a:gd name="connsiteY1" fmla="*/ 147971 h 522621"/>
                    <a:gd name="connsiteX2" fmla="*/ 1035050 w 1492250"/>
                    <a:gd name="connsiteY2" fmla="*/ 128921 h 522621"/>
                    <a:gd name="connsiteX3" fmla="*/ 1492250 w 1492250"/>
                    <a:gd name="connsiteY3" fmla="*/ 497221 h 522621"/>
                    <a:gd name="connsiteX0" fmla="*/ 0 w 1492250"/>
                    <a:gd name="connsiteY0" fmla="*/ 431319 h 431319"/>
                    <a:gd name="connsiteX1" fmla="*/ 584200 w 1492250"/>
                    <a:gd name="connsiteY1" fmla="*/ 56669 h 431319"/>
                    <a:gd name="connsiteX2" fmla="*/ 927100 w 1492250"/>
                    <a:gd name="connsiteY2" fmla="*/ 37619 h 431319"/>
                    <a:gd name="connsiteX3" fmla="*/ 1492250 w 1492250"/>
                    <a:gd name="connsiteY3" fmla="*/ 405919 h 431319"/>
                    <a:gd name="connsiteX0" fmla="*/ 0 w 1492250"/>
                    <a:gd name="connsiteY0" fmla="*/ 517228 h 517228"/>
                    <a:gd name="connsiteX1" fmla="*/ 584200 w 1492250"/>
                    <a:gd name="connsiteY1" fmla="*/ 142578 h 517228"/>
                    <a:gd name="connsiteX2" fmla="*/ 927100 w 1492250"/>
                    <a:gd name="connsiteY2" fmla="*/ 123528 h 517228"/>
                    <a:gd name="connsiteX3" fmla="*/ 1492250 w 1492250"/>
                    <a:gd name="connsiteY3" fmla="*/ 491828 h 517228"/>
                    <a:gd name="connsiteX0" fmla="*/ 0 w 1492250"/>
                    <a:gd name="connsiteY0" fmla="*/ 573833 h 573833"/>
                    <a:gd name="connsiteX1" fmla="*/ 584200 w 1492250"/>
                    <a:gd name="connsiteY1" fmla="*/ 199183 h 573833"/>
                    <a:gd name="connsiteX2" fmla="*/ 927100 w 1492250"/>
                    <a:gd name="connsiteY2" fmla="*/ 180133 h 573833"/>
                    <a:gd name="connsiteX3" fmla="*/ 1492250 w 1492250"/>
                    <a:gd name="connsiteY3" fmla="*/ 548433 h 573833"/>
                    <a:gd name="connsiteX0" fmla="*/ 0 w 1524000"/>
                    <a:gd name="connsiteY0" fmla="*/ 509999 h 567149"/>
                    <a:gd name="connsiteX1" fmla="*/ 584200 w 1524000"/>
                    <a:gd name="connsiteY1" fmla="*/ 135349 h 567149"/>
                    <a:gd name="connsiteX2" fmla="*/ 927100 w 1524000"/>
                    <a:gd name="connsiteY2" fmla="*/ 116299 h 567149"/>
                    <a:gd name="connsiteX3" fmla="*/ 1524000 w 1524000"/>
                    <a:gd name="connsiteY3" fmla="*/ 567149 h 567149"/>
                    <a:gd name="connsiteX0" fmla="*/ 0 w 1517650"/>
                    <a:gd name="connsiteY0" fmla="*/ 510657 h 510657"/>
                    <a:gd name="connsiteX1" fmla="*/ 577850 w 1517650"/>
                    <a:gd name="connsiteY1" fmla="*/ 66157 h 510657"/>
                    <a:gd name="connsiteX2" fmla="*/ 920750 w 1517650"/>
                    <a:gd name="connsiteY2" fmla="*/ 47107 h 510657"/>
                    <a:gd name="connsiteX3" fmla="*/ 1517650 w 1517650"/>
                    <a:gd name="connsiteY3" fmla="*/ 497957 h 510657"/>
                    <a:gd name="connsiteX0" fmla="*/ 0 w 1517650"/>
                    <a:gd name="connsiteY0" fmla="*/ 479555 h 479555"/>
                    <a:gd name="connsiteX1" fmla="*/ 577850 w 1517650"/>
                    <a:gd name="connsiteY1" fmla="*/ 136655 h 479555"/>
                    <a:gd name="connsiteX2" fmla="*/ 920750 w 1517650"/>
                    <a:gd name="connsiteY2" fmla="*/ 16005 h 479555"/>
                    <a:gd name="connsiteX3" fmla="*/ 1517650 w 1517650"/>
                    <a:gd name="connsiteY3" fmla="*/ 466855 h 479555"/>
                    <a:gd name="connsiteX0" fmla="*/ 0 w 1517650"/>
                    <a:gd name="connsiteY0" fmla="*/ 392479 h 392479"/>
                    <a:gd name="connsiteX1" fmla="*/ 577850 w 1517650"/>
                    <a:gd name="connsiteY1" fmla="*/ 49579 h 392479"/>
                    <a:gd name="connsiteX2" fmla="*/ 914400 w 1517650"/>
                    <a:gd name="connsiteY2" fmla="*/ 36879 h 392479"/>
                    <a:gd name="connsiteX3" fmla="*/ 1517650 w 1517650"/>
                    <a:gd name="connsiteY3" fmla="*/ 379779 h 392479"/>
                    <a:gd name="connsiteX0" fmla="*/ 0 w 1517650"/>
                    <a:gd name="connsiteY0" fmla="*/ 438243 h 438243"/>
                    <a:gd name="connsiteX1" fmla="*/ 577850 w 1517650"/>
                    <a:gd name="connsiteY1" fmla="*/ 95343 h 438243"/>
                    <a:gd name="connsiteX2" fmla="*/ 914400 w 1517650"/>
                    <a:gd name="connsiteY2" fmla="*/ 82643 h 438243"/>
                    <a:gd name="connsiteX3" fmla="*/ 1517650 w 1517650"/>
                    <a:gd name="connsiteY3" fmla="*/ 425543 h 438243"/>
                    <a:gd name="connsiteX0" fmla="*/ 0 w 1517650"/>
                    <a:gd name="connsiteY0" fmla="*/ 485398 h 485398"/>
                    <a:gd name="connsiteX1" fmla="*/ 577850 w 1517650"/>
                    <a:gd name="connsiteY1" fmla="*/ 142498 h 485398"/>
                    <a:gd name="connsiteX2" fmla="*/ 914400 w 1517650"/>
                    <a:gd name="connsiteY2" fmla="*/ 129798 h 485398"/>
                    <a:gd name="connsiteX3" fmla="*/ 1517650 w 1517650"/>
                    <a:gd name="connsiteY3" fmla="*/ 472698 h 485398"/>
                    <a:gd name="connsiteX0" fmla="*/ 0 w 1517650"/>
                    <a:gd name="connsiteY0" fmla="*/ 450001 h 450001"/>
                    <a:gd name="connsiteX1" fmla="*/ 577850 w 1517650"/>
                    <a:gd name="connsiteY1" fmla="*/ 107101 h 450001"/>
                    <a:gd name="connsiteX2" fmla="*/ 965200 w 1517650"/>
                    <a:gd name="connsiteY2" fmla="*/ 94401 h 450001"/>
                    <a:gd name="connsiteX3" fmla="*/ 1517650 w 1517650"/>
                    <a:gd name="connsiteY3" fmla="*/ 437301 h 450001"/>
                    <a:gd name="connsiteX0" fmla="*/ 0 w 1517650"/>
                    <a:gd name="connsiteY0" fmla="*/ 476639 h 476639"/>
                    <a:gd name="connsiteX1" fmla="*/ 577850 w 1517650"/>
                    <a:gd name="connsiteY1" fmla="*/ 133739 h 476639"/>
                    <a:gd name="connsiteX2" fmla="*/ 965200 w 1517650"/>
                    <a:gd name="connsiteY2" fmla="*/ 121039 h 476639"/>
                    <a:gd name="connsiteX3" fmla="*/ 1517650 w 1517650"/>
                    <a:gd name="connsiteY3" fmla="*/ 463939 h 476639"/>
                    <a:gd name="connsiteX0" fmla="*/ 0 w 1517650"/>
                    <a:gd name="connsiteY0" fmla="*/ 485398 h 485398"/>
                    <a:gd name="connsiteX1" fmla="*/ 577850 w 1517650"/>
                    <a:gd name="connsiteY1" fmla="*/ 142498 h 485398"/>
                    <a:gd name="connsiteX2" fmla="*/ 965200 w 1517650"/>
                    <a:gd name="connsiteY2" fmla="*/ 129798 h 485398"/>
                    <a:gd name="connsiteX3" fmla="*/ 1517650 w 1517650"/>
                    <a:gd name="connsiteY3" fmla="*/ 472698 h 485398"/>
                    <a:gd name="connsiteX0" fmla="*/ 0 w 1498600"/>
                    <a:gd name="connsiteY0" fmla="*/ 430129 h 436479"/>
                    <a:gd name="connsiteX1" fmla="*/ 558800 w 1498600"/>
                    <a:gd name="connsiteY1" fmla="*/ 106279 h 436479"/>
                    <a:gd name="connsiteX2" fmla="*/ 946150 w 1498600"/>
                    <a:gd name="connsiteY2" fmla="*/ 93579 h 436479"/>
                    <a:gd name="connsiteX3" fmla="*/ 1498600 w 1498600"/>
                    <a:gd name="connsiteY3" fmla="*/ 436479 h 436479"/>
                    <a:gd name="connsiteX0" fmla="*/ 0 w 1498600"/>
                    <a:gd name="connsiteY0" fmla="*/ 430129 h 436479"/>
                    <a:gd name="connsiteX1" fmla="*/ 558800 w 1498600"/>
                    <a:gd name="connsiteY1" fmla="*/ 106279 h 436479"/>
                    <a:gd name="connsiteX2" fmla="*/ 946150 w 1498600"/>
                    <a:gd name="connsiteY2" fmla="*/ 93579 h 436479"/>
                    <a:gd name="connsiteX3" fmla="*/ 1498600 w 1498600"/>
                    <a:gd name="connsiteY3" fmla="*/ 436479 h 436479"/>
                    <a:gd name="connsiteX0" fmla="*/ 0 w 1498600"/>
                    <a:gd name="connsiteY0" fmla="*/ 463013 h 469363"/>
                    <a:gd name="connsiteX1" fmla="*/ 558800 w 1498600"/>
                    <a:gd name="connsiteY1" fmla="*/ 139163 h 469363"/>
                    <a:gd name="connsiteX2" fmla="*/ 946150 w 1498600"/>
                    <a:gd name="connsiteY2" fmla="*/ 126463 h 469363"/>
                    <a:gd name="connsiteX3" fmla="*/ 1498600 w 1498600"/>
                    <a:gd name="connsiteY3" fmla="*/ 469363 h 469363"/>
                    <a:gd name="connsiteX0" fmla="*/ 0 w 1498600"/>
                    <a:gd name="connsiteY0" fmla="*/ 463013 h 469363"/>
                    <a:gd name="connsiteX1" fmla="*/ 558800 w 1498600"/>
                    <a:gd name="connsiteY1" fmla="*/ 139163 h 469363"/>
                    <a:gd name="connsiteX2" fmla="*/ 946150 w 1498600"/>
                    <a:gd name="connsiteY2" fmla="*/ 126463 h 469363"/>
                    <a:gd name="connsiteX3" fmla="*/ 1498600 w 1498600"/>
                    <a:gd name="connsiteY3" fmla="*/ 469363 h 469363"/>
                    <a:gd name="connsiteX0" fmla="*/ 0 w 1498600"/>
                    <a:gd name="connsiteY0" fmla="*/ 481077 h 487427"/>
                    <a:gd name="connsiteX1" fmla="*/ 558800 w 1498600"/>
                    <a:gd name="connsiteY1" fmla="*/ 157227 h 487427"/>
                    <a:gd name="connsiteX2" fmla="*/ 946150 w 1498600"/>
                    <a:gd name="connsiteY2" fmla="*/ 144527 h 487427"/>
                    <a:gd name="connsiteX3" fmla="*/ 1498600 w 1498600"/>
                    <a:gd name="connsiteY3" fmla="*/ 487427 h 487427"/>
                    <a:gd name="connsiteX0" fmla="*/ 0 w 1498600"/>
                    <a:gd name="connsiteY0" fmla="*/ 496947 h 503297"/>
                    <a:gd name="connsiteX1" fmla="*/ 558800 w 1498600"/>
                    <a:gd name="connsiteY1" fmla="*/ 173097 h 503297"/>
                    <a:gd name="connsiteX2" fmla="*/ 946150 w 1498600"/>
                    <a:gd name="connsiteY2" fmla="*/ 160397 h 503297"/>
                    <a:gd name="connsiteX3" fmla="*/ 1498600 w 1498600"/>
                    <a:gd name="connsiteY3" fmla="*/ 503297 h 503297"/>
                    <a:gd name="connsiteX0" fmla="*/ 0 w 1498600"/>
                    <a:gd name="connsiteY0" fmla="*/ 524718 h 531068"/>
                    <a:gd name="connsiteX1" fmla="*/ 558800 w 1498600"/>
                    <a:gd name="connsiteY1" fmla="*/ 200868 h 531068"/>
                    <a:gd name="connsiteX2" fmla="*/ 946150 w 1498600"/>
                    <a:gd name="connsiteY2" fmla="*/ 188168 h 531068"/>
                    <a:gd name="connsiteX3" fmla="*/ 1498600 w 1498600"/>
                    <a:gd name="connsiteY3" fmla="*/ 531068 h 531068"/>
                    <a:gd name="connsiteX0" fmla="*/ 0 w 1498600"/>
                    <a:gd name="connsiteY0" fmla="*/ 527213 h 533563"/>
                    <a:gd name="connsiteX1" fmla="*/ 558800 w 1498600"/>
                    <a:gd name="connsiteY1" fmla="*/ 203363 h 533563"/>
                    <a:gd name="connsiteX2" fmla="*/ 946150 w 1498600"/>
                    <a:gd name="connsiteY2" fmla="*/ 190663 h 533563"/>
                    <a:gd name="connsiteX3" fmla="*/ 1498600 w 1498600"/>
                    <a:gd name="connsiteY3" fmla="*/ 533563 h 533563"/>
                  </a:gdLst>
                  <a:ahLst/>
                  <a:cxnLst>
                    <a:cxn ang="0">
                      <a:pos x="connsiteX0" y="connsiteY0"/>
                    </a:cxn>
                    <a:cxn ang="0">
                      <a:pos x="connsiteX1" y="connsiteY1"/>
                    </a:cxn>
                    <a:cxn ang="0">
                      <a:pos x="connsiteX2" y="connsiteY2"/>
                    </a:cxn>
                    <a:cxn ang="0">
                      <a:pos x="connsiteX3" y="connsiteY3"/>
                    </a:cxn>
                  </a:cxnLst>
                  <a:rect l="l" t="t" r="r" b="b"/>
                  <a:pathLst>
                    <a:path w="1498600" h="533563">
                      <a:moveTo>
                        <a:pt x="0" y="527213"/>
                      </a:moveTo>
                      <a:cubicBezTo>
                        <a:pt x="442383" y="448367"/>
                        <a:pt x="420158" y="449955"/>
                        <a:pt x="558800" y="203363"/>
                      </a:cubicBezTo>
                      <a:cubicBezTo>
                        <a:pt x="697442" y="-43229"/>
                        <a:pt x="783167" y="-86620"/>
                        <a:pt x="946150" y="190663"/>
                      </a:cubicBezTo>
                      <a:cubicBezTo>
                        <a:pt x="1109133" y="467946"/>
                        <a:pt x="1172633" y="477471"/>
                        <a:pt x="1498600" y="533563"/>
                      </a:cubicBezTo>
                    </a:path>
                  </a:pathLst>
                </a:custGeom>
                <a:solidFill>
                  <a:srgbClr val="00263E">
                    <a:lumMod val="10000"/>
                    <a:lumOff val="90000"/>
                  </a:srgbClr>
                </a:solidFill>
                <a:ln w="28575" cap="flat" cmpd="sng" algn="ctr">
                  <a:solidFill>
                    <a:srgbClr val="00263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cxnSp>
              <p:nvCxnSpPr>
                <p:cNvPr id="32" name="Gerade Verbindung mit Pfeil 31">
                  <a:extLst>
                    <a:ext uri="{FF2B5EF4-FFF2-40B4-BE49-F238E27FC236}">
                      <a16:creationId xmlns:a16="http://schemas.microsoft.com/office/drawing/2014/main" id="{E2DD1542-FB2C-DD8B-03CA-667700740BA9}"/>
                    </a:ext>
                  </a:extLst>
                </p:cNvPr>
                <p:cNvCxnSpPr>
                  <a:cxnSpLocks/>
                </p:cNvCxnSpPr>
                <p:nvPr/>
              </p:nvCxnSpPr>
              <p:spPr>
                <a:xfrm>
                  <a:off x="5247461" y="5450445"/>
                  <a:ext cx="403020" cy="0"/>
                </a:xfrm>
                <a:prstGeom prst="straightConnector1">
                  <a:avLst/>
                </a:prstGeom>
                <a:noFill/>
                <a:ln w="28575" cap="flat" cmpd="sng" algn="ctr">
                  <a:solidFill>
                    <a:srgbClr val="00263E"/>
                  </a:solidFill>
                  <a:prstDash val="solid"/>
                  <a:headEnd type="triangle"/>
                  <a:tailEnd type="triangle"/>
                </a:ln>
                <a:effectLst/>
              </p:spPr>
            </p:cxnSp>
          </p:grpSp>
        </p:grpSp>
      </p:grpSp>
      <p:grpSp>
        <p:nvGrpSpPr>
          <p:cNvPr id="2" name="Gruppieren 1">
            <a:extLst>
              <a:ext uri="{FF2B5EF4-FFF2-40B4-BE49-F238E27FC236}">
                <a16:creationId xmlns:a16="http://schemas.microsoft.com/office/drawing/2014/main" id="{7701DE4C-DE92-C474-5EA1-A1E8C9866792}"/>
              </a:ext>
            </a:extLst>
          </p:cNvPr>
          <p:cNvGrpSpPr/>
          <p:nvPr/>
        </p:nvGrpSpPr>
        <p:grpSpPr>
          <a:xfrm>
            <a:off x="6084887" y="3188632"/>
            <a:ext cx="5679857" cy="1311757"/>
            <a:chOff x="6084887" y="3188632"/>
            <a:chExt cx="5679857" cy="1311757"/>
          </a:xfrm>
        </p:grpSpPr>
        <p:sp>
          <p:nvSpPr>
            <p:cNvPr id="43" name="Rechteck 42">
              <a:extLst>
                <a:ext uri="{FF2B5EF4-FFF2-40B4-BE49-F238E27FC236}">
                  <a16:creationId xmlns:a16="http://schemas.microsoft.com/office/drawing/2014/main" id="{04441B52-6FA5-02DE-1E2F-EF82AA0D8DA0}"/>
                </a:ext>
              </a:extLst>
            </p:cNvPr>
            <p:cNvSpPr/>
            <p:nvPr/>
          </p:nvSpPr>
          <p:spPr>
            <a:xfrm>
              <a:off x="6084887" y="3188632"/>
              <a:ext cx="5679857" cy="1311757"/>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mc:AlternateContent xmlns:mc="http://schemas.openxmlformats.org/markup-compatibility/2006" xmlns:a14="http://schemas.microsoft.com/office/drawing/2010/main">
          <mc:Choice Requires="a14">
            <p:sp>
              <p:nvSpPr>
                <p:cNvPr id="41" name="Textfeld 40">
                  <a:extLst>
                    <a:ext uri="{FF2B5EF4-FFF2-40B4-BE49-F238E27FC236}">
                      <a16:creationId xmlns:a16="http://schemas.microsoft.com/office/drawing/2014/main" id="{62139174-6E03-DE66-D653-03332185975C}"/>
                    </a:ext>
                  </a:extLst>
                </p:cNvPr>
                <p:cNvSpPr txBox="1"/>
                <p:nvPr/>
              </p:nvSpPr>
              <p:spPr>
                <a:xfrm>
                  <a:off x="6088790" y="3340403"/>
                  <a:ext cx="4541627" cy="1089401"/>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1200"/>
                    </a:spcAft>
                    <a:buClrTx/>
                    <a:buSzTx/>
                    <a:buFontTx/>
                    <a:buNone/>
                    <a:tabLst/>
                    <a:defRPr/>
                  </a:pPr>
                  <a:r>
                    <a:rPr kumimoji="0" lang="en-AU" sz="1800" b="1" i="0" strike="noStrike" kern="0" cap="none" spc="0" normalizeH="0" baseline="0" noProof="0" dirty="0">
                      <a:ln>
                        <a:noFill/>
                      </a:ln>
                      <a:solidFill>
                        <a:schemeClr val="tx1"/>
                      </a:solidFill>
                      <a:effectLst/>
                      <a:uLnTx/>
                      <a:uFillTx/>
                      <a:latin typeface="Futura LT Pro Light" panose="020B0402020204020303" pitchFamily="34" charset="0"/>
                    </a:rPr>
                    <a:t>6. </a:t>
                  </a:r>
                  <a:r>
                    <a:rPr kumimoji="0" lang="en-AU" sz="1800" b="0" i="0" strike="noStrike" kern="0" cap="none" spc="0" normalizeH="0" baseline="0" noProof="0" dirty="0">
                      <a:ln>
                        <a:noFill/>
                      </a:ln>
                      <a:solidFill>
                        <a:schemeClr val="tx1"/>
                      </a:solidFill>
                      <a:effectLst/>
                      <a:uLnTx/>
                      <a:uFillTx/>
                      <a:latin typeface="Futura LT Pro Light" panose="020B0402020204020303" pitchFamily="34" charset="0"/>
                    </a:rPr>
                    <a:t>Calculate the seismic forces using CC2D-Models:</a:t>
                  </a:r>
                  <a:endParaRPr kumimoji="0" lang="en-AU" sz="1000" b="0" i="0" strike="noStrike" kern="0" cap="none" spc="0" normalizeH="0" baseline="0" noProof="0" dirty="0">
                    <a:ln>
                      <a:noFill/>
                    </a:ln>
                    <a:solidFill>
                      <a:schemeClr val="tx1"/>
                    </a:solidFill>
                    <a:effectLst/>
                    <a:uLnTx/>
                    <a:uFillTx/>
                    <a:latin typeface="Futura LT Pro Light" panose="020B04020202040203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0" lang="en-AU" sz="1800" b="1" i="1" strike="noStrike" kern="0" cap="none" spc="0" normalizeH="0" baseline="0" noProof="0" smtClean="0">
                              <a:ln>
                                <a:noFill/>
                              </a:ln>
                              <a:solidFill>
                                <a:schemeClr val="tx1"/>
                              </a:solidFill>
                              <a:effectLst/>
                              <a:uLnTx/>
                              <a:uFillTx/>
                              <a:latin typeface="Cambria Math" panose="02040503050406030204" pitchFamily="18" charset="0"/>
                            </a:rPr>
                          </m:ctrlPr>
                        </m:sSubSupPr>
                        <m:e>
                          <m:r>
                            <a:rPr kumimoji="0" lang="en-AU" sz="1800" b="1" i="1" strike="noStrike" kern="0" cap="none" spc="0" normalizeH="0" baseline="0" noProof="0" smtClean="0">
                              <a:ln>
                                <a:noFill/>
                              </a:ln>
                              <a:solidFill>
                                <a:schemeClr val="tx1"/>
                              </a:solidFill>
                              <a:effectLst/>
                              <a:uLnTx/>
                              <a:uFillTx/>
                              <a:latin typeface="Cambria Math" panose="02040503050406030204" pitchFamily="18" charset="0"/>
                            </a:rPr>
                            <m:t>𝑪</m:t>
                          </m:r>
                        </m:e>
                        <m:sub>
                          <m:r>
                            <a:rPr kumimoji="0" lang="en-AU" sz="1800" b="1" i="1" strike="noStrike" kern="0" cap="none" spc="0" normalizeH="0" baseline="0" noProof="0" smtClean="0">
                              <a:ln>
                                <a:noFill/>
                              </a:ln>
                              <a:solidFill>
                                <a:schemeClr val="tx1"/>
                              </a:solidFill>
                              <a:effectLst/>
                              <a:uLnTx/>
                              <a:uFillTx/>
                              <a:latin typeface="Cambria Math" panose="02040503050406030204" pitchFamily="18" charset="0"/>
                            </a:rPr>
                            <m:t>𝒔</m:t>
                          </m:r>
                        </m:sub>
                        <m:sup>
                          <m:r>
                            <a:rPr kumimoji="0" lang="en-AU" sz="1800" b="1" i="1" strike="noStrike" kern="0" cap="none" spc="0" normalizeH="0" baseline="0" noProof="0" smtClean="0">
                              <a:ln>
                                <a:noFill/>
                              </a:ln>
                              <a:solidFill>
                                <a:schemeClr val="tx1"/>
                              </a:solidFill>
                              <a:effectLst/>
                              <a:uLnTx/>
                              <a:uFillTx/>
                              <a:latin typeface="Cambria Math" panose="02040503050406030204" pitchFamily="18" charset="0"/>
                            </a:rPr>
                            <m:t>∗</m:t>
                          </m:r>
                        </m:sup>
                      </m:sSubSup>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m:t>
                      </m:r>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𝑓</m:t>
                      </m:r>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m:t>
                      </m:r>
                      <m:sSub>
                        <m:sSubPr>
                          <m:ctrlP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ctrlPr>
                        </m:sSubPr>
                        <m:e>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𝜃</m:t>
                          </m:r>
                        </m:e>
                        <m:sub>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𝑐</m:t>
                          </m:r>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m:t>
                          </m:r>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𝑡</m:t>
                          </m:r>
                        </m:sub>
                      </m:sSub>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  </m:t>
                      </m:r>
                      <m:sSub>
                        <m:sSubPr>
                          <m:ctrlP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ctrlPr>
                        </m:sSubPr>
                        <m:e>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𝑇</m:t>
                          </m:r>
                        </m:e>
                        <m:sub>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1</m:t>
                          </m:r>
                        </m:sub>
                      </m:sSub>
                      <m:r>
                        <a:rPr kumimoji="0" lang="en-AU" sz="1800" b="0" i="1" strike="noStrike" kern="0" cap="none" spc="0" normalizeH="0" baseline="0" noProof="0" smtClean="0">
                          <a:ln>
                            <a:noFill/>
                          </a:ln>
                          <a:solidFill>
                            <a:schemeClr val="tx1"/>
                          </a:solidFill>
                          <a:effectLst/>
                          <a:uLnTx/>
                          <a:uFillTx/>
                          <a:latin typeface="Cambria Math" panose="02040503050406030204" pitchFamily="18" charset="0"/>
                        </a:rPr>
                        <m:t>, …)</m:t>
                      </m:r>
                    </m:oMath>
                  </a14:m>
                  <a:r>
                    <a:rPr kumimoji="0" lang="en-AU" sz="1800" b="0" i="0" strike="noStrike" kern="0" cap="none" spc="0" normalizeH="0" baseline="0" noProof="0" dirty="0">
                      <a:ln>
                        <a:noFill/>
                      </a:ln>
                      <a:solidFill>
                        <a:schemeClr val="tx1"/>
                      </a:solidFill>
                      <a:effectLst/>
                      <a:uLnTx/>
                      <a:uFillTx/>
                    </a:rPr>
                    <a:t> </a:t>
                  </a:r>
                  <a:r>
                    <a:rPr lang="en-AU" kern="0" noProof="0" dirty="0">
                      <a:solidFill>
                        <a:schemeClr val="tx1"/>
                      </a:solidFill>
                      <a:latin typeface="Futura LT Pro Light" panose="020B0402020204020303" pitchFamily="34" charset="0"/>
                    </a:rPr>
                    <a:t>and </a:t>
                  </a:r>
                  <a14:m>
                    <m:oMath xmlns:m="http://schemas.openxmlformats.org/officeDocument/2006/math">
                      <m:sSub>
                        <m:sSubPr>
                          <m:ctrlPr>
                            <a:rPr lang="en-AU" b="1" i="1" kern="0" noProof="0" smtClean="0">
                              <a:solidFill>
                                <a:schemeClr val="tx1"/>
                              </a:solidFill>
                              <a:latin typeface="Cambria Math" panose="02040503050406030204" pitchFamily="18" charset="0"/>
                            </a:rPr>
                          </m:ctrlPr>
                        </m:sSubPr>
                        <m:e>
                          <m:r>
                            <a:rPr lang="en-AU" b="1" i="1" kern="0" noProof="0" smtClean="0">
                              <a:solidFill>
                                <a:schemeClr val="tx1"/>
                              </a:solidFill>
                              <a:latin typeface="Cambria Math" panose="02040503050406030204" pitchFamily="18" charset="0"/>
                            </a:rPr>
                            <m:t>𝑭</m:t>
                          </m:r>
                        </m:e>
                        <m:sub>
                          <m:r>
                            <a:rPr lang="en-AU" b="1" i="1" kern="0" noProof="0" smtClean="0">
                              <a:solidFill>
                                <a:schemeClr val="tx1"/>
                              </a:solidFill>
                              <a:latin typeface="Cambria Math" panose="02040503050406030204" pitchFamily="18" charset="0"/>
                            </a:rPr>
                            <m:t>𝒃</m:t>
                          </m:r>
                        </m:sub>
                      </m:sSub>
                      <m:r>
                        <a:rPr lang="en-AU" b="0" i="1" kern="0" noProof="0" smtClean="0">
                          <a:solidFill>
                            <a:schemeClr val="tx1"/>
                          </a:solidFill>
                          <a:latin typeface="Cambria Math" panose="02040503050406030204" pitchFamily="18" charset="0"/>
                        </a:rPr>
                        <m:t>=</m:t>
                      </m:r>
                      <m:sSubSup>
                        <m:sSubSupPr>
                          <m:ctrlPr>
                            <a:rPr lang="en-AU" b="0" i="1" kern="0" noProof="0" smtClean="0">
                              <a:solidFill>
                                <a:schemeClr val="tx1"/>
                              </a:solidFill>
                              <a:latin typeface="Cambria Math" panose="02040503050406030204" pitchFamily="18" charset="0"/>
                            </a:rPr>
                          </m:ctrlPr>
                        </m:sSubSupPr>
                        <m:e>
                          <m:r>
                            <a:rPr lang="en-AU" b="0" i="1" kern="0" noProof="0" smtClean="0">
                              <a:solidFill>
                                <a:schemeClr val="tx1"/>
                              </a:solidFill>
                              <a:latin typeface="Cambria Math" panose="02040503050406030204" pitchFamily="18" charset="0"/>
                            </a:rPr>
                            <m:t>𝐶</m:t>
                          </m:r>
                        </m:e>
                        <m:sub>
                          <m:r>
                            <a:rPr lang="en-AU" b="0" i="1" kern="0" noProof="0" smtClean="0">
                              <a:solidFill>
                                <a:schemeClr val="tx1"/>
                              </a:solidFill>
                              <a:latin typeface="Cambria Math" panose="02040503050406030204" pitchFamily="18" charset="0"/>
                            </a:rPr>
                            <m:t>𝑠</m:t>
                          </m:r>
                        </m:sub>
                        <m:sup>
                          <m:r>
                            <a:rPr lang="en-AU" b="0" i="1" kern="0" noProof="0" smtClean="0">
                              <a:solidFill>
                                <a:schemeClr val="tx1"/>
                              </a:solidFill>
                              <a:latin typeface="Cambria Math" panose="02040503050406030204" pitchFamily="18" charset="0"/>
                            </a:rPr>
                            <m:t>∗</m:t>
                          </m:r>
                        </m:sup>
                      </m:sSubSup>
                      <m:r>
                        <a:rPr lang="en-AU" b="0" i="1" kern="0" noProof="0" smtClean="0">
                          <a:solidFill>
                            <a:schemeClr val="tx1"/>
                          </a:solidFill>
                          <a:latin typeface="Cambria Math" panose="02040503050406030204" pitchFamily="18" charset="0"/>
                        </a:rPr>
                        <m:t>∙</m:t>
                      </m:r>
                      <m:r>
                        <a:rPr lang="en-AU" b="0" i="1" kern="0" noProof="0" smtClean="0">
                          <a:solidFill>
                            <a:schemeClr val="tx1"/>
                          </a:solidFill>
                          <a:latin typeface="Cambria Math" panose="02040503050406030204" pitchFamily="18" charset="0"/>
                        </a:rPr>
                        <m:t>𝑊</m:t>
                      </m:r>
                    </m:oMath>
                  </a14:m>
                  <a:endParaRPr lang="en-AU" kern="0" noProof="0" dirty="0">
                    <a:solidFill>
                      <a:schemeClr val="tx1"/>
                    </a:solidFill>
                    <a:latin typeface="Futura LT Pro Light" panose="020B0402020204020303" pitchFamily="34" charset="0"/>
                  </a:endParaRPr>
                </a:p>
              </p:txBody>
            </p:sp>
          </mc:Choice>
          <mc:Fallback xmlns="">
            <p:sp>
              <p:nvSpPr>
                <p:cNvPr id="41" name="Textfeld 40">
                  <a:extLst>
                    <a:ext uri="{FF2B5EF4-FFF2-40B4-BE49-F238E27FC236}">
                      <a16:creationId xmlns:a16="http://schemas.microsoft.com/office/drawing/2014/main" id="{62139174-6E03-DE66-D653-03332185975C}"/>
                    </a:ext>
                  </a:extLst>
                </p:cNvPr>
                <p:cNvSpPr txBox="1">
                  <a:spLocks noRot="1" noChangeAspect="1" noMove="1" noResize="1" noEditPoints="1" noAdjustHandles="1" noChangeArrowheads="1" noChangeShapeType="1" noTextEdit="1"/>
                </p:cNvSpPr>
                <p:nvPr/>
              </p:nvSpPr>
              <p:spPr>
                <a:xfrm>
                  <a:off x="6088790" y="3340403"/>
                  <a:ext cx="4541627" cy="1089401"/>
                </a:xfrm>
                <a:prstGeom prst="rect">
                  <a:avLst/>
                </a:prstGeom>
                <a:blipFill>
                  <a:blip r:embed="rId7"/>
                  <a:stretch>
                    <a:fillRect l="-1208" t="-3352" b="-6145"/>
                  </a:stretch>
                </a:blipFill>
                <a:ln>
                  <a:noFill/>
                </a:ln>
              </p:spPr>
              <p:txBody>
                <a:bodyPr/>
                <a:lstStyle/>
                <a:p>
                  <a:r>
                    <a:rPr lang="de-DE">
                      <a:noFill/>
                    </a:rPr>
                    <a:t> </a:t>
                  </a:r>
                </a:p>
              </p:txBody>
            </p:sp>
          </mc:Fallback>
        </mc:AlternateContent>
        <p:grpSp>
          <p:nvGrpSpPr>
            <p:cNvPr id="42" name="Gruppieren 41">
              <a:extLst>
                <a:ext uri="{FF2B5EF4-FFF2-40B4-BE49-F238E27FC236}">
                  <a16:creationId xmlns:a16="http://schemas.microsoft.com/office/drawing/2014/main" id="{AB99C4DE-7A85-AB9D-AFE3-3DDBC2A74FC1}"/>
                </a:ext>
              </a:extLst>
            </p:cNvPr>
            <p:cNvGrpSpPr/>
            <p:nvPr/>
          </p:nvGrpSpPr>
          <p:grpSpPr>
            <a:xfrm>
              <a:off x="10343588" y="3490437"/>
              <a:ext cx="1330249" cy="794255"/>
              <a:chOff x="5554371" y="4500389"/>
              <a:chExt cx="1941648" cy="1368152"/>
            </a:xfrm>
          </p:grpSpPr>
          <p:cxnSp>
            <p:nvCxnSpPr>
              <p:cNvPr id="44" name="Gerader Verbinder 43">
                <a:extLst>
                  <a:ext uri="{FF2B5EF4-FFF2-40B4-BE49-F238E27FC236}">
                    <a16:creationId xmlns:a16="http://schemas.microsoft.com/office/drawing/2014/main" id="{6D420B67-A26E-0D98-E2D8-E4E00166A353}"/>
                  </a:ext>
                </a:extLst>
              </p:cNvPr>
              <p:cNvCxnSpPr>
                <a:cxnSpLocks/>
              </p:cNvCxnSpPr>
              <p:nvPr/>
            </p:nvCxnSpPr>
            <p:spPr>
              <a:xfrm>
                <a:off x="6055859" y="5868541"/>
                <a:ext cx="1440160" cy="0"/>
              </a:xfrm>
              <a:prstGeom prst="line">
                <a:avLst/>
              </a:prstGeom>
              <a:noFill/>
              <a:ln w="57150" cap="flat" cmpd="sng" algn="ctr">
                <a:solidFill>
                  <a:srgbClr val="00263E"/>
                </a:solidFill>
                <a:prstDash val="solid"/>
              </a:ln>
              <a:effectLst/>
            </p:spPr>
          </p:cxnSp>
          <p:cxnSp>
            <p:nvCxnSpPr>
              <p:cNvPr id="45" name="Gerader Verbinder 44">
                <a:extLst>
                  <a:ext uri="{FF2B5EF4-FFF2-40B4-BE49-F238E27FC236}">
                    <a16:creationId xmlns:a16="http://schemas.microsoft.com/office/drawing/2014/main" id="{99A32A1A-2256-9117-1D9B-7322494C20CD}"/>
                  </a:ext>
                </a:extLst>
              </p:cNvPr>
              <p:cNvCxnSpPr/>
              <p:nvPr/>
            </p:nvCxnSpPr>
            <p:spPr>
              <a:xfrm flipV="1">
                <a:off x="6242293" y="4500389"/>
                <a:ext cx="0" cy="1368152"/>
              </a:xfrm>
              <a:prstGeom prst="line">
                <a:avLst/>
              </a:prstGeom>
              <a:noFill/>
              <a:ln w="28575" cap="flat" cmpd="sng" algn="ctr">
                <a:solidFill>
                  <a:srgbClr val="00263E"/>
                </a:solidFill>
                <a:prstDash val="solid"/>
              </a:ln>
              <a:effectLst/>
            </p:spPr>
          </p:cxnSp>
          <p:cxnSp>
            <p:nvCxnSpPr>
              <p:cNvPr id="46" name="Gerader Verbinder 45">
                <a:extLst>
                  <a:ext uri="{FF2B5EF4-FFF2-40B4-BE49-F238E27FC236}">
                    <a16:creationId xmlns:a16="http://schemas.microsoft.com/office/drawing/2014/main" id="{6E2CDF9F-9409-7B48-967E-BF7C1E6DC8FF}"/>
                  </a:ext>
                </a:extLst>
              </p:cNvPr>
              <p:cNvCxnSpPr/>
              <p:nvPr/>
            </p:nvCxnSpPr>
            <p:spPr>
              <a:xfrm flipV="1">
                <a:off x="7309023" y="4500389"/>
                <a:ext cx="0" cy="1368152"/>
              </a:xfrm>
              <a:prstGeom prst="line">
                <a:avLst/>
              </a:prstGeom>
              <a:noFill/>
              <a:ln w="28575" cap="flat" cmpd="sng" algn="ctr">
                <a:solidFill>
                  <a:srgbClr val="00263E"/>
                </a:solidFill>
                <a:prstDash val="solid"/>
              </a:ln>
              <a:effectLst/>
            </p:spPr>
          </p:cxnSp>
          <p:cxnSp>
            <p:nvCxnSpPr>
              <p:cNvPr id="47" name="Gerader Verbinder 46">
                <a:extLst>
                  <a:ext uri="{FF2B5EF4-FFF2-40B4-BE49-F238E27FC236}">
                    <a16:creationId xmlns:a16="http://schemas.microsoft.com/office/drawing/2014/main" id="{8D0DE1F6-8372-C9F7-39E0-C2CCCC8A1AD6}"/>
                  </a:ext>
                </a:extLst>
              </p:cNvPr>
              <p:cNvCxnSpPr>
                <a:cxnSpLocks/>
              </p:cNvCxnSpPr>
              <p:nvPr/>
            </p:nvCxnSpPr>
            <p:spPr>
              <a:xfrm>
                <a:off x="6242293" y="4500389"/>
                <a:ext cx="1066730" cy="0"/>
              </a:xfrm>
              <a:prstGeom prst="line">
                <a:avLst/>
              </a:prstGeom>
              <a:noFill/>
              <a:ln w="28575" cap="flat" cmpd="sng" algn="ctr">
                <a:solidFill>
                  <a:srgbClr val="00263E"/>
                </a:solidFill>
                <a:prstDash val="solid"/>
              </a:ln>
              <a:effectLst/>
            </p:spPr>
          </p:cxnSp>
          <p:cxnSp>
            <p:nvCxnSpPr>
              <p:cNvPr id="48" name="Gerader Verbinder 47">
                <a:extLst>
                  <a:ext uri="{FF2B5EF4-FFF2-40B4-BE49-F238E27FC236}">
                    <a16:creationId xmlns:a16="http://schemas.microsoft.com/office/drawing/2014/main" id="{CA3FEAC8-A089-CDE9-7544-5D0136C4B3C7}"/>
                  </a:ext>
                </a:extLst>
              </p:cNvPr>
              <p:cNvCxnSpPr>
                <a:cxnSpLocks/>
              </p:cNvCxnSpPr>
              <p:nvPr/>
            </p:nvCxnSpPr>
            <p:spPr>
              <a:xfrm>
                <a:off x="6242293" y="4932437"/>
                <a:ext cx="1066730" cy="0"/>
              </a:xfrm>
              <a:prstGeom prst="line">
                <a:avLst/>
              </a:prstGeom>
              <a:noFill/>
              <a:ln w="28575" cap="flat" cmpd="sng" algn="ctr">
                <a:solidFill>
                  <a:srgbClr val="00263E"/>
                </a:solidFill>
                <a:prstDash val="solid"/>
              </a:ln>
              <a:effectLst/>
            </p:spPr>
          </p:cxnSp>
          <p:cxnSp>
            <p:nvCxnSpPr>
              <p:cNvPr id="49" name="Gerader Verbinder 48">
                <a:extLst>
                  <a:ext uri="{FF2B5EF4-FFF2-40B4-BE49-F238E27FC236}">
                    <a16:creationId xmlns:a16="http://schemas.microsoft.com/office/drawing/2014/main" id="{BE672EB7-C14A-2CB5-FD73-5FBE6B86AA6A}"/>
                  </a:ext>
                </a:extLst>
              </p:cNvPr>
              <p:cNvCxnSpPr>
                <a:cxnSpLocks/>
              </p:cNvCxnSpPr>
              <p:nvPr/>
            </p:nvCxnSpPr>
            <p:spPr>
              <a:xfrm>
                <a:off x="6242293" y="5364485"/>
                <a:ext cx="1066730" cy="0"/>
              </a:xfrm>
              <a:prstGeom prst="line">
                <a:avLst/>
              </a:prstGeom>
              <a:noFill/>
              <a:ln w="28575" cap="flat" cmpd="sng" algn="ctr">
                <a:solidFill>
                  <a:srgbClr val="00263E"/>
                </a:solidFill>
                <a:prstDash val="solid"/>
              </a:ln>
              <a:effectLst/>
            </p:spPr>
          </p:cxnSp>
          <p:cxnSp>
            <p:nvCxnSpPr>
              <p:cNvPr id="50" name="Gerader Verbinder 49">
                <a:extLst>
                  <a:ext uri="{FF2B5EF4-FFF2-40B4-BE49-F238E27FC236}">
                    <a16:creationId xmlns:a16="http://schemas.microsoft.com/office/drawing/2014/main" id="{136B1A90-ADD7-B661-008A-D8BE04605B9F}"/>
                  </a:ext>
                </a:extLst>
              </p:cNvPr>
              <p:cNvCxnSpPr/>
              <p:nvPr/>
            </p:nvCxnSpPr>
            <p:spPr>
              <a:xfrm flipV="1">
                <a:off x="6775658" y="4500389"/>
                <a:ext cx="0" cy="1368152"/>
              </a:xfrm>
              <a:prstGeom prst="line">
                <a:avLst/>
              </a:prstGeom>
              <a:noFill/>
              <a:ln w="28575" cap="flat" cmpd="sng" algn="ctr">
                <a:solidFill>
                  <a:srgbClr val="00263E"/>
                </a:solidFill>
                <a:prstDash val="solid"/>
              </a:ln>
              <a:effectLst/>
            </p:spPr>
          </p:cxnSp>
          <p:cxnSp>
            <p:nvCxnSpPr>
              <p:cNvPr id="51" name="Gerader Verbinder 50">
                <a:extLst>
                  <a:ext uri="{FF2B5EF4-FFF2-40B4-BE49-F238E27FC236}">
                    <a16:creationId xmlns:a16="http://schemas.microsoft.com/office/drawing/2014/main" id="{4683DE12-3A99-D233-AF5D-C620EFDE7B29}"/>
                  </a:ext>
                </a:extLst>
              </p:cNvPr>
              <p:cNvCxnSpPr/>
              <p:nvPr/>
            </p:nvCxnSpPr>
            <p:spPr>
              <a:xfrm flipV="1">
                <a:off x="6242293" y="4500389"/>
                <a:ext cx="533646" cy="432048"/>
              </a:xfrm>
              <a:prstGeom prst="line">
                <a:avLst/>
              </a:prstGeom>
              <a:noFill/>
              <a:ln w="19050" cap="flat" cmpd="sng" algn="ctr">
                <a:solidFill>
                  <a:srgbClr val="00263E"/>
                </a:solidFill>
                <a:prstDash val="solid"/>
              </a:ln>
              <a:effectLst/>
            </p:spPr>
          </p:cxnSp>
          <p:cxnSp>
            <p:nvCxnSpPr>
              <p:cNvPr id="52" name="Gerader Verbinder 51">
                <a:extLst>
                  <a:ext uri="{FF2B5EF4-FFF2-40B4-BE49-F238E27FC236}">
                    <a16:creationId xmlns:a16="http://schemas.microsoft.com/office/drawing/2014/main" id="{5D665903-19E4-5061-F05C-66506F77F877}"/>
                  </a:ext>
                </a:extLst>
              </p:cNvPr>
              <p:cNvCxnSpPr/>
              <p:nvPr/>
            </p:nvCxnSpPr>
            <p:spPr>
              <a:xfrm flipV="1">
                <a:off x="6242293" y="4932439"/>
                <a:ext cx="533646" cy="432048"/>
              </a:xfrm>
              <a:prstGeom prst="line">
                <a:avLst/>
              </a:prstGeom>
              <a:noFill/>
              <a:ln w="19050" cap="flat" cmpd="sng" algn="ctr">
                <a:solidFill>
                  <a:srgbClr val="00263E"/>
                </a:solidFill>
                <a:prstDash val="solid"/>
              </a:ln>
              <a:effectLst/>
            </p:spPr>
          </p:cxnSp>
          <p:cxnSp>
            <p:nvCxnSpPr>
              <p:cNvPr id="53" name="Gerader Verbinder 52">
                <a:extLst>
                  <a:ext uri="{FF2B5EF4-FFF2-40B4-BE49-F238E27FC236}">
                    <a16:creationId xmlns:a16="http://schemas.microsoft.com/office/drawing/2014/main" id="{92D4FFC7-12F0-953F-3190-60A563E93B31}"/>
                  </a:ext>
                </a:extLst>
              </p:cNvPr>
              <p:cNvCxnSpPr>
                <a:cxnSpLocks/>
              </p:cNvCxnSpPr>
              <p:nvPr/>
            </p:nvCxnSpPr>
            <p:spPr>
              <a:xfrm flipV="1">
                <a:off x="6241732" y="5364487"/>
                <a:ext cx="533646" cy="476248"/>
              </a:xfrm>
              <a:prstGeom prst="line">
                <a:avLst/>
              </a:prstGeom>
              <a:noFill/>
              <a:ln w="19050" cap="flat" cmpd="sng" algn="ctr">
                <a:solidFill>
                  <a:srgbClr val="00263E"/>
                </a:solidFill>
                <a:prstDash val="solid"/>
              </a:ln>
              <a:effectLst/>
            </p:spPr>
          </p:cxnSp>
          <p:grpSp>
            <p:nvGrpSpPr>
              <p:cNvPr id="54" name="Gruppieren 53">
                <a:extLst>
                  <a:ext uri="{FF2B5EF4-FFF2-40B4-BE49-F238E27FC236}">
                    <a16:creationId xmlns:a16="http://schemas.microsoft.com/office/drawing/2014/main" id="{092F1F8A-7FA7-2DA7-99B4-34AEE244279D}"/>
                  </a:ext>
                </a:extLst>
              </p:cNvPr>
              <p:cNvGrpSpPr/>
              <p:nvPr/>
            </p:nvGrpSpPr>
            <p:grpSpPr>
              <a:xfrm flipH="1">
                <a:off x="6785465" y="4509529"/>
                <a:ext cx="534207" cy="1340346"/>
                <a:chOff x="6394132" y="4652789"/>
                <a:chExt cx="534207" cy="1340346"/>
              </a:xfrm>
            </p:grpSpPr>
            <p:cxnSp>
              <p:nvCxnSpPr>
                <p:cNvPr id="58" name="Gerader Verbinder 57">
                  <a:extLst>
                    <a:ext uri="{FF2B5EF4-FFF2-40B4-BE49-F238E27FC236}">
                      <a16:creationId xmlns:a16="http://schemas.microsoft.com/office/drawing/2014/main" id="{7C50B40F-EAE9-044E-32FA-70CD0D0CDE6B}"/>
                    </a:ext>
                  </a:extLst>
                </p:cNvPr>
                <p:cNvCxnSpPr/>
                <p:nvPr/>
              </p:nvCxnSpPr>
              <p:spPr>
                <a:xfrm flipV="1">
                  <a:off x="6394693" y="4652789"/>
                  <a:ext cx="533646" cy="432048"/>
                </a:xfrm>
                <a:prstGeom prst="line">
                  <a:avLst/>
                </a:prstGeom>
                <a:noFill/>
                <a:ln w="19050" cap="flat" cmpd="sng" algn="ctr">
                  <a:solidFill>
                    <a:srgbClr val="00263E"/>
                  </a:solidFill>
                  <a:prstDash val="solid"/>
                </a:ln>
                <a:effectLst/>
              </p:spPr>
            </p:cxnSp>
            <p:cxnSp>
              <p:nvCxnSpPr>
                <p:cNvPr id="59" name="Gerader Verbinder 58">
                  <a:extLst>
                    <a:ext uri="{FF2B5EF4-FFF2-40B4-BE49-F238E27FC236}">
                      <a16:creationId xmlns:a16="http://schemas.microsoft.com/office/drawing/2014/main" id="{3731B5C3-29A1-36DA-333D-1CE92777ADBB}"/>
                    </a:ext>
                  </a:extLst>
                </p:cNvPr>
                <p:cNvCxnSpPr/>
                <p:nvPr/>
              </p:nvCxnSpPr>
              <p:spPr>
                <a:xfrm flipV="1">
                  <a:off x="6394693" y="5084839"/>
                  <a:ext cx="533646" cy="432048"/>
                </a:xfrm>
                <a:prstGeom prst="line">
                  <a:avLst/>
                </a:prstGeom>
                <a:noFill/>
                <a:ln w="19050" cap="flat" cmpd="sng" algn="ctr">
                  <a:solidFill>
                    <a:srgbClr val="00263E"/>
                  </a:solidFill>
                  <a:prstDash val="solid"/>
                </a:ln>
                <a:effectLst/>
              </p:spPr>
            </p:cxnSp>
            <p:cxnSp>
              <p:nvCxnSpPr>
                <p:cNvPr id="60" name="Gerader Verbinder 59">
                  <a:extLst>
                    <a:ext uri="{FF2B5EF4-FFF2-40B4-BE49-F238E27FC236}">
                      <a16:creationId xmlns:a16="http://schemas.microsoft.com/office/drawing/2014/main" id="{99D35562-E1C9-5EF9-DD31-B8E98B925191}"/>
                    </a:ext>
                  </a:extLst>
                </p:cNvPr>
                <p:cNvCxnSpPr>
                  <a:cxnSpLocks/>
                </p:cNvCxnSpPr>
                <p:nvPr/>
              </p:nvCxnSpPr>
              <p:spPr>
                <a:xfrm flipV="1">
                  <a:off x="6394132" y="5516887"/>
                  <a:ext cx="533646" cy="476248"/>
                </a:xfrm>
                <a:prstGeom prst="line">
                  <a:avLst/>
                </a:prstGeom>
                <a:noFill/>
                <a:ln w="19050" cap="flat" cmpd="sng" algn="ctr">
                  <a:solidFill>
                    <a:srgbClr val="00263E"/>
                  </a:solidFill>
                  <a:prstDash val="solid"/>
                </a:ln>
                <a:effectLst/>
              </p:spPr>
            </p:cxnSp>
          </p:grpSp>
          <p:cxnSp>
            <p:nvCxnSpPr>
              <p:cNvPr id="55" name="Gerade Verbindung mit Pfeil 54">
                <a:extLst>
                  <a:ext uri="{FF2B5EF4-FFF2-40B4-BE49-F238E27FC236}">
                    <a16:creationId xmlns:a16="http://schemas.microsoft.com/office/drawing/2014/main" id="{C64B5544-CD17-14A6-C072-C5D63CE1E0ED}"/>
                  </a:ext>
                </a:extLst>
              </p:cNvPr>
              <p:cNvCxnSpPr/>
              <p:nvPr/>
            </p:nvCxnSpPr>
            <p:spPr>
              <a:xfrm>
                <a:off x="5554371" y="4509529"/>
                <a:ext cx="605092" cy="0"/>
              </a:xfrm>
              <a:prstGeom prst="straightConnector1">
                <a:avLst/>
              </a:prstGeom>
              <a:noFill/>
              <a:ln w="19050" cap="flat" cmpd="sng" algn="ctr">
                <a:solidFill>
                  <a:srgbClr val="00263E"/>
                </a:solidFill>
                <a:prstDash val="solid"/>
                <a:tailEnd type="triangle"/>
              </a:ln>
              <a:effectLst/>
            </p:spPr>
          </p:cxnSp>
          <p:cxnSp>
            <p:nvCxnSpPr>
              <p:cNvPr id="56" name="Gerade Verbindung mit Pfeil 55">
                <a:extLst>
                  <a:ext uri="{FF2B5EF4-FFF2-40B4-BE49-F238E27FC236}">
                    <a16:creationId xmlns:a16="http://schemas.microsoft.com/office/drawing/2014/main" id="{9F2D0DB5-5B35-21A7-CC87-C7888DBB7271}"/>
                  </a:ext>
                </a:extLst>
              </p:cNvPr>
              <p:cNvCxnSpPr>
                <a:cxnSpLocks/>
              </p:cNvCxnSpPr>
              <p:nvPr/>
            </p:nvCxnSpPr>
            <p:spPr>
              <a:xfrm>
                <a:off x="5724847" y="4932437"/>
                <a:ext cx="443329" cy="0"/>
              </a:xfrm>
              <a:prstGeom prst="straightConnector1">
                <a:avLst/>
              </a:prstGeom>
              <a:noFill/>
              <a:ln w="19050" cap="flat" cmpd="sng" algn="ctr">
                <a:solidFill>
                  <a:srgbClr val="00263E"/>
                </a:solidFill>
                <a:prstDash val="solid"/>
                <a:tailEnd type="triangle"/>
              </a:ln>
              <a:effectLst/>
            </p:spPr>
          </p:cxnSp>
          <p:cxnSp>
            <p:nvCxnSpPr>
              <p:cNvPr id="57" name="Gerade Verbindung mit Pfeil 56">
                <a:extLst>
                  <a:ext uri="{FF2B5EF4-FFF2-40B4-BE49-F238E27FC236}">
                    <a16:creationId xmlns:a16="http://schemas.microsoft.com/office/drawing/2014/main" id="{F1184EC5-A0FB-02AE-E8B3-75F7D7CEDD21}"/>
                  </a:ext>
                </a:extLst>
              </p:cNvPr>
              <p:cNvCxnSpPr>
                <a:cxnSpLocks/>
              </p:cNvCxnSpPr>
              <p:nvPr/>
            </p:nvCxnSpPr>
            <p:spPr>
              <a:xfrm>
                <a:off x="5946511" y="5364485"/>
                <a:ext cx="203562" cy="0"/>
              </a:xfrm>
              <a:prstGeom prst="straightConnector1">
                <a:avLst/>
              </a:prstGeom>
              <a:noFill/>
              <a:ln w="19050" cap="flat" cmpd="sng" algn="ctr">
                <a:solidFill>
                  <a:srgbClr val="00263E"/>
                </a:solidFill>
                <a:prstDash val="solid"/>
                <a:tailEnd type="triangle"/>
              </a:ln>
              <a:effectLst/>
            </p:spPr>
          </p:cxnSp>
        </p:grpSp>
      </p:grpSp>
    </p:spTree>
    <p:extLst>
      <p:ext uri="{BB962C8B-B14F-4D97-AF65-F5344CB8AC3E}">
        <p14:creationId xmlns:p14="http://schemas.microsoft.com/office/powerpoint/2010/main" val="371171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2C22AE7-FA52-B23B-980C-C4C71E882A2E}"/>
              </a:ext>
            </a:extLst>
          </p:cNvPr>
          <p:cNvSpPr>
            <a:spLocks noGrp="1"/>
          </p:cNvSpPr>
          <p:nvPr>
            <p:ph type="title"/>
          </p:nvPr>
        </p:nvSpPr>
        <p:spPr/>
        <p:txBody>
          <a:bodyPr/>
          <a:lstStyle/>
          <a:p>
            <a:r>
              <a:rPr lang="en-AU" noProof="0" dirty="0"/>
              <a:t>Requirements for the CC2D-Model</a:t>
            </a:r>
          </a:p>
        </p:txBody>
      </p:sp>
      <mc:AlternateContent xmlns:mc="http://schemas.openxmlformats.org/markup-compatibility/2006" xmlns:a14="http://schemas.microsoft.com/office/drawing/2010/main">
        <mc:Choice Requires="a14">
          <p:sp>
            <p:nvSpPr>
              <p:cNvPr id="4" name="Textfeld 3">
                <a:extLst>
                  <a:ext uri="{FF2B5EF4-FFF2-40B4-BE49-F238E27FC236}">
                    <a16:creationId xmlns:a16="http://schemas.microsoft.com/office/drawing/2014/main" id="{BCFA4E6F-452F-FDFC-9FEB-16099BFE4D90}"/>
                  </a:ext>
                </a:extLst>
              </p:cNvPr>
              <p:cNvSpPr txBox="1"/>
              <p:nvPr/>
            </p:nvSpPr>
            <p:spPr>
              <a:xfrm>
                <a:off x="1044327" y="1762338"/>
                <a:ext cx="10009112" cy="3183500"/>
              </a:xfrm>
              <a:prstGeom prst="rect">
                <a:avLst/>
              </a:prstGeom>
              <a:noFill/>
            </p:spPr>
            <p:txBody>
              <a:bodyPr wrap="square" rtlCol="0">
                <a:spAutoFit/>
              </a:bodyPr>
              <a:lstStyle/>
              <a:p>
                <a:pPr marL="342900" indent="-342900">
                  <a:buFont typeface="+mj-lt"/>
                  <a:buAutoNum type="arabicPeriod"/>
                </a:pPr>
                <a:r>
                  <a:rPr lang="en-AU" sz="2000" b="1" noProof="0" dirty="0">
                    <a:solidFill>
                      <a:schemeClr val="accent2"/>
                    </a:solidFill>
                    <a:latin typeface="Futura LT Pro Light" panose="020B0402020204020303" pitchFamily="34" charset="0"/>
                    <a:cs typeface="+mn-cs"/>
                  </a:rPr>
                  <a:t>Given the collapse capacity, </a:t>
                </a:r>
                <a14:m>
                  <m:oMath xmlns:m="http://schemas.openxmlformats.org/officeDocument/2006/math">
                    <m:sSub>
                      <m:sSubPr>
                        <m:ctrlPr>
                          <a:rPr lang="en-AU" sz="2000" b="1" i="1" noProof="0" smtClean="0">
                            <a:solidFill>
                              <a:schemeClr val="accent2"/>
                            </a:solidFill>
                            <a:latin typeface="Cambria Math" panose="02040503050406030204" pitchFamily="18" charset="0"/>
                            <a:cs typeface="+mn-cs"/>
                          </a:rPr>
                        </m:ctrlPr>
                      </m:sSubPr>
                      <m:e>
                        <m:r>
                          <a:rPr lang="en-AU" sz="2000" b="1" i="1" noProof="0" smtClean="0">
                            <a:solidFill>
                              <a:schemeClr val="accent2"/>
                            </a:solidFill>
                            <a:latin typeface="Cambria Math" panose="02040503050406030204" pitchFamily="18" charset="0"/>
                            <a:cs typeface="+mn-cs"/>
                          </a:rPr>
                          <m:t>𝜽</m:t>
                        </m:r>
                      </m:e>
                      <m:sub>
                        <m:r>
                          <a:rPr lang="en-AU" sz="2000" b="1" i="1" noProof="0" smtClean="0">
                            <a:solidFill>
                              <a:schemeClr val="accent2"/>
                            </a:solidFill>
                            <a:latin typeface="Cambria Math" panose="02040503050406030204" pitchFamily="18" charset="0"/>
                            <a:cs typeface="+mn-cs"/>
                          </a:rPr>
                          <m:t>𝒄</m:t>
                        </m:r>
                        <m:r>
                          <a:rPr lang="en-AU" sz="2000" b="1" i="1" noProof="0" smtClean="0">
                            <a:solidFill>
                              <a:schemeClr val="accent2"/>
                            </a:solidFill>
                            <a:latin typeface="Cambria Math" panose="02040503050406030204" pitchFamily="18" charset="0"/>
                            <a:cs typeface="+mn-cs"/>
                          </a:rPr>
                          <m:t>,</m:t>
                        </m:r>
                        <m:r>
                          <a:rPr lang="en-AU" sz="2000" b="1" i="1" noProof="0" smtClean="0">
                            <a:solidFill>
                              <a:schemeClr val="accent2"/>
                            </a:solidFill>
                            <a:latin typeface="Cambria Math" panose="02040503050406030204" pitchFamily="18" charset="0"/>
                            <a:cs typeface="+mn-cs"/>
                          </a:rPr>
                          <m:t>𝒕</m:t>
                        </m:r>
                      </m:sub>
                    </m:sSub>
                  </m:oMath>
                </a14:m>
                <a:r>
                  <a:rPr lang="en-AU" sz="2000" b="1" noProof="0" dirty="0">
                    <a:solidFill>
                      <a:schemeClr val="accent2"/>
                    </a:solidFill>
                    <a:latin typeface="Futura LT Pro Light" panose="020B0402020204020303" pitchFamily="34" charset="0"/>
                    <a:cs typeface="+mn-cs"/>
                  </a:rPr>
                  <a:t>, the design base shear, </a:t>
                </a:r>
                <a14:m>
                  <m:oMath xmlns:m="http://schemas.openxmlformats.org/officeDocument/2006/math">
                    <m:sSub>
                      <m:sSubPr>
                        <m:ctrlPr>
                          <a:rPr lang="en-AU" sz="2000" b="1" i="1" noProof="0" smtClean="0">
                            <a:solidFill>
                              <a:schemeClr val="accent2"/>
                            </a:solidFill>
                            <a:latin typeface="Cambria Math" panose="02040503050406030204" pitchFamily="18" charset="0"/>
                            <a:cs typeface="+mn-cs"/>
                          </a:rPr>
                        </m:ctrlPr>
                      </m:sSubPr>
                      <m:e>
                        <m:r>
                          <a:rPr lang="en-AU" sz="2000" b="1" i="1" noProof="0" smtClean="0">
                            <a:solidFill>
                              <a:schemeClr val="accent2"/>
                            </a:solidFill>
                            <a:latin typeface="Cambria Math" panose="02040503050406030204" pitchFamily="18" charset="0"/>
                            <a:cs typeface="+mn-cs"/>
                          </a:rPr>
                          <m:t>𝑭</m:t>
                        </m:r>
                      </m:e>
                      <m:sub>
                        <m:r>
                          <a:rPr lang="en-AU" sz="2000" b="1" i="1" noProof="0" smtClean="0">
                            <a:solidFill>
                              <a:schemeClr val="accent2"/>
                            </a:solidFill>
                            <a:latin typeface="Cambria Math" panose="02040503050406030204" pitchFamily="18" charset="0"/>
                            <a:cs typeface="+mn-cs"/>
                          </a:rPr>
                          <m:t>𝒃</m:t>
                        </m:r>
                      </m:sub>
                    </m:sSub>
                  </m:oMath>
                </a14:m>
                <a:r>
                  <a:rPr lang="en-AU" sz="2000" b="1" noProof="0" dirty="0">
                    <a:solidFill>
                      <a:schemeClr val="accent2"/>
                    </a:solidFill>
                    <a:latin typeface="Futura LT Pro Light" panose="020B0402020204020303" pitchFamily="34" charset="0"/>
                    <a:cs typeface="+mn-cs"/>
                  </a:rPr>
                  <a:t>, required to produce a building with this capacity can be calculated</a:t>
                </a:r>
              </a:p>
              <a:p>
                <a:pPr marL="342900" indent="-342900">
                  <a:buFont typeface="+mj-lt"/>
                  <a:buAutoNum type="arabicPeriod"/>
                </a:pPr>
                <a:endParaRPr lang="en-AU" sz="2000" b="1" noProof="0" dirty="0">
                  <a:solidFill>
                    <a:schemeClr val="accent2"/>
                  </a:solidFill>
                  <a:latin typeface="Futura LT Pro Light" panose="020B0402020204020303" pitchFamily="34" charset="0"/>
                  <a:cs typeface="+mn-cs"/>
                </a:endParaRPr>
              </a:p>
              <a:p>
                <a:pPr marL="342900" indent="-342900">
                  <a:buFont typeface="+mj-lt"/>
                  <a:buAutoNum type="arabicPeriod"/>
                </a:pPr>
                <a:endParaRPr lang="en-AU" sz="2000" b="1" noProof="0" dirty="0">
                  <a:solidFill>
                    <a:schemeClr val="accent2"/>
                  </a:solidFill>
                  <a:latin typeface="Futura LT Pro Light" panose="020B0402020204020303" pitchFamily="34" charset="0"/>
                  <a:cs typeface="+mn-cs"/>
                </a:endParaRPr>
              </a:p>
              <a:p>
                <a:pPr marL="342900" indent="-342900">
                  <a:buFont typeface="+mj-lt"/>
                  <a:buAutoNum type="arabicPeriod"/>
                </a:pPr>
                <a:r>
                  <a:rPr lang="en-AU" sz="2000" b="1" noProof="0" dirty="0">
                    <a:solidFill>
                      <a:schemeClr val="accent2"/>
                    </a:solidFill>
                    <a:latin typeface="Futura LT Pro Light" panose="020B0402020204020303" pitchFamily="34" charset="0"/>
                    <a:cs typeface="+mn-cs"/>
                  </a:rPr>
                  <a:t>The model uses properties of the structure that  are know a priori or can be easily calculated e.g. geometric properties or the period, </a:t>
                </a:r>
                <a14:m>
                  <m:oMath xmlns:m="http://schemas.openxmlformats.org/officeDocument/2006/math">
                    <m:sSub>
                      <m:sSubPr>
                        <m:ctrlPr>
                          <a:rPr lang="en-AU" sz="2000" b="1" i="1" noProof="0" smtClean="0">
                            <a:solidFill>
                              <a:schemeClr val="accent2"/>
                            </a:solidFill>
                            <a:latin typeface="Cambria Math" panose="02040503050406030204" pitchFamily="18" charset="0"/>
                            <a:cs typeface="+mn-cs"/>
                          </a:rPr>
                        </m:ctrlPr>
                      </m:sSubPr>
                      <m:e>
                        <m:r>
                          <a:rPr lang="en-AU" sz="2000" b="1" i="1" noProof="0" smtClean="0">
                            <a:solidFill>
                              <a:schemeClr val="accent2"/>
                            </a:solidFill>
                            <a:latin typeface="Cambria Math" panose="02040503050406030204" pitchFamily="18" charset="0"/>
                            <a:cs typeface="+mn-cs"/>
                          </a:rPr>
                          <m:t>𝑻</m:t>
                        </m:r>
                      </m:e>
                      <m:sub>
                        <m:r>
                          <a:rPr lang="en-AU" sz="2000" b="1" i="1" noProof="0" smtClean="0">
                            <a:solidFill>
                              <a:schemeClr val="accent2"/>
                            </a:solidFill>
                            <a:latin typeface="Cambria Math" panose="02040503050406030204" pitchFamily="18" charset="0"/>
                            <a:cs typeface="+mn-cs"/>
                          </a:rPr>
                          <m:t>𝟏</m:t>
                        </m:r>
                      </m:sub>
                    </m:sSub>
                  </m:oMath>
                </a14:m>
                <a:endParaRPr lang="en-AU" sz="2000" b="1" noProof="0" dirty="0">
                  <a:solidFill>
                    <a:schemeClr val="accent2"/>
                  </a:solidFill>
                  <a:latin typeface="Futura LT Pro Light" panose="020B0402020204020303" pitchFamily="34" charset="0"/>
                  <a:cs typeface="+mn-cs"/>
                </a:endParaRPr>
              </a:p>
              <a:p>
                <a:pPr marL="342900" indent="-342900">
                  <a:buFont typeface="+mj-lt"/>
                  <a:buAutoNum type="arabicPeriod"/>
                </a:pPr>
                <a:endParaRPr lang="en-AU" sz="2000" b="1" noProof="0" dirty="0">
                  <a:solidFill>
                    <a:schemeClr val="accent2"/>
                  </a:solidFill>
                  <a:latin typeface="Futura LT Pro Light" panose="020B0402020204020303" pitchFamily="34" charset="0"/>
                  <a:cs typeface="+mn-cs"/>
                </a:endParaRPr>
              </a:p>
              <a:p>
                <a:pPr marL="342900" indent="-342900">
                  <a:buFont typeface="+mj-lt"/>
                  <a:buAutoNum type="arabicPeriod"/>
                </a:pPr>
                <a:endParaRPr lang="en-AU" sz="2000" b="1" noProof="0" dirty="0">
                  <a:solidFill>
                    <a:schemeClr val="accent2"/>
                  </a:solidFill>
                  <a:latin typeface="Futura LT Pro Light" panose="020B0402020204020303" pitchFamily="34" charset="0"/>
                  <a:cs typeface="+mn-cs"/>
                </a:endParaRPr>
              </a:p>
              <a:p>
                <a:pPr marL="342900" indent="-342900">
                  <a:buFont typeface="+mj-lt"/>
                  <a:buAutoNum type="arabicPeriod"/>
                </a:pPr>
                <a:r>
                  <a:rPr lang="en-AU" sz="2000" b="1" noProof="0" dirty="0">
                    <a:solidFill>
                      <a:schemeClr val="accent2"/>
                    </a:solidFill>
                    <a:latin typeface="Futura LT Pro Light" panose="020B0402020204020303" pitchFamily="34" charset="0"/>
                    <a:cs typeface="+mn-cs"/>
                  </a:rPr>
                  <a:t>The capacity model should be easy to implement and not require advanced knowledge or analysis tools not readily available in design offices</a:t>
                </a:r>
              </a:p>
            </p:txBody>
          </p:sp>
        </mc:Choice>
        <mc:Fallback xmlns="">
          <p:sp>
            <p:nvSpPr>
              <p:cNvPr id="4" name="Textfeld 3">
                <a:extLst>
                  <a:ext uri="{FF2B5EF4-FFF2-40B4-BE49-F238E27FC236}">
                    <a16:creationId xmlns:a16="http://schemas.microsoft.com/office/drawing/2014/main" id="{BCFA4E6F-452F-FDFC-9FEB-16099BFE4D90}"/>
                  </a:ext>
                </a:extLst>
              </p:cNvPr>
              <p:cNvSpPr txBox="1">
                <a:spLocks noRot="1" noChangeAspect="1" noMove="1" noResize="1" noEditPoints="1" noAdjustHandles="1" noChangeArrowheads="1" noChangeShapeType="1" noTextEdit="1"/>
              </p:cNvSpPr>
              <p:nvPr/>
            </p:nvSpPr>
            <p:spPr>
              <a:xfrm>
                <a:off x="1044327" y="1762338"/>
                <a:ext cx="10009112" cy="3183500"/>
              </a:xfrm>
              <a:prstGeom prst="rect">
                <a:avLst/>
              </a:prstGeom>
              <a:blipFill>
                <a:blip r:embed="rId3"/>
                <a:stretch>
                  <a:fillRect l="-670" t="-1533" r="-853" b="-2490"/>
                </a:stretch>
              </a:blipFill>
            </p:spPr>
            <p:txBody>
              <a:bodyPr/>
              <a:lstStyle/>
              <a:p>
                <a:r>
                  <a:rPr lang="de-DE">
                    <a:noFill/>
                  </a:rPr>
                  <a:t> </a:t>
                </a:r>
              </a:p>
            </p:txBody>
          </p:sp>
        </mc:Fallback>
      </mc:AlternateContent>
    </p:spTree>
    <p:extLst>
      <p:ext uri="{BB962C8B-B14F-4D97-AF65-F5344CB8AC3E}">
        <p14:creationId xmlns:p14="http://schemas.microsoft.com/office/powerpoint/2010/main" val="333139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
                                            <p:txEl>
                                              <p:pRg st="0" end="0"/>
                                            </p:txEl>
                                          </p:spTgt>
                                        </p:tgtEl>
                                        <p:attrNameLst>
                                          <p:attrName>ppt_c</p:attrName>
                                        </p:attrNameLst>
                                      </p:cBhvr>
                                      <p:to>
                                        <a:srgbClr val="DCDCDC"/>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
                                            <p:txEl>
                                              <p:pRg st="3" end="3"/>
                                            </p:txEl>
                                          </p:spTgt>
                                        </p:tgtEl>
                                        <p:attrNameLst>
                                          <p:attrName>ppt_c</p:attrName>
                                        </p:attrNameLst>
                                      </p:cBhvr>
                                      <p:to>
                                        <a:srgbClr val="DCDCDC"/>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
                                            <p:txEl>
                                              <p:pRg st="6" end="6"/>
                                            </p:txEl>
                                          </p:spTgt>
                                        </p:tgtEl>
                                        <p:attrNameLst>
                                          <p:attrName>ppt_c</p:attrName>
                                        </p:attrNameLst>
                                      </p:cBhvr>
                                      <p:to>
                                        <a:srgbClr val="DCDCDC"/>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3321C93-E914-1A7B-90C3-2ABECCA139CD}"/>
              </a:ext>
            </a:extLst>
          </p:cNvPr>
          <p:cNvSpPr>
            <a:spLocks noGrp="1"/>
          </p:cNvSpPr>
          <p:nvPr>
            <p:ph type="title"/>
          </p:nvPr>
        </p:nvSpPr>
        <p:spPr/>
        <p:txBody>
          <a:bodyPr/>
          <a:lstStyle/>
          <a:p>
            <a:r>
              <a:rPr lang="en-AU" noProof="0" dirty="0"/>
              <a:t>Factors Influencing CC2D-models</a:t>
            </a:r>
          </a:p>
        </p:txBody>
      </p:sp>
      <p:grpSp>
        <p:nvGrpSpPr>
          <p:cNvPr id="6" name="Gruppieren 5">
            <a:extLst>
              <a:ext uri="{FF2B5EF4-FFF2-40B4-BE49-F238E27FC236}">
                <a16:creationId xmlns:a16="http://schemas.microsoft.com/office/drawing/2014/main" id="{A8162B8E-F08B-B2C2-17A2-68E321558F17}"/>
              </a:ext>
            </a:extLst>
          </p:cNvPr>
          <p:cNvGrpSpPr/>
          <p:nvPr/>
        </p:nvGrpSpPr>
        <p:grpSpPr>
          <a:xfrm>
            <a:off x="596332" y="1461008"/>
            <a:ext cx="698641" cy="543438"/>
            <a:chOff x="6055859" y="4500389"/>
            <a:chExt cx="1440160" cy="1368152"/>
          </a:xfrm>
        </p:grpSpPr>
        <p:cxnSp>
          <p:nvCxnSpPr>
            <p:cNvPr id="7" name="Gerader Verbinder 6">
              <a:extLst>
                <a:ext uri="{FF2B5EF4-FFF2-40B4-BE49-F238E27FC236}">
                  <a16:creationId xmlns:a16="http://schemas.microsoft.com/office/drawing/2014/main" id="{7E199DC7-9C28-7857-EA34-48B08F67C102}"/>
                </a:ext>
              </a:extLst>
            </p:cNvPr>
            <p:cNvCxnSpPr>
              <a:cxnSpLocks/>
            </p:cNvCxnSpPr>
            <p:nvPr/>
          </p:nvCxnSpPr>
          <p:spPr>
            <a:xfrm>
              <a:off x="6055859" y="5868541"/>
              <a:ext cx="1440160" cy="0"/>
            </a:xfrm>
            <a:prstGeom prst="line">
              <a:avLst/>
            </a:prstGeom>
            <a:noFill/>
            <a:ln w="19050" cap="flat" cmpd="sng" algn="ctr">
              <a:solidFill>
                <a:schemeClr val="tx1"/>
              </a:solidFill>
              <a:prstDash val="solid"/>
            </a:ln>
            <a:effectLst/>
          </p:spPr>
        </p:cxnSp>
        <p:cxnSp>
          <p:nvCxnSpPr>
            <p:cNvPr id="8" name="Gerader Verbinder 7">
              <a:extLst>
                <a:ext uri="{FF2B5EF4-FFF2-40B4-BE49-F238E27FC236}">
                  <a16:creationId xmlns:a16="http://schemas.microsoft.com/office/drawing/2014/main" id="{A583365B-33B1-5588-01FB-A0309B47B047}"/>
                </a:ext>
              </a:extLst>
            </p:cNvPr>
            <p:cNvCxnSpPr/>
            <p:nvPr/>
          </p:nvCxnSpPr>
          <p:spPr>
            <a:xfrm flipV="1">
              <a:off x="6242293" y="4500389"/>
              <a:ext cx="0" cy="1368152"/>
            </a:xfrm>
            <a:prstGeom prst="line">
              <a:avLst/>
            </a:prstGeom>
            <a:noFill/>
            <a:ln w="19050" cap="flat" cmpd="sng" algn="ctr">
              <a:solidFill>
                <a:schemeClr val="tx1"/>
              </a:solidFill>
              <a:prstDash val="solid"/>
            </a:ln>
            <a:effectLst/>
          </p:spPr>
        </p:cxnSp>
        <p:cxnSp>
          <p:nvCxnSpPr>
            <p:cNvPr id="9" name="Gerader Verbinder 8">
              <a:extLst>
                <a:ext uri="{FF2B5EF4-FFF2-40B4-BE49-F238E27FC236}">
                  <a16:creationId xmlns:a16="http://schemas.microsoft.com/office/drawing/2014/main" id="{E3F48722-7C00-25D8-4D4A-C0825CEC4987}"/>
                </a:ext>
              </a:extLst>
            </p:cNvPr>
            <p:cNvCxnSpPr/>
            <p:nvPr/>
          </p:nvCxnSpPr>
          <p:spPr>
            <a:xfrm flipV="1">
              <a:off x="7309023" y="4500389"/>
              <a:ext cx="0" cy="1368152"/>
            </a:xfrm>
            <a:prstGeom prst="line">
              <a:avLst/>
            </a:prstGeom>
            <a:noFill/>
            <a:ln w="19050" cap="flat" cmpd="sng" algn="ctr">
              <a:solidFill>
                <a:schemeClr val="tx1"/>
              </a:solidFill>
              <a:prstDash val="solid"/>
            </a:ln>
            <a:effectLst/>
          </p:spPr>
        </p:cxnSp>
        <p:cxnSp>
          <p:nvCxnSpPr>
            <p:cNvPr id="10" name="Gerader Verbinder 9">
              <a:extLst>
                <a:ext uri="{FF2B5EF4-FFF2-40B4-BE49-F238E27FC236}">
                  <a16:creationId xmlns:a16="http://schemas.microsoft.com/office/drawing/2014/main" id="{286A234E-5BF9-50D2-A203-3E739AD6E37A}"/>
                </a:ext>
              </a:extLst>
            </p:cNvPr>
            <p:cNvCxnSpPr>
              <a:cxnSpLocks/>
            </p:cNvCxnSpPr>
            <p:nvPr/>
          </p:nvCxnSpPr>
          <p:spPr>
            <a:xfrm>
              <a:off x="6242293" y="4500389"/>
              <a:ext cx="1066730" cy="0"/>
            </a:xfrm>
            <a:prstGeom prst="line">
              <a:avLst/>
            </a:prstGeom>
            <a:noFill/>
            <a:ln w="19050" cap="flat" cmpd="sng" algn="ctr">
              <a:solidFill>
                <a:schemeClr val="tx1"/>
              </a:solidFill>
              <a:prstDash val="solid"/>
            </a:ln>
            <a:effectLst/>
          </p:spPr>
        </p:cxnSp>
        <p:cxnSp>
          <p:nvCxnSpPr>
            <p:cNvPr id="11" name="Gerader Verbinder 10">
              <a:extLst>
                <a:ext uri="{FF2B5EF4-FFF2-40B4-BE49-F238E27FC236}">
                  <a16:creationId xmlns:a16="http://schemas.microsoft.com/office/drawing/2014/main" id="{096353CD-F8BF-5B85-5204-5E77F0B13EF2}"/>
                </a:ext>
              </a:extLst>
            </p:cNvPr>
            <p:cNvCxnSpPr>
              <a:cxnSpLocks/>
            </p:cNvCxnSpPr>
            <p:nvPr/>
          </p:nvCxnSpPr>
          <p:spPr>
            <a:xfrm>
              <a:off x="6242293" y="4932437"/>
              <a:ext cx="1066730" cy="0"/>
            </a:xfrm>
            <a:prstGeom prst="line">
              <a:avLst/>
            </a:prstGeom>
            <a:noFill/>
            <a:ln w="19050" cap="flat" cmpd="sng" algn="ctr">
              <a:solidFill>
                <a:schemeClr val="tx1"/>
              </a:solidFill>
              <a:prstDash val="solid"/>
            </a:ln>
            <a:effectLst/>
          </p:spPr>
        </p:cxnSp>
        <p:cxnSp>
          <p:nvCxnSpPr>
            <p:cNvPr id="12" name="Gerader Verbinder 11">
              <a:extLst>
                <a:ext uri="{FF2B5EF4-FFF2-40B4-BE49-F238E27FC236}">
                  <a16:creationId xmlns:a16="http://schemas.microsoft.com/office/drawing/2014/main" id="{48FD8F5B-DBF2-B10A-A6DF-86BF09714F97}"/>
                </a:ext>
              </a:extLst>
            </p:cNvPr>
            <p:cNvCxnSpPr>
              <a:cxnSpLocks/>
            </p:cNvCxnSpPr>
            <p:nvPr/>
          </p:nvCxnSpPr>
          <p:spPr>
            <a:xfrm>
              <a:off x="6242293" y="5364485"/>
              <a:ext cx="1066730" cy="0"/>
            </a:xfrm>
            <a:prstGeom prst="line">
              <a:avLst/>
            </a:prstGeom>
            <a:noFill/>
            <a:ln w="19050" cap="flat" cmpd="sng" algn="ctr">
              <a:solidFill>
                <a:schemeClr val="tx1"/>
              </a:solidFill>
              <a:prstDash val="solid"/>
            </a:ln>
            <a:effectLst/>
          </p:spPr>
        </p:cxnSp>
        <p:cxnSp>
          <p:nvCxnSpPr>
            <p:cNvPr id="13" name="Gerader Verbinder 12">
              <a:extLst>
                <a:ext uri="{FF2B5EF4-FFF2-40B4-BE49-F238E27FC236}">
                  <a16:creationId xmlns:a16="http://schemas.microsoft.com/office/drawing/2014/main" id="{F201ED49-D784-F248-F788-6DE3E96D45BC}"/>
                </a:ext>
              </a:extLst>
            </p:cNvPr>
            <p:cNvCxnSpPr/>
            <p:nvPr/>
          </p:nvCxnSpPr>
          <p:spPr>
            <a:xfrm flipV="1">
              <a:off x="6775658" y="4500389"/>
              <a:ext cx="0" cy="1368152"/>
            </a:xfrm>
            <a:prstGeom prst="line">
              <a:avLst/>
            </a:prstGeom>
            <a:noFill/>
            <a:ln w="19050" cap="flat" cmpd="sng" algn="ctr">
              <a:solidFill>
                <a:schemeClr val="tx1"/>
              </a:solidFill>
              <a:prstDash val="solid"/>
            </a:ln>
            <a:effectLst/>
          </p:spPr>
        </p:cxnSp>
        <p:cxnSp>
          <p:nvCxnSpPr>
            <p:cNvPr id="14" name="Gerader Verbinder 13">
              <a:extLst>
                <a:ext uri="{FF2B5EF4-FFF2-40B4-BE49-F238E27FC236}">
                  <a16:creationId xmlns:a16="http://schemas.microsoft.com/office/drawing/2014/main" id="{A4B6A811-800E-959B-A722-DA706934E380}"/>
                </a:ext>
              </a:extLst>
            </p:cNvPr>
            <p:cNvCxnSpPr/>
            <p:nvPr/>
          </p:nvCxnSpPr>
          <p:spPr>
            <a:xfrm flipV="1">
              <a:off x="6242293" y="4500389"/>
              <a:ext cx="533646" cy="432048"/>
            </a:xfrm>
            <a:prstGeom prst="line">
              <a:avLst/>
            </a:prstGeom>
            <a:noFill/>
            <a:ln w="19050" cap="flat" cmpd="sng" algn="ctr">
              <a:solidFill>
                <a:schemeClr val="tx1"/>
              </a:solidFill>
              <a:prstDash val="solid"/>
            </a:ln>
            <a:effectLst/>
          </p:spPr>
        </p:cxnSp>
        <p:cxnSp>
          <p:nvCxnSpPr>
            <p:cNvPr id="15" name="Gerader Verbinder 14">
              <a:extLst>
                <a:ext uri="{FF2B5EF4-FFF2-40B4-BE49-F238E27FC236}">
                  <a16:creationId xmlns:a16="http://schemas.microsoft.com/office/drawing/2014/main" id="{469B11D5-7C1B-E421-B1E8-8F42343BF22D}"/>
                </a:ext>
              </a:extLst>
            </p:cNvPr>
            <p:cNvCxnSpPr/>
            <p:nvPr/>
          </p:nvCxnSpPr>
          <p:spPr>
            <a:xfrm flipV="1">
              <a:off x="6242293" y="4932439"/>
              <a:ext cx="533646" cy="432048"/>
            </a:xfrm>
            <a:prstGeom prst="line">
              <a:avLst/>
            </a:prstGeom>
            <a:noFill/>
            <a:ln w="19050" cap="flat" cmpd="sng" algn="ctr">
              <a:solidFill>
                <a:schemeClr val="tx1"/>
              </a:solidFill>
              <a:prstDash val="solid"/>
            </a:ln>
            <a:effectLst/>
          </p:spPr>
        </p:cxnSp>
        <p:cxnSp>
          <p:nvCxnSpPr>
            <p:cNvPr id="16" name="Gerader Verbinder 15">
              <a:extLst>
                <a:ext uri="{FF2B5EF4-FFF2-40B4-BE49-F238E27FC236}">
                  <a16:creationId xmlns:a16="http://schemas.microsoft.com/office/drawing/2014/main" id="{1D9375F1-F89E-013D-E90B-FFDE0CF5D0FE}"/>
                </a:ext>
              </a:extLst>
            </p:cNvPr>
            <p:cNvCxnSpPr>
              <a:cxnSpLocks/>
            </p:cNvCxnSpPr>
            <p:nvPr/>
          </p:nvCxnSpPr>
          <p:spPr>
            <a:xfrm flipV="1">
              <a:off x="6241732" y="5364487"/>
              <a:ext cx="533646" cy="476248"/>
            </a:xfrm>
            <a:prstGeom prst="line">
              <a:avLst/>
            </a:prstGeom>
            <a:noFill/>
            <a:ln w="19050" cap="flat" cmpd="sng" algn="ctr">
              <a:solidFill>
                <a:schemeClr val="tx1"/>
              </a:solidFill>
              <a:prstDash val="solid"/>
            </a:ln>
            <a:effectLst/>
          </p:spPr>
        </p:cxnSp>
        <p:grpSp>
          <p:nvGrpSpPr>
            <p:cNvPr id="17" name="Gruppieren 16">
              <a:extLst>
                <a:ext uri="{FF2B5EF4-FFF2-40B4-BE49-F238E27FC236}">
                  <a16:creationId xmlns:a16="http://schemas.microsoft.com/office/drawing/2014/main" id="{15DD39F8-574F-8E31-F0CF-36E519264689}"/>
                </a:ext>
              </a:extLst>
            </p:cNvPr>
            <p:cNvGrpSpPr/>
            <p:nvPr/>
          </p:nvGrpSpPr>
          <p:grpSpPr>
            <a:xfrm flipH="1">
              <a:off x="6785465" y="4509529"/>
              <a:ext cx="534207" cy="1340346"/>
              <a:chOff x="6394132" y="4652789"/>
              <a:chExt cx="534207" cy="1340346"/>
            </a:xfrm>
          </p:grpSpPr>
          <p:cxnSp>
            <p:nvCxnSpPr>
              <p:cNvPr id="21" name="Gerader Verbinder 20">
                <a:extLst>
                  <a:ext uri="{FF2B5EF4-FFF2-40B4-BE49-F238E27FC236}">
                    <a16:creationId xmlns:a16="http://schemas.microsoft.com/office/drawing/2014/main" id="{653A87DA-9E1A-88D4-950D-A6262B3264F7}"/>
                  </a:ext>
                </a:extLst>
              </p:cNvPr>
              <p:cNvCxnSpPr/>
              <p:nvPr/>
            </p:nvCxnSpPr>
            <p:spPr>
              <a:xfrm flipV="1">
                <a:off x="6394693" y="4652789"/>
                <a:ext cx="533646" cy="432048"/>
              </a:xfrm>
              <a:prstGeom prst="line">
                <a:avLst/>
              </a:prstGeom>
              <a:noFill/>
              <a:ln w="19050" cap="flat" cmpd="sng" algn="ctr">
                <a:solidFill>
                  <a:schemeClr val="tx1"/>
                </a:solidFill>
                <a:prstDash val="solid"/>
              </a:ln>
              <a:effectLst/>
            </p:spPr>
          </p:cxnSp>
          <p:cxnSp>
            <p:nvCxnSpPr>
              <p:cNvPr id="22" name="Gerader Verbinder 21">
                <a:extLst>
                  <a:ext uri="{FF2B5EF4-FFF2-40B4-BE49-F238E27FC236}">
                    <a16:creationId xmlns:a16="http://schemas.microsoft.com/office/drawing/2014/main" id="{203935F2-E4D3-6141-70DA-D9F9C9B61CEA}"/>
                  </a:ext>
                </a:extLst>
              </p:cNvPr>
              <p:cNvCxnSpPr/>
              <p:nvPr/>
            </p:nvCxnSpPr>
            <p:spPr>
              <a:xfrm flipV="1">
                <a:off x="6394693" y="5084839"/>
                <a:ext cx="533646" cy="432048"/>
              </a:xfrm>
              <a:prstGeom prst="line">
                <a:avLst/>
              </a:prstGeom>
              <a:noFill/>
              <a:ln w="19050" cap="flat" cmpd="sng" algn="ctr">
                <a:solidFill>
                  <a:schemeClr val="tx1"/>
                </a:solidFill>
                <a:prstDash val="solid"/>
              </a:ln>
              <a:effectLst/>
            </p:spPr>
          </p:cxnSp>
          <p:cxnSp>
            <p:nvCxnSpPr>
              <p:cNvPr id="23" name="Gerader Verbinder 22">
                <a:extLst>
                  <a:ext uri="{FF2B5EF4-FFF2-40B4-BE49-F238E27FC236}">
                    <a16:creationId xmlns:a16="http://schemas.microsoft.com/office/drawing/2014/main" id="{AA4EB734-0EC8-867B-48F0-D9D821514D78}"/>
                  </a:ext>
                </a:extLst>
              </p:cNvPr>
              <p:cNvCxnSpPr>
                <a:cxnSpLocks/>
              </p:cNvCxnSpPr>
              <p:nvPr/>
            </p:nvCxnSpPr>
            <p:spPr>
              <a:xfrm flipV="1">
                <a:off x="6394132" y="5516887"/>
                <a:ext cx="533646" cy="476248"/>
              </a:xfrm>
              <a:prstGeom prst="line">
                <a:avLst/>
              </a:prstGeom>
              <a:noFill/>
              <a:ln w="19050" cap="flat" cmpd="sng" algn="ctr">
                <a:solidFill>
                  <a:schemeClr val="tx1"/>
                </a:solidFill>
                <a:prstDash val="solid"/>
              </a:ln>
              <a:effectLst/>
            </p:spPr>
          </p:cxnSp>
        </p:grpSp>
      </p:grpSp>
      <p:sp>
        <p:nvSpPr>
          <p:cNvPr id="34" name="Textfeld 33">
            <a:extLst>
              <a:ext uri="{FF2B5EF4-FFF2-40B4-BE49-F238E27FC236}">
                <a16:creationId xmlns:a16="http://schemas.microsoft.com/office/drawing/2014/main" id="{0242A042-70BC-86E8-C992-A916BA8D950A}"/>
              </a:ext>
            </a:extLst>
          </p:cNvPr>
          <p:cNvSpPr txBox="1"/>
          <p:nvPr/>
        </p:nvSpPr>
        <p:spPr>
          <a:xfrm>
            <a:off x="1388962" y="1491340"/>
            <a:ext cx="3111749" cy="523220"/>
          </a:xfrm>
          <a:prstGeom prst="rect">
            <a:avLst/>
          </a:prstGeom>
          <a:noFill/>
        </p:spPr>
        <p:txBody>
          <a:bodyPr wrap="none" rtlCol="0">
            <a:spAutoFit/>
          </a:bodyPr>
          <a:lstStyle/>
          <a:p>
            <a:r>
              <a:rPr lang="en-AU" sz="2800" noProof="0" dirty="0">
                <a:solidFill>
                  <a:srgbClr val="333333"/>
                </a:solidFill>
                <a:latin typeface="Futura LT Pro Light" panose="020B0402020204020303" pitchFamily="34" charset="0"/>
                <a:cs typeface="+mn-cs"/>
              </a:rPr>
              <a:t>Structural System</a:t>
            </a:r>
          </a:p>
        </p:txBody>
      </p:sp>
      <p:grpSp>
        <p:nvGrpSpPr>
          <p:cNvPr id="58" name="Gruppieren 57">
            <a:extLst>
              <a:ext uri="{FF2B5EF4-FFF2-40B4-BE49-F238E27FC236}">
                <a16:creationId xmlns:a16="http://schemas.microsoft.com/office/drawing/2014/main" id="{03103AB1-E3E8-BA35-B5AB-BAB1E26469D9}"/>
              </a:ext>
            </a:extLst>
          </p:cNvPr>
          <p:cNvGrpSpPr/>
          <p:nvPr/>
        </p:nvGrpSpPr>
        <p:grpSpPr>
          <a:xfrm>
            <a:off x="5831622" y="2141172"/>
            <a:ext cx="5364657" cy="775041"/>
            <a:chOff x="453483" y="3672639"/>
            <a:chExt cx="5364657" cy="775041"/>
          </a:xfrm>
        </p:grpSpPr>
        <p:pic>
          <p:nvPicPr>
            <p:cNvPr id="31" name="Grafik 30">
              <a:extLst>
                <a:ext uri="{FF2B5EF4-FFF2-40B4-BE49-F238E27FC236}">
                  <a16:creationId xmlns:a16="http://schemas.microsoft.com/office/drawing/2014/main" id="{BAB02817-20DF-0ED0-8852-6AAEE4E68577}"/>
                </a:ext>
              </a:extLst>
            </p:cNvPr>
            <p:cNvPicPr>
              <a:picLocks noChangeAspect="1"/>
            </p:cNvPicPr>
            <p:nvPr/>
          </p:nvPicPr>
          <p:blipFill>
            <a:blip r:embed="rId2">
              <a:clrChange>
                <a:clrFrom>
                  <a:srgbClr val="FAFAFA"/>
                </a:clrFrom>
                <a:clrTo>
                  <a:srgbClr val="FAFAFA">
                    <a:alpha val="0"/>
                  </a:srgbClr>
                </a:clrTo>
              </a:clrChange>
            </a:blip>
            <a:stretch>
              <a:fillRect/>
            </a:stretch>
          </p:blipFill>
          <p:spPr>
            <a:xfrm>
              <a:off x="453483" y="3672639"/>
              <a:ext cx="711047" cy="775041"/>
            </a:xfrm>
            <a:prstGeom prst="rect">
              <a:avLst/>
            </a:prstGeom>
          </p:spPr>
        </p:pic>
        <p:sp>
          <p:nvSpPr>
            <p:cNvPr id="36" name="Textfeld 35">
              <a:extLst>
                <a:ext uri="{FF2B5EF4-FFF2-40B4-BE49-F238E27FC236}">
                  <a16:creationId xmlns:a16="http://schemas.microsoft.com/office/drawing/2014/main" id="{A7DDA611-B79E-4056-41E9-E3A0AAB0F02F}"/>
                </a:ext>
              </a:extLst>
            </p:cNvPr>
            <p:cNvSpPr txBox="1"/>
            <p:nvPr/>
          </p:nvSpPr>
          <p:spPr>
            <a:xfrm>
              <a:off x="1303763" y="3678239"/>
              <a:ext cx="4514377" cy="769441"/>
            </a:xfrm>
            <a:prstGeom prst="rect">
              <a:avLst/>
            </a:prstGeom>
            <a:noFill/>
          </p:spPr>
          <p:txBody>
            <a:bodyPr wrap="none" rtlCol="0">
              <a:spAutoFit/>
            </a:bodyPr>
            <a:lstStyle/>
            <a:p>
              <a:r>
                <a:rPr lang="en-AU" sz="2800" noProof="0" dirty="0">
                  <a:solidFill>
                    <a:srgbClr val="333333"/>
                  </a:solidFill>
                  <a:latin typeface="Futura LT Pro Light" panose="020B0402020204020303" pitchFamily="34" charset="0"/>
                  <a:cs typeface="+mn-cs"/>
                </a:rPr>
                <a:t>Site Conditions</a:t>
              </a:r>
            </a:p>
            <a:p>
              <a:r>
                <a:rPr lang="en-AU" sz="1600" noProof="0" dirty="0">
                  <a:solidFill>
                    <a:srgbClr val="333333"/>
                  </a:solidFill>
                  <a:latin typeface="Futura LT Pro Light" panose="020B0402020204020303" pitchFamily="34" charset="0"/>
                  <a:cs typeface="+mn-cs"/>
                </a:rPr>
                <a:t>Soil properties, tectonic region, seismicity, …</a:t>
              </a:r>
            </a:p>
          </p:txBody>
        </p:sp>
      </p:grpSp>
      <p:grpSp>
        <p:nvGrpSpPr>
          <p:cNvPr id="57" name="Gruppieren 56">
            <a:extLst>
              <a:ext uri="{FF2B5EF4-FFF2-40B4-BE49-F238E27FC236}">
                <a16:creationId xmlns:a16="http://schemas.microsoft.com/office/drawing/2014/main" id="{1B0D9C06-FFB0-88E1-7C18-D028B0839807}"/>
              </a:ext>
            </a:extLst>
          </p:cNvPr>
          <p:cNvGrpSpPr/>
          <p:nvPr/>
        </p:nvGrpSpPr>
        <p:grpSpPr>
          <a:xfrm>
            <a:off x="5831622" y="3764853"/>
            <a:ext cx="5452822" cy="769441"/>
            <a:chOff x="367932" y="4610684"/>
            <a:chExt cx="5452822" cy="769441"/>
          </a:xfrm>
        </p:grpSpPr>
        <p:sp>
          <p:nvSpPr>
            <p:cNvPr id="37" name="Textfeld 36">
              <a:extLst>
                <a:ext uri="{FF2B5EF4-FFF2-40B4-BE49-F238E27FC236}">
                  <a16:creationId xmlns:a16="http://schemas.microsoft.com/office/drawing/2014/main" id="{A9F37757-C5DF-2895-DC5E-1C72380D029B}"/>
                </a:ext>
              </a:extLst>
            </p:cNvPr>
            <p:cNvSpPr txBox="1"/>
            <p:nvPr/>
          </p:nvSpPr>
          <p:spPr>
            <a:xfrm>
              <a:off x="1282332" y="4610684"/>
              <a:ext cx="4538422" cy="769441"/>
            </a:xfrm>
            <a:prstGeom prst="rect">
              <a:avLst/>
            </a:prstGeom>
            <a:noFill/>
          </p:spPr>
          <p:txBody>
            <a:bodyPr wrap="none" rtlCol="0">
              <a:spAutoFit/>
            </a:bodyPr>
            <a:lstStyle/>
            <a:p>
              <a:r>
                <a:rPr lang="en-AU" sz="2800" noProof="0" dirty="0">
                  <a:solidFill>
                    <a:srgbClr val="333333"/>
                  </a:solidFill>
                  <a:latin typeface="Futura LT Pro Light" panose="020B0402020204020303" pitchFamily="34" charset="0"/>
                  <a:cs typeface="+mn-cs"/>
                </a:rPr>
                <a:t>Ground Motion Selection</a:t>
              </a:r>
            </a:p>
            <a:p>
              <a:r>
                <a:rPr lang="en-AU" sz="1600" noProof="0" dirty="0">
                  <a:solidFill>
                    <a:srgbClr val="333333"/>
                  </a:solidFill>
                  <a:latin typeface="Futura LT Pro Light" panose="020B0402020204020303" pitchFamily="34" charset="0"/>
                  <a:cs typeface="+mn-cs"/>
                </a:rPr>
                <a:t>Hazard consistency, scaling, …</a:t>
              </a:r>
            </a:p>
          </p:txBody>
        </p:sp>
        <p:pic>
          <p:nvPicPr>
            <p:cNvPr id="41" name="Grafik 40" descr="Herztöne Silhouette">
              <a:extLst>
                <a:ext uri="{FF2B5EF4-FFF2-40B4-BE49-F238E27FC236}">
                  <a16:creationId xmlns:a16="http://schemas.microsoft.com/office/drawing/2014/main" id="{4202CE8B-E1A7-435C-6EA1-B0899AD73176}"/>
                </a:ext>
              </a:extLst>
            </p:cNvPr>
            <p:cNvPicPr>
              <a:picLocks noChangeAspect="1"/>
            </p:cNvPicPr>
            <p:nvPr/>
          </p:nvPicPr>
          <p:blipFill>
            <a:blip r:embed="rId3">
              <a:extLst>
                <a:ext uri="{96DAC541-7B7A-43D3-8B79-37D633B846F1}">
                  <asvg:svgBlip xmlns:asvg="http://schemas.microsoft.com/office/drawing/2016/SVG/main" r:embed="rId4"/>
                </a:ext>
              </a:extLst>
            </a:blip>
            <a:srcRect t="20070" b="12872"/>
            <a:stretch>
              <a:fillRect/>
            </a:stretch>
          </p:blipFill>
          <p:spPr>
            <a:xfrm>
              <a:off x="367932" y="4617101"/>
              <a:ext cx="914400" cy="756607"/>
            </a:xfrm>
            <a:prstGeom prst="rect">
              <a:avLst/>
            </a:prstGeom>
          </p:spPr>
        </p:pic>
      </p:grpSp>
      <p:grpSp>
        <p:nvGrpSpPr>
          <p:cNvPr id="56" name="Gruppieren 55">
            <a:extLst>
              <a:ext uri="{FF2B5EF4-FFF2-40B4-BE49-F238E27FC236}">
                <a16:creationId xmlns:a16="http://schemas.microsoft.com/office/drawing/2014/main" id="{5A190B0B-A994-D684-6672-547C13EABD0A}"/>
              </a:ext>
            </a:extLst>
          </p:cNvPr>
          <p:cNvGrpSpPr/>
          <p:nvPr/>
        </p:nvGrpSpPr>
        <p:grpSpPr>
          <a:xfrm>
            <a:off x="5831622" y="5382934"/>
            <a:ext cx="4056258" cy="769441"/>
            <a:chOff x="442610" y="5589479"/>
            <a:chExt cx="4056258" cy="769441"/>
          </a:xfrm>
        </p:grpSpPr>
        <p:sp>
          <p:nvSpPr>
            <p:cNvPr id="38" name="Textfeld 37">
              <a:extLst>
                <a:ext uri="{FF2B5EF4-FFF2-40B4-BE49-F238E27FC236}">
                  <a16:creationId xmlns:a16="http://schemas.microsoft.com/office/drawing/2014/main" id="{8A650FA4-10F1-A1AE-B63B-1CB397456E37}"/>
                </a:ext>
              </a:extLst>
            </p:cNvPr>
            <p:cNvSpPr txBox="1"/>
            <p:nvPr/>
          </p:nvSpPr>
          <p:spPr>
            <a:xfrm>
              <a:off x="1303763" y="5589479"/>
              <a:ext cx="3195105" cy="769441"/>
            </a:xfrm>
            <a:prstGeom prst="rect">
              <a:avLst/>
            </a:prstGeom>
            <a:noFill/>
          </p:spPr>
          <p:txBody>
            <a:bodyPr wrap="none" rtlCol="0">
              <a:spAutoFit/>
            </a:bodyPr>
            <a:lstStyle/>
            <a:p>
              <a:r>
                <a:rPr lang="en-AU" sz="2800" noProof="0" dirty="0">
                  <a:solidFill>
                    <a:srgbClr val="333333"/>
                  </a:solidFill>
                  <a:latin typeface="Futura LT Pro Light" panose="020B0402020204020303" pitchFamily="34" charset="0"/>
                  <a:cs typeface="+mn-cs"/>
                </a:rPr>
                <a:t>Intensity Measure</a:t>
              </a:r>
            </a:p>
            <a:p>
              <a:r>
                <a:rPr lang="en-AU" sz="1600" noProof="0" dirty="0">
                  <a:solidFill>
                    <a:srgbClr val="333333"/>
                  </a:solidFill>
                  <a:latin typeface="Futura LT Pro Light" panose="020B0402020204020303" pitchFamily="34" charset="0"/>
                  <a:cs typeface="+mn-cs"/>
                </a:rPr>
                <a:t>SA(T1), PGA, AvgSA, …</a:t>
              </a:r>
            </a:p>
          </p:txBody>
        </p:sp>
        <p:pic>
          <p:nvPicPr>
            <p:cNvPr id="45" name="Grafik 44" descr="Muskulöser Arm Silhouette">
              <a:extLst>
                <a:ext uri="{FF2B5EF4-FFF2-40B4-BE49-F238E27FC236}">
                  <a16:creationId xmlns:a16="http://schemas.microsoft.com/office/drawing/2014/main" id="{3CD353AC-6936-A6BD-8B9E-48084044A0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2610" y="5648556"/>
              <a:ext cx="698641" cy="698641"/>
            </a:xfrm>
            <a:prstGeom prst="rect">
              <a:avLst/>
            </a:prstGeom>
          </p:spPr>
        </p:pic>
      </p:grpSp>
      <p:grpSp>
        <p:nvGrpSpPr>
          <p:cNvPr id="59" name="Gruppieren 58">
            <a:extLst>
              <a:ext uri="{FF2B5EF4-FFF2-40B4-BE49-F238E27FC236}">
                <a16:creationId xmlns:a16="http://schemas.microsoft.com/office/drawing/2014/main" id="{56727422-A00A-D29E-EF32-4037B220266C}"/>
              </a:ext>
            </a:extLst>
          </p:cNvPr>
          <p:cNvGrpSpPr/>
          <p:nvPr/>
        </p:nvGrpSpPr>
        <p:grpSpPr>
          <a:xfrm>
            <a:off x="596332" y="2919610"/>
            <a:ext cx="3893101" cy="914400"/>
            <a:chOff x="379135" y="2475825"/>
            <a:chExt cx="3893101" cy="914400"/>
          </a:xfrm>
        </p:grpSpPr>
        <p:sp>
          <p:nvSpPr>
            <p:cNvPr id="35" name="Textfeld 34">
              <a:extLst>
                <a:ext uri="{FF2B5EF4-FFF2-40B4-BE49-F238E27FC236}">
                  <a16:creationId xmlns:a16="http://schemas.microsoft.com/office/drawing/2014/main" id="{EB66DEBA-752D-E97D-09E4-EF7007C50FBB}"/>
                </a:ext>
              </a:extLst>
            </p:cNvPr>
            <p:cNvSpPr txBox="1"/>
            <p:nvPr/>
          </p:nvSpPr>
          <p:spPr>
            <a:xfrm>
              <a:off x="1293535" y="2566120"/>
              <a:ext cx="2978701" cy="769441"/>
            </a:xfrm>
            <a:prstGeom prst="rect">
              <a:avLst/>
            </a:prstGeom>
            <a:noFill/>
          </p:spPr>
          <p:txBody>
            <a:bodyPr wrap="none" rtlCol="0">
              <a:spAutoFit/>
            </a:bodyPr>
            <a:lstStyle/>
            <a:p>
              <a:r>
                <a:rPr lang="en-AU" sz="2800" noProof="0" dirty="0">
                  <a:solidFill>
                    <a:srgbClr val="333333"/>
                  </a:solidFill>
                  <a:latin typeface="Futura LT Pro Light" panose="020B0402020204020303" pitchFamily="34" charset="0"/>
                  <a:cs typeface="+mn-cs"/>
                </a:rPr>
                <a:t>Modelling</a:t>
              </a:r>
            </a:p>
            <a:p>
              <a:r>
                <a:rPr lang="en-AU" sz="1600" noProof="0" dirty="0">
                  <a:solidFill>
                    <a:srgbClr val="333333"/>
                  </a:solidFill>
                  <a:latin typeface="Futura LT Pro Light" panose="020B0402020204020303" pitchFamily="34" charset="0"/>
                  <a:cs typeface="+mn-cs"/>
                </a:rPr>
                <a:t>Components and Materials</a:t>
              </a:r>
              <a:endParaRPr lang="en-AU" sz="2800" noProof="0" dirty="0">
                <a:solidFill>
                  <a:srgbClr val="333333"/>
                </a:solidFill>
                <a:latin typeface="Futura LT Pro Light" panose="020B0402020204020303" pitchFamily="34" charset="0"/>
                <a:cs typeface="+mn-cs"/>
              </a:endParaRPr>
            </a:p>
          </p:txBody>
        </p:sp>
        <p:pic>
          <p:nvPicPr>
            <p:cNvPr id="47" name="Grafik 46" descr="Normalverteilung Silhouette">
              <a:extLst>
                <a:ext uri="{FF2B5EF4-FFF2-40B4-BE49-F238E27FC236}">
                  <a16:creationId xmlns:a16="http://schemas.microsoft.com/office/drawing/2014/main" id="{B50A6697-3940-F9FA-92DD-C12B8AD3F7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379135" y="2475825"/>
              <a:ext cx="914400" cy="914400"/>
            </a:xfrm>
            <a:prstGeom prst="rect">
              <a:avLst/>
            </a:prstGeom>
          </p:spPr>
        </p:pic>
      </p:grpSp>
      <p:sp>
        <p:nvSpPr>
          <p:cNvPr id="39" name="Textfeld 38">
            <a:extLst>
              <a:ext uri="{FF2B5EF4-FFF2-40B4-BE49-F238E27FC236}">
                <a16:creationId xmlns:a16="http://schemas.microsoft.com/office/drawing/2014/main" id="{4FA71894-D09D-5D23-D6AC-18BB7581463E}"/>
              </a:ext>
            </a:extLst>
          </p:cNvPr>
          <p:cNvSpPr txBox="1"/>
          <p:nvPr/>
        </p:nvSpPr>
        <p:spPr>
          <a:xfrm>
            <a:off x="1178195" y="4644405"/>
            <a:ext cx="3017173" cy="1015663"/>
          </a:xfrm>
          <a:prstGeom prst="rect">
            <a:avLst/>
          </a:prstGeom>
          <a:noFill/>
        </p:spPr>
        <p:txBody>
          <a:bodyPr wrap="none" rtlCol="0">
            <a:spAutoFit/>
          </a:bodyPr>
          <a:lstStyle/>
          <a:p>
            <a:r>
              <a:rPr lang="en-AU" sz="2800" noProof="0" dirty="0">
                <a:solidFill>
                  <a:srgbClr val="333333"/>
                </a:solidFill>
                <a:latin typeface="Futura LT Pro Light" panose="020B0402020204020303" pitchFamily="34" charset="0"/>
                <a:cs typeface="+mn-cs"/>
              </a:rPr>
              <a:t>Analysis Method</a:t>
            </a:r>
          </a:p>
          <a:p>
            <a:r>
              <a:rPr lang="en-AU" sz="1600" noProof="0" dirty="0">
                <a:solidFill>
                  <a:srgbClr val="333333"/>
                </a:solidFill>
                <a:latin typeface="Futura LT Pro Light" panose="020B0402020204020303" pitchFamily="34" charset="0"/>
                <a:cs typeface="+mn-cs"/>
              </a:rPr>
              <a:t>Non-linear dynamic/static, </a:t>
            </a:r>
          </a:p>
          <a:p>
            <a:r>
              <a:rPr lang="en-AU" sz="1600" noProof="0" dirty="0">
                <a:solidFill>
                  <a:srgbClr val="333333"/>
                </a:solidFill>
                <a:latin typeface="Futura LT Pro Light" panose="020B0402020204020303" pitchFamily="34" charset="0"/>
                <a:cs typeface="+mn-cs"/>
              </a:rPr>
              <a:t>uncertainties, …</a:t>
            </a:r>
          </a:p>
        </p:txBody>
      </p:sp>
      <p:grpSp>
        <p:nvGrpSpPr>
          <p:cNvPr id="48" name="Gruppieren 47">
            <a:extLst>
              <a:ext uri="{FF2B5EF4-FFF2-40B4-BE49-F238E27FC236}">
                <a16:creationId xmlns:a16="http://schemas.microsoft.com/office/drawing/2014/main" id="{E366FC7D-1363-D8A2-BA0F-EEF657215A4B}"/>
              </a:ext>
            </a:extLst>
          </p:cNvPr>
          <p:cNvGrpSpPr/>
          <p:nvPr/>
        </p:nvGrpSpPr>
        <p:grpSpPr>
          <a:xfrm>
            <a:off x="596332" y="4818053"/>
            <a:ext cx="431602" cy="637588"/>
            <a:chOff x="7849083" y="2807708"/>
            <a:chExt cx="950900" cy="1404724"/>
          </a:xfrm>
        </p:grpSpPr>
        <p:cxnSp>
          <p:nvCxnSpPr>
            <p:cNvPr id="49" name="Gerader Verbinder 48">
              <a:extLst>
                <a:ext uri="{FF2B5EF4-FFF2-40B4-BE49-F238E27FC236}">
                  <a16:creationId xmlns:a16="http://schemas.microsoft.com/office/drawing/2014/main" id="{7AC52791-0A14-666F-5B92-7BB463112A7F}"/>
                </a:ext>
              </a:extLst>
            </p:cNvPr>
            <p:cNvCxnSpPr/>
            <p:nvPr/>
          </p:nvCxnSpPr>
          <p:spPr>
            <a:xfrm flipV="1">
              <a:off x="8317135" y="3060304"/>
              <a:ext cx="0" cy="1152128"/>
            </a:xfrm>
            <a:prstGeom prst="line">
              <a:avLst/>
            </a:prstGeom>
            <a:noFill/>
            <a:ln w="28575" cap="flat" cmpd="sng" algn="ctr">
              <a:solidFill>
                <a:srgbClr val="FFFFFF">
                  <a:lumMod val="65000"/>
                </a:srgbClr>
              </a:solidFill>
              <a:prstDash val="dash"/>
            </a:ln>
            <a:effectLst/>
          </p:spPr>
        </p:cxnSp>
        <p:sp>
          <p:nvSpPr>
            <p:cNvPr id="50" name="Freihandform: Form 49">
              <a:extLst>
                <a:ext uri="{FF2B5EF4-FFF2-40B4-BE49-F238E27FC236}">
                  <a16:creationId xmlns:a16="http://schemas.microsoft.com/office/drawing/2014/main" id="{58EC3408-96A4-47CF-BB4D-A981BA9C4382}"/>
                </a:ext>
              </a:extLst>
            </p:cNvPr>
            <p:cNvSpPr/>
            <p:nvPr/>
          </p:nvSpPr>
          <p:spPr>
            <a:xfrm>
              <a:off x="7948763" y="3102034"/>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cxnSp>
          <p:nvCxnSpPr>
            <p:cNvPr id="51" name="Gerader Verbinder 50">
              <a:extLst>
                <a:ext uri="{FF2B5EF4-FFF2-40B4-BE49-F238E27FC236}">
                  <a16:creationId xmlns:a16="http://schemas.microsoft.com/office/drawing/2014/main" id="{C8D8175C-0742-2D73-B0D2-49FEA94AD75C}"/>
                </a:ext>
              </a:extLst>
            </p:cNvPr>
            <p:cNvCxnSpPr>
              <a:cxnSpLocks/>
            </p:cNvCxnSpPr>
            <p:nvPr/>
          </p:nvCxnSpPr>
          <p:spPr>
            <a:xfrm>
              <a:off x="7957095" y="4212432"/>
              <a:ext cx="720080" cy="0"/>
            </a:xfrm>
            <a:prstGeom prst="line">
              <a:avLst/>
            </a:prstGeom>
            <a:noFill/>
            <a:ln w="57150" cap="flat" cmpd="sng" algn="ctr">
              <a:solidFill>
                <a:schemeClr val="tx1"/>
              </a:solidFill>
              <a:prstDash val="solid"/>
            </a:ln>
            <a:effectLst/>
          </p:spPr>
        </p:cxnSp>
        <p:sp>
          <p:nvSpPr>
            <p:cNvPr id="52" name="Freihandform: Form 51">
              <a:extLst>
                <a:ext uri="{FF2B5EF4-FFF2-40B4-BE49-F238E27FC236}">
                  <a16:creationId xmlns:a16="http://schemas.microsoft.com/office/drawing/2014/main" id="{194C9C3D-AAFB-A01A-5CD1-86AF426CCAB2}"/>
                </a:ext>
              </a:extLst>
            </p:cNvPr>
            <p:cNvSpPr/>
            <p:nvPr/>
          </p:nvSpPr>
          <p:spPr>
            <a:xfrm flipH="1">
              <a:off x="8323485" y="3102033"/>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53" name="Ellipse 52">
              <a:extLst>
                <a:ext uri="{FF2B5EF4-FFF2-40B4-BE49-F238E27FC236}">
                  <a16:creationId xmlns:a16="http://schemas.microsoft.com/office/drawing/2014/main" id="{31F10AC9-A739-260F-5C00-CC38E8D54E95}"/>
                </a:ext>
              </a:extLst>
            </p:cNvPr>
            <p:cNvSpPr/>
            <p:nvPr/>
          </p:nvSpPr>
          <p:spPr>
            <a:xfrm>
              <a:off x="7849083" y="2994022"/>
              <a:ext cx="216024" cy="216024"/>
            </a:xfrm>
            <a:prstGeom prst="ellipse">
              <a:avLst/>
            </a:prstGeom>
            <a:solidFill>
              <a:srgbClr val="00263E"/>
            </a:solidFill>
            <a:ln w="1079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54" name="Ellipse 53">
              <a:extLst>
                <a:ext uri="{FF2B5EF4-FFF2-40B4-BE49-F238E27FC236}">
                  <a16:creationId xmlns:a16="http://schemas.microsoft.com/office/drawing/2014/main" id="{B8E5F6F4-7D9E-1204-3F32-99C74848C73F}"/>
                </a:ext>
              </a:extLst>
            </p:cNvPr>
            <p:cNvSpPr/>
            <p:nvPr/>
          </p:nvSpPr>
          <p:spPr>
            <a:xfrm>
              <a:off x="8583959" y="2994080"/>
              <a:ext cx="216024" cy="216024"/>
            </a:xfrm>
            <a:prstGeom prst="ellipse">
              <a:avLst/>
            </a:prstGeom>
            <a:solidFill>
              <a:srgbClr val="00263E"/>
            </a:solidFill>
            <a:ln w="1079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55" name="Freihandform: Form 54">
              <a:extLst>
                <a:ext uri="{FF2B5EF4-FFF2-40B4-BE49-F238E27FC236}">
                  <a16:creationId xmlns:a16="http://schemas.microsoft.com/office/drawing/2014/main" id="{806AE5C3-E51A-D9E4-CFA4-F6BEAB7B2E82}"/>
                </a:ext>
              </a:extLst>
            </p:cNvPr>
            <p:cNvSpPr/>
            <p:nvPr/>
          </p:nvSpPr>
          <p:spPr>
            <a:xfrm rot="2074661">
              <a:off x="8086254" y="2807708"/>
              <a:ext cx="474470" cy="329028"/>
            </a:xfrm>
            <a:custGeom>
              <a:avLst/>
              <a:gdLst>
                <a:gd name="connsiteX0" fmla="*/ 0 w 298450"/>
                <a:gd name="connsiteY0" fmla="*/ 209550 h 209550"/>
                <a:gd name="connsiteX1" fmla="*/ 298450 w 298450"/>
                <a:gd name="connsiteY1" fmla="*/ 0 h 209550"/>
                <a:gd name="connsiteX0" fmla="*/ 0 w 298450"/>
                <a:gd name="connsiteY0" fmla="*/ 209550 h 209550"/>
                <a:gd name="connsiteX1" fmla="*/ 298450 w 298450"/>
                <a:gd name="connsiteY1" fmla="*/ 0 h 209550"/>
                <a:gd name="connsiteX0" fmla="*/ 0 w 298450"/>
                <a:gd name="connsiteY0" fmla="*/ 216991 h 216991"/>
                <a:gd name="connsiteX1" fmla="*/ 298450 w 298450"/>
                <a:gd name="connsiteY1" fmla="*/ 7441 h 216991"/>
                <a:gd name="connsiteX0" fmla="*/ 0 w 298450"/>
                <a:gd name="connsiteY0" fmla="*/ 209550 h 209550"/>
                <a:gd name="connsiteX1" fmla="*/ 298450 w 298450"/>
                <a:gd name="connsiteY1" fmla="*/ 0 h 209550"/>
              </a:gdLst>
              <a:ahLst/>
              <a:cxnLst>
                <a:cxn ang="0">
                  <a:pos x="connsiteX0" y="connsiteY0"/>
                </a:cxn>
                <a:cxn ang="0">
                  <a:pos x="connsiteX1" y="connsiteY1"/>
                </a:cxn>
              </a:cxnLst>
              <a:rect l="l" t="t" r="r" b="b"/>
              <a:pathLst>
                <a:path w="298450" h="209550">
                  <a:moveTo>
                    <a:pt x="0" y="209550"/>
                  </a:moveTo>
                  <a:cubicBezTo>
                    <a:pt x="55033" y="38100"/>
                    <a:pt x="135467" y="0"/>
                    <a:pt x="298450" y="0"/>
                  </a:cubicBezTo>
                </a:path>
              </a:pathLst>
            </a:custGeom>
            <a:noFill/>
            <a:ln w="28575" cap="flat" cmpd="sng" algn="ctr">
              <a:solidFill>
                <a:schemeClr val="tx1"/>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grpSp>
    </p:spTree>
    <p:extLst>
      <p:ext uri="{BB962C8B-B14F-4D97-AF65-F5344CB8AC3E}">
        <p14:creationId xmlns:p14="http://schemas.microsoft.com/office/powerpoint/2010/main" val="1754544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platzhalter 1">
                <a:extLst>
                  <a:ext uri="{FF2B5EF4-FFF2-40B4-BE49-F238E27FC236}">
                    <a16:creationId xmlns:a16="http://schemas.microsoft.com/office/drawing/2014/main" id="{9992DFFE-77E3-A692-D8F1-A62A9997023A}"/>
                  </a:ext>
                </a:extLst>
              </p:cNvPr>
              <p:cNvSpPr>
                <a:spLocks noGrp="1"/>
              </p:cNvSpPr>
              <p:nvPr>
                <p:ph type="body" sz="quarter" idx="18"/>
              </p:nvPr>
            </p:nvSpPr>
            <p:spPr/>
            <p:txBody>
              <a:bodyPr/>
              <a:lstStyle/>
              <a:p>
                <a:r>
                  <a:rPr lang="en-AU" b="1" noProof="0" dirty="0"/>
                  <a:t>Risk-targeted seismic maps </a:t>
                </a:r>
                <a:r>
                  <a:rPr lang="en-AU" sz="1100" noProof="0" dirty="0"/>
                  <a:t>Luco et al. 2007 (USA), Douglas et al. 2012 (FRA), Silva et al 2016 (EU)</a:t>
                </a:r>
                <a:endParaRPr lang="en-AU" noProof="0" dirty="0"/>
              </a:p>
              <a:p>
                <a:r>
                  <a:rPr lang="en-AU" sz="1800" noProof="0" dirty="0"/>
                  <a:t>Fragility curves anchored by a defined </a:t>
                </a:r>
                <a14:m>
                  <m:oMath xmlns:m="http://schemas.openxmlformats.org/officeDocument/2006/math">
                    <m:sSub>
                      <m:sSubPr>
                        <m:ctrlPr>
                          <a:rPr lang="en-AU" sz="1800" i="1" noProof="0">
                            <a:latin typeface="Cambria Math" panose="02040503050406030204" pitchFamily="18" charset="0"/>
                          </a:rPr>
                        </m:ctrlPr>
                      </m:sSubPr>
                      <m:e>
                        <m:r>
                          <a:rPr lang="en-AU" sz="1800" i="1" noProof="0">
                            <a:latin typeface="Cambria Math" panose="02040503050406030204" pitchFamily="18" charset="0"/>
                          </a:rPr>
                          <m:t>𝑃</m:t>
                        </m:r>
                      </m:e>
                      <m:sub>
                        <m:r>
                          <a:rPr lang="en-AU" sz="1800" i="1" noProof="0">
                            <a:latin typeface="Cambria Math" panose="02040503050406030204" pitchFamily="18" charset="0"/>
                          </a:rPr>
                          <m:t>𝐶</m:t>
                        </m:r>
                      </m:sub>
                    </m:sSub>
                    <m:r>
                      <a:rPr lang="en-AU" sz="1800" i="1" noProof="0">
                        <a:latin typeface="Cambria Math" panose="02040503050406030204" pitchFamily="18" charset="0"/>
                      </a:rPr>
                      <m:t> </m:t>
                    </m:r>
                  </m:oMath>
                </a14:m>
                <a:r>
                  <a:rPr lang="en-AU" sz="1800" noProof="0" dirty="0"/>
                  <a:t>at a specific hazard level</a:t>
                </a:r>
              </a:p>
              <a:p>
                <a:r>
                  <a:rPr lang="en-AU" sz="1800" noProof="0" dirty="0"/>
                  <a:t>Fixed </a:t>
                </a:r>
                <a14:m>
                  <m:oMath xmlns:m="http://schemas.openxmlformats.org/officeDocument/2006/math">
                    <m:sSub>
                      <m:sSubPr>
                        <m:ctrlPr>
                          <a:rPr lang="en-AU" b="0" i="1" noProof="0" smtClean="0">
                            <a:latin typeface="Cambria Math" panose="02040503050406030204" pitchFamily="18" charset="0"/>
                          </a:rPr>
                        </m:ctrlPr>
                      </m:sSubPr>
                      <m:e>
                        <m:r>
                          <a:rPr lang="en-AU" b="0" i="1" noProof="0" smtClean="0">
                            <a:latin typeface="Cambria Math" panose="02040503050406030204" pitchFamily="18" charset="0"/>
                          </a:rPr>
                          <m:t>𝛽</m:t>
                        </m:r>
                      </m:e>
                      <m:sub>
                        <m:r>
                          <a:rPr lang="en-AU" b="0" i="1" noProof="0" smtClean="0">
                            <a:latin typeface="Cambria Math" panose="02040503050406030204" pitchFamily="18" charset="0"/>
                          </a:rPr>
                          <m:t>𝑐</m:t>
                        </m:r>
                      </m:sub>
                    </m:sSub>
                  </m:oMath>
                </a14:m>
                <a:r>
                  <a:rPr lang="en-AU" noProof="0" dirty="0"/>
                  <a:t> for all buildings</a:t>
                </a:r>
              </a:p>
            </p:txBody>
          </p:sp>
        </mc:Choice>
        <mc:Fallback xmlns="">
          <p:sp>
            <p:nvSpPr>
              <p:cNvPr id="2" name="Textplatzhalter 1">
                <a:extLst>
                  <a:ext uri="{FF2B5EF4-FFF2-40B4-BE49-F238E27FC236}">
                    <a16:creationId xmlns:a16="http://schemas.microsoft.com/office/drawing/2014/main" id="{9992DFFE-77E3-A692-D8F1-A62A9997023A}"/>
                  </a:ext>
                </a:extLst>
              </p:cNvPr>
              <p:cNvSpPr>
                <a:spLocks noGrp="1" noRot="1" noChangeAspect="1" noMove="1" noResize="1" noEditPoints="1" noAdjustHandles="1" noChangeArrowheads="1" noChangeShapeType="1" noTextEdit="1"/>
              </p:cNvSpPr>
              <p:nvPr>
                <p:ph type="body" sz="quarter" idx="18"/>
              </p:nvPr>
            </p:nvSpPr>
            <p:spPr>
              <a:blipFill>
                <a:blip r:embed="rId2"/>
                <a:stretch>
                  <a:fillRect l="-593" t="-564"/>
                </a:stretch>
              </a:blipFill>
            </p:spPr>
            <p:txBody>
              <a:bodyPr/>
              <a:lstStyle/>
              <a:p>
                <a:r>
                  <a:rPr lang="de-DE">
                    <a:noFill/>
                  </a:rPr>
                  <a:t> </a:t>
                </a:r>
              </a:p>
            </p:txBody>
          </p:sp>
        </mc:Fallback>
      </mc:AlternateContent>
      <p:sp>
        <p:nvSpPr>
          <p:cNvPr id="3" name="Titel 2">
            <a:extLst>
              <a:ext uri="{FF2B5EF4-FFF2-40B4-BE49-F238E27FC236}">
                <a16:creationId xmlns:a16="http://schemas.microsoft.com/office/drawing/2014/main" id="{B8CCA845-E484-F174-9E5E-FFB2EF7087B2}"/>
              </a:ext>
            </a:extLst>
          </p:cNvPr>
          <p:cNvSpPr>
            <a:spLocks noGrp="1"/>
          </p:cNvSpPr>
          <p:nvPr>
            <p:ph type="title"/>
          </p:nvPr>
        </p:nvSpPr>
        <p:spPr/>
        <p:txBody>
          <a:bodyPr/>
          <a:lstStyle/>
          <a:p>
            <a:r>
              <a:rPr lang="en-AU" noProof="0" dirty="0"/>
              <a:t>Existing CC2D-Models / Procedures</a:t>
            </a:r>
          </a:p>
        </p:txBody>
      </p:sp>
      <p:sp>
        <p:nvSpPr>
          <p:cNvPr id="13" name="Textfeld 12">
            <a:extLst>
              <a:ext uri="{FF2B5EF4-FFF2-40B4-BE49-F238E27FC236}">
                <a16:creationId xmlns:a16="http://schemas.microsoft.com/office/drawing/2014/main" id="{0AC344A1-48EA-7F59-89E9-06EA9CD7253C}"/>
              </a:ext>
            </a:extLst>
          </p:cNvPr>
          <p:cNvSpPr txBox="1"/>
          <p:nvPr/>
        </p:nvSpPr>
        <p:spPr>
          <a:xfrm>
            <a:off x="361372" y="6268720"/>
            <a:ext cx="1453275" cy="261610"/>
          </a:xfrm>
          <a:prstGeom prst="rect">
            <a:avLst/>
          </a:prstGeom>
          <a:noFill/>
        </p:spPr>
        <p:txBody>
          <a:bodyPr wrap="square" rtlCol="0">
            <a:spAutoFit/>
          </a:bodyPr>
          <a:lstStyle/>
          <a:p>
            <a:r>
              <a:rPr lang="en-AU" sz="1100" noProof="0" dirty="0">
                <a:solidFill>
                  <a:srgbClr val="333333"/>
                </a:solidFill>
                <a:latin typeface="Futura LT Pro Light" panose="020B0402020204020303" pitchFamily="34" charset="0"/>
                <a:cs typeface="+mn-cs"/>
              </a:rPr>
              <a:t>Silva et al. 2016</a:t>
            </a:r>
          </a:p>
        </p:txBody>
      </p:sp>
      <p:pic>
        <p:nvPicPr>
          <p:cNvPr id="5" name="Grafik 4" descr="Ein Bild, das Text, Diagramm, Reihe, Entwurf enthält.&#10;&#10;KI-generierte Inhalte können fehlerhaft sein.">
            <a:extLst>
              <a:ext uri="{FF2B5EF4-FFF2-40B4-BE49-F238E27FC236}">
                <a16:creationId xmlns:a16="http://schemas.microsoft.com/office/drawing/2014/main" id="{E615519B-2523-9265-EE37-C00A7DBA002C}"/>
              </a:ext>
            </a:extLst>
          </p:cNvPr>
          <p:cNvPicPr>
            <a:picLocks noChangeAspect="1"/>
          </p:cNvPicPr>
          <p:nvPr/>
        </p:nvPicPr>
        <p:blipFill>
          <a:blip r:embed="rId3"/>
          <a:stretch>
            <a:fillRect/>
          </a:stretch>
        </p:blipFill>
        <p:spPr>
          <a:xfrm>
            <a:off x="1908423" y="2372682"/>
            <a:ext cx="4896544" cy="3967382"/>
          </a:xfrm>
          <a:prstGeom prst="rect">
            <a:avLst/>
          </a:prstGeom>
        </p:spPr>
      </p:pic>
      <p:cxnSp>
        <p:nvCxnSpPr>
          <p:cNvPr id="9" name="Gerader Verbinder 8">
            <a:extLst>
              <a:ext uri="{FF2B5EF4-FFF2-40B4-BE49-F238E27FC236}">
                <a16:creationId xmlns:a16="http://schemas.microsoft.com/office/drawing/2014/main" id="{FAB2B907-76AE-1AB5-1228-E4424260A590}"/>
              </a:ext>
            </a:extLst>
          </p:cNvPr>
          <p:cNvCxnSpPr/>
          <p:nvPr/>
        </p:nvCxnSpPr>
        <p:spPr>
          <a:xfrm flipH="1">
            <a:off x="2756611" y="5346162"/>
            <a:ext cx="504056" cy="0"/>
          </a:xfrm>
          <a:prstGeom prst="line">
            <a:avLst/>
          </a:prstGeom>
          <a:ln w="190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6" name="Ellipse 5">
            <a:extLst>
              <a:ext uri="{FF2B5EF4-FFF2-40B4-BE49-F238E27FC236}">
                <a16:creationId xmlns:a16="http://schemas.microsoft.com/office/drawing/2014/main" id="{F2137F19-C196-D84D-4D42-051AECCF1A11}"/>
              </a:ext>
            </a:extLst>
          </p:cNvPr>
          <p:cNvSpPr/>
          <p:nvPr/>
        </p:nvSpPr>
        <p:spPr>
          <a:xfrm>
            <a:off x="3110791" y="5274154"/>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7" name="Ellipse 6">
            <a:extLst>
              <a:ext uri="{FF2B5EF4-FFF2-40B4-BE49-F238E27FC236}">
                <a16:creationId xmlns:a16="http://schemas.microsoft.com/office/drawing/2014/main" id="{934D5B48-6697-9943-43A2-B48A83454F20}"/>
              </a:ext>
            </a:extLst>
          </p:cNvPr>
          <p:cNvSpPr/>
          <p:nvPr/>
        </p:nvSpPr>
        <p:spPr>
          <a:xfrm>
            <a:off x="2936631" y="5597187"/>
            <a:ext cx="144016" cy="14401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10" name="Textfeld 9">
            <a:extLst>
              <a:ext uri="{FF2B5EF4-FFF2-40B4-BE49-F238E27FC236}">
                <a16:creationId xmlns:a16="http://schemas.microsoft.com/office/drawing/2014/main" id="{3BD4C773-A6C8-C51A-05F2-1F05BD445009}"/>
              </a:ext>
            </a:extLst>
          </p:cNvPr>
          <p:cNvSpPr txBox="1"/>
          <p:nvPr/>
        </p:nvSpPr>
        <p:spPr>
          <a:xfrm>
            <a:off x="2399654" y="5192273"/>
            <a:ext cx="504056" cy="307777"/>
          </a:xfrm>
          <a:prstGeom prst="rect">
            <a:avLst/>
          </a:prstGeom>
          <a:noFill/>
        </p:spPr>
        <p:txBody>
          <a:bodyPr wrap="square" rtlCol="0">
            <a:spAutoFit/>
          </a:bodyPr>
          <a:lstStyle/>
          <a:p>
            <a:r>
              <a:rPr lang="en-AU" sz="1400" b="1" noProof="0" dirty="0">
                <a:solidFill>
                  <a:schemeClr val="tx2"/>
                </a:solidFill>
                <a:latin typeface="Futura LT Pro Light" panose="020B0402020204020303" pitchFamily="34" charset="0"/>
                <a:cs typeface="+mn-cs"/>
              </a:rPr>
              <a:t>0.1</a:t>
            </a:r>
          </a:p>
        </p:txBody>
      </p:sp>
      <p:sp>
        <p:nvSpPr>
          <p:cNvPr id="12" name="Rechteck 11">
            <a:extLst>
              <a:ext uri="{FF2B5EF4-FFF2-40B4-BE49-F238E27FC236}">
                <a16:creationId xmlns:a16="http://schemas.microsoft.com/office/drawing/2014/main" id="{8FBA037E-730F-F052-BACC-FB7401F74EA0}"/>
              </a:ext>
            </a:extLst>
          </p:cNvPr>
          <p:cNvSpPr/>
          <p:nvPr/>
        </p:nvSpPr>
        <p:spPr>
          <a:xfrm>
            <a:off x="2631586" y="5510098"/>
            <a:ext cx="252028" cy="2311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11" name="Textfeld 10">
            <a:extLst>
              <a:ext uri="{FF2B5EF4-FFF2-40B4-BE49-F238E27FC236}">
                <a16:creationId xmlns:a16="http://schemas.microsoft.com/office/drawing/2014/main" id="{896B0BAC-3E1E-CBCD-C55E-14B2DA1F124D}"/>
              </a:ext>
            </a:extLst>
          </p:cNvPr>
          <p:cNvSpPr txBox="1"/>
          <p:nvPr/>
        </p:nvSpPr>
        <p:spPr>
          <a:xfrm>
            <a:off x="2114399" y="5503414"/>
            <a:ext cx="859655" cy="307777"/>
          </a:xfrm>
          <a:prstGeom prst="rect">
            <a:avLst/>
          </a:prstGeom>
          <a:noFill/>
        </p:spPr>
        <p:txBody>
          <a:bodyPr wrap="square" rtlCol="0">
            <a:spAutoFit/>
          </a:bodyPr>
          <a:lstStyle/>
          <a:p>
            <a:r>
              <a:rPr lang="en-AU" sz="1400" b="1" noProof="0" dirty="0">
                <a:solidFill>
                  <a:schemeClr val="tx2"/>
                </a:solidFill>
                <a:latin typeface="Futura LT Pro Light" panose="020B0402020204020303" pitchFamily="34" charset="0"/>
                <a:cs typeface="+mn-cs"/>
              </a:rPr>
              <a:t>0.00001</a:t>
            </a:r>
          </a:p>
        </p:txBody>
      </p:sp>
      <p:cxnSp>
        <p:nvCxnSpPr>
          <p:cNvPr id="15" name="Gerader Verbinder 14">
            <a:extLst>
              <a:ext uri="{FF2B5EF4-FFF2-40B4-BE49-F238E27FC236}">
                <a16:creationId xmlns:a16="http://schemas.microsoft.com/office/drawing/2014/main" id="{4ABC03BF-3280-438A-3339-14420A1A4E19}"/>
              </a:ext>
            </a:extLst>
          </p:cNvPr>
          <p:cNvCxnSpPr>
            <a:cxnSpLocks/>
          </p:cNvCxnSpPr>
          <p:nvPr/>
        </p:nvCxnSpPr>
        <p:spPr>
          <a:xfrm flipH="1">
            <a:off x="2756611" y="4172882"/>
            <a:ext cx="1168036" cy="0"/>
          </a:xfrm>
          <a:prstGeom prst="line">
            <a:avLst/>
          </a:prstGeom>
          <a:ln w="190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9C2B1B88-0A1A-B314-5A43-F317D1388297}"/>
              </a:ext>
            </a:extLst>
          </p:cNvPr>
          <p:cNvSpPr/>
          <p:nvPr/>
        </p:nvSpPr>
        <p:spPr>
          <a:xfrm>
            <a:off x="3564607" y="5685051"/>
            <a:ext cx="360040" cy="200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cxnSp>
        <p:nvCxnSpPr>
          <p:cNvPr id="20" name="Gerader Verbinder 19">
            <a:extLst>
              <a:ext uri="{FF2B5EF4-FFF2-40B4-BE49-F238E27FC236}">
                <a16:creationId xmlns:a16="http://schemas.microsoft.com/office/drawing/2014/main" id="{9E4DF004-B183-4E2D-EA7B-166CDBA14404}"/>
              </a:ext>
            </a:extLst>
          </p:cNvPr>
          <p:cNvCxnSpPr>
            <a:cxnSpLocks/>
          </p:cNvCxnSpPr>
          <p:nvPr/>
        </p:nvCxnSpPr>
        <p:spPr>
          <a:xfrm flipV="1">
            <a:off x="3669960" y="4028866"/>
            <a:ext cx="0" cy="1702007"/>
          </a:xfrm>
          <a:prstGeom prst="line">
            <a:avLst/>
          </a:prstGeom>
          <a:ln w="190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1FDA325B-C0CE-F55C-E53E-8A96D3C14D7B}"/>
              </a:ext>
            </a:extLst>
          </p:cNvPr>
          <p:cNvCxnSpPr>
            <a:cxnSpLocks/>
          </p:cNvCxnSpPr>
          <p:nvPr/>
        </p:nvCxnSpPr>
        <p:spPr>
          <a:xfrm flipV="1">
            <a:off x="3775419" y="4039196"/>
            <a:ext cx="0" cy="1702007"/>
          </a:xfrm>
          <a:prstGeom prst="line">
            <a:avLst/>
          </a:prstGeom>
          <a:ln w="19050">
            <a:solidFill>
              <a:schemeClr val="tx2"/>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feld 27">
                <a:extLst>
                  <a:ext uri="{FF2B5EF4-FFF2-40B4-BE49-F238E27FC236}">
                    <a16:creationId xmlns:a16="http://schemas.microsoft.com/office/drawing/2014/main" id="{979D74EC-6A1B-C207-125D-D845B597C964}"/>
                  </a:ext>
                </a:extLst>
              </p:cNvPr>
              <p:cNvSpPr txBox="1"/>
              <p:nvPr/>
            </p:nvSpPr>
            <p:spPr>
              <a:xfrm>
                <a:off x="3483199" y="5685050"/>
                <a:ext cx="50405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1400" b="1" i="1" noProof="0" smtClean="0">
                              <a:solidFill>
                                <a:schemeClr val="tx2"/>
                              </a:solidFill>
                              <a:latin typeface="Cambria Math" panose="02040503050406030204" pitchFamily="18" charset="0"/>
                              <a:cs typeface="+mn-cs"/>
                            </a:rPr>
                          </m:ctrlPr>
                        </m:sSubPr>
                        <m:e>
                          <m:r>
                            <a:rPr lang="en-AU" sz="1400" b="1" i="1" noProof="0" smtClean="0">
                              <a:solidFill>
                                <a:schemeClr val="tx2"/>
                              </a:solidFill>
                              <a:latin typeface="Cambria Math" panose="02040503050406030204" pitchFamily="18" charset="0"/>
                              <a:cs typeface="+mn-cs"/>
                            </a:rPr>
                            <m:t>𝜽</m:t>
                          </m:r>
                        </m:e>
                        <m:sub>
                          <m:r>
                            <a:rPr lang="en-AU" sz="1400" b="1" i="1" noProof="0" smtClean="0">
                              <a:solidFill>
                                <a:schemeClr val="tx2"/>
                              </a:solidFill>
                              <a:latin typeface="Cambria Math" panose="02040503050406030204" pitchFamily="18" charset="0"/>
                              <a:cs typeface="+mn-cs"/>
                            </a:rPr>
                            <m:t>𝒄</m:t>
                          </m:r>
                        </m:sub>
                      </m:sSub>
                    </m:oMath>
                  </m:oMathPara>
                </a14:m>
                <a:endParaRPr lang="en-AU" noProof="0" dirty="0"/>
              </a:p>
            </p:txBody>
          </p:sp>
        </mc:Choice>
        <mc:Fallback xmlns="">
          <p:sp>
            <p:nvSpPr>
              <p:cNvPr id="28" name="Textfeld 27">
                <a:extLst>
                  <a:ext uri="{FF2B5EF4-FFF2-40B4-BE49-F238E27FC236}">
                    <a16:creationId xmlns:a16="http://schemas.microsoft.com/office/drawing/2014/main" id="{979D74EC-6A1B-C207-125D-D845B597C964}"/>
                  </a:ext>
                </a:extLst>
              </p:cNvPr>
              <p:cNvSpPr txBox="1">
                <a:spLocks noRot="1" noChangeAspect="1" noMove="1" noResize="1" noEditPoints="1" noAdjustHandles="1" noChangeArrowheads="1" noChangeShapeType="1" noTextEdit="1"/>
              </p:cNvSpPr>
              <p:nvPr/>
            </p:nvSpPr>
            <p:spPr>
              <a:xfrm>
                <a:off x="3483199" y="5685050"/>
                <a:ext cx="504056" cy="307777"/>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Textfeld 29">
                <a:extLst>
                  <a:ext uri="{FF2B5EF4-FFF2-40B4-BE49-F238E27FC236}">
                    <a16:creationId xmlns:a16="http://schemas.microsoft.com/office/drawing/2014/main" id="{71E82308-03A8-7B67-27E9-3FC06DDD6641}"/>
                  </a:ext>
                </a:extLst>
              </p:cNvPr>
              <p:cNvSpPr txBox="1"/>
              <p:nvPr/>
            </p:nvSpPr>
            <p:spPr>
              <a:xfrm>
                <a:off x="2836573" y="2268141"/>
                <a:ext cx="50405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1400" b="1" i="1" noProof="0" smtClean="0">
                          <a:solidFill>
                            <a:schemeClr val="tx2"/>
                          </a:solidFill>
                          <a:latin typeface="Cambria Math" panose="02040503050406030204" pitchFamily="18" charset="0"/>
                          <a:cs typeface="+mn-cs"/>
                        </a:rPr>
                        <m:t>𝑰</m:t>
                      </m:r>
                      <m:sSub>
                        <m:sSubPr>
                          <m:ctrlPr>
                            <a:rPr lang="en-AU" sz="1400" b="1" i="1" noProof="0" smtClean="0">
                              <a:solidFill>
                                <a:schemeClr val="tx2"/>
                              </a:solidFill>
                              <a:latin typeface="Cambria Math" panose="02040503050406030204" pitchFamily="18" charset="0"/>
                              <a:cs typeface="+mn-cs"/>
                            </a:rPr>
                          </m:ctrlPr>
                        </m:sSubPr>
                        <m:e>
                          <m:r>
                            <a:rPr lang="en-AU" sz="1400" b="1" i="1" noProof="0" smtClean="0">
                              <a:solidFill>
                                <a:schemeClr val="tx2"/>
                              </a:solidFill>
                              <a:latin typeface="Cambria Math" panose="02040503050406030204" pitchFamily="18" charset="0"/>
                              <a:cs typeface="+mn-cs"/>
                            </a:rPr>
                            <m:t>𝑴</m:t>
                          </m:r>
                        </m:e>
                        <m:sub>
                          <m:r>
                            <a:rPr lang="en-AU" sz="1400" b="1" i="1" noProof="0" smtClean="0">
                              <a:solidFill>
                                <a:schemeClr val="tx2"/>
                              </a:solidFill>
                              <a:latin typeface="Cambria Math" panose="02040503050406030204" pitchFamily="18" charset="0"/>
                              <a:cs typeface="+mn-cs"/>
                            </a:rPr>
                            <m:t>𝒅𝒆𝒔</m:t>
                          </m:r>
                        </m:sub>
                      </m:sSub>
                    </m:oMath>
                  </m:oMathPara>
                </a14:m>
                <a:endParaRPr lang="en-AU" noProof="0" dirty="0"/>
              </a:p>
            </p:txBody>
          </p:sp>
        </mc:Choice>
        <mc:Fallback xmlns="">
          <p:sp>
            <p:nvSpPr>
              <p:cNvPr id="30" name="Textfeld 29">
                <a:extLst>
                  <a:ext uri="{FF2B5EF4-FFF2-40B4-BE49-F238E27FC236}">
                    <a16:creationId xmlns:a16="http://schemas.microsoft.com/office/drawing/2014/main" id="{71E82308-03A8-7B67-27E9-3FC06DDD6641}"/>
                  </a:ext>
                </a:extLst>
              </p:cNvPr>
              <p:cNvSpPr txBox="1">
                <a:spLocks noRot="1" noChangeAspect="1" noMove="1" noResize="1" noEditPoints="1" noAdjustHandles="1" noChangeArrowheads="1" noChangeShapeType="1" noTextEdit="1"/>
              </p:cNvSpPr>
              <p:nvPr/>
            </p:nvSpPr>
            <p:spPr>
              <a:xfrm>
                <a:off x="2836573" y="2268141"/>
                <a:ext cx="504056" cy="307777"/>
              </a:xfrm>
              <a:prstGeom prst="rect">
                <a:avLst/>
              </a:prstGeom>
              <a:blipFill>
                <a:blip r:embed="rId5"/>
                <a:stretch>
                  <a:fillRect r="-2048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814B8C22-A1AA-91DC-3FDD-7E149D3B8192}"/>
                  </a:ext>
                </a:extLst>
              </p:cNvPr>
              <p:cNvSpPr txBox="1"/>
              <p:nvPr/>
            </p:nvSpPr>
            <p:spPr>
              <a:xfrm>
                <a:off x="5516595" y="2348525"/>
                <a:ext cx="93610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1400" b="1" i="1" noProof="0" smtClean="0">
                              <a:solidFill>
                                <a:schemeClr val="bg2"/>
                              </a:solidFill>
                              <a:latin typeface="Cambria Math" panose="02040503050406030204" pitchFamily="18" charset="0"/>
                              <a:cs typeface="+mn-cs"/>
                            </a:rPr>
                          </m:ctrlPr>
                        </m:sSubPr>
                        <m:e>
                          <m:r>
                            <a:rPr lang="en-AU" sz="1400" b="1" i="1" noProof="0" smtClean="0">
                              <a:solidFill>
                                <a:schemeClr val="bg2"/>
                              </a:solidFill>
                              <a:latin typeface="Cambria Math" panose="02040503050406030204" pitchFamily="18" charset="0"/>
                              <a:cs typeface="+mn-cs"/>
                            </a:rPr>
                            <m:t>𝜷</m:t>
                          </m:r>
                        </m:e>
                        <m:sub>
                          <m:r>
                            <a:rPr lang="en-AU" sz="1400" b="1" i="1" noProof="0" smtClean="0">
                              <a:solidFill>
                                <a:schemeClr val="bg2"/>
                              </a:solidFill>
                              <a:latin typeface="Cambria Math" panose="02040503050406030204" pitchFamily="18" charset="0"/>
                              <a:cs typeface="+mn-cs"/>
                            </a:rPr>
                            <m:t>𝒄</m:t>
                          </m:r>
                        </m:sub>
                      </m:sSub>
                      <m:r>
                        <a:rPr lang="en-AU" sz="1400" b="1" i="1" noProof="0" smtClean="0">
                          <a:solidFill>
                            <a:schemeClr val="bg2"/>
                          </a:solidFill>
                          <a:latin typeface="Cambria Math" panose="02040503050406030204" pitchFamily="18" charset="0"/>
                          <a:cs typeface="+mn-cs"/>
                        </a:rPr>
                        <m:t>=</m:t>
                      </m:r>
                      <m:r>
                        <a:rPr lang="en-AU" sz="1400" b="1" i="1" noProof="0" smtClean="0">
                          <a:solidFill>
                            <a:schemeClr val="bg2"/>
                          </a:solidFill>
                          <a:latin typeface="Cambria Math" panose="02040503050406030204" pitchFamily="18" charset="0"/>
                          <a:cs typeface="+mn-cs"/>
                        </a:rPr>
                        <m:t>𝟎</m:t>
                      </m:r>
                      <m:r>
                        <a:rPr lang="en-AU" sz="1400" b="1" i="1" noProof="0" smtClean="0">
                          <a:solidFill>
                            <a:schemeClr val="bg2"/>
                          </a:solidFill>
                          <a:latin typeface="Cambria Math" panose="02040503050406030204" pitchFamily="18" charset="0"/>
                          <a:cs typeface="+mn-cs"/>
                        </a:rPr>
                        <m:t>.</m:t>
                      </m:r>
                      <m:r>
                        <a:rPr lang="en-AU" sz="1400" b="1" i="1" noProof="0" smtClean="0">
                          <a:solidFill>
                            <a:schemeClr val="bg2"/>
                          </a:solidFill>
                          <a:latin typeface="Cambria Math" panose="02040503050406030204" pitchFamily="18" charset="0"/>
                          <a:cs typeface="+mn-cs"/>
                        </a:rPr>
                        <m:t>𝟓</m:t>
                      </m:r>
                    </m:oMath>
                  </m:oMathPara>
                </a14:m>
                <a:endParaRPr lang="en-AU" noProof="0" dirty="0"/>
              </a:p>
            </p:txBody>
          </p:sp>
        </mc:Choice>
        <mc:Fallback xmlns="">
          <p:sp>
            <p:nvSpPr>
              <p:cNvPr id="31" name="Textfeld 30">
                <a:extLst>
                  <a:ext uri="{FF2B5EF4-FFF2-40B4-BE49-F238E27FC236}">
                    <a16:creationId xmlns:a16="http://schemas.microsoft.com/office/drawing/2014/main" id="{814B8C22-A1AA-91DC-3FDD-7E149D3B8192}"/>
                  </a:ext>
                </a:extLst>
              </p:cNvPr>
              <p:cNvSpPr txBox="1">
                <a:spLocks noRot="1" noChangeAspect="1" noMove="1" noResize="1" noEditPoints="1" noAdjustHandles="1" noChangeArrowheads="1" noChangeShapeType="1" noTextEdit="1"/>
              </p:cNvSpPr>
              <p:nvPr/>
            </p:nvSpPr>
            <p:spPr>
              <a:xfrm>
                <a:off x="5516595" y="2348525"/>
                <a:ext cx="936104" cy="307777"/>
              </a:xfrm>
              <a:prstGeom prst="rect">
                <a:avLst/>
              </a:prstGeom>
              <a:blipFill>
                <a:blip r:embed="rId6"/>
                <a:stretch>
                  <a:fillRect b="-784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2" name="Textfeld 31">
                <a:extLst>
                  <a:ext uri="{FF2B5EF4-FFF2-40B4-BE49-F238E27FC236}">
                    <a16:creationId xmlns:a16="http://schemas.microsoft.com/office/drawing/2014/main" id="{D4056C51-CDBB-EDA3-39D3-E30B6045F7CB}"/>
                  </a:ext>
                </a:extLst>
              </p:cNvPr>
              <p:cNvSpPr txBox="1"/>
              <p:nvPr/>
            </p:nvSpPr>
            <p:spPr>
              <a:xfrm>
                <a:off x="5432867" y="2808702"/>
                <a:ext cx="93610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1400" b="1" i="1" noProof="0" smtClean="0">
                              <a:solidFill>
                                <a:schemeClr val="tx1"/>
                              </a:solidFill>
                              <a:latin typeface="Cambria Math" panose="02040503050406030204" pitchFamily="18" charset="0"/>
                              <a:cs typeface="+mn-cs"/>
                            </a:rPr>
                          </m:ctrlPr>
                        </m:sSubPr>
                        <m:e>
                          <m:r>
                            <a:rPr lang="en-AU" sz="1400" b="1" i="1" noProof="0" smtClean="0">
                              <a:solidFill>
                                <a:schemeClr val="tx1"/>
                              </a:solidFill>
                              <a:latin typeface="Cambria Math" panose="02040503050406030204" pitchFamily="18" charset="0"/>
                              <a:cs typeface="+mn-cs"/>
                            </a:rPr>
                            <m:t>𝜷</m:t>
                          </m:r>
                        </m:e>
                        <m:sub>
                          <m:r>
                            <a:rPr lang="en-AU" sz="1400" b="1" i="1" noProof="0" smtClean="0">
                              <a:solidFill>
                                <a:schemeClr val="tx1"/>
                              </a:solidFill>
                              <a:latin typeface="Cambria Math" panose="02040503050406030204" pitchFamily="18" charset="0"/>
                              <a:cs typeface="+mn-cs"/>
                            </a:rPr>
                            <m:t>𝒄</m:t>
                          </m:r>
                        </m:sub>
                      </m:sSub>
                      <m:r>
                        <a:rPr lang="en-AU" sz="1400" b="1" i="1" noProof="0" smtClean="0">
                          <a:solidFill>
                            <a:schemeClr val="tx1"/>
                          </a:solidFill>
                          <a:latin typeface="Cambria Math" panose="02040503050406030204" pitchFamily="18" charset="0"/>
                          <a:cs typeface="+mn-cs"/>
                        </a:rPr>
                        <m:t>=</m:t>
                      </m:r>
                      <m:r>
                        <a:rPr lang="en-AU" sz="1400" b="1" i="1" noProof="0" smtClean="0">
                          <a:solidFill>
                            <a:schemeClr val="tx1"/>
                          </a:solidFill>
                          <a:latin typeface="Cambria Math" panose="02040503050406030204" pitchFamily="18" charset="0"/>
                          <a:cs typeface="+mn-cs"/>
                        </a:rPr>
                        <m:t>𝟎</m:t>
                      </m:r>
                      <m:r>
                        <a:rPr lang="en-AU" sz="1400" b="1" i="1" noProof="0" smtClean="0">
                          <a:solidFill>
                            <a:schemeClr val="tx1"/>
                          </a:solidFill>
                          <a:latin typeface="Cambria Math" panose="02040503050406030204" pitchFamily="18" charset="0"/>
                          <a:cs typeface="+mn-cs"/>
                        </a:rPr>
                        <m:t>.</m:t>
                      </m:r>
                      <m:r>
                        <a:rPr lang="en-AU" sz="1400" b="1" i="1" noProof="0" smtClean="0">
                          <a:solidFill>
                            <a:schemeClr val="tx1"/>
                          </a:solidFill>
                          <a:latin typeface="Cambria Math" panose="02040503050406030204" pitchFamily="18" charset="0"/>
                          <a:cs typeface="+mn-cs"/>
                        </a:rPr>
                        <m:t>𝟖</m:t>
                      </m:r>
                    </m:oMath>
                  </m:oMathPara>
                </a14:m>
                <a:endParaRPr lang="en-AU" noProof="0" dirty="0"/>
              </a:p>
            </p:txBody>
          </p:sp>
        </mc:Choice>
        <mc:Fallback xmlns="">
          <p:sp>
            <p:nvSpPr>
              <p:cNvPr id="32" name="Textfeld 31">
                <a:extLst>
                  <a:ext uri="{FF2B5EF4-FFF2-40B4-BE49-F238E27FC236}">
                    <a16:creationId xmlns:a16="http://schemas.microsoft.com/office/drawing/2014/main" id="{D4056C51-CDBB-EDA3-39D3-E30B6045F7CB}"/>
                  </a:ext>
                </a:extLst>
              </p:cNvPr>
              <p:cNvSpPr txBox="1">
                <a:spLocks noRot="1" noChangeAspect="1" noMove="1" noResize="1" noEditPoints="1" noAdjustHandles="1" noChangeArrowheads="1" noChangeShapeType="1" noTextEdit="1"/>
              </p:cNvSpPr>
              <p:nvPr/>
            </p:nvSpPr>
            <p:spPr>
              <a:xfrm>
                <a:off x="5432867" y="2808702"/>
                <a:ext cx="936104" cy="307777"/>
              </a:xfrm>
              <a:prstGeom prst="rect">
                <a:avLst/>
              </a:prstGeom>
              <a:blipFill>
                <a:blip r:embed="rId7"/>
                <a:stretch>
                  <a:fillRect b="-1000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3" name="Textfeld 32">
                <a:extLst>
                  <a:ext uri="{FF2B5EF4-FFF2-40B4-BE49-F238E27FC236}">
                    <a16:creationId xmlns:a16="http://schemas.microsoft.com/office/drawing/2014/main" id="{053FBD0C-C831-8E43-CAD5-286D780A0ED2}"/>
                  </a:ext>
                </a:extLst>
              </p:cNvPr>
              <p:cNvSpPr txBox="1"/>
              <p:nvPr/>
            </p:nvSpPr>
            <p:spPr>
              <a:xfrm>
                <a:off x="7234351" y="3727701"/>
                <a:ext cx="3961149" cy="3218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1" i="1" noProof="0" smtClean="0">
                          <a:solidFill>
                            <a:schemeClr val="tx2"/>
                          </a:solidFill>
                          <a:latin typeface="Cambria Math" panose="02040503050406030204" pitchFamily="18" charset="0"/>
                          <a:cs typeface="+mn-cs"/>
                        </a:rPr>
                        <m:t>𝑰</m:t>
                      </m:r>
                      <m:sSub>
                        <m:sSubPr>
                          <m:ctrlPr>
                            <a:rPr lang="en-AU" b="1" i="1" noProof="0" smtClean="0">
                              <a:solidFill>
                                <a:schemeClr val="tx2"/>
                              </a:solidFill>
                              <a:latin typeface="Cambria Math" panose="02040503050406030204" pitchFamily="18" charset="0"/>
                              <a:cs typeface="+mn-cs"/>
                            </a:rPr>
                          </m:ctrlPr>
                        </m:sSubPr>
                        <m:e>
                          <m:r>
                            <a:rPr lang="en-AU" b="1" i="1" noProof="0" smtClean="0">
                              <a:solidFill>
                                <a:schemeClr val="tx2"/>
                              </a:solidFill>
                              <a:latin typeface="Cambria Math" panose="02040503050406030204" pitchFamily="18" charset="0"/>
                              <a:cs typeface="+mn-cs"/>
                            </a:rPr>
                            <m:t>𝑴</m:t>
                          </m:r>
                        </m:e>
                        <m:sub>
                          <m:r>
                            <a:rPr lang="en-AU" b="1" i="1" noProof="0" smtClean="0">
                              <a:solidFill>
                                <a:schemeClr val="tx2"/>
                              </a:solidFill>
                              <a:latin typeface="Cambria Math" panose="02040503050406030204" pitchFamily="18" charset="0"/>
                              <a:cs typeface="+mn-cs"/>
                            </a:rPr>
                            <m:t>𝒅𝒆𝒔</m:t>
                          </m:r>
                        </m:sub>
                      </m:sSub>
                      <m:r>
                        <a:rPr lang="en-AU" b="1" i="1" noProof="0" smtClean="0">
                          <a:solidFill>
                            <a:schemeClr val="tx2"/>
                          </a:solidFill>
                          <a:latin typeface="Cambria Math" panose="02040503050406030204" pitchFamily="18" charset="0"/>
                          <a:cs typeface="+mn-cs"/>
                        </a:rPr>
                        <m:t>=</m:t>
                      </m:r>
                      <m:sSub>
                        <m:sSubPr>
                          <m:ctrlPr>
                            <a:rPr lang="en-AU" b="1" i="1" noProof="0" smtClean="0">
                              <a:solidFill>
                                <a:schemeClr val="tx2"/>
                              </a:solidFill>
                              <a:latin typeface="Cambria Math" panose="02040503050406030204" pitchFamily="18" charset="0"/>
                              <a:cs typeface="+mn-cs"/>
                            </a:rPr>
                          </m:ctrlPr>
                        </m:sSubPr>
                        <m:e>
                          <m:r>
                            <a:rPr lang="en-AU" b="1" i="1" noProof="0" smtClean="0">
                              <a:solidFill>
                                <a:schemeClr val="tx2"/>
                              </a:solidFill>
                              <a:latin typeface="Cambria Math" panose="02040503050406030204" pitchFamily="18" charset="0"/>
                              <a:cs typeface="+mn-cs"/>
                            </a:rPr>
                            <m:t>𝜽</m:t>
                          </m:r>
                        </m:e>
                        <m:sub>
                          <m:r>
                            <a:rPr lang="en-AU" b="1" i="1" noProof="0" smtClean="0">
                              <a:solidFill>
                                <a:schemeClr val="tx2"/>
                              </a:solidFill>
                              <a:latin typeface="Cambria Math" panose="02040503050406030204" pitchFamily="18" charset="0"/>
                              <a:cs typeface="+mn-cs"/>
                            </a:rPr>
                            <m:t>𝒄</m:t>
                          </m:r>
                        </m:sub>
                      </m:sSub>
                      <m:r>
                        <a:rPr lang="en-AU" b="1" i="1" noProof="0" smtClean="0">
                          <a:solidFill>
                            <a:schemeClr val="tx2"/>
                          </a:solidFill>
                          <a:latin typeface="Cambria Math" panose="02040503050406030204" pitchFamily="18" charset="0"/>
                          <a:cs typeface="+mn-cs"/>
                        </a:rPr>
                        <m:t>∙</m:t>
                      </m:r>
                      <m:r>
                        <a:rPr lang="en-AU" b="1" i="0" noProof="0" smtClean="0">
                          <a:solidFill>
                            <a:schemeClr val="tx2"/>
                          </a:solidFill>
                          <a:latin typeface="Cambria Math" panose="02040503050406030204" pitchFamily="18" charset="0"/>
                          <a:cs typeface="+mn-cs"/>
                        </a:rPr>
                        <m:t>𝐞𝐱𝐩</m:t>
                      </m:r>
                      <m:r>
                        <a:rPr lang="en-AU" b="1" i="1" noProof="0" smtClean="0">
                          <a:solidFill>
                            <a:schemeClr val="tx2"/>
                          </a:solidFill>
                          <a:latin typeface="Cambria Math" panose="02040503050406030204" pitchFamily="18" charset="0"/>
                          <a:cs typeface="+mn-cs"/>
                        </a:rPr>
                        <m:t>⁡[−</m:t>
                      </m:r>
                      <m:sSup>
                        <m:sSupPr>
                          <m:ctrlPr>
                            <a:rPr lang="en-AU" b="1" i="1" noProof="0" smtClean="0">
                              <a:solidFill>
                                <a:schemeClr val="tx2"/>
                              </a:solidFill>
                              <a:latin typeface="Cambria Math" panose="02040503050406030204" pitchFamily="18" charset="0"/>
                              <a:cs typeface="+mn-cs"/>
                            </a:rPr>
                          </m:ctrlPr>
                        </m:sSupPr>
                        <m:e>
                          <m:r>
                            <a:rPr lang="en-AU" b="1" i="0" noProof="0" smtClean="0">
                              <a:solidFill>
                                <a:schemeClr val="tx2"/>
                              </a:solidFill>
                              <a:latin typeface="Cambria Math" panose="02040503050406030204" pitchFamily="18" charset="0"/>
                              <a:cs typeface="+mn-cs"/>
                            </a:rPr>
                            <m:t>𝚽</m:t>
                          </m:r>
                        </m:e>
                        <m:sup>
                          <m:r>
                            <a:rPr lang="en-AU" b="1" i="1" noProof="0" smtClean="0">
                              <a:solidFill>
                                <a:schemeClr val="tx2"/>
                              </a:solidFill>
                              <a:latin typeface="Cambria Math" panose="02040503050406030204" pitchFamily="18" charset="0"/>
                              <a:cs typeface="+mn-cs"/>
                            </a:rPr>
                            <m:t>−</m:t>
                          </m:r>
                          <m:r>
                            <a:rPr lang="en-AU" b="1" i="1" noProof="0" smtClean="0">
                              <a:solidFill>
                                <a:schemeClr val="tx2"/>
                              </a:solidFill>
                              <a:latin typeface="Cambria Math" panose="02040503050406030204" pitchFamily="18" charset="0"/>
                              <a:cs typeface="+mn-cs"/>
                            </a:rPr>
                            <m:t>𝟏</m:t>
                          </m:r>
                        </m:sup>
                      </m:sSup>
                      <m:d>
                        <m:dPr>
                          <m:ctrlPr>
                            <a:rPr lang="en-AU" b="1" i="1" noProof="0" smtClean="0">
                              <a:solidFill>
                                <a:schemeClr val="tx2"/>
                              </a:solidFill>
                              <a:latin typeface="Cambria Math" panose="02040503050406030204" pitchFamily="18" charset="0"/>
                              <a:cs typeface="+mn-cs"/>
                            </a:rPr>
                          </m:ctrlPr>
                        </m:dPr>
                        <m:e>
                          <m:sSub>
                            <m:sSubPr>
                              <m:ctrlPr>
                                <a:rPr lang="en-AU" b="1" i="1" noProof="0" smtClean="0">
                                  <a:solidFill>
                                    <a:schemeClr val="tx2"/>
                                  </a:solidFill>
                                  <a:latin typeface="Cambria Math" panose="02040503050406030204" pitchFamily="18" charset="0"/>
                                  <a:cs typeface="+mn-cs"/>
                                </a:rPr>
                              </m:ctrlPr>
                            </m:sSubPr>
                            <m:e>
                              <m:r>
                                <a:rPr lang="en-AU" b="1" i="1" noProof="0" smtClean="0">
                                  <a:solidFill>
                                    <a:schemeClr val="tx2"/>
                                  </a:solidFill>
                                  <a:latin typeface="Cambria Math" panose="02040503050406030204" pitchFamily="18" charset="0"/>
                                  <a:cs typeface="+mn-cs"/>
                                </a:rPr>
                                <m:t>𝑷</m:t>
                              </m:r>
                            </m:e>
                            <m:sub>
                              <m:r>
                                <a:rPr lang="en-AU" b="1" i="1" noProof="0" smtClean="0">
                                  <a:solidFill>
                                    <a:schemeClr val="tx2"/>
                                  </a:solidFill>
                                  <a:latin typeface="Cambria Math" panose="02040503050406030204" pitchFamily="18" charset="0"/>
                                  <a:cs typeface="+mn-cs"/>
                                </a:rPr>
                                <m:t>𝑪</m:t>
                              </m:r>
                              <m:r>
                                <a:rPr lang="en-AU" b="1" i="1" noProof="0" smtClean="0">
                                  <a:solidFill>
                                    <a:schemeClr val="tx2"/>
                                  </a:solidFill>
                                  <a:latin typeface="Cambria Math" panose="02040503050406030204" pitchFamily="18" charset="0"/>
                                  <a:cs typeface="+mn-cs"/>
                                </a:rPr>
                                <m:t>|</m:t>
                              </m:r>
                              <m:sSub>
                                <m:sSubPr>
                                  <m:ctrlPr>
                                    <a:rPr lang="en-AU" b="1" i="1" noProof="0" smtClean="0">
                                      <a:solidFill>
                                        <a:schemeClr val="tx2"/>
                                      </a:solidFill>
                                      <a:latin typeface="Cambria Math" panose="02040503050406030204" pitchFamily="18" charset="0"/>
                                      <a:cs typeface="+mn-cs"/>
                                    </a:rPr>
                                  </m:ctrlPr>
                                </m:sSubPr>
                                <m:e>
                                  <m:r>
                                    <a:rPr lang="en-AU" b="1" i="1" noProof="0" smtClean="0">
                                      <a:solidFill>
                                        <a:schemeClr val="tx2"/>
                                      </a:solidFill>
                                      <a:latin typeface="Cambria Math" panose="02040503050406030204" pitchFamily="18" charset="0"/>
                                      <a:cs typeface="+mn-cs"/>
                                    </a:rPr>
                                    <m:t>𝑰𝑴</m:t>
                                  </m:r>
                                </m:e>
                                <m:sub>
                                  <m:r>
                                    <a:rPr lang="en-AU" b="1" i="1" noProof="0" smtClean="0">
                                      <a:solidFill>
                                        <a:schemeClr val="tx2"/>
                                      </a:solidFill>
                                      <a:latin typeface="Cambria Math" panose="02040503050406030204" pitchFamily="18" charset="0"/>
                                      <a:cs typeface="+mn-cs"/>
                                    </a:rPr>
                                    <m:t>𝒅𝒆𝒔</m:t>
                                  </m:r>
                                </m:sub>
                              </m:sSub>
                            </m:sub>
                          </m:sSub>
                        </m:e>
                      </m:d>
                      <m:r>
                        <a:rPr lang="en-AU" b="1" i="1" noProof="0" smtClean="0">
                          <a:solidFill>
                            <a:schemeClr val="tx2"/>
                          </a:solidFill>
                          <a:latin typeface="Cambria Math" panose="02040503050406030204" pitchFamily="18" charset="0"/>
                          <a:cs typeface="+mn-cs"/>
                        </a:rPr>
                        <m:t>∙</m:t>
                      </m:r>
                      <m:sSub>
                        <m:sSubPr>
                          <m:ctrlPr>
                            <a:rPr lang="en-AU" b="1" i="1" noProof="0" smtClean="0">
                              <a:solidFill>
                                <a:schemeClr val="tx2"/>
                              </a:solidFill>
                              <a:latin typeface="Cambria Math" panose="02040503050406030204" pitchFamily="18" charset="0"/>
                              <a:cs typeface="+mn-cs"/>
                            </a:rPr>
                          </m:ctrlPr>
                        </m:sSubPr>
                        <m:e>
                          <m:r>
                            <a:rPr lang="en-AU" b="1" i="1" noProof="0" smtClean="0">
                              <a:solidFill>
                                <a:schemeClr val="tx2"/>
                              </a:solidFill>
                              <a:latin typeface="Cambria Math" panose="02040503050406030204" pitchFamily="18" charset="0"/>
                              <a:cs typeface="+mn-cs"/>
                            </a:rPr>
                            <m:t>𝜷</m:t>
                          </m:r>
                        </m:e>
                        <m:sub>
                          <m:r>
                            <a:rPr lang="en-AU" b="1" i="1" noProof="0" smtClean="0">
                              <a:solidFill>
                                <a:schemeClr val="tx2"/>
                              </a:solidFill>
                              <a:latin typeface="Cambria Math" panose="02040503050406030204" pitchFamily="18" charset="0"/>
                              <a:cs typeface="+mn-cs"/>
                            </a:rPr>
                            <m:t>𝒄</m:t>
                          </m:r>
                        </m:sub>
                      </m:sSub>
                      <m:r>
                        <a:rPr lang="en-AU" b="1" i="1" noProof="0" smtClean="0">
                          <a:solidFill>
                            <a:schemeClr val="tx2"/>
                          </a:solidFill>
                          <a:latin typeface="Cambria Math" panose="02040503050406030204" pitchFamily="18" charset="0"/>
                          <a:cs typeface="+mn-cs"/>
                        </a:rPr>
                        <m:t>]</m:t>
                      </m:r>
                    </m:oMath>
                  </m:oMathPara>
                </a14:m>
                <a:endParaRPr lang="en-AU" b="1" noProof="0" dirty="0">
                  <a:solidFill>
                    <a:schemeClr val="tx2"/>
                  </a:solidFill>
                  <a:latin typeface="Futura LT Pro Light" panose="020B0402020204020303" pitchFamily="34" charset="0"/>
                  <a:cs typeface="+mn-cs"/>
                </a:endParaRPr>
              </a:p>
            </p:txBody>
          </p:sp>
        </mc:Choice>
        <mc:Fallback xmlns="">
          <p:sp>
            <p:nvSpPr>
              <p:cNvPr id="33" name="Textfeld 32">
                <a:extLst>
                  <a:ext uri="{FF2B5EF4-FFF2-40B4-BE49-F238E27FC236}">
                    <a16:creationId xmlns:a16="http://schemas.microsoft.com/office/drawing/2014/main" id="{053FBD0C-C831-8E43-CAD5-286D780A0ED2}"/>
                  </a:ext>
                </a:extLst>
              </p:cNvPr>
              <p:cNvSpPr txBox="1">
                <a:spLocks noRot="1" noChangeAspect="1" noMove="1" noResize="1" noEditPoints="1" noAdjustHandles="1" noChangeArrowheads="1" noChangeShapeType="1" noTextEdit="1"/>
              </p:cNvSpPr>
              <p:nvPr/>
            </p:nvSpPr>
            <p:spPr>
              <a:xfrm>
                <a:off x="7234351" y="3727701"/>
                <a:ext cx="3961149" cy="321819"/>
              </a:xfrm>
              <a:prstGeom prst="rect">
                <a:avLst/>
              </a:prstGeom>
              <a:blipFill>
                <a:blip r:embed="rId8"/>
                <a:stretch>
                  <a:fillRect l="-923" r="-1538" b="-26415"/>
                </a:stretch>
              </a:blipFill>
            </p:spPr>
            <p:txBody>
              <a:bodyPr/>
              <a:lstStyle/>
              <a:p>
                <a:r>
                  <a:rPr lang="de-DE">
                    <a:noFill/>
                  </a:rPr>
                  <a:t> </a:t>
                </a:r>
              </a:p>
            </p:txBody>
          </p:sp>
        </mc:Fallback>
      </mc:AlternateContent>
    </p:spTree>
    <p:extLst>
      <p:ext uri="{BB962C8B-B14F-4D97-AF65-F5344CB8AC3E}">
        <p14:creationId xmlns:p14="http://schemas.microsoft.com/office/powerpoint/2010/main" val="167707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p:bldP spid="11" grpId="0"/>
      <p:bldP spid="28" grpId="0"/>
      <p:bldP spid="30" grpId="0"/>
      <p:bldP spid="31" grpId="0"/>
      <p:bldP spid="32" grpId="0"/>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436B0-79B8-E54C-8F70-1C4AC84006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platzhalter 1">
                <a:extLst>
                  <a:ext uri="{FF2B5EF4-FFF2-40B4-BE49-F238E27FC236}">
                    <a16:creationId xmlns:a16="http://schemas.microsoft.com/office/drawing/2014/main" id="{D2159C14-A5C3-4FAB-E120-6E2D3E3947BA}"/>
                  </a:ext>
                </a:extLst>
              </p:cNvPr>
              <p:cNvSpPr>
                <a:spLocks noGrp="1"/>
              </p:cNvSpPr>
              <p:nvPr>
                <p:ph type="body" sz="quarter" idx="18"/>
              </p:nvPr>
            </p:nvSpPr>
            <p:spPr/>
            <p:txBody>
              <a:bodyPr/>
              <a:lstStyle/>
              <a:p>
                <a:r>
                  <a:rPr lang="en-AU" b="1" noProof="0" dirty="0"/>
                  <a:t>Risk-targeted seismic action </a:t>
                </a:r>
                <a:r>
                  <a:rPr lang="en-AU" sz="1100" noProof="0" dirty="0" err="1">
                    <a:latin typeface="Futura LT Pro Light" panose="020B0402020204020303" pitchFamily="34" charset="0"/>
                  </a:rPr>
                  <a:t>Žižimond</a:t>
                </a:r>
                <a:r>
                  <a:rPr lang="en-AU" sz="1100" noProof="0" dirty="0">
                    <a:latin typeface="Futura LT Pro Light" panose="020B0402020204020303" pitchFamily="34" charset="0"/>
                  </a:rPr>
                  <a:t> and Dol</a:t>
                </a:r>
                <a:r>
                  <a:rPr lang="en-AU" sz="1100" noProof="0" dirty="0">
                    <a:latin typeface="Aptos Narrow" panose="020B0004020202020204" pitchFamily="34" charset="0"/>
                  </a:rPr>
                  <a:t>š</a:t>
                </a:r>
                <a:r>
                  <a:rPr lang="en-AU" sz="1100" noProof="0" dirty="0">
                    <a:latin typeface="Futura LT Pro Light" panose="020B0402020204020303" pitchFamily="34" charset="0"/>
                  </a:rPr>
                  <a:t>ek, 2019</a:t>
                </a:r>
                <a:r>
                  <a:rPr lang="en-AU" sz="1100" noProof="0" dirty="0"/>
                  <a:t> </a:t>
                </a:r>
              </a:p>
              <a:p>
                <a:r>
                  <a:rPr lang="en-AU" sz="1600" noProof="0" dirty="0"/>
                  <a:t>A type of risk-targeted behaviour factor</a:t>
                </a:r>
              </a:p>
              <a:p>
                <a:pPr marL="800100" lvl="1" indent="-342900">
                  <a:buFont typeface="Arial" panose="020B0604020202020204" pitchFamily="34" charset="0"/>
                  <a:buChar char="•"/>
                </a:pPr>
                <a:endParaRPr lang="en-AU" sz="800" noProof="0" dirty="0"/>
              </a:p>
              <a:p>
                <a:pPr marL="800100" lvl="1" indent="-342900">
                  <a:buFont typeface="Arial" panose="020B0604020202020204" pitchFamily="34" charset="0"/>
                  <a:buChar char="•"/>
                </a:pPr>
                <a:endParaRPr lang="en-AU" sz="800" noProof="0" dirty="0"/>
              </a:p>
              <a:p>
                <a:pPr marL="800100" lvl="1" indent="-342900">
                  <a:buFont typeface="Arial" panose="020B0604020202020204" pitchFamily="34" charset="0"/>
                  <a:buChar char="•"/>
                </a:pPr>
                <a:endParaRPr lang="en-AU" sz="800" noProof="0" dirty="0"/>
              </a:p>
              <a:p>
                <a:pPr marL="800100" lvl="1" indent="-342900">
                  <a:buFont typeface="Arial" panose="020B0604020202020204" pitchFamily="34" charset="0"/>
                  <a:buChar char="•"/>
                </a:pPr>
                <a:endParaRPr lang="en-AU" sz="800" noProof="0" dirty="0"/>
              </a:p>
              <a:p>
                <a:pPr marL="800100" lvl="1" indent="-342900">
                  <a:buFont typeface="Arial" panose="020B0604020202020204" pitchFamily="34" charset="0"/>
                  <a:buChar char="•"/>
                </a:pPr>
                <a:endParaRPr lang="en-AU" sz="800" noProof="0" dirty="0"/>
              </a:p>
              <a:p>
                <a:pPr marL="800100" lvl="1" indent="-342900">
                  <a:buFont typeface="Arial" panose="020B0604020202020204" pitchFamily="34" charset="0"/>
                  <a:buChar char="•"/>
                </a:pPr>
                <a:endParaRPr lang="en-AU" sz="800" noProof="0" dirty="0"/>
              </a:p>
              <a:p>
                <a:pPr marL="800100" lvl="1" indent="-342900">
                  <a:buFont typeface="Arial" panose="020B0604020202020204" pitchFamily="34" charset="0"/>
                  <a:buChar char="•"/>
                </a:pPr>
                <a:endParaRPr lang="en-AU" sz="800" noProof="0" dirty="0"/>
              </a:p>
              <a:p>
                <a:pPr marL="800100" lvl="1" indent="-342900">
                  <a:buFont typeface="Arial" panose="020B0604020202020204" pitchFamily="34" charset="0"/>
                  <a:buChar char="•"/>
                </a:pPr>
                <a:endParaRPr lang="en-AU" sz="800" noProof="0" dirty="0"/>
              </a:p>
              <a:p>
                <a:r>
                  <a:rPr lang="en-AU" sz="1600" noProof="0" dirty="0"/>
                  <a:t>Assume </a:t>
                </a:r>
                <a14:m>
                  <m:oMath xmlns:m="http://schemas.openxmlformats.org/officeDocument/2006/math">
                    <m:sSub>
                      <m:sSubPr>
                        <m:ctrlPr>
                          <a:rPr lang="en-AU" sz="1600" i="1" noProof="0" smtClean="0">
                            <a:latin typeface="Cambria Math" panose="02040503050406030204" pitchFamily="18" charset="0"/>
                          </a:rPr>
                        </m:ctrlPr>
                      </m:sSubPr>
                      <m:e>
                        <m:r>
                          <a:rPr lang="en-AU" sz="1600" i="1" noProof="0" smtClean="0">
                            <a:latin typeface="Cambria Math" panose="02040503050406030204" pitchFamily="18" charset="0"/>
                          </a:rPr>
                          <m:t>𝛾</m:t>
                        </m:r>
                      </m:e>
                      <m:sub>
                        <m:r>
                          <a:rPr lang="en-AU" sz="1600" i="1" noProof="0" smtClean="0">
                            <a:latin typeface="Cambria Math" panose="02040503050406030204" pitchFamily="18" charset="0"/>
                          </a:rPr>
                          <m:t>𝐿𝑆</m:t>
                        </m:r>
                      </m:sub>
                    </m:sSub>
                  </m:oMath>
                </a14:m>
                <a:r>
                  <a:rPr lang="en-AU" sz="1600" noProof="0" dirty="0"/>
                  <a:t>, </a:t>
                </a:r>
                <a14:m>
                  <m:oMath xmlns:m="http://schemas.openxmlformats.org/officeDocument/2006/math">
                    <m:r>
                      <a:rPr lang="en-AU" sz="1600" b="0" i="0" noProof="0" smtClean="0">
                        <a:latin typeface="Cambria Math" panose="02040503050406030204" pitchFamily="18" charset="0"/>
                      </a:rPr>
                      <m:t> </m:t>
                    </m:r>
                    <m:sSub>
                      <m:sSubPr>
                        <m:ctrlPr>
                          <a:rPr lang="en-AU" sz="1600" b="0" i="1" noProof="0" smtClean="0">
                            <a:latin typeface="Cambria Math" panose="02040503050406030204" pitchFamily="18" charset="0"/>
                          </a:rPr>
                        </m:ctrlPr>
                      </m:sSubPr>
                      <m:e>
                        <m:r>
                          <a:rPr lang="en-AU" sz="1600" b="0" i="1" noProof="0" smtClean="0">
                            <a:latin typeface="Cambria Math" panose="02040503050406030204" pitchFamily="18" charset="0"/>
                          </a:rPr>
                          <m:t>𝜇</m:t>
                        </m:r>
                      </m:e>
                      <m:sub>
                        <m:r>
                          <a:rPr lang="en-AU" sz="1600" b="0" i="1" noProof="0" smtClean="0">
                            <a:latin typeface="Cambria Math" panose="02040503050406030204" pitchFamily="18" charset="0"/>
                          </a:rPr>
                          <m:t>𝑁𝐶</m:t>
                        </m:r>
                      </m:sub>
                    </m:sSub>
                  </m:oMath>
                </a14:m>
                <a:r>
                  <a:rPr lang="en-AU" sz="1600" noProof="0" dirty="0"/>
                  <a:t> and </a:t>
                </a:r>
                <a14:m>
                  <m:oMath xmlns:m="http://schemas.openxmlformats.org/officeDocument/2006/math">
                    <m:sSub>
                      <m:sSubPr>
                        <m:ctrlPr>
                          <a:rPr lang="en-AU" sz="1600" b="0" i="1" noProof="0" smtClean="0">
                            <a:latin typeface="Cambria Math" panose="02040503050406030204" pitchFamily="18" charset="0"/>
                          </a:rPr>
                        </m:ctrlPr>
                      </m:sSubPr>
                      <m:e>
                        <m:r>
                          <a:rPr lang="en-AU" sz="1600" b="0" i="1" noProof="0" smtClean="0">
                            <a:latin typeface="Cambria Math" panose="02040503050406030204" pitchFamily="18" charset="0"/>
                          </a:rPr>
                          <m:t>𝑟</m:t>
                        </m:r>
                      </m:e>
                      <m:sub>
                        <m:r>
                          <a:rPr lang="en-AU" sz="1600" b="0" i="1" noProof="0" smtClean="0">
                            <a:latin typeface="Cambria Math" panose="02040503050406030204" pitchFamily="18" charset="0"/>
                          </a:rPr>
                          <m:t>𝑠</m:t>
                        </m:r>
                      </m:sub>
                    </m:sSub>
                  </m:oMath>
                </a14:m>
                <a:endParaRPr lang="en-AU" sz="1600" noProof="0" dirty="0"/>
              </a:p>
            </p:txBody>
          </p:sp>
        </mc:Choice>
        <mc:Fallback xmlns="">
          <p:sp>
            <p:nvSpPr>
              <p:cNvPr id="2" name="Textplatzhalter 1">
                <a:extLst>
                  <a:ext uri="{FF2B5EF4-FFF2-40B4-BE49-F238E27FC236}">
                    <a16:creationId xmlns:a16="http://schemas.microsoft.com/office/drawing/2014/main" id="{D2159C14-A5C3-4FAB-E120-6E2D3E3947BA}"/>
                  </a:ext>
                </a:extLst>
              </p:cNvPr>
              <p:cNvSpPr>
                <a:spLocks noGrp="1" noRot="1" noChangeAspect="1" noMove="1" noResize="1" noEditPoints="1" noAdjustHandles="1" noChangeArrowheads="1" noChangeShapeType="1" noTextEdit="1"/>
              </p:cNvSpPr>
              <p:nvPr>
                <p:ph type="body" sz="quarter" idx="18"/>
              </p:nvPr>
            </p:nvSpPr>
            <p:spPr>
              <a:blipFill>
                <a:blip r:embed="rId2"/>
                <a:stretch>
                  <a:fillRect l="-593" t="-564"/>
                </a:stretch>
              </a:blipFill>
            </p:spPr>
            <p:txBody>
              <a:bodyPr/>
              <a:lstStyle/>
              <a:p>
                <a:r>
                  <a:rPr lang="de-DE">
                    <a:noFill/>
                  </a:rPr>
                  <a:t> </a:t>
                </a:r>
              </a:p>
            </p:txBody>
          </p:sp>
        </mc:Fallback>
      </mc:AlternateContent>
      <p:sp>
        <p:nvSpPr>
          <p:cNvPr id="3" name="Titel 2">
            <a:extLst>
              <a:ext uri="{FF2B5EF4-FFF2-40B4-BE49-F238E27FC236}">
                <a16:creationId xmlns:a16="http://schemas.microsoft.com/office/drawing/2014/main" id="{8F95301F-6ACB-BAF0-FB26-AD27D6B2F0B2}"/>
              </a:ext>
            </a:extLst>
          </p:cNvPr>
          <p:cNvSpPr>
            <a:spLocks noGrp="1"/>
          </p:cNvSpPr>
          <p:nvPr>
            <p:ph type="title"/>
          </p:nvPr>
        </p:nvSpPr>
        <p:spPr/>
        <p:txBody>
          <a:bodyPr/>
          <a:lstStyle/>
          <a:p>
            <a:r>
              <a:rPr lang="en-AU" noProof="0" dirty="0"/>
              <a:t>Existing CC2D-Models / Procedures</a:t>
            </a:r>
          </a:p>
        </p:txBody>
      </p:sp>
      <mc:AlternateContent xmlns:mc="http://schemas.openxmlformats.org/markup-compatibility/2006" xmlns:a14="http://schemas.microsoft.com/office/drawing/2010/main">
        <mc:Choice Requires="a14">
          <p:sp>
            <p:nvSpPr>
              <p:cNvPr id="4" name="Textfeld 3">
                <a:extLst>
                  <a:ext uri="{FF2B5EF4-FFF2-40B4-BE49-F238E27FC236}">
                    <a16:creationId xmlns:a16="http://schemas.microsoft.com/office/drawing/2014/main" id="{BC4A162F-F7BD-E923-0CEC-5A5A20F1E614}"/>
                  </a:ext>
                </a:extLst>
              </p:cNvPr>
              <p:cNvSpPr txBox="1"/>
              <p:nvPr/>
            </p:nvSpPr>
            <p:spPr>
              <a:xfrm>
                <a:off x="1044327" y="1937147"/>
                <a:ext cx="1944216" cy="7249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𝑺</m:t>
                          </m:r>
                        </m:e>
                        <m:sub>
                          <m:r>
                            <a:rPr lang="en-AU" sz="2000" b="1" i="1" noProof="0" smtClean="0">
                              <a:solidFill>
                                <a:schemeClr val="tx2"/>
                              </a:solidFill>
                              <a:latin typeface="Cambria Math" panose="02040503050406030204" pitchFamily="18" charset="0"/>
                              <a:cs typeface="+mn-cs"/>
                            </a:rPr>
                            <m:t>𝒅</m:t>
                          </m:r>
                        </m:sub>
                      </m:sSub>
                      <m:r>
                        <a:rPr lang="en-AU" sz="2000" b="1" i="1" noProof="0" smtClean="0">
                          <a:solidFill>
                            <a:schemeClr val="tx2"/>
                          </a:solidFill>
                          <a:latin typeface="Cambria Math" panose="02040503050406030204" pitchFamily="18" charset="0"/>
                          <a:cs typeface="+mn-cs"/>
                        </a:rPr>
                        <m:t>=</m:t>
                      </m:r>
                      <m:f>
                        <m:fPr>
                          <m:ctrlPr>
                            <a:rPr lang="en-AU" sz="2000" b="1" i="1" noProof="0" smtClean="0">
                              <a:solidFill>
                                <a:schemeClr val="tx2"/>
                              </a:solidFill>
                              <a:latin typeface="Cambria Math" panose="02040503050406030204" pitchFamily="18" charset="0"/>
                              <a:cs typeface="+mn-cs"/>
                            </a:rPr>
                          </m:ctrlPr>
                        </m:fPr>
                        <m:num>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𝜽</m:t>
                              </m:r>
                            </m:e>
                            <m:sub>
                              <m:r>
                                <a:rPr lang="en-AU" sz="2000" b="1" i="1" noProof="0" smtClean="0">
                                  <a:solidFill>
                                    <a:schemeClr val="tx2"/>
                                  </a:solidFill>
                                  <a:latin typeface="Cambria Math" panose="02040503050406030204" pitchFamily="18" charset="0"/>
                                  <a:cs typeface="+mn-cs"/>
                                </a:rPr>
                                <m:t>𝑪</m:t>
                              </m:r>
                            </m:sub>
                          </m:sSub>
                        </m:num>
                        <m:den>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𝜸</m:t>
                              </m:r>
                            </m:e>
                            <m:sub>
                              <m:r>
                                <a:rPr lang="en-AU" sz="2000" b="1" i="1" noProof="0" smtClean="0">
                                  <a:solidFill>
                                    <a:schemeClr val="tx2"/>
                                  </a:solidFill>
                                  <a:latin typeface="Cambria Math" panose="02040503050406030204" pitchFamily="18" charset="0"/>
                                  <a:cs typeface="+mn-cs"/>
                                </a:rPr>
                                <m:t>𝑳𝑺</m:t>
                              </m:r>
                            </m:sub>
                          </m:sSub>
                          <m:r>
                            <a:rPr lang="en-AU" sz="2000" b="1" i="1" noProof="0" smtClean="0">
                              <a:solidFill>
                                <a:schemeClr val="tx2"/>
                              </a:solidFill>
                              <a:latin typeface="Cambria Math" panose="02040503050406030204" pitchFamily="18" charset="0"/>
                              <a:cs typeface="+mn-cs"/>
                            </a:rPr>
                            <m:t>∙</m:t>
                          </m:r>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𝒓</m:t>
                              </m:r>
                            </m:e>
                            <m:sub>
                              <m:r>
                                <a:rPr lang="en-AU" sz="2000" b="1" i="1" noProof="0" smtClean="0">
                                  <a:solidFill>
                                    <a:schemeClr val="tx2"/>
                                  </a:solidFill>
                                  <a:latin typeface="Cambria Math" panose="02040503050406030204" pitchFamily="18" charset="0"/>
                                  <a:cs typeface="+mn-cs"/>
                                </a:rPr>
                                <m:t>𝑵𝑪</m:t>
                              </m:r>
                            </m:sub>
                          </m:sSub>
                        </m:den>
                      </m:f>
                    </m:oMath>
                  </m:oMathPara>
                </a14:m>
                <a:endParaRPr lang="en-AU" b="1" noProof="0" dirty="0">
                  <a:solidFill>
                    <a:srgbClr val="333333"/>
                  </a:solidFill>
                  <a:latin typeface="Futura LT Pro Light" panose="020B0402020204020303" pitchFamily="34" charset="0"/>
                  <a:cs typeface="+mn-cs"/>
                </a:endParaRPr>
              </a:p>
            </p:txBody>
          </p:sp>
        </mc:Choice>
        <mc:Fallback xmlns="">
          <p:sp>
            <p:nvSpPr>
              <p:cNvPr id="4" name="Textfeld 3">
                <a:extLst>
                  <a:ext uri="{FF2B5EF4-FFF2-40B4-BE49-F238E27FC236}">
                    <a16:creationId xmlns:a16="http://schemas.microsoft.com/office/drawing/2014/main" id="{BC4A162F-F7BD-E923-0CEC-5A5A20F1E614}"/>
                  </a:ext>
                </a:extLst>
              </p:cNvPr>
              <p:cNvSpPr txBox="1">
                <a:spLocks noRot="1" noChangeAspect="1" noMove="1" noResize="1" noEditPoints="1" noAdjustHandles="1" noChangeArrowheads="1" noChangeShapeType="1" noTextEdit="1"/>
              </p:cNvSpPr>
              <p:nvPr/>
            </p:nvSpPr>
            <p:spPr>
              <a:xfrm>
                <a:off x="1044327" y="1937147"/>
                <a:ext cx="1944216" cy="724942"/>
              </a:xfrm>
              <a:prstGeom prst="rect">
                <a:avLst/>
              </a:prstGeom>
              <a:blipFill>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9543ACFD-445B-0BFE-C1C3-1235CC24461A}"/>
                  </a:ext>
                </a:extLst>
              </p:cNvPr>
              <p:cNvSpPr txBox="1"/>
              <p:nvPr/>
            </p:nvSpPr>
            <p:spPr>
              <a:xfrm>
                <a:off x="3420591" y="1985055"/>
                <a:ext cx="1825084" cy="6721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𝒓</m:t>
                          </m:r>
                        </m:e>
                        <m:sub>
                          <m:r>
                            <a:rPr lang="en-AU" sz="2000" b="1" i="1" noProof="0" smtClean="0">
                              <a:solidFill>
                                <a:schemeClr val="tx2"/>
                              </a:solidFill>
                              <a:latin typeface="Cambria Math" panose="02040503050406030204" pitchFamily="18" charset="0"/>
                              <a:cs typeface="+mn-cs"/>
                            </a:rPr>
                            <m:t>𝑵𝑪</m:t>
                          </m:r>
                        </m:sub>
                      </m:sSub>
                      <m:r>
                        <a:rPr lang="en-AU" sz="2000" b="1" i="1" noProof="0" smtClean="0">
                          <a:solidFill>
                            <a:schemeClr val="tx2"/>
                          </a:solidFill>
                          <a:latin typeface="Cambria Math" panose="02040503050406030204" pitchFamily="18" charset="0"/>
                          <a:cs typeface="+mn-cs"/>
                        </a:rPr>
                        <m:t>=</m:t>
                      </m:r>
                      <m:f>
                        <m:fPr>
                          <m:ctrlPr>
                            <a:rPr lang="en-AU" sz="2000" b="1" i="1" noProof="0" smtClean="0">
                              <a:solidFill>
                                <a:schemeClr val="tx2"/>
                              </a:solidFill>
                              <a:latin typeface="Cambria Math" panose="02040503050406030204" pitchFamily="18" charset="0"/>
                              <a:cs typeface="+mn-cs"/>
                            </a:rPr>
                          </m:ctrlPr>
                        </m:fPr>
                        <m:num>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𝝁</m:t>
                              </m:r>
                            </m:e>
                            <m:sub>
                              <m:r>
                                <a:rPr lang="en-AU" sz="2000" b="1" i="1" noProof="0" smtClean="0">
                                  <a:solidFill>
                                    <a:schemeClr val="tx2"/>
                                  </a:solidFill>
                                  <a:latin typeface="Cambria Math" panose="02040503050406030204" pitchFamily="18" charset="0"/>
                                  <a:cs typeface="+mn-cs"/>
                                </a:rPr>
                                <m:t>𝑵𝑪</m:t>
                              </m:r>
                            </m:sub>
                          </m:sSub>
                        </m:num>
                        <m:den>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𝑪</m:t>
                              </m:r>
                            </m:e>
                            <m:sub>
                              <m:r>
                                <a:rPr lang="en-AU" sz="2000" b="1" i="1" noProof="0" smtClean="0">
                                  <a:solidFill>
                                    <a:schemeClr val="tx2"/>
                                  </a:solidFill>
                                  <a:latin typeface="Cambria Math" panose="02040503050406030204" pitchFamily="18" charset="0"/>
                                  <a:cs typeface="+mn-cs"/>
                                </a:rPr>
                                <m:t>𝟏</m:t>
                              </m:r>
                            </m:sub>
                          </m:sSub>
                        </m:den>
                      </m:f>
                      <m:r>
                        <a:rPr lang="en-AU" sz="2000" b="1" i="1" noProof="0" smtClean="0">
                          <a:solidFill>
                            <a:schemeClr val="tx2"/>
                          </a:solidFill>
                          <a:latin typeface="Cambria Math" panose="02040503050406030204" pitchFamily="18" charset="0"/>
                          <a:cs typeface="+mn-cs"/>
                        </a:rPr>
                        <m:t>∙</m:t>
                      </m:r>
                      <m:sSub>
                        <m:sSubPr>
                          <m:ctrlPr>
                            <a:rPr lang="en-AU" sz="2000" b="1" i="1" noProof="0" smtClean="0">
                              <a:solidFill>
                                <a:schemeClr val="tx2"/>
                              </a:solidFill>
                              <a:latin typeface="Cambria Math" panose="02040503050406030204" pitchFamily="18" charset="0"/>
                              <a:cs typeface="+mn-cs"/>
                            </a:rPr>
                          </m:ctrlPr>
                        </m:sSubPr>
                        <m:e>
                          <m:r>
                            <a:rPr lang="en-AU" sz="2000" b="1" i="1" noProof="0" smtClean="0">
                              <a:solidFill>
                                <a:schemeClr val="tx2"/>
                              </a:solidFill>
                              <a:latin typeface="Cambria Math" panose="02040503050406030204" pitchFamily="18" charset="0"/>
                              <a:cs typeface="+mn-cs"/>
                            </a:rPr>
                            <m:t>𝒓</m:t>
                          </m:r>
                        </m:e>
                        <m:sub>
                          <m:r>
                            <a:rPr lang="en-AU" sz="2000" b="1" i="1" noProof="0" smtClean="0">
                              <a:solidFill>
                                <a:schemeClr val="tx2"/>
                              </a:solidFill>
                              <a:latin typeface="Cambria Math" panose="02040503050406030204" pitchFamily="18" charset="0"/>
                              <a:cs typeface="+mn-cs"/>
                            </a:rPr>
                            <m:t>𝒔</m:t>
                          </m:r>
                        </m:sub>
                      </m:sSub>
                    </m:oMath>
                  </m:oMathPara>
                </a14:m>
                <a:endParaRPr lang="en-AU" b="1" noProof="0" dirty="0">
                  <a:solidFill>
                    <a:srgbClr val="333333"/>
                  </a:solidFill>
                  <a:latin typeface="Futura LT Pro Light" panose="020B0402020204020303" pitchFamily="34" charset="0"/>
                  <a:cs typeface="+mn-cs"/>
                </a:endParaRPr>
              </a:p>
            </p:txBody>
          </p:sp>
        </mc:Choice>
        <mc:Fallback xmlns="">
          <p:sp>
            <p:nvSpPr>
              <p:cNvPr id="17" name="Textfeld 16">
                <a:extLst>
                  <a:ext uri="{FF2B5EF4-FFF2-40B4-BE49-F238E27FC236}">
                    <a16:creationId xmlns:a16="http://schemas.microsoft.com/office/drawing/2014/main" id="{9543ACFD-445B-0BFE-C1C3-1235CC24461A}"/>
                  </a:ext>
                </a:extLst>
              </p:cNvPr>
              <p:cNvSpPr txBox="1">
                <a:spLocks noRot="1" noChangeAspect="1" noMove="1" noResize="1" noEditPoints="1" noAdjustHandles="1" noChangeArrowheads="1" noChangeShapeType="1" noTextEdit="1"/>
              </p:cNvSpPr>
              <p:nvPr/>
            </p:nvSpPr>
            <p:spPr>
              <a:xfrm>
                <a:off x="3420591" y="1985055"/>
                <a:ext cx="1825084" cy="672172"/>
              </a:xfrm>
              <a:prstGeom prst="rect">
                <a:avLst/>
              </a:prstGeom>
              <a:blipFill>
                <a:blip r:embed="rId4"/>
                <a:stretch>
                  <a:fillRect/>
                </a:stretch>
              </a:blipFill>
            </p:spPr>
            <p:txBody>
              <a:bodyPr/>
              <a:lstStyle/>
              <a:p>
                <a:r>
                  <a:rPr lang="de-DE">
                    <a:noFill/>
                  </a:rPr>
                  <a:t> </a:t>
                </a:r>
              </a:p>
            </p:txBody>
          </p:sp>
        </mc:Fallback>
      </mc:AlternateContent>
      <p:sp>
        <p:nvSpPr>
          <p:cNvPr id="49" name="Textfeld 48">
            <a:extLst>
              <a:ext uri="{FF2B5EF4-FFF2-40B4-BE49-F238E27FC236}">
                <a16:creationId xmlns:a16="http://schemas.microsoft.com/office/drawing/2014/main" id="{A61A9E93-4CB3-19DF-50D4-079BC3110031}"/>
              </a:ext>
            </a:extLst>
          </p:cNvPr>
          <p:cNvSpPr txBox="1"/>
          <p:nvPr/>
        </p:nvSpPr>
        <p:spPr>
          <a:xfrm>
            <a:off x="4428703" y="2906921"/>
            <a:ext cx="1257075" cy="369332"/>
          </a:xfrm>
          <a:prstGeom prst="rect">
            <a:avLst/>
          </a:prstGeom>
          <a:noFill/>
        </p:spPr>
        <p:txBody>
          <a:bodyPr wrap="none" rtlCol="0">
            <a:spAutoFit/>
          </a:bodyPr>
          <a:lstStyle/>
          <a:p>
            <a:r>
              <a:rPr lang="en-AU" noProof="0" dirty="0">
                <a:solidFill>
                  <a:srgbClr val="333333"/>
                </a:solidFill>
                <a:latin typeface="Futura LT Pro Light" panose="020B0402020204020303" pitchFamily="34" charset="0"/>
                <a:cs typeface="+mn-cs"/>
              </a:rPr>
              <a:t>SDOF-IDA</a:t>
            </a:r>
          </a:p>
        </p:txBody>
      </p:sp>
      <p:grpSp>
        <p:nvGrpSpPr>
          <p:cNvPr id="68" name="Gruppieren 67">
            <a:extLst>
              <a:ext uri="{FF2B5EF4-FFF2-40B4-BE49-F238E27FC236}">
                <a16:creationId xmlns:a16="http://schemas.microsoft.com/office/drawing/2014/main" id="{9D026DB0-8C4E-E7E3-6D4C-E6A0281581F5}"/>
              </a:ext>
            </a:extLst>
          </p:cNvPr>
          <p:cNvGrpSpPr/>
          <p:nvPr/>
        </p:nvGrpSpPr>
        <p:grpSpPr>
          <a:xfrm>
            <a:off x="972319" y="3392674"/>
            <a:ext cx="4451222" cy="3110372"/>
            <a:chOff x="468263" y="3334233"/>
            <a:chExt cx="4451222" cy="3110372"/>
          </a:xfrm>
        </p:grpSpPr>
        <p:grpSp>
          <p:nvGrpSpPr>
            <p:cNvPr id="51" name="Gruppieren 50">
              <a:extLst>
                <a:ext uri="{FF2B5EF4-FFF2-40B4-BE49-F238E27FC236}">
                  <a16:creationId xmlns:a16="http://schemas.microsoft.com/office/drawing/2014/main" id="{DC9FD1B0-C346-4FA7-115D-47D6C73AC0DE}"/>
                </a:ext>
              </a:extLst>
            </p:cNvPr>
            <p:cNvGrpSpPr/>
            <p:nvPr/>
          </p:nvGrpSpPr>
          <p:grpSpPr>
            <a:xfrm>
              <a:off x="468263" y="3334233"/>
              <a:ext cx="4451222" cy="3110372"/>
              <a:chOff x="4628549" y="3334233"/>
              <a:chExt cx="4451222" cy="3110372"/>
            </a:xfrm>
          </p:grpSpPr>
          <p:pic>
            <p:nvPicPr>
              <p:cNvPr id="21" name="Grafik 20" descr="Ein Bild, das Reihe, Diagramm, Text, Screenshot enthält.&#10;&#10;KI-generierte Inhalte können fehlerhaft sein.">
                <a:extLst>
                  <a:ext uri="{FF2B5EF4-FFF2-40B4-BE49-F238E27FC236}">
                    <a16:creationId xmlns:a16="http://schemas.microsoft.com/office/drawing/2014/main" id="{F51A6D57-81DD-1D2A-B496-89C21110046B}"/>
                  </a:ext>
                </a:extLst>
              </p:cNvPr>
              <p:cNvPicPr>
                <a:picLocks noChangeAspect="1"/>
              </p:cNvPicPr>
              <p:nvPr/>
            </p:nvPicPr>
            <p:blipFill>
              <a:blip r:embed="rId5"/>
              <a:srcRect l="49576"/>
              <a:stretch>
                <a:fillRect/>
              </a:stretch>
            </p:blipFill>
            <p:spPr>
              <a:xfrm>
                <a:off x="4628549" y="3334233"/>
                <a:ext cx="4451222" cy="3110372"/>
              </a:xfrm>
              <a:prstGeom prst="rect">
                <a:avLst/>
              </a:prstGeom>
            </p:spPr>
          </p:pic>
          <mc:AlternateContent xmlns:mc="http://schemas.openxmlformats.org/markup-compatibility/2006" xmlns:a14="http://schemas.microsoft.com/office/drawing/2010/main">
            <mc:Choice Requires="a14">
              <p:sp>
                <p:nvSpPr>
                  <p:cNvPr id="22" name="Textfeld 21">
                    <a:extLst>
                      <a:ext uri="{FF2B5EF4-FFF2-40B4-BE49-F238E27FC236}">
                        <a16:creationId xmlns:a16="http://schemas.microsoft.com/office/drawing/2014/main" id="{A461D2B7-FB9E-1921-0EBE-1A83925C8711}"/>
                      </a:ext>
                    </a:extLst>
                  </p:cNvPr>
                  <p:cNvSpPr txBox="1"/>
                  <p:nvPr/>
                </p:nvSpPr>
                <p:spPr>
                  <a:xfrm>
                    <a:off x="6432822" y="4084680"/>
                    <a:ext cx="5760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b="0" i="1" noProof="0" smtClean="0">
                                  <a:solidFill>
                                    <a:srgbClr val="333333"/>
                                  </a:solidFill>
                                  <a:latin typeface="Cambria Math" panose="02040503050406030204" pitchFamily="18" charset="0"/>
                                  <a:cs typeface="+mn-cs"/>
                                </a:rPr>
                              </m:ctrlPr>
                            </m:sSubPr>
                            <m:e>
                              <m:r>
                                <a:rPr lang="en-AU" b="0" i="1" noProof="0" smtClean="0">
                                  <a:solidFill>
                                    <a:srgbClr val="333333"/>
                                  </a:solidFill>
                                  <a:latin typeface="Cambria Math" panose="02040503050406030204" pitchFamily="18" charset="0"/>
                                  <a:cs typeface="+mn-cs"/>
                                </a:rPr>
                                <m:t>𝜇</m:t>
                              </m:r>
                            </m:e>
                            <m:sub>
                              <m:r>
                                <a:rPr lang="en-AU" b="0" i="1" noProof="0" smtClean="0">
                                  <a:solidFill>
                                    <a:srgbClr val="333333"/>
                                  </a:solidFill>
                                  <a:latin typeface="Cambria Math" panose="02040503050406030204" pitchFamily="18" charset="0"/>
                                  <a:cs typeface="+mn-cs"/>
                                </a:rPr>
                                <m:t>𝑁𝐶</m:t>
                              </m:r>
                            </m:sub>
                          </m:sSub>
                        </m:oMath>
                      </m:oMathPara>
                    </a14:m>
                    <a:endParaRPr lang="en-AU" noProof="0" dirty="0">
                      <a:solidFill>
                        <a:srgbClr val="333333"/>
                      </a:solidFill>
                      <a:latin typeface="Futura LT Pro Light" panose="020B0402020204020303" pitchFamily="34" charset="0"/>
                      <a:cs typeface="+mn-cs"/>
                    </a:endParaRPr>
                  </a:p>
                </p:txBody>
              </p:sp>
            </mc:Choice>
            <mc:Fallback xmlns="">
              <p:sp>
                <p:nvSpPr>
                  <p:cNvPr id="22" name="Textfeld 21">
                    <a:extLst>
                      <a:ext uri="{FF2B5EF4-FFF2-40B4-BE49-F238E27FC236}">
                        <a16:creationId xmlns:a16="http://schemas.microsoft.com/office/drawing/2014/main" id="{A461D2B7-FB9E-1921-0EBE-1A83925C8711}"/>
                      </a:ext>
                    </a:extLst>
                  </p:cNvPr>
                  <p:cNvSpPr txBox="1">
                    <a:spLocks noRot="1" noChangeAspect="1" noMove="1" noResize="1" noEditPoints="1" noAdjustHandles="1" noChangeArrowheads="1" noChangeShapeType="1" noTextEdit="1"/>
                  </p:cNvSpPr>
                  <p:nvPr/>
                </p:nvSpPr>
                <p:spPr>
                  <a:xfrm>
                    <a:off x="6432822" y="4084680"/>
                    <a:ext cx="576064" cy="369332"/>
                  </a:xfrm>
                  <a:prstGeom prst="rect">
                    <a:avLst/>
                  </a:prstGeom>
                  <a:blipFill>
                    <a:blip r:embed="rId6"/>
                    <a:stretch>
                      <a:fillRect b="-8333"/>
                    </a:stretch>
                  </a:blipFill>
                </p:spPr>
                <p:txBody>
                  <a:bodyPr/>
                  <a:lstStyle/>
                  <a:p>
                    <a:r>
                      <a:rPr lang="de-DE">
                        <a:noFill/>
                      </a:rPr>
                      <a:t> </a:t>
                    </a:r>
                  </a:p>
                </p:txBody>
              </p:sp>
            </mc:Fallback>
          </mc:AlternateContent>
          <p:cxnSp>
            <p:nvCxnSpPr>
              <p:cNvPr id="24" name="Gerade Verbindung mit Pfeil 23">
                <a:extLst>
                  <a:ext uri="{FF2B5EF4-FFF2-40B4-BE49-F238E27FC236}">
                    <a16:creationId xmlns:a16="http://schemas.microsoft.com/office/drawing/2014/main" id="{B1E63AD5-57BC-2B29-D3EA-96C2452BF7FA}"/>
                  </a:ext>
                </a:extLst>
              </p:cNvPr>
              <p:cNvCxnSpPr>
                <a:cxnSpLocks/>
              </p:cNvCxnSpPr>
              <p:nvPr/>
            </p:nvCxnSpPr>
            <p:spPr>
              <a:xfrm>
                <a:off x="5591497" y="4428381"/>
                <a:ext cx="2288579"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68F04C22-EFB2-AA1F-6698-37A936F87B1B}"/>
                  </a:ext>
                </a:extLst>
              </p:cNvPr>
              <p:cNvCxnSpPr>
                <a:cxnSpLocks/>
              </p:cNvCxnSpPr>
              <p:nvPr/>
            </p:nvCxnSpPr>
            <p:spPr>
              <a:xfrm>
                <a:off x="5591497" y="4356373"/>
                <a:ext cx="0" cy="982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97809011-764A-73BB-B539-24D692705BCE}"/>
                  </a:ext>
                </a:extLst>
              </p:cNvPr>
              <p:cNvCxnSpPr>
                <a:cxnSpLocks/>
              </p:cNvCxnSpPr>
              <p:nvPr/>
            </p:nvCxnSpPr>
            <p:spPr>
              <a:xfrm>
                <a:off x="7880076" y="4307771"/>
                <a:ext cx="0" cy="3366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4" name="Textfeld 53">
                  <a:extLst>
                    <a:ext uri="{FF2B5EF4-FFF2-40B4-BE49-F238E27FC236}">
                      <a16:creationId xmlns:a16="http://schemas.microsoft.com/office/drawing/2014/main" id="{D1304C16-1CEB-56D9-4235-81CE445C3788}"/>
                    </a:ext>
                  </a:extLst>
                </p:cNvPr>
                <p:cNvSpPr txBox="1"/>
                <p:nvPr/>
              </p:nvSpPr>
              <p:spPr>
                <a:xfrm>
                  <a:off x="3924647" y="4102482"/>
                  <a:ext cx="5760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AU" b="0" i="1" noProof="0" smtClean="0">
                                <a:solidFill>
                                  <a:srgbClr val="333333"/>
                                </a:solidFill>
                                <a:latin typeface="Cambria Math" panose="02040503050406030204" pitchFamily="18" charset="0"/>
                                <a:cs typeface="+mn-cs"/>
                              </a:rPr>
                            </m:ctrlPr>
                          </m:sSubPr>
                          <m:e>
                            <m:r>
                              <a:rPr lang="en-AU" b="0" i="1" noProof="0" smtClean="0">
                                <a:solidFill>
                                  <a:srgbClr val="333333"/>
                                </a:solidFill>
                                <a:latin typeface="Cambria Math" panose="02040503050406030204" pitchFamily="18" charset="0"/>
                                <a:cs typeface="+mn-cs"/>
                              </a:rPr>
                              <m:t>𝐶</m:t>
                            </m:r>
                          </m:e>
                          <m:sub>
                            <m:r>
                              <a:rPr lang="en-AU" b="0" i="1" noProof="0" smtClean="0">
                                <a:solidFill>
                                  <a:srgbClr val="333333"/>
                                </a:solidFill>
                                <a:latin typeface="Cambria Math" panose="02040503050406030204" pitchFamily="18" charset="0"/>
                                <a:cs typeface="+mn-cs"/>
                              </a:rPr>
                              <m:t>1</m:t>
                            </m:r>
                          </m:sub>
                        </m:sSub>
                      </m:oMath>
                    </m:oMathPara>
                  </a14:m>
                  <a:endParaRPr lang="en-AU" noProof="0" dirty="0">
                    <a:solidFill>
                      <a:srgbClr val="333333"/>
                    </a:solidFill>
                    <a:latin typeface="Futura LT Pro Light" panose="020B0402020204020303" pitchFamily="34" charset="0"/>
                    <a:cs typeface="+mn-cs"/>
                  </a:endParaRPr>
                </a:p>
              </p:txBody>
            </p:sp>
          </mc:Choice>
          <mc:Fallback xmlns="">
            <p:sp>
              <p:nvSpPr>
                <p:cNvPr id="54" name="Textfeld 53">
                  <a:extLst>
                    <a:ext uri="{FF2B5EF4-FFF2-40B4-BE49-F238E27FC236}">
                      <a16:creationId xmlns:a16="http://schemas.microsoft.com/office/drawing/2014/main" id="{D1304C16-1CEB-56D9-4235-81CE445C3788}"/>
                    </a:ext>
                  </a:extLst>
                </p:cNvPr>
                <p:cNvSpPr txBox="1">
                  <a:spLocks noRot="1" noChangeAspect="1" noMove="1" noResize="1" noEditPoints="1" noAdjustHandles="1" noChangeArrowheads="1" noChangeShapeType="1" noTextEdit="1"/>
                </p:cNvSpPr>
                <p:nvPr/>
              </p:nvSpPr>
              <p:spPr>
                <a:xfrm>
                  <a:off x="3924647" y="4102482"/>
                  <a:ext cx="576064" cy="369332"/>
                </a:xfrm>
                <a:prstGeom prst="rect">
                  <a:avLst/>
                </a:prstGeom>
                <a:blipFill>
                  <a:blip r:embed="rId7"/>
                  <a:stretch>
                    <a:fillRect b="-1667"/>
                  </a:stretch>
                </a:blipFill>
              </p:spPr>
              <p:txBody>
                <a:bodyPr/>
                <a:lstStyle/>
                <a:p>
                  <a:r>
                    <a:rPr lang="de-DE">
                      <a:noFill/>
                    </a:rPr>
                    <a:t> </a:t>
                  </a:r>
                </a:p>
              </p:txBody>
            </p:sp>
          </mc:Fallback>
        </mc:AlternateContent>
        <p:cxnSp>
          <p:nvCxnSpPr>
            <p:cNvPr id="55" name="Gerader Verbinder 54">
              <a:extLst>
                <a:ext uri="{FF2B5EF4-FFF2-40B4-BE49-F238E27FC236}">
                  <a16:creationId xmlns:a16="http://schemas.microsoft.com/office/drawing/2014/main" id="{6660B030-C034-8656-FC51-C77494AA1B8F}"/>
                </a:ext>
              </a:extLst>
            </p:cNvPr>
            <p:cNvCxnSpPr>
              <a:cxnSpLocks/>
            </p:cNvCxnSpPr>
            <p:nvPr/>
          </p:nvCxnSpPr>
          <p:spPr>
            <a:xfrm>
              <a:off x="4447753" y="4307771"/>
              <a:ext cx="0" cy="3366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Gerade Verbindung mit Pfeil 55">
              <a:extLst>
                <a:ext uri="{FF2B5EF4-FFF2-40B4-BE49-F238E27FC236}">
                  <a16:creationId xmlns:a16="http://schemas.microsoft.com/office/drawing/2014/main" id="{85FA79DF-BD98-6E7D-B0F5-768D0C252715}"/>
                </a:ext>
              </a:extLst>
            </p:cNvPr>
            <p:cNvCxnSpPr>
              <a:cxnSpLocks/>
            </p:cNvCxnSpPr>
            <p:nvPr/>
          </p:nvCxnSpPr>
          <p:spPr>
            <a:xfrm>
              <a:off x="3719790" y="4434218"/>
              <a:ext cx="727963"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70" name="Gerade Verbindung mit Pfeil 69">
            <a:extLst>
              <a:ext uri="{FF2B5EF4-FFF2-40B4-BE49-F238E27FC236}">
                <a16:creationId xmlns:a16="http://schemas.microsoft.com/office/drawing/2014/main" id="{810CC472-8BFD-071B-2018-59020B20A241}"/>
              </a:ext>
            </a:extLst>
          </p:cNvPr>
          <p:cNvCxnSpPr>
            <a:cxnSpLocks/>
          </p:cNvCxnSpPr>
          <p:nvPr/>
        </p:nvCxnSpPr>
        <p:spPr>
          <a:xfrm>
            <a:off x="4456856" y="2744602"/>
            <a:ext cx="0" cy="747675"/>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feld 71">
                <a:extLst>
                  <a:ext uri="{FF2B5EF4-FFF2-40B4-BE49-F238E27FC236}">
                    <a16:creationId xmlns:a16="http://schemas.microsoft.com/office/drawing/2014/main" id="{2BE8DB6E-6522-C7F3-D1D8-485D89B21339}"/>
                  </a:ext>
                </a:extLst>
              </p:cNvPr>
              <p:cNvSpPr txBox="1"/>
              <p:nvPr/>
            </p:nvSpPr>
            <p:spPr>
              <a:xfrm>
                <a:off x="6625151" y="3193825"/>
                <a:ext cx="5292800" cy="1384995"/>
              </a:xfrm>
              <a:prstGeom prst="rect">
                <a:avLst/>
              </a:prstGeom>
              <a:noFill/>
            </p:spPr>
            <p:txBody>
              <a:bodyPr wrap="square" lIns="0" tIns="0" rIns="0" bIns="0" rtlCol="0">
                <a:spAutoFit/>
              </a:bodyPr>
              <a:lstStyle/>
              <a:p>
                <a:r>
                  <a:rPr lang="en-AU" b="1" noProof="0" dirty="0">
                    <a:solidFill>
                      <a:schemeClr val="tx1"/>
                    </a:solidFill>
                    <a:latin typeface="Futura LT Pro Light" panose="020B0402020204020303" pitchFamily="34" charset="0"/>
                    <a:cs typeface="+mn-cs"/>
                  </a:rPr>
                  <a:t>Realised  </a:t>
                </a:r>
                <a14:m>
                  <m:oMath xmlns:m="http://schemas.openxmlformats.org/officeDocument/2006/math">
                    <m:sSub>
                      <m:sSubPr>
                        <m:ctrlPr>
                          <a:rPr lang="en-AU" b="1" i="1" noProof="0" smtClean="0">
                            <a:solidFill>
                              <a:schemeClr val="tx1"/>
                            </a:solidFill>
                            <a:latin typeface="Cambria Math" panose="02040503050406030204" pitchFamily="18" charset="0"/>
                            <a:cs typeface="+mn-cs"/>
                          </a:rPr>
                        </m:ctrlPr>
                      </m:sSubPr>
                      <m:e>
                        <m:r>
                          <a:rPr lang="en-AU" b="1" i="1" noProof="0" smtClean="0">
                            <a:solidFill>
                              <a:schemeClr val="tx1"/>
                            </a:solidFill>
                            <a:latin typeface="Cambria Math" panose="02040503050406030204" pitchFamily="18" charset="0"/>
                            <a:cs typeface="+mn-cs"/>
                          </a:rPr>
                          <m:t>𝝀</m:t>
                        </m:r>
                      </m:e>
                      <m:sub>
                        <m:r>
                          <a:rPr lang="en-AU" b="1" i="1" noProof="0" smtClean="0">
                            <a:solidFill>
                              <a:schemeClr val="tx1"/>
                            </a:solidFill>
                            <a:latin typeface="Cambria Math" panose="02040503050406030204" pitchFamily="18" charset="0"/>
                            <a:cs typeface="+mn-cs"/>
                          </a:rPr>
                          <m:t>𝒄</m:t>
                        </m:r>
                      </m:sub>
                    </m:sSub>
                  </m:oMath>
                </a14:m>
                <a:r>
                  <a:rPr lang="en-AU" b="1" noProof="0" dirty="0">
                    <a:solidFill>
                      <a:schemeClr val="tx1"/>
                    </a:solidFill>
                    <a:latin typeface="Futura LT Pro Light" panose="020B0402020204020303" pitchFamily="34" charset="0"/>
                    <a:cs typeface="+mn-cs"/>
                  </a:rPr>
                  <a:t> is quite conservative with a large variability</a:t>
                </a:r>
              </a:p>
              <a:p>
                <a:endParaRPr lang="en-AU" b="1" noProof="0" dirty="0">
                  <a:solidFill>
                    <a:schemeClr val="tx1"/>
                  </a:solidFill>
                  <a:latin typeface="Futura LT Pro Light" panose="020B0402020204020303" pitchFamily="34" charset="0"/>
                  <a:cs typeface="+mn-cs"/>
                </a:endParaRPr>
              </a:p>
              <a:p>
                <a:r>
                  <a:rPr lang="en-AU" b="1" noProof="0" dirty="0">
                    <a:solidFill>
                      <a:schemeClr val="tx1"/>
                    </a:solidFill>
                    <a:latin typeface="Futura LT Pro Light" panose="020B0402020204020303" pitchFamily="34" charset="0"/>
                    <a:cs typeface="+mn-cs"/>
                  </a:rPr>
                  <a:t>Assumptions for </a:t>
                </a:r>
                <a14:m>
                  <m:oMath xmlns:m="http://schemas.openxmlformats.org/officeDocument/2006/math">
                    <m:sSub>
                      <m:sSubPr>
                        <m:ctrlPr>
                          <a:rPr lang="en-AU" b="1" i="1" noProof="0" smtClean="0">
                            <a:solidFill>
                              <a:schemeClr val="tx1"/>
                            </a:solidFill>
                            <a:latin typeface="Cambria Math" panose="02040503050406030204" pitchFamily="18" charset="0"/>
                          </a:rPr>
                        </m:ctrlPr>
                      </m:sSubPr>
                      <m:e>
                        <m:r>
                          <a:rPr lang="en-AU" b="1" i="1" noProof="0" smtClean="0">
                            <a:solidFill>
                              <a:schemeClr val="tx1"/>
                            </a:solidFill>
                            <a:latin typeface="Cambria Math" panose="02040503050406030204" pitchFamily="18" charset="0"/>
                          </a:rPr>
                          <m:t>𝜸</m:t>
                        </m:r>
                      </m:e>
                      <m:sub>
                        <m:r>
                          <a:rPr lang="en-AU" b="1" i="1" noProof="0" smtClean="0">
                            <a:solidFill>
                              <a:schemeClr val="tx1"/>
                            </a:solidFill>
                            <a:latin typeface="Cambria Math" panose="02040503050406030204" pitchFamily="18" charset="0"/>
                          </a:rPr>
                          <m:t>𝑳𝑺</m:t>
                        </m:r>
                      </m:sub>
                    </m:sSub>
                  </m:oMath>
                </a14:m>
                <a:r>
                  <a:rPr lang="en-AU" b="1" noProof="0" dirty="0">
                    <a:solidFill>
                      <a:schemeClr val="tx1"/>
                    </a:solidFill>
                  </a:rPr>
                  <a:t>, </a:t>
                </a:r>
                <a14:m>
                  <m:oMath xmlns:m="http://schemas.openxmlformats.org/officeDocument/2006/math">
                    <m:r>
                      <a:rPr lang="en-AU" b="1" noProof="0" smtClean="0">
                        <a:solidFill>
                          <a:schemeClr val="tx1"/>
                        </a:solidFill>
                        <a:latin typeface="Cambria Math" panose="02040503050406030204" pitchFamily="18" charset="0"/>
                      </a:rPr>
                      <m:t> </m:t>
                    </m:r>
                    <m:sSub>
                      <m:sSubPr>
                        <m:ctrlPr>
                          <a:rPr lang="en-AU" b="1" i="1" noProof="0" smtClean="0">
                            <a:solidFill>
                              <a:schemeClr val="tx1"/>
                            </a:solidFill>
                            <a:latin typeface="Cambria Math" panose="02040503050406030204" pitchFamily="18" charset="0"/>
                          </a:rPr>
                        </m:ctrlPr>
                      </m:sSubPr>
                      <m:e>
                        <m:r>
                          <a:rPr lang="en-AU" b="1" i="1" noProof="0" smtClean="0">
                            <a:solidFill>
                              <a:schemeClr val="tx1"/>
                            </a:solidFill>
                            <a:latin typeface="Cambria Math" panose="02040503050406030204" pitchFamily="18" charset="0"/>
                          </a:rPr>
                          <m:t>𝝁</m:t>
                        </m:r>
                      </m:e>
                      <m:sub>
                        <m:r>
                          <a:rPr lang="en-AU" b="1" i="1" noProof="0" smtClean="0">
                            <a:solidFill>
                              <a:schemeClr val="tx1"/>
                            </a:solidFill>
                            <a:latin typeface="Cambria Math" panose="02040503050406030204" pitchFamily="18" charset="0"/>
                          </a:rPr>
                          <m:t>𝑵𝑪</m:t>
                        </m:r>
                      </m:sub>
                    </m:sSub>
                  </m:oMath>
                </a14:m>
                <a:r>
                  <a:rPr lang="en-AU" b="1" noProof="0" dirty="0">
                    <a:solidFill>
                      <a:schemeClr val="tx1"/>
                    </a:solidFill>
                  </a:rPr>
                  <a:t> and </a:t>
                </a:r>
                <a14:m>
                  <m:oMath xmlns:m="http://schemas.openxmlformats.org/officeDocument/2006/math">
                    <m:sSub>
                      <m:sSubPr>
                        <m:ctrlPr>
                          <a:rPr lang="en-AU" b="1" i="1" noProof="0" smtClean="0">
                            <a:solidFill>
                              <a:schemeClr val="tx1"/>
                            </a:solidFill>
                            <a:latin typeface="Cambria Math" panose="02040503050406030204" pitchFamily="18" charset="0"/>
                          </a:rPr>
                        </m:ctrlPr>
                      </m:sSubPr>
                      <m:e>
                        <m:r>
                          <a:rPr lang="en-AU" b="1" i="1" noProof="0" smtClean="0">
                            <a:solidFill>
                              <a:schemeClr val="tx1"/>
                            </a:solidFill>
                            <a:latin typeface="Cambria Math" panose="02040503050406030204" pitchFamily="18" charset="0"/>
                          </a:rPr>
                          <m:t>𝒓</m:t>
                        </m:r>
                      </m:e>
                      <m:sub>
                        <m:r>
                          <a:rPr lang="en-AU" b="1" i="1" noProof="0" smtClean="0">
                            <a:solidFill>
                              <a:schemeClr val="tx1"/>
                            </a:solidFill>
                            <a:latin typeface="Cambria Math" panose="02040503050406030204" pitchFamily="18" charset="0"/>
                          </a:rPr>
                          <m:t>𝒔</m:t>
                        </m:r>
                      </m:sub>
                    </m:sSub>
                  </m:oMath>
                </a14:m>
                <a:r>
                  <a:rPr lang="en-AU" b="1" noProof="0" dirty="0">
                    <a:solidFill>
                      <a:schemeClr val="tx1"/>
                    </a:solidFill>
                    <a:latin typeface="Futura LT Pro Light" panose="020B0402020204020303" pitchFamily="34" charset="0"/>
                    <a:cs typeface="+mn-cs"/>
                  </a:rPr>
                  <a:t> have a noticeable effect on the results</a:t>
                </a:r>
              </a:p>
            </p:txBody>
          </p:sp>
        </mc:Choice>
        <mc:Fallback xmlns="">
          <p:sp>
            <p:nvSpPr>
              <p:cNvPr id="72" name="Textfeld 71">
                <a:extLst>
                  <a:ext uri="{FF2B5EF4-FFF2-40B4-BE49-F238E27FC236}">
                    <a16:creationId xmlns:a16="http://schemas.microsoft.com/office/drawing/2014/main" id="{2BE8DB6E-6522-C7F3-D1D8-485D89B21339}"/>
                  </a:ext>
                </a:extLst>
              </p:cNvPr>
              <p:cNvSpPr txBox="1">
                <a:spLocks noRot="1" noChangeAspect="1" noMove="1" noResize="1" noEditPoints="1" noAdjustHandles="1" noChangeArrowheads="1" noChangeShapeType="1" noTextEdit="1"/>
              </p:cNvSpPr>
              <p:nvPr/>
            </p:nvSpPr>
            <p:spPr>
              <a:xfrm>
                <a:off x="6625151" y="3193825"/>
                <a:ext cx="5292800" cy="1384995"/>
              </a:xfrm>
              <a:prstGeom prst="rect">
                <a:avLst/>
              </a:prstGeom>
              <a:blipFill>
                <a:blip r:embed="rId8"/>
                <a:stretch>
                  <a:fillRect l="-2765" t="-5727" b="-9251"/>
                </a:stretch>
              </a:blipFill>
            </p:spPr>
            <p:txBody>
              <a:bodyPr/>
              <a:lstStyle/>
              <a:p>
                <a:r>
                  <a:rPr lang="de-DE">
                    <a:noFill/>
                  </a:rPr>
                  <a:t> </a:t>
                </a:r>
              </a:p>
            </p:txBody>
          </p:sp>
        </mc:Fallback>
      </mc:AlternateContent>
    </p:spTree>
    <p:extLst>
      <p:ext uri="{BB962C8B-B14F-4D97-AF65-F5344CB8AC3E}">
        <p14:creationId xmlns:p14="http://schemas.microsoft.com/office/powerpoint/2010/main" val="74906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p:bldP spid="49" grpId="0"/>
      <p:bldP spid="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Text, Diagramm, Reihe, parallel enthält.&#10;&#10;KI-generierte Inhalte können fehlerhaft sein.">
            <a:extLst>
              <a:ext uri="{FF2B5EF4-FFF2-40B4-BE49-F238E27FC236}">
                <a16:creationId xmlns:a16="http://schemas.microsoft.com/office/drawing/2014/main" id="{3A039154-F8F2-DF24-60FF-558D9D1DD27A}"/>
              </a:ext>
            </a:extLst>
          </p:cNvPr>
          <p:cNvPicPr>
            <a:picLocks noChangeAspect="1"/>
          </p:cNvPicPr>
          <p:nvPr/>
        </p:nvPicPr>
        <p:blipFill>
          <a:blip r:embed="rId2"/>
          <a:stretch>
            <a:fillRect/>
          </a:stretch>
        </p:blipFill>
        <p:spPr>
          <a:xfrm>
            <a:off x="1134158" y="2699041"/>
            <a:ext cx="3960440" cy="3241508"/>
          </a:xfrm>
          <a:prstGeom prst="rect">
            <a:avLst/>
          </a:prstGeom>
        </p:spPr>
      </p:pic>
      <mc:AlternateContent xmlns:mc="http://schemas.openxmlformats.org/markup-compatibility/2006" xmlns:a14="http://schemas.microsoft.com/office/drawing/2010/main">
        <mc:Choice Requires="a14">
          <p:sp>
            <p:nvSpPr>
              <p:cNvPr id="36" name="Textfeld 35">
                <a:extLst>
                  <a:ext uri="{FF2B5EF4-FFF2-40B4-BE49-F238E27FC236}">
                    <a16:creationId xmlns:a16="http://schemas.microsoft.com/office/drawing/2014/main" id="{AF87E0BD-DD07-98C9-AEF6-12D6C9B0D1A1}"/>
                  </a:ext>
                </a:extLst>
              </p:cNvPr>
              <p:cNvSpPr txBox="1"/>
              <p:nvPr/>
            </p:nvSpPr>
            <p:spPr>
              <a:xfrm>
                <a:off x="4915446" y="3973447"/>
                <a:ext cx="3773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b="1" i="1" noProof="0" smtClean="0">
                              <a:solidFill>
                                <a:schemeClr val="tx2"/>
                              </a:solidFill>
                              <a:latin typeface="Cambria Math" panose="02040503050406030204" pitchFamily="18" charset="0"/>
                              <a:cs typeface="+mn-cs"/>
                            </a:rPr>
                          </m:ctrlPr>
                        </m:sSubPr>
                        <m:e>
                          <m:r>
                            <a:rPr lang="en-AU" b="1" i="1" noProof="0" smtClean="0">
                              <a:solidFill>
                                <a:schemeClr val="tx2"/>
                              </a:solidFill>
                              <a:latin typeface="Cambria Math" panose="02040503050406030204" pitchFamily="18" charset="0"/>
                              <a:cs typeface="+mn-cs"/>
                            </a:rPr>
                            <m:t>𝜽</m:t>
                          </m:r>
                        </m:e>
                        <m:sub>
                          <m:r>
                            <a:rPr lang="en-AU" b="1" i="1" noProof="0" smtClean="0">
                              <a:solidFill>
                                <a:schemeClr val="tx2"/>
                              </a:solidFill>
                              <a:latin typeface="Cambria Math" panose="02040503050406030204" pitchFamily="18" charset="0"/>
                              <a:cs typeface="+mn-cs"/>
                            </a:rPr>
                            <m:t>𝒄</m:t>
                          </m:r>
                        </m:sub>
                      </m:sSub>
                    </m:oMath>
                  </m:oMathPara>
                </a14:m>
                <a:endParaRPr lang="en-AU" noProof="0" dirty="0"/>
              </a:p>
            </p:txBody>
          </p:sp>
        </mc:Choice>
        <mc:Fallback xmlns="">
          <p:sp>
            <p:nvSpPr>
              <p:cNvPr id="36" name="Textfeld 35">
                <a:extLst>
                  <a:ext uri="{FF2B5EF4-FFF2-40B4-BE49-F238E27FC236}">
                    <a16:creationId xmlns:a16="http://schemas.microsoft.com/office/drawing/2014/main" id="{AF87E0BD-DD07-98C9-AEF6-12D6C9B0D1A1}"/>
                  </a:ext>
                </a:extLst>
              </p:cNvPr>
              <p:cNvSpPr txBox="1">
                <a:spLocks noRot="1" noChangeAspect="1" noMove="1" noResize="1" noEditPoints="1" noAdjustHandles="1" noChangeArrowheads="1" noChangeShapeType="1" noTextEdit="1"/>
              </p:cNvSpPr>
              <p:nvPr/>
            </p:nvSpPr>
            <p:spPr>
              <a:xfrm>
                <a:off x="4915446" y="3973447"/>
                <a:ext cx="377353" cy="369332"/>
              </a:xfrm>
              <a:prstGeom prst="rect">
                <a:avLst/>
              </a:prstGeom>
              <a:blipFill>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 name="Textplatzhalter 1">
                <a:extLst>
                  <a:ext uri="{FF2B5EF4-FFF2-40B4-BE49-F238E27FC236}">
                    <a16:creationId xmlns:a16="http://schemas.microsoft.com/office/drawing/2014/main" id="{B8A13847-F033-5F47-5F59-9DD2A9777854}"/>
                  </a:ext>
                </a:extLst>
              </p:cNvPr>
              <p:cNvSpPr>
                <a:spLocks noGrp="1"/>
              </p:cNvSpPr>
              <p:nvPr>
                <p:ph type="body" sz="quarter" idx="18"/>
              </p:nvPr>
            </p:nvSpPr>
            <p:spPr/>
            <p:txBody>
              <a:bodyPr/>
              <a:lstStyle/>
              <a:p>
                <a:r>
                  <a:rPr lang="en-AU" b="1" noProof="0" dirty="0"/>
                  <a:t>Integrated Performance-based design </a:t>
                </a:r>
                <a:r>
                  <a:rPr lang="en-AU" sz="1100" noProof="0" dirty="0"/>
                  <a:t>Shahnazaryan et al. (2021)</a:t>
                </a:r>
              </a:p>
              <a:p>
                <a:r>
                  <a:rPr lang="en-AU" sz="1600" noProof="0" dirty="0"/>
                  <a:t>Uses SPO2IDA to predict </a:t>
                </a:r>
                <a14:m>
                  <m:oMath xmlns:m="http://schemas.openxmlformats.org/officeDocument/2006/math">
                    <m:sSub>
                      <m:sSubPr>
                        <m:ctrlPr>
                          <a:rPr lang="en-AU" sz="1600" b="0" i="1" noProof="0" smtClean="0">
                            <a:latin typeface="Cambria Math" panose="02040503050406030204" pitchFamily="18" charset="0"/>
                          </a:rPr>
                        </m:ctrlPr>
                      </m:sSubPr>
                      <m:e>
                        <m:r>
                          <a:rPr lang="en-AU" sz="1600" b="0" i="1" noProof="0" smtClean="0">
                            <a:latin typeface="Cambria Math" panose="02040503050406030204" pitchFamily="18" charset="0"/>
                          </a:rPr>
                          <m:t>𝜃</m:t>
                        </m:r>
                      </m:e>
                      <m:sub>
                        <m:r>
                          <a:rPr lang="en-AU" sz="1600" b="0" i="1" noProof="0" smtClean="0">
                            <a:latin typeface="Cambria Math" panose="02040503050406030204" pitchFamily="18" charset="0"/>
                          </a:rPr>
                          <m:t>𝑐</m:t>
                        </m:r>
                      </m:sub>
                    </m:sSub>
                  </m:oMath>
                </a14:m>
                <a:r>
                  <a:rPr lang="en-AU" sz="1600" noProof="0" dirty="0"/>
                  <a:t> based on the pushover curve</a:t>
                </a:r>
              </a:p>
              <a:p>
                <a:r>
                  <a:rPr lang="en-AU" sz="1600" noProof="0" dirty="0"/>
                  <a:t>Good estimates of collapse capacity</a:t>
                </a:r>
              </a:p>
              <a:p>
                <a:r>
                  <a:rPr lang="en-AU" sz="1600" noProof="0" dirty="0"/>
                  <a:t>Only works well one-way</a:t>
                </a:r>
              </a:p>
            </p:txBody>
          </p:sp>
        </mc:Choice>
        <mc:Fallback xmlns="">
          <p:sp>
            <p:nvSpPr>
              <p:cNvPr id="2" name="Textplatzhalter 1">
                <a:extLst>
                  <a:ext uri="{FF2B5EF4-FFF2-40B4-BE49-F238E27FC236}">
                    <a16:creationId xmlns:a16="http://schemas.microsoft.com/office/drawing/2014/main" id="{B8A13847-F033-5F47-5F59-9DD2A9777854}"/>
                  </a:ext>
                </a:extLst>
              </p:cNvPr>
              <p:cNvSpPr>
                <a:spLocks noGrp="1" noRot="1" noChangeAspect="1" noMove="1" noResize="1" noEditPoints="1" noAdjustHandles="1" noChangeArrowheads="1" noChangeShapeType="1" noTextEdit="1"/>
              </p:cNvSpPr>
              <p:nvPr>
                <p:ph type="body" sz="quarter" idx="18"/>
              </p:nvPr>
            </p:nvSpPr>
            <p:spPr>
              <a:blipFill>
                <a:blip r:embed="rId4"/>
                <a:stretch>
                  <a:fillRect l="-593" t="-564"/>
                </a:stretch>
              </a:blipFill>
            </p:spPr>
            <p:txBody>
              <a:bodyPr/>
              <a:lstStyle/>
              <a:p>
                <a:r>
                  <a:rPr lang="de-DE">
                    <a:noFill/>
                  </a:rPr>
                  <a:t> </a:t>
                </a:r>
              </a:p>
            </p:txBody>
          </p:sp>
        </mc:Fallback>
      </mc:AlternateContent>
      <p:sp>
        <p:nvSpPr>
          <p:cNvPr id="3" name="Titel 2">
            <a:extLst>
              <a:ext uri="{FF2B5EF4-FFF2-40B4-BE49-F238E27FC236}">
                <a16:creationId xmlns:a16="http://schemas.microsoft.com/office/drawing/2014/main" id="{CC8C16BE-973F-5C54-0EB9-FC03C71F07DB}"/>
              </a:ext>
            </a:extLst>
          </p:cNvPr>
          <p:cNvSpPr>
            <a:spLocks noGrp="1"/>
          </p:cNvSpPr>
          <p:nvPr>
            <p:ph type="title"/>
          </p:nvPr>
        </p:nvSpPr>
        <p:spPr/>
        <p:txBody>
          <a:bodyPr/>
          <a:lstStyle/>
          <a:p>
            <a:r>
              <a:rPr lang="en-AU" noProof="0" dirty="0"/>
              <a:t>Existing CC2D-Models / Procedures</a:t>
            </a:r>
          </a:p>
        </p:txBody>
      </p:sp>
      <p:sp>
        <p:nvSpPr>
          <p:cNvPr id="6" name="Textfeld 5">
            <a:extLst>
              <a:ext uri="{FF2B5EF4-FFF2-40B4-BE49-F238E27FC236}">
                <a16:creationId xmlns:a16="http://schemas.microsoft.com/office/drawing/2014/main" id="{9397DF38-A90C-E03D-98B4-772BBF3EE3BE}"/>
              </a:ext>
            </a:extLst>
          </p:cNvPr>
          <p:cNvSpPr txBox="1"/>
          <p:nvPr/>
        </p:nvSpPr>
        <p:spPr>
          <a:xfrm>
            <a:off x="361372" y="6268720"/>
            <a:ext cx="2483155" cy="261610"/>
          </a:xfrm>
          <a:prstGeom prst="rect">
            <a:avLst/>
          </a:prstGeom>
          <a:noFill/>
        </p:spPr>
        <p:txBody>
          <a:bodyPr wrap="square" rtlCol="0">
            <a:spAutoFit/>
          </a:bodyPr>
          <a:lstStyle/>
          <a:p>
            <a:r>
              <a:rPr lang="en-AU" sz="1100" noProof="0" dirty="0">
                <a:solidFill>
                  <a:srgbClr val="333333"/>
                </a:solidFill>
                <a:latin typeface="Futura LT Pro Light" panose="020B0402020204020303" pitchFamily="34" charset="0"/>
                <a:cs typeface="+mn-cs"/>
              </a:rPr>
              <a:t>Vamvatsikos and Cornell, 2006</a:t>
            </a: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A45E400B-13E9-8C0F-AEA0-C97CF605DC10}"/>
                  </a:ext>
                </a:extLst>
              </p:cNvPr>
              <p:cNvSpPr txBox="1"/>
              <p:nvPr/>
            </p:nvSpPr>
            <p:spPr>
              <a:xfrm>
                <a:off x="6156895" y="3275678"/>
                <a:ext cx="5292800" cy="289182"/>
              </a:xfrm>
              <a:prstGeom prst="rect">
                <a:avLst/>
              </a:prstGeom>
              <a:noFill/>
            </p:spPr>
            <p:txBody>
              <a:bodyPr wrap="square" lIns="0" tIns="0" rIns="0" bIns="0" rtlCol="0">
                <a:spAutoFit/>
              </a:bodyPr>
              <a:lstStyle/>
              <a:p>
                <a:r>
                  <a:rPr lang="en-AU" b="1" noProof="0" dirty="0">
                    <a:solidFill>
                      <a:schemeClr val="tx1"/>
                    </a:solidFill>
                    <a:latin typeface="Futura LT Pro Light" panose="020B0402020204020303" pitchFamily="34" charset="0"/>
                    <a:cs typeface="+mn-cs"/>
                  </a:rPr>
                  <a:t>Iteratively change the SPO-curve until </a:t>
                </a:r>
                <a14:m>
                  <m:oMath xmlns:m="http://schemas.openxmlformats.org/officeDocument/2006/math">
                    <m:sSub>
                      <m:sSubPr>
                        <m:ctrlPr>
                          <a:rPr lang="en-AU" b="1" i="1" noProof="0" smtClean="0">
                            <a:solidFill>
                              <a:schemeClr val="tx1"/>
                            </a:solidFill>
                            <a:latin typeface="Cambria Math" panose="02040503050406030204" pitchFamily="18" charset="0"/>
                            <a:cs typeface="+mn-cs"/>
                          </a:rPr>
                        </m:ctrlPr>
                      </m:sSubPr>
                      <m:e>
                        <m:r>
                          <a:rPr lang="en-AU" b="1" i="1" noProof="0" smtClean="0">
                            <a:solidFill>
                              <a:schemeClr val="tx1"/>
                            </a:solidFill>
                            <a:latin typeface="Cambria Math" panose="02040503050406030204" pitchFamily="18" charset="0"/>
                            <a:cs typeface="+mn-cs"/>
                          </a:rPr>
                          <m:t>𝜽</m:t>
                        </m:r>
                      </m:e>
                      <m:sub>
                        <m:r>
                          <a:rPr lang="en-AU" b="1" i="1" noProof="0" smtClean="0">
                            <a:solidFill>
                              <a:schemeClr val="tx1"/>
                            </a:solidFill>
                            <a:latin typeface="Cambria Math" panose="02040503050406030204" pitchFamily="18" charset="0"/>
                            <a:cs typeface="+mn-cs"/>
                          </a:rPr>
                          <m:t>𝒄</m:t>
                        </m:r>
                      </m:sub>
                    </m:sSub>
                    <m:r>
                      <a:rPr lang="en-AU" b="1" i="0" noProof="0" smtClean="0">
                        <a:solidFill>
                          <a:schemeClr val="tx1"/>
                        </a:solidFill>
                        <a:latin typeface="Cambria Math" panose="02040503050406030204" pitchFamily="18" charset="0"/>
                        <a:cs typeface="+mn-cs"/>
                      </a:rPr>
                      <m:t>=</m:t>
                    </m:r>
                    <m:sSub>
                      <m:sSubPr>
                        <m:ctrlPr>
                          <a:rPr lang="en-AU" b="1" i="1" noProof="0" smtClean="0">
                            <a:solidFill>
                              <a:schemeClr val="tx1"/>
                            </a:solidFill>
                            <a:latin typeface="Cambria Math" panose="02040503050406030204" pitchFamily="18" charset="0"/>
                            <a:cs typeface="+mn-cs"/>
                          </a:rPr>
                        </m:ctrlPr>
                      </m:sSubPr>
                      <m:e>
                        <m:r>
                          <a:rPr lang="en-AU" b="1" i="1" noProof="0" smtClean="0">
                            <a:solidFill>
                              <a:schemeClr val="tx1"/>
                            </a:solidFill>
                            <a:latin typeface="Cambria Math" panose="02040503050406030204" pitchFamily="18" charset="0"/>
                            <a:cs typeface="+mn-cs"/>
                          </a:rPr>
                          <m:t>𝜽</m:t>
                        </m:r>
                      </m:e>
                      <m:sub>
                        <m:r>
                          <a:rPr lang="en-AU" b="1" i="1" noProof="0" smtClean="0">
                            <a:solidFill>
                              <a:schemeClr val="tx1"/>
                            </a:solidFill>
                            <a:latin typeface="Cambria Math" panose="02040503050406030204" pitchFamily="18" charset="0"/>
                            <a:cs typeface="+mn-cs"/>
                          </a:rPr>
                          <m:t>𝒄</m:t>
                        </m:r>
                        <m:r>
                          <a:rPr lang="en-AU" b="1" i="1" noProof="0" smtClean="0">
                            <a:solidFill>
                              <a:schemeClr val="tx1"/>
                            </a:solidFill>
                            <a:latin typeface="Cambria Math" panose="02040503050406030204" pitchFamily="18" charset="0"/>
                            <a:cs typeface="+mn-cs"/>
                          </a:rPr>
                          <m:t>,</m:t>
                        </m:r>
                        <m:r>
                          <a:rPr lang="en-AU" b="1" i="1" noProof="0" smtClean="0">
                            <a:solidFill>
                              <a:schemeClr val="tx1"/>
                            </a:solidFill>
                            <a:latin typeface="Cambria Math" panose="02040503050406030204" pitchFamily="18" charset="0"/>
                            <a:cs typeface="+mn-cs"/>
                          </a:rPr>
                          <m:t>𝒕</m:t>
                        </m:r>
                      </m:sub>
                    </m:sSub>
                  </m:oMath>
                </a14:m>
                <a:endParaRPr lang="en-AU" b="1" noProof="0" dirty="0">
                  <a:solidFill>
                    <a:schemeClr val="tx1"/>
                  </a:solidFill>
                  <a:latin typeface="Futura LT Pro Light" panose="020B0402020204020303" pitchFamily="34" charset="0"/>
                  <a:cs typeface="+mn-cs"/>
                </a:endParaRPr>
              </a:p>
            </p:txBody>
          </p:sp>
        </mc:Choice>
        <mc:Fallback xmlns="">
          <p:sp>
            <p:nvSpPr>
              <p:cNvPr id="7" name="Textfeld 6">
                <a:extLst>
                  <a:ext uri="{FF2B5EF4-FFF2-40B4-BE49-F238E27FC236}">
                    <a16:creationId xmlns:a16="http://schemas.microsoft.com/office/drawing/2014/main" id="{A45E400B-13E9-8C0F-AEA0-C97CF605DC10}"/>
                  </a:ext>
                </a:extLst>
              </p:cNvPr>
              <p:cNvSpPr txBox="1">
                <a:spLocks noRot="1" noChangeAspect="1" noMove="1" noResize="1" noEditPoints="1" noAdjustHandles="1" noChangeArrowheads="1" noChangeShapeType="1" noTextEdit="1"/>
              </p:cNvSpPr>
              <p:nvPr/>
            </p:nvSpPr>
            <p:spPr>
              <a:xfrm>
                <a:off x="6156895" y="3275678"/>
                <a:ext cx="5292800" cy="289182"/>
              </a:xfrm>
              <a:prstGeom prst="rect">
                <a:avLst/>
              </a:prstGeom>
              <a:blipFill>
                <a:blip r:embed="rId5"/>
                <a:stretch>
                  <a:fillRect l="-2765" t="-29167" b="-41667"/>
                </a:stretch>
              </a:blipFill>
            </p:spPr>
            <p:txBody>
              <a:bodyPr/>
              <a:lstStyle/>
              <a:p>
                <a:r>
                  <a:rPr lang="de-DE">
                    <a:noFill/>
                  </a:rPr>
                  <a:t> </a:t>
                </a:r>
              </a:p>
            </p:txBody>
          </p:sp>
        </mc:Fallback>
      </mc:AlternateContent>
      <p:sp>
        <p:nvSpPr>
          <p:cNvPr id="10" name="Textfeld 9">
            <a:extLst>
              <a:ext uri="{FF2B5EF4-FFF2-40B4-BE49-F238E27FC236}">
                <a16:creationId xmlns:a16="http://schemas.microsoft.com/office/drawing/2014/main" id="{1624C2BA-142E-A47D-6E3C-04C7AFB7D504}"/>
              </a:ext>
            </a:extLst>
          </p:cNvPr>
          <p:cNvSpPr txBox="1"/>
          <p:nvPr/>
        </p:nvSpPr>
        <p:spPr>
          <a:xfrm>
            <a:off x="6156895" y="3862092"/>
            <a:ext cx="5292800" cy="553998"/>
          </a:xfrm>
          <a:prstGeom prst="rect">
            <a:avLst/>
          </a:prstGeom>
          <a:noFill/>
        </p:spPr>
        <p:txBody>
          <a:bodyPr wrap="square" lIns="0" tIns="0" rIns="0" bIns="0" rtlCol="0">
            <a:spAutoFit/>
          </a:bodyPr>
          <a:lstStyle/>
          <a:p>
            <a:r>
              <a:rPr lang="en-AU" b="1" noProof="0" dirty="0">
                <a:latin typeface="Futura LT Pro Light" panose="020B0402020204020303" pitchFamily="34" charset="0"/>
                <a:cs typeface="+mn-cs"/>
              </a:rPr>
              <a:t>Design the building so that it matches the idealised pushover curve</a:t>
            </a:r>
          </a:p>
        </p:txBody>
      </p:sp>
      <p:grpSp>
        <p:nvGrpSpPr>
          <p:cNvPr id="4" name="Gruppieren 3">
            <a:extLst>
              <a:ext uri="{FF2B5EF4-FFF2-40B4-BE49-F238E27FC236}">
                <a16:creationId xmlns:a16="http://schemas.microsoft.com/office/drawing/2014/main" id="{14B7512E-3135-FE56-1997-78FFA3F991B4}"/>
              </a:ext>
            </a:extLst>
          </p:cNvPr>
          <p:cNvGrpSpPr/>
          <p:nvPr/>
        </p:nvGrpSpPr>
        <p:grpSpPr>
          <a:xfrm>
            <a:off x="1554686" y="4578335"/>
            <a:ext cx="3146136" cy="858766"/>
            <a:chOff x="1554686" y="4578335"/>
            <a:chExt cx="3146136" cy="858766"/>
          </a:xfrm>
        </p:grpSpPr>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DE20560F-E19B-C45C-8B80-97FD1721437F}"/>
                    </a:ext>
                  </a:extLst>
                </p:cNvPr>
                <p:cNvSpPr txBox="1"/>
                <p:nvPr/>
              </p:nvSpPr>
              <p:spPr>
                <a:xfrm>
                  <a:off x="1554686" y="4990721"/>
                  <a:ext cx="344127" cy="338554"/>
                </a:xfrm>
                <a:prstGeom prst="rect">
                  <a:avLst/>
                </a:prstGeom>
                <a:no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1" i="1" noProof="0" smtClean="0">
                                <a:solidFill>
                                  <a:schemeClr val="tx2"/>
                                </a:solidFill>
                                <a:latin typeface="Cambria Math" panose="02040503050406030204" pitchFamily="18" charset="0"/>
                                <a:cs typeface="+mn-cs"/>
                              </a:rPr>
                            </m:ctrlPr>
                          </m:sSubPr>
                          <m:e>
                            <m:r>
                              <a:rPr lang="en-AU" sz="1600" b="1" i="1" noProof="0" smtClean="0">
                                <a:solidFill>
                                  <a:schemeClr val="tx2"/>
                                </a:solidFill>
                                <a:latin typeface="Cambria Math" panose="02040503050406030204" pitchFamily="18" charset="0"/>
                                <a:cs typeface="+mn-cs"/>
                              </a:rPr>
                              <m:t>𝑲</m:t>
                            </m:r>
                          </m:e>
                          <m:sub>
                            <m:r>
                              <a:rPr lang="en-AU" sz="1600" b="1" i="1" noProof="0" smtClean="0">
                                <a:solidFill>
                                  <a:schemeClr val="tx2"/>
                                </a:solidFill>
                                <a:latin typeface="Cambria Math" panose="02040503050406030204" pitchFamily="18" charset="0"/>
                                <a:cs typeface="+mn-cs"/>
                              </a:rPr>
                              <m:t>𝟏</m:t>
                            </m:r>
                          </m:sub>
                        </m:sSub>
                      </m:oMath>
                    </m:oMathPara>
                  </a14:m>
                  <a:endParaRPr lang="en-AU" sz="1600" noProof="0" dirty="0"/>
                </a:p>
              </p:txBody>
            </p:sp>
          </mc:Choice>
          <mc:Fallback xmlns="">
            <p:sp>
              <p:nvSpPr>
                <p:cNvPr id="8" name="Textfeld 7">
                  <a:extLst>
                    <a:ext uri="{FF2B5EF4-FFF2-40B4-BE49-F238E27FC236}">
                      <a16:creationId xmlns:a16="http://schemas.microsoft.com/office/drawing/2014/main" id="{DE20560F-E19B-C45C-8B80-97FD1721437F}"/>
                    </a:ext>
                  </a:extLst>
                </p:cNvPr>
                <p:cNvSpPr txBox="1">
                  <a:spLocks noRot="1" noChangeAspect="1" noMove="1" noResize="1" noEditPoints="1" noAdjustHandles="1" noChangeArrowheads="1" noChangeShapeType="1" noTextEdit="1"/>
                </p:cNvSpPr>
                <p:nvPr/>
              </p:nvSpPr>
              <p:spPr>
                <a:xfrm>
                  <a:off x="1554686" y="4990721"/>
                  <a:ext cx="344127" cy="338554"/>
                </a:xfrm>
                <a:prstGeom prst="rect">
                  <a:avLst/>
                </a:prstGeom>
                <a:blipFill>
                  <a:blip r:embed="rId6"/>
                  <a:stretch>
                    <a:fillRect r="-12500"/>
                  </a:stretch>
                </a:blipFill>
                <a:ln w="19050">
                  <a:noFill/>
                </a:ln>
              </p:spPr>
              <p:txBody>
                <a:bodyPr/>
                <a:lstStyle/>
                <a:p>
                  <a:r>
                    <a:rPr lang="de-DE">
                      <a:noFill/>
                    </a:rPr>
                    <a:t> </a:t>
                  </a:r>
                </a:p>
              </p:txBody>
            </p:sp>
          </mc:Fallback>
        </mc:AlternateContent>
        <p:sp>
          <p:nvSpPr>
            <p:cNvPr id="9" name="Ellipse 8">
              <a:extLst>
                <a:ext uri="{FF2B5EF4-FFF2-40B4-BE49-F238E27FC236}">
                  <a16:creationId xmlns:a16="http://schemas.microsoft.com/office/drawing/2014/main" id="{466F9DAD-BDFC-89DB-7B05-B4854A006DD6}"/>
                </a:ext>
              </a:extLst>
            </p:cNvPr>
            <p:cNvSpPr/>
            <p:nvPr/>
          </p:nvSpPr>
          <p:spPr>
            <a:xfrm>
              <a:off x="2097014" y="4984247"/>
              <a:ext cx="144016" cy="144016"/>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grpSp>
          <p:nvGrpSpPr>
            <p:cNvPr id="19" name="Gruppieren 18">
              <a:extLst>
                <a:ext uri="{FF2B5EF4-FFF2-40B4-BE49-F238E27FC236}">
                  <a16:creationId xmlns:a16="http://schemas.microsoft.com/office/drawing/2014/main" id="{8BFD1D98-8CEE-2D80-FD05-E9D8A6684F01}"/>
                </a:ext>
              </a:extLst>
            </p:cNvPr>
            <p:cNvGrpSpPr/>
            <p:nvPr/>
          </p:nvGrpSpPr>
          <p:grpSpPr>
            <a:xfrm>
              <a:off x="1802632" y="4578335"/>
              <a:ext cx="2898190" cy="858766"/>
              <a:chOff x="1802632" y="4578335"/>
              <a:chExt cx="2898190" cy="858766"/>
            </a:xfrm>
          </p:grpSpPr>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7194BD99-601C-5C95-E244-8235CF648584}"/>
                      </a:ext>
                    </a:extLst>
                  </p:cNvPr>
                  <p:cNvSpPr txBox="1"/>
                  <p:nvPr/>
                </p:nvSpPr>
                <p:spPr>
                  <a:xfrm>
                    <a:off x="2311658" y="5019296"/>
                    <a:ext cx="344127" cy="338554"/>
                  </a:xfrm>
                  <a:prstGeom prst="rect">
                    <a:avLst/>
                  </a:prstGeom>
                  <a:no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1" i="1" noProof="0" smtClean="0">
                                  <a:solidFill>
                                    <a:schemeClr val="tx2"/>
                                  </a:solidFill>
                                  <a:latin typeface="Cambria Math" panose="02040503050406030204" pitchFamily="18" charset="0"/>
                                  <a:cs typeface="+mn-cs"/>
                                </a:rPr>
                              </m:ctrlPr>
                            </m:sSubPr>
                            <m:e>
                              <m:r>
                                <a:rPr lang="en-AU" sz="1600" b="1" i="1" noProof="0" smtClean="0">
                                  <a:solidFill>
                                    <a:schemeClr val="tx2"/>
                                  </a:solidFill>
                                  <a:latin typeface="Cambria Math" panose="02040503050406030204" pitchFamily="18" charset="0"/>
                                  <a:cs typeface="+mn-cs"/>
                                </a:rPr>
                                <m:t>𝑲</m:t>
                              </m:r>
                            </m:e>
                            <m:sub>
                              <m:r>
                                <a:rPr lang="en-AU" sz="1600" b="1" i="1" noProof="0" smtClean="0">
                                  <a:solidFill>
                                    <a:schemeClr val="tx2"/>
                                  </a:solidFill>
                                  <a:latin typeface="Cambria Math" panose="02040503050406030204" pitchFamily="18" charset="0"/>
                                  <a:cs typeface="+mn-cs"/>
                                </a:rPr>
                                <m:t>𝟐</m:t>
                              </m:r>
                            </m:sub>
                          </m:sSub>
                        </m:oMath>
                      </m:oMathPara>
                    </a14:m>
                    <a:endParaRPr lang="en-AU" sz="1600" noProof="0" dirty="0"/>
                  </a:p>
                </p:txBody>
              </p:sp>
            </mc:Choice>
            <mc:Fallback xmlns="">
              <p:sp>
                <p:nvSpPr>
                  <p:cNvPr id="12" name="Textfeld 11">
                    <a:extLst>
                      <a:ext uri="{FF2B5EF4-FFF2-40B4-BE49-F238E27FC236}">
                        <a16:creationId xmlns:a16="http://schemas.microsoft.com/office/drawing/2014/main" id="{7194BD99-601C-5C95-E244-8235CF648584}"/>
                      </a:ext>
                    </a:extLst>
                  </p:cNvPr>
                  <p:cNvSpPr txBox="1">
                    <a:spLocks noRot="1" noChangeAspect="1" noMove="1" noResize="1" noEditPoints="1" noAdjustHandles="1" noChangeArrowheads="1" noChangeShapeType="1" noTextEdit="1"/>
                  </p:cNvSpPr>
                  <p:nvPr/>
                </p:nvSpPr>
                <p:spPr>
                  <a:xfrm>
                    <a:off x="2311658" y="5019296"/>
                    <a:ext cx="344127" cy="338554"/>
                  </a:xfrm>
                  <a:prstGeom prst="rect">
                    <a:avLst/>
                  </a:prstGeom>
                  <a:blipFill>
                    <a:blip r:embed="rId7"/>
                    <a:stretch>
                      <a:fillRect r="-10526"/>
                    </a:stretch>
                  </a:blipFill>
                  <a:ln w="1905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FB77BB91-A622-F3C3-BF8B-773B233362AE}"/>
                      </a:ext>
                    </a:extLst>
                  </p:cNvPr>
                  <p:cNvSpPr txBox="1"/>
                  <p:nvPr/>
                </p:nvSpPr>
                <p:spPr>
                  <a:xfrm>
                    <a:off x="2880937" y="4722805"/>
                    <a:ext cx="344127" cy="338554"/>
                  </a:xfrm>
                  <a:prstGeom prst="rect">
                    <a:avLst/>
                  </a:prstGeom>
                  <a:no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1" i="1" noProof="0" smtClean="0">
                                  <a:solidFill>
                                    <a:schemeClr val="tx2"/>
                                  </a:solidFill>
                                  <a:latin typeface="Cambria Math" panose="02040503050406030204" pitchFamily="18" charset="0"/>
                                  <a:cs typeface="+mn-cs"/>
                                </a:rPr>
                              </m:ctrlPr>
                            </m:sSubPr>
                            <m:e>
                              <m:r>
                                <a:rPr lang="en-AU" sz="1600" b="1" i="1" noProof="0" smtClean="0">
                                  <a:solidFill>
                                    <a:schemeClr val="tx2"/>
                                  </a:solidFill>
                                  <a:latin typeface="Cambria Math" panose="02040503050406030204" pitchFamily="18" charset="0"/>
                                  <a:cs typeface="+mn-cs"/>
                                </a:rPr>
                                <m:t>𝑲</m:t>
                              </m:r>
                            </m:e>
                            <m:sub>
                              <m:r>
                                <a:rPr lang="en-AU" sz="1600" b="1" i="1" noProof="0" smtClean="0">
                                  <a:solidFill>
                                    <a:schemeClr val="tx2"/>
                                  </a:solidFill>
                                  <a:latin typeface="Cambria Math" panose="02040503050406030204" pitchFamily="18" charset="0"/>
                                  <a:cs typeface="+mn-cs"/>
                                </a:rPr>
                                <m:t>𝟑</m:t>
                              </m:r>
                            </m:sub>
                          </m:sSub>
                        </m:oMath>
                      </m:oMathPara>
                    </a14:m>
                    <a:endParaRPr lang="en-AU" sz="1600" noProof="0" dirty="0"/>
                  </a:p>
                </p:txBody>
              </p:sp>
            </mc:Choice>
            <mc:Fallback xmlns="">
              <p:sp>
                <p:nvSpPr>
                  <p:cNvPr id="13" name="Textfeld 12">
                    <a:extLst>
                      <a:ext uri="{FF2B5EF4-FFF2-40B4-BE49-F238E27FC236}">
                        <a16:creationId xmlns:a16="http://schemas.microsoft.com/office/drawing/2014/main" id="{FB77BB91-A622-F3C3-BF8B-773B233362AE}"/>
                      </a:ext>
                    </a:extLst>
                  </p:cNvPr>
                  <p:cNvSpPr txBox="1">
                    <a:spLocks noRot="1" noChangeAspect="1" noMove="1" noResize="1" noEditPoints="1" noAdjustHandles="1" noChangeArrowheads="1" noChangeShapeType="1" noTextEdit="1"/>
                  </p:cNvSpPr>
                  <p:nvPr/>
                </p:nvSpPr>
                <p:spPr>
                  <a:xfrm>
                    <a:off x="2880937" y="4722805"/>
                    <a:ext cx="344127" cy="338554"/>
                  </a:xfrm>
                  <a:prstGeom prst="rect">
                    <a:avLst/>
                  </a:prstGeom>
                  <a:blipFill>
                    <a:blip r:embed="rId8"/>
                    <a:stretch>
                      <a:fillRect r="-10714"/>
                    </a:stretch>
                  </a:blipFill>
                  <a:ln w="1905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B31339CC-7C58-F1F4-2C61-6AFD4F908508}"/>
                      </a:ext>
                    </a:extLst>
                  </p:cNvPr>
                  <p:cNvSpPr txBox="1"/>
                  <p:nvPr/>
                </p:nvSpPr>
                <p:spPr>
                  <a:xfrm>
                    <a:off x="4356695" y="5098547"/>
                    <a:ext cx="344127" cy="338554"/>
                  </a:xfrm>
                  <a:prstGeom prst="rect">
                    <a:avLst/>
                  </a:prstGeom>
                  <a:no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1" i="1" noProof="0" smtClean="0">
                                  <a:solidFill>
                                    <a:schemeClr val="tx2"/>
                                  </a:solidFill>
                                  <a:latin typeface="Cambria Math" panose="02040503050406030204" pitchFamily="18" charset="0"/>
                                  <a:cs typeface="+mn-cs"/>
                                </a:rPr>
                              </m:ctrlPr>
                            </m:sSubPr>
                            <m:e>
                              <m:r>
                                <a:rPr lang="en-AU" sz="1600" b="1" i="1" noProof="0" smtClean="0">
                                  <a:solidFill>
                                    <a:schemeClr val="tx2"/>
                                  </a:solidFill>
                                  <a:latin typeface="Cambria Math" panose="02040503050406030204" pitchFamily="18" charset="0"/>
                                  <a:cs typeface="+mn-cs"/>
                                </a:rPr>
                                <m:t>𝑹</m:t>
                              </m:r>
                            </m:e>
                            <m:sub>
                              <m:r>
                                <a:rPr lang="en-AU" sz="1600" b="1" i="1" noProof="0" smtClean="0">
                                  <a:solidFill>
                                    <a:schemeClr val="tx2"/>
                                  </a:solidFill>
                                  <a:latin typeface="Cambria Math" panose="02040503050406030204" pitchFamily="18" charset="0"/>
                                  <a:cs typeface="+mn-cs"/>
                                </a:rPr>
                                <m:t>𝑹</m:t>
                              </m:r>
                            </m:sub>
                          </m:sSub>
                        </m:oMath>
                      </m:oMathPara>
                    </a14:m>
                    <a:endParaRPr lang="en-AU" sz="1600" noProof="0" dirty="0"/>
                  </a:p>
                </p:txBody>
              </p:sp>
            </mc:Choice>
            <mc:Fallback xmlns="">
              <p:sp>
                <p:nvSpPr>
                  <p:cNvPr id="14" name="Textfeld 13">
                    <a:extLst>
                      <a:ext uri="{FF2B5EF4-FFF2-40B4-BE49-F238E27FC236}">
                        <a16:creationId xmlns:a16="http://schemas.microsoft.com/office/drawing/2014/main" id="{B31339CC-7C58-F1F4-2C61-6AFD4F908508}"/>
                      </a:ext>
                    </a:extLst>
                  </p:cNvPr>
                  <p:cNvSpPr txBox="1">
                    <a:spLocks noRot="1" noChangeAspect="1" noMove="1" noResize="1" noEditPoints="1" noAdjustHandles="1" noChangeArrowheads="1" noChangeShapeType="1" noTextEdit="1"/>
                  </p:cNvSpPr>
                  <p:nvPr/>
                </p:nvSpPr>
                <p:spPr>
                  <a:xfrm>
                    <a:off x="4356695" y="5098547"/>
                    <a:ext cx="344127" cy="338554"/>
                  </a:xfrm>
                  <a:prstGeom prst="rect">
                    <a:avLst/>
                  </a:prstGeom>
                  <a:blipFill>
                    <a:blip r:embed="rId9"/>
                    <a:stretch>
                      <a:fillRect r="-12500"/>
                    </a:stretch>
                  </a:blipFill>
                  <a:ln w="1905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9FB8B6F3-7AE2-26B3-A61A-3A24E222C40C}"/>
                      </a:ext>
                    </a:extLst>
                  </p:cNvPr>
                  <p:cNvSpPr txBox="1"/>
                  <p:nvPr/>
                </p:nvSpPr>
                <p:spPr>
                  <a:xfrm>
                    <a:off x="1802632" y="4693089"/>
                    <a:ext cx="344127" cy="361125"/>
                  </a:xfrm>
                  <a:prstGeom prst="rect">
                    <a:avLst/>
                  </a:prstGeom>
                  <a:no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1" i="1" noProof="0" smtClean="0">
                                  <a:solidFill>
                                    <a:schemeClr val="tx2"/>
                                  </a:solidFill>
                                  <a:latin typeface="Cambria Math" panose="02040503050406030204" pitchFamily="18" charset="0"/>
                                  <a:cs typeface="+mn-cs"/>
                                </a:rPr>
                              </m:ctrlPr>
                            </m:sSubPr>
                            <m:e>
                              <m:r>
                                <a:rPr lang="en-AU" sz="1600" b="1" i="1" noProof="0" smtClean="0">
                                  <a:solidFill>
                                    <a:schemeClr val="tx2"/>
                                  </a:solidFill>
                                  <a:latin typeface="Cambria Math" panose="02040503050406030204" pitchFamily="18" charset="0"/>
                                  <a:cs typeface="+mn-cs"/>
                                </a:rPr>
                                <m:t>𝑭</m:t>
                              </m:r>
                            </m:e>
                            <m:sub>
                              <m:r>
                                <a:rPr lang="en-AU" sz="1600" b="1" i="1" noProof="0" smtClean="0">
                                  <a:solidFill>
                                    <a:schemeClr val="tx2"/>
                                  </a:solidFill>
                                  <a:latin typeface="Cambria Math" panose="02040503050406030204" pitchFamily="18" charset="0"/>
                                  <a:cs typeface="+mn-cs"/>
                                </a:rPr>
                                <m:t>𝒚</m:t>
                              </m:r>
                            </m:sub>
                          </m:sSub>
                        </m:oMath>
                      </m:oMathPara>
                    </a14:m>
                    <a:endParaRPr lang="en-AU" sz="1600" noProof="0" dirty="0"/>
                  </a:p>
                </p:txBody>
              </p:sp>
            </mc:Choice>
            <mc:Fallback xmlns="">
              <p:sp>
                <p:nvSpPr>
                  <p:cNvPr id="15" name="Textfeld 14">
                    <a:extLst>
                      <a:ext uri="{FF2B5EF4-FFF2-40B4-BE49-F238E27FC236}">
                        <a16:creationId xmlns:a16="http://schemas.microsoft.com/office/drawing/2014/main" id="{9FB8B6F3-7AE2-26B3-A61A-3A24E222C40C}"/>
                      </a:ext>
                    </a:extLst>
                  </p:cNvPr>
                  <p:cNvSpPr txBox="1">
                    <a:spLocks noRot="1" noChangeAspect="1" noMove="1" noResize="1" noEditPoints="1" noAdjustHandles="1" noChangeArrowheads="1" noChangeShapeType="1" noTextEdit="1"/>
                  </p:cNvSpPr>
                  <p:nvPr/>
                </p:nvSpPr>
                <p:spPr>
                  <a:xfrm>
                    <a:off x="1802632" y="4693089"/>
                    <a:ext cx="344127" cy="361125"/>
                  </a:xfrm>
                  <a:prstGeom prst="rect">
                    <a:avLst/>
                  </a:prstGeom>
                  <a:blipFill>
                    <a:blip r:embed="rId10"/>
                    <a:stretch>
                      <a:fillRect r="-5357" b="-1695"/>
                    </a:stretch>
                  </a:blipFill>
                  <a:ln w="19050">
                    <a:noFill/>
                  </a:ln>
                </p:spPr>
                <p:txBody>
                  <a:bodyPr/>
                  <a:lstStyle/>
                  <a:p>
                    <a:r>
                      <a:rPr lang="de-DE">
                        <a:noFill/>
                      </a:rPr>
                      <a:t> </a:t>
                    </a:r>
                  </a:p>
                </p:txBody>
              </p:sp>
            </mc:Fallback>
          </mc:AlternateContent>
          <p:sp>
            <p:nvSpPr>
              <p:cNvPr id="16" name="Ellipse 15">
                <a:extLst>
                  <a:ext uri="{FF2B5EF4-FFF2-40B4-BE49-F238E27FC236}">
                    <a16:creationId xmlns:a16="http://schemas.microsoft.com/office/drawing/2014/main" id="{23FCF3EF-5449-A4B4-DCCD-96CE5130FD25}"/>
                  </a:ext>
                </a:extLst>
              </p:cNvPr>
              <p:cNvSpPr/>
              <p:nvPr/>
            </p:nvSpPr>
            <p:spPr>
              <a:xfrm>
                <a:off x="2639599" y="4850897"/>
                <a:ext cx="144016" cy="144016"/>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C88F3240-9442-360F-19BA-EDC5054309BB}"/>
                      </a:ext>
                    </a:extLst>
                  </p:cNvPr>
                  <p:cNvSpPr txBox="1"/>
                  <p:nvPr/>
                </p:nvSpPr>
                <p:spPr>
                  <a:xfrm>
                    <a:off x="2645219" y="4578335"/>
                    <a:ext cx="344127" cy="338554"/>
                  </a:xfrm>
                  <a:prstGeom prst="rect">
                    <a:avLst/>
                  </a:prstGeom>
                  <a:no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1" i="1" noProof="0" smtClean="0">
                                  <a:solidFill>
                                    <a:schemeClr val="tx2"/>
                                  </a:solidFill>
                                  <a:latin typeface="Cambria Math" panose="02040503050406030204" pitchFamily="18" charset="0"/>
                                  <a:cs typeface="+mn-cs"/>
                                </a:rPr>
                              </m:ctrlPr>
                            </m:sSubPr>
                            <m:e>
                              <m:r>
                                <a:rPr lang="en-AU" sz="1600" b="1" i="1" noProof="0" smtClean="0">
                                  <a:solidFill>
                                    <a:schemeClr val="tx2"/>
                                  </a:solidFill>
                                  <a:latin typeface="Cambria Math" panose="02040503050406030204" pitchFamily="18" charset="0"/>
                                  <a:cs typeface="+mn-cs"/>
                                </a:rPr>
                                <m:t>𝑭</m:t>
                              </m:r>
                            </m:e>
                            <m:sub>
                              <m:r>
                                <a:rPr lang="en-AU" sz="1600" b="1" i="1" noProof="0" smtClean="0">
                                  <a:solidFill>
                                    <a:schemeClr val="tx2"/>
                                  </a:solidFill>
                                  <a:latin typeface="Cambria Math" panose="02040503050406030204" pitchFamily="18" charset="0"/>
                                  <a:cs typeface="+mn-cs"/>
                                </a:rPr>
                                <m:t>𝒄</m:t>
                              </m:r>
                            </m:sub>
                          </m:sSub>
                        </m:oMath>
                      </m:oMathPara>
                    </a14:m>
                    <a:endParaRPr lang="en-AU" sz="1600" noProof="0" dirty="0"/>
                  </a:p>
                </p:txBody>
              </p:sp>
            </mc:Choice>
            <mc:Fallback xmlns="">
              <p:sp>
                <p:nvSpPr>
                  <p:cNvPr id="18" name="Textfeld 17">
                    <a:extLst>
                      <a:ext uri="{FF2B5EF4-FFF2-40B4-BE49-F238E27FC236}">
                        <a16:creationId xmlns:a16="http://schemas.microsoft.com/office/drawing/2014/main" id="{C88F3240-9442-360F-19BA-EDC5054309BB}"/>
                      </a:ext>
                    </a:extLst>
                  </p:cNvPr>
                  <p:cNvSpPr txBox="1">
                    <a:spLocks noRot="1" noChangeAspect="1" noMove="1" noResize="1" noEditPoints="1" noAdjustHandles="1" noChangeArrowheads="1" noChangeShapeType="1" noTextEdit="1"/>
                  </p:cNvSpPr>
                  <p:nvPr/>
                </p:nvSpPr>
                <p:spPr>
                  <a:xfrm>
                    <a:off x="2645219" y="4578335"/>
                    <a:ext cx="344127" cy="338554"/>
                  </a:xfrm>
                  <a:prstGeom prst="rect">
                    <a:avLst/>
                  </a:prstGeom>
                  <a:blipFill>
                    <a:blip r:embed="rId11"/>
                    <a:stretch>
                      <a:fillRect/>
                    </a:stretch>
                  </a:blipFill>
                  <a:ln w="19050">
                    <a:noFill/>
                  </a:ln>
                </p:spPr>
                <p:txBody>
                  <a:bodyPr/>
                  <a:lstStyle/>
                  <a:p>
                    <a:r>
                      <a:rPr lang="de-DE">
                        <a:noFill/>
                      </a:rPr>
                      <a:t> </a:t>
                    </a:r>
                  </a:p>
                </p:txBody>
              </p:sp>
            </mc:Fallback>
          </mc:AlternateContent>
        </p:grpSp>
      </p:grpSp>
    </p:spTree>
    <p:extLst>
      <p:ext uri="{BB962C8B-B14F-4D97-AF65-F5344CB8AC3E}">
        <p14:creationId xmlns:p14="http://schemas.microsoft.com/office/powerpoint/2010/main" val="277443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E244-6136-07BA-3E5B-CFB9051DD08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E3E8BC47-3E9B-6EEC-B102-B38FE275D77E}"/>
              </a:ext>
            </a:extLst>
          </p:cNvPr>
          <p:cNvSpPr>
            <a:spLocks noGrp="1"/>
          </p:cNvSpPr>
          <p:nvPr>
            <p:ph type="title"/>
          </p:nvPr>
        </p:nvSpPr>
        <p:spPr/>
        <p:txBody>
          <a:bodyPr/>
          <a:lstStyle/>
          <a:p>
            <a:r>
              <a:rPr lang="en-AU" noProof="0" dirty="0"/>
              <a:t>Summary of the Review</a:t>
            </a:r>
          </a:p>
        </p:txBody>
      </p:sp>
      <p:grpSp>
        <p:nvGrpSpPr>
          <p:cNvPr id="2" name="Gruppieren 1">
            <a:extLst>
              <a:ext uri="{FF2B5EF4-FFF2-40B4-BE49-F238E27FC236}">
                <a16:creationId xmlns:a16="http://schemas.microsoft.com/office/drawing/2014/main" id="{F083D5AC-D6E4-6943-5927-8D546FA2BE1F}"/>
              </a:ext>
            </a:extLst>
          </p:cNvPr>
          <p:cNvGrpSpPr/>
          <p:nvPr/>
        </p:nvGrpSpPr>
        <p:grpSpPr>
          <a:xfrm>
            <a:off x="396254" y="1349801"/>
            <a:ext cx="5652901" cy="1077218"/>
            <a:chOff x="596332" y="1349801"/>
            <a:chExt cx="5142516" cy="1077218"/>
          </a:xfrm>
        </p:grpSpPr>
        <p:grpSp>
          <p:nvGrpSpPr>
            <p:cNvPr id="6" name="Gruppieren 5">
              <a:extLst>
                <a:ext uri="{FF2B5EF4-FFF2-40B4-BE49-F238E27FC236}">
                  <a16:creationId xmlns:a16="http://schemas.microsoft.com/office/drawing/2014/main" id="{4D73F3FA-8B2C-D0A4-21B2-EDD4065D46D7}"/>
                </a:ext>
              </a:extLst>
            </p:cNvPr>
            <p:cNvGrpSpPr/>
            <p:nvPr/>
          </p:nvGrpSpPr>
          <p:grpSpPr>
            <a:xfrm>
              <a:off x="596332" y="1461008"/>
              <a:ext cx="698641" cy="543438"/>
              <a:chOff x="6055859" y="4500389"/>
              <a:chExt cx="1440160" cy="1368152"/>
            </a:xfrm>
          </p:grpSpPr>
          <p:cxnSp>
            <p:nvCxnSpPr>
              <p:cNvPr id="7" name="Gerader Verbinder 6">
                <a:extLst>
                  <a:ext uri="{FF2B5EF4-FFF2-40B4-BE49-F238E27FC236}">
                    <a16:creationId xmlns:a16="http://schemas.microsoft.com/office/drawing/2014/main" id="{F6257F46-2993-DC71-9DB7-216DD72867CC}"/>
                  </a:ext>
                </a:extLst>
              </p:cNvPr>
              <p:cNvCxnSpPr>
                <a:cxnSpLocks/>
              </p:cNvCxnSpPr>
              <p:nvPr/>
            </p:nvCxnSpPr>
            <p:spPr>
              <a:xfrm>
                <a:off x="6055859" y="5868541"/>
                <a:ext cx="1440160" cy="0"/>
              </a:xfrm>
              <a:prstGeom prst="line">
                <a:avLst/>
              </a:prstGeom>
              <a:noFill/>
              <a:ln w="19050" cap="flat" cmpd="sng" algn="ctr">
                <a:solidFill>
                  <a:schemeClr val="tx1"/>
                </a:solidFill>
                <a:prstDash val="solid"/>
              </a:ln>
              <a:effectLst/>
            </p:spPr>
          </p:cxnSp>
          <p:cxnSp>
            <p:nvCxnSpPr>
              <p:cNvPr id="8" name="Gerader Verbinder 7">
                <a:extLst>
                  <a:ext uri="{FF2B5EF4-FFF2-40B4-BE49-F238E27FC236}">
                    <a16:creationId xmlns:a16="http://schemas.microsoft.com/office/drawing/2014/main" id="{7A78A284-2BA9-2232-93E2-16A12CC1CDAA}"/>
                  </a:ext>
                </a:extLst>
              </p:cNvPr>
              <p:cNvCxnSpPr/>
              <p:nvPr/>
            </p:nvCxnSpPr>
            <p:spPr>
              <a:xfrm flipV="1">
                <a:off x="6242293" y="4500389"/>
                <a:ext cx="0" cy="1368152"/>
              </a:xfrm>
              <a:prstGeom prst="line">
                <a:avLst/>
              </a:prstGeom>
              <a:noFill/>
              <a:ln w="19050" cap="flat" cmpd="sng" algn="ctr">
                <a:solidFill>
                  <a:schemeClr val="tx1"/>
                </a:solidFill>
                <a:prstDash val="solid"/>
              </a:ln>
              <a:effectLst/>
            </p:spPr>
          </p:cxnSp>
          <p:cxnSp>
            <p:nvCxnSpPr>
              <p:cNvPr id="9" name="Gerader Verbinder 8">
                <a:extLst>
                  <a:ext uri="{FF2B5EF4-FFF2-40B4-BE49-F238E27FC236}">
                    <a16:creationId xmlns:a16="http://schemas.microsoft.com/office/drawing/2014/main" id="{5B14B7F4-C906-D816-E617-5C6A7BAC2894}"/>
                  </a:ext>
                </a:extLst>
              </p:cNvPr>
              <p:cNvCxnSpPr/>
              <p:nvPr/>
            </p:nvCxnSpPr>
            <p:spPr>
              <a:xfrm flipV="1">
                <a:off x="7309023" y="4500389"/>
                <a:ext cx="0" cy="1368152"/>
              </a:xfrm>
              <a:prstGeom prst="line">
                <a:avLst/>
              </a:prstGeom>
              <a:noFill/>
              <a:ln w="19050" cap="flat" cmpd="sng" algn="ctr">
                <a:solidFill>
                  <a:schemeClr val="tx1"/>
                </a:solidFill>
                <a:prstDash val="solid"/>
              </a:ln>
              <a:effectLst/>
            </p:spPr>
          </p:cxnSp>
          <p:cxnSp>
            <p:nvCxnSpPr>
              <p:cNvPr id="10" name="Gerader Verbinder 9">
                <a:extLst>
                  <a:ext uri="{FF2B5EF4-FFF2-40B4-BE49-F238E27FC236}">
                    <a16:creationId xmlns:a16="http://schemas.microsoft.com/office/drawing/2014/main" id="{5002743E-107E-6F6F-D344-AA4896288A70}"/>
                  </a:ext>
                </a:extLst>
              </p:cNvPr>
              <p:cNvCxnSpPr>
                <a:cxnSpLocks/>
              </p:cNvCxnSpPr>
              <p:nvPr/>
            </p:nvCxnSpPr>
            <p:spPr>
              <a:xfrm>
                <a:off x="6242293" y="4500389"/>
                <a:ext cx="1066730" cy="0"/>
              </a:xfrm>
              <a:prstGeom prst="line">
                <a:avLst/>
              </a:prstGeom>
              <a:noFill/>
              <a:ln w="19050" cap="flat" cmpd="sng" algn="ctr">
                <a:solidFill>
                  <a:schemeClr val="tx1"/>
                </a:solidFill>
                <a:prstDash val="solid"/>
              </a:ln>
              <a:effectLst/>
            </p:spPr>
          </p:cxnSp>
          <p:cxnSp>
            <p:nvCxnSpPr>
              <p:cNvPr id="11" name="Gerader Verbinder 10">
                <a:extLst>
                  <a:ext uri="{FF2B5EF4-FFF2-40B4-BE49-F238E27FC236}">
                    <a16:creationId xmlns:a16="http://schemas.microsoft.com/office/drawing/2014/main" id="{B5AA39B3-4C5C-D502-1281-A2DFC78A9A5E}"/>
                  </a:ext>
                </a:extLst>
              </p:cNvPr>
              <p:cNvCxnSpPr>
                <a:cxnSpLocks/>
              </p:cNvCxnSpPr>
              <p:nvPr/>
            </p:nvCxnSpPr>
            <p:spPr>
              <a:xfrm>
                <a:off x="6242293" y="4932437"/>
                <a:ext cx="1066730" cy="0"/>
              </a:xfrm>
              <a:prstGeom prst="line">
                <a:avLst/>
              </a:prstGeom>
              <a:noFill/>
              <a:ln w="19050" cap="flat" cmpd="sng" algn="ctr">
                <a:solidFill>
                  <a:schemeClr val="tx1"/>
                </a:solidFill>
                <a:prstDash val="solid"/>
              </a:ln>
              <a:effectLst/>
            </p:spPr>
          </p:cxnSp>
          <p:cxnSp>
            <p:nvCxnSpPr>
              <p:cNvPr id="12" name="Gerader Verbinder 11">
                <a:extLst>
                  <a:ext uri="{FF2B5EF4-FFF2-40B4-BE49-F238E27FC236}">
                    <a16:creationId xmlns:a16="http://schemas.microsoft.com/office/drawing/2014/main" id="{EB7B2F13-6F09-BCF6-B40C-2ABD90FEB800}"/>
                  </a:ext>
                </a:extLst>
              </p:cNvPr>
              <p:cNvCxnSpPr>
                <a:cxnSpLocks/>
              </p:cNvCxnSpPr>
              <p:nvPr/>
            </p:nvCxnSpPr>
            <p:spPr>
              <a:xfrm>
                <a:off x="6242293" y="5364485"/>
                <a:ext cx="1066730" cy="0"/>
              </a:xfrm>
              <a:prstGeom prst="line">
                <a:avLst/>
              </a:prstGeom>
              <a:noFill/>
              <a:ln w="19050" cap="flat" cmpd="sng" algn="ctr">
                <a:solidFill>
                  <a:schemeClr val="tx1"/>
                </a:solidFill>
                <a:prstDash val="solid"/>
              </a:ln>
              <a:effectLst/>
            </p:spPr>
          </p:cxnSp>
          <p:cxnSp>
            <p:nvCxnSpPr>
              <p:cNvPr id="13" name="Gerader Verbinder 12">
                <a:extLst>
                  <a:ext uri="{FF2B5EF4-FFF2-40B4-BE49-F238E27FC236}">
                    <a16:creationId xmlns:a16="http://schemas.microsoft.com/office/drawing/2014/main" id="{2B5F9F1D-4446-762F-AB13-41CC7560F4AC}"/>
                  </a:ext>
                </a:extLst>
              </p:cNvPr>
              <p:cNvCxnSpPr/>
              <p:nvPr/>
            </p:nvCxnSpPr>
            <p:spPr>
              <a:xfrm flipV="1">
                <a:off x="6775658" y="4500389"/>
                <a:ext cx="0" cy="1368152"/>
              </a:xfrm>
              <a:prstGeom prst="line">
                <a:avLst/>
              </a:prstGeom>
              <a:noFill/>
              <a:ln w="19050" cap="flat" cmpd="sng" algn="ctr">
                <a:solidFill>
                  <a:schemeClr val="tx1"/>
                </a:solidFill>
                <a:prstDash val="solid"/>
              </a:ln>
              <a:effectLst/>
            </p:spPr>
          </p:cxnSp>
          <p:cxnSp>
            <p:nvCxnSpPr>
              <p:cNvPr id="14" name="Gerader Verbinder 13">
                <a:extLst>
                  <a:ext uri="{FF2B5EF4-FFF2-40B4-BE49-F238E27FC236}">
                    <a16:creationId xmlns:a16="http://schemas.microsoft.com/office/drawing/2014/main" id="{2754F158-F9DC-C5BA-94BF-ECBAFC3F5B60}"/>
                  </a:ext>
                </a:extLst>
              </p:cNvPr>
              <p:cNvCxnSpPr/>
              <p:nvPr/>
            </p:nvCxnSpPr>
            <p:spPr>
              <a:xfrm flipV="1">
                <a:off x="6242293" y="4500389"/>
                <a:ext cx="533646" cy="432048"/>
              </a:xfrm>
              <a:prstGeom prst="line">
                <a:avLst/>
              </a:prstGeom>
              <a:noFill/>
              <a:ln w="19050" cap="flat" cmpd="sng" algn="ctr">
                <a:solidFill>
                  <a:schemeClr val="tx1"/>
                </a:solidFill>
                <a:prstDash val="solid"/>
              </a:ln>
              <a:effectLst/>
            </p:spPr>
          </p:cxnSp>
          <p:cxnSp>
            <p:nvCxnSpPr>
              <p:cNvPr id="15" name="Gerader Verbinder 14">
                <a:extLst>
                  <a:ext uri="{FF2B5EF4-FFF2-40B4-BE49-F238E27FC236}">
                    <a16:creationId xmlns:a16="http://schemas.microsoft.com/office/drawing/2014/main" id="{C4FAA523-6892-B0F8-5D42-7C9A2CF58412}"/>
                  </a:ext>
                </a:extLst>
              </p:cNvPr>
              <p:cNvCxnSpPr/>
              <p:nvPr/>
            </p:nvCxnSpPr>
            <p:spPr>
              <a:xfrm flipV="1">
                <a:off x="6242293" y="4932439"/>
                <a:ext cx="533646" cy="432048"/>
              </a:xfrm>
              <a:prstGeom prst="line">
                <a:avLst/>
              </a:prstGeom>
              <a:noFill/>
              <a:ln w="19050" cap="flat" cmpd="sng" algn="ctr">
                <a:solidFill>
                  <a:schemeClr val="tx1"/>
                </a:solidFill>
                <a:prstDash val="solid"/>
              </a:ln>
              <a:effectLst/>
            </p:spPr>
          </p:cxnSp>
          <p:cxnSp>
            <p:nvCxnSpPr>
              <p:cNvPr id="16" name="Gerader Verbinder 15">
                <a:extLst>
                  <a:ext uri="{FF2B5EF4-FFF2-40B4-BE49-F238E27FC236}">
                    <a16:creationId xmlns:a16="http://schemas.microsoft.com/office/drawing/2014/main" id="{4734DED3-1F3B-B81C-6893-6A3D2C7094C6}"/>
                  </a:ext>
                </a:extLst>
              </p:cNvPr>
              <p:cNvCxnSpPr>
                <a:cxnSpLocks/>
              </p:cNvCxnSpPr>
              <p:nvPr/>
            </p:nvCxnSpPr>
            <p:spPr>
              <a:xfrm flipV="1">
                <a:off x="6241732" y="5364487"/>
                <a:ext cx="533646" cy="476248"/>
              </a:xfrm>
              <a:prstGeom prst="line">
                <a:avLst/>
              </a:prstGeom>
              <a:noFill/>
              <a:ln w="19050" cap="flat" cmpd="sng" algn="ctr">
                <a:solidFill>
                  <a:schemeClr val="tx1"/>
                </a:solidFill>
                <a:prstDash val="solid"/>
              </a:ln>
              <a:effectLst/>
            </p:spPr>
          </p:cxnSp>
          <p:grpSp>
            <p:nvGrpSpPr>
              <p:cNvPr id="17" name="Gruppieren 16">
                <a:extLst>
                  <a:ext uri="{FF2B5EF4-FFF2-40B4-BE49-F238E27FC236}">
                    <a16:creationId xmlns:a16="http://schemas.microsoft.com/office/drawing/2014/main" id="{7A8AD033-1AE5-D3A1-30AC-C87D69E481F4}"/>
                  </a:ext>
                </a:extLst>
              </p:cNvPr>
              <p:cNvGrpSpPr/>
              <p:nvPr/>
            </p:nvGrpSpPr>
            <p:grpSpPr>
              <a:xfrm flipH="1">
                <a:off x="6785465" y="4509529"/>
                <a:ext cx="534207" cy="1340346"/>
                <a:chOff x="6394132" y="4652789"/>
                <a:chExt cx="534207" cy="1340346"/>
              </a:xfrm>
            </p:grpSpPr>
            <p:cxnSp>
              <p:nvCxnSpPr>
                <p:cNvPr id="21" name="Gerader Verbinder 20">
                  <a:extLst>
                    <a:ext uri="{FF2B5EF4-FFF2-40B4-BE49-F238E27FC236}">
                      <a16:creationId xmlns:a16="http://schemas.microsoft.com/office/drawing/2014/main" id="{E7CF8538-B564-6E3F-1647-1A4C21E0F8E1}"/>
                    </a:ext>
                  </a:extLst>
                </p:cNvPr>
                <p:cNvCxnSpPr/>
                <p:nvPr/>
              </p:nvCxnSpPr>
              <p:spPr>
                <a:xfrm flipV="1">
                  <a:off x="6394693" y="4652789"/>
                  <a:ext cx="533646" cy="432048"/>
                </a:xfrm>
                <a:prstGeom prst="line">
                  <a:avLst/>
                </a:prstGeom>
                <a:noFill/>
                <a:ln w="19050" cap="flat" cmpd="sng" algn="ctr">
                  <a:solidFill>
                    <a:schemeClr val="tx1"/>
                  </a:solidFill>
                  <a:prstDash val="solid"/>
                </a:ln>
                <a:effectLst/>
              </p:spPr>
            </p:cxnSp>
            <p:cxnSp>
              <p:nvCxnSpPr>
                <p:cNvPr id="22" name="Gerader Verbinder 21">
                  <a:extLst>
                    <a:ext uri="{FF2B5EF4-FFF2-40B4-BE49-F238E27FC236}">
                      <a16:creationId xmlns:a16="http://schemas.microsoft.com/office/drawing/2014/main" id="{D0F366A7-BBBE-38A0-F421-4D8BF07C5E27}"/>
                    </a:ext>
                  </a:extLst>
                </p:cNvPr>
                <p:cNvCxnSpPr/>
                <p:nvPr/>
              </p:nvCxnSpPr>
              <p:spPr>
                <a:xfrm flipV="1">
                  <a:off x="6394693" y="5084839"/>
                  <a:ext cx="533646" cy="432048"/>
                </a:xfrm>
                <a:prstGeom prst="line">
                  <a:avLst/>
                </a:prstGeom>
                <a:noFill/>
                <a:ln w="19050" cap="flat" cmpd="sng" algn="ctr">
                  <a:solidFill>
                    <a:schemeClr val="tx1"/>
                  </a:solidFill>
                  <a:prstDash val="solid"/>
                </a:ln>
                <a:effectLst/>
              </p:spPr>
            </p:cxnSp>
            <p:cxnSp>
              <p:nvCxnSpPr>
                <p:cNvPr id="23" name="Gerader Verbinder 22">
                  <a:extLst>
                    <a:ext uri="{FF2B5EF4-FFF2-40B4-BE49-F238E27FC236}">
                      <a16:creationId xmlns:a16="http://schemas.microsoft.com/office/drawing/2014/main" id="{EFCC16DF-6775-571E-F418-34CB00F3D10D}"/>
                    </a:ext>
                  </a:extLst>
                </p:cNvPr>
                <p:cNvCxnSpPr>
                  <a:cxnSpLocks/>
                </p:cNvCxnSpPr>
                <p:nvPr/>
              </p:nvCxnSpPr>
              <p:spPr>
                <a:xfrm flipV="1">
                  <a:off x="6394132" y="5516887"/>
                  <a:ext cx="533646" cy="476248"/>
                </a:xfrm>
                <a:prstGeom prst="line">
                  <a:avLst/>
                </a:prstGeom>
                <a:noFill/>
                <a:ln w="19050" cap="flat" cmpd="sng" algn="ctr">
                  <a:solidFill>
                    <a:schemeClr val="tx1"/>
                  </a:solidFill>
                  <a:prstDash val="solid"/>
                </a:ln>
                <a:effectLst/>
              </p:spPr>
            </p:cxnSp>
          </p:grpSp>
        </p:grpSp>
        <p:sp>
          <p:nvSpPr>
            <p:cNvPr id="34" name="Textfeld 33">
              <a:extLst>
                <a:ext uri="{FF2B5EF4-FFF2-40B4-BE49-F238E27FC236}">
                  <a16:creationId xmlns:a16="http://schemas.microsoft.com/office/drawing/2014/main" id="{3C2C9F7D-DC5C-A209-6B8D-DB3A708BEFEA}"/>
                </a:ext>
              </a:extLst>
            </p:cNvPr>
            <p:cNvSpPr txBox="1"/>
            <p:nvPr/>
          </p:nvSpPr>
          <p:spPr>
            <a:xfrm>
              <a:off x="1388962" y="1349801"/>
              <a:ext cx="4349886" cy="1077218"/>
            </a:xfrm>
            <a:prstGeom prst="rect">
              <a:avLst/>
            </a:prstGeom>
            <a:noFill/>
          </p:spPr>
          <p:txBody>
            <a:bodyPr wrap="square" rtlCol="0">
              <a:spAutoFit/>
            </a:bodyPr>
            <a:lstStyle/>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All structural typologies can be accommodated</a:t>
              </a:r>
            </a:p>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RC structures have been used for the verification of the methods</a:t>
              </a:r>
            </a:p>
          </p:txBody>
        </p:sp>
      </p:grpSp>
      <p:grpSp>
        <p:nvGrpSpPr>
          <p:cNvPr id="58" name="Gruppieren 57">
            <a:extLst>
              <a:ext uri="{FF2B5EF4-FFF2-40B4-BE49-F238E27FC236}">
                <a16:creationId xmlns:a16="http://schemas.microsoft.com/office/drawing/2014/main" id="{A76673BD-DB46-F629-36B2-1DF8CB06524A}"/>
              </a:ext>
            </a:extLst>
          </p:cNvPr>
          <p:cNvGrpSpPr/>
          <p:nvPr/>
        </p:nvGrpSpPr>
        <p:grpSpPr>
          <a:xfrm>
            <a:off x="6249189" y="1459501"/>
            <a:ext cx="5740354" cy="847369"/>
            <a:chOff x="453483" y="3672639"/>
            <a:chExt cx="6013904" cy="847369"/>
          </a:xfrm>
        </p:grpSpPr>
        <p:pic>
          <p:nvPicPr>
            <p:cNvPr id="31" name="Grafik 30">
              <a:extLst>
                <a:ext uri="{FF2B5EF4-FFF2-40B4-BE49-F238E27FC236}">
                  <a16:creationId xmlns:a16="http://schemas.microsoft.com/office/drawing/2014/main" id="{49D59EEC-08D8-B3F5-F564-4AF70FF86E52}"/>
                </a:ext>
              </a:extLst>
            </p:cNvPr>
            <p:cNvPicPr>
              <a:picLocks noChangeAspect="1"/>
            </p:cNvPicPr>
            <p:nvPr/>
          </p:nvPicPr>
          <p:blipFill>
            <a:blip r:embed="rId2">
              <a:clrChange>
                <a:clrFrom>
                  <a:srgbClr val="FAFAFA"/>
                </a:clrFrom>
                <a:clrTo>
                  <a:srgbClr val="FAFAFA">
                    <a:alpha val="0"/>
                  </a:srgbClr>
                </a:clrTo>
              </a:clrChange>
            </a:blip>
            <a:stretch>
              <a:fillRect/>
            </a:stretch>
          </p:blipFill>
          <p:spPr>
            <a:xfrm>
              <a:off x="453483" y="3672639"/>
              <a:ext cx="711047" cy="775041"/>
            </a:xfrm>
            <a:prstGeom prst="rect">
              <a:avLst/>
            </a:prstGeom>
          </p:spPr>
        </p:pic>
        <mc:AlternateContent xmlns:mc="http://schemas.openxmlformats.org/markup-compatibility/2006" xmlns:a14="http://schemas.microsoft.com/office/drawing/2010/main">
          <mc:Choice Requires="a14">
            <p:sp>
              <p:nvSpPr>
                <p:cNvPr id="36" name="Textfeld 35">
                  <a:extLst>
                    <a:ext uri="{FF2B5EF4-FFF2-40B4-BE49-F238E27FC236}">
                      <a16:creationId xmlns:a16="http://schemas.microsoft.com/office/drawing/2014/main" id="{74C4E8A1-0512-7EC9-F410-7A8D1CBF2A9B}"/>
                    </a:ext>
                  </a:extLst>
                </p:cNvPr>
                <p:cNvSpPr txBox="1"/>
                <p:nvPr/>
              </p:nvSpPr>
              <p:spPr>
                <a:xfrm>
                  <a:off x="1303762" y="3678239"/>
                  <a:ext cx="5163625" cy="841769"/>
                </a:xfrm>
                <a:prstGeom prst="rect">
                  <a:avLst/>
                </a:prstGeom>
                <a:noFill/>
              </p:spPr>
              <p:txBody>
                <a:bodyPr wrap="square" rtlCol="0">
                  <a:spAutoFit/>
                </a:bodyPr>
                <a:lstStyle/>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No consideration of soil properties or tectonics in fragility curves</a:t>
                  </a:r>
                </a:p>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Can be considered in the calculation of </a:t>
                  </a:r>
                  <a14:m>
                    <m:oMath xmlns:m="http://schemas.openxmlformats.org/officeDocument/2006/math">
                      <m:sSub>
                        <m:sSubPr>
                          <m:ctrlPr>
                            <a:rPr lang="en-AU" sz="1600" b="0" i="1" noProof="0" smtClean="0">
                              <a:solidFill>
                                <a:srgbClr val="333333"/>
                              </a:solidFill>
                              <a:latin typeface="Cambria Math" panose="02040503050406030204" pitchFamily="18" charset="0"/>
                              <a:cs typeface="+mn-cs"/>
                            </a:rPr>
                          </m:ctrlPr>
                        </m:sSubPr>
                        <m:e>
                          <m:r>
                            <a:rPr lang="en-AU" sz="1600" b="0" i="1" noProof="0" smtClean="0">
                              <a:solidFill>
                                <a:srgbClr val="333333"/>
                              </a:solidFill>
                              <a:latin typeface="Cambria Math" panose="02040503050406030204" pitchFamily="18" charset="0"/>
                              <a:cs typeface="+mn-cs"/>
                            </a:rPr>
                            <m:t>𝜃</m:t>
                          </m:r>
                        </m:e>
                        <m:sub>
                          <m:r>
                            <a:rPr lang="en-AU" sz="1600" b="0" i="1" noProof="0" smtClean="0">
                              <a:solidFill>
                                <a:srgbClr val="333333"/>
                              </a:solidFill>
                              <a:latin typeface="Cambria Math" panose="02040503050406030204" pitchFamily="18" charset="0"/>
                              <a:cs typeface="+mn-cs"/>
                            </a:rPr>
                            <m:t>𝑐</m:t>
                          </m:r>
                          <m:r>
                            <a:rPr lang="en-AU" sz="1600" b="0" i="1" noProof="0" smtClean="0">
                              <a:solidFill>
                                <a:srgbClr val="333333"/>
                              </a:solidFill>
                              <a:latin typeface="Cambria Math" panose="02040503050406030204" pitchFamily="18" charset="0"/>
                              <a:cs typeface="+mn-cs"/>
                            </a:rPr>
                            <m:t>,</m:t>
                          </m:r>
                          <m:r>
                            <a:rPr lang="en-AU" sz="1600" b="0" i="1" noProof="0" smtClean="0">
                              <a:solidFill>
                                <a:srgbClr val="333333"/>
                              </a:solidFill>
                              <a:latin typeface="Cambria Math" panose="02040503050406030204" pitchFamily="18" charset="0"/>
                              <a:cs typeface="+mn-cs"/>
                            </a:rPr>
                            <m:t>𝑡</m:t>
                          </m:r>
                        </m:sub>
                      </m:sSub>
                    </m:oMath>
                  </a14:m>
                  <a:endParaRPr lang="en-AU" sz="1600" noProof="0" dirty="0">
                    <a:solidFill>
                      <a:srgbClr val="333333"/>
                    </a:solidFill>
                    <a:latin typeface="Futura LT Pro Light" panose="020B0402020204020303" pitchFamily="34" charset="0"/>
                    <a:cs typeface="+mn-cs"/>
                  </a:endParaRPr>
                </a:p>
              </p:txBody>
            </p:sp>
          </mc:Choice>
          <mc:Fallback xmlns="">
            <p:sp>
              <p:nvSpPr>
                <p:cNvPr id="36" name="Textfeld 35">
                  <a:extLst>
                    <a:ext uri="{FF2B5EF4-FFF2-40B4-BE49-F238E27FC236}">
                      <a16:creationId xmlns:a16="http://schemas.microsoft.com/office/drawing/2014/main" id="{74C4E8A1-0512-7EC9-F410-7A8D1CBF2A9B}"/>
                    </a:ext>
                  </a:extLst>
                </p:cNvPr>
                <p:cNvSpPr txBox="1">
                  <a:spLocks noRot="1" noChangeAspect="1" noMove="1" noResize="1" noEditPoints="1" noAdjustHandles="1" noChangeArrowheads="1" noChangeShapeType="1" noTextEdit="1"/>
                </p:cNvSpPr>
                <p:nvPr/>
              </p:nvSpPr>
              <p:spPr>
                <a:xfrm>
                  <a:off x="1303762" y="3678239"/>
                  <a:ext cx="5163625" cy="841769"/>
                </a:xfrm>
                <a:prstGeom prst="rect">
                  <a:avLst/>
                </a:prstGeom>
                <a:blipFill>
                  <a:blip r:embed="rId3"/>
                  <a:stretch>
                    <a:fillRect l="-494" t="-2174" b="-6522"/>
                  </a:stretch>
                </a:blipFill>
              </p:spPr>
              <p:txBody>
                <a:bodyPr/>
                <a:lstStyle/>
                <a:p>
                  <a:r>
                    <a:rPr lang="de-DE">
                      <a:noFill/>
                    </a:rPr>
                    <a:t> </a:t>
                  </a:r>
                </a:p>
              </p:txBody>
            </p:sp>
          </mc:Fallback>
        </mc:AlternateContent>
      </p:grpSp>
      <p:grpSp>
        <p:nvGrpSpPr>
          <p:cNvPr id="57" name="Gruppieren 56">
            <a:extLst>
              <a:ext uri="{FF2B5EF4-FFF2-40B4-BE49-F238E27FC236}">
                <a16:creationId xmlns:a16="http://schemas.microsoft.com/office/drawing/2014/main" id="{9D4F1473-ACBF-97C8-793E-A250E122DEBA}"/>
              </a:ext>
            </a:extLst>
          </p:cNvPr>
          <p:cNvGrpSpPr/>
          <p:nvPr/>
        </p:nvGrpSpPr>
        <p:grpSpPr>
          <a:xfrm>
            <a:off x="6249189" y="2785179"/>
            <a:ext cx="4573746" cy="830997"/>
            <a:chOff x="367932" y="4689437"/>
            <a:chExt cx="5404385" cy="830997"/>
          </a:xfrm>
        </p:grpSpPr>
        <p:sp>
          <p:nvSpPr>
            <p:cNvPr id="37" name="Textfeld 36">
              <a:extLst>
                <a:ext uri="{FF2B5EF4-FFF2-40B4-BE49-F238E27FC236}">
                  <a16:creationId xmlns:a16="http://schemas.microsoft.com/office/drawing/2014/main" id="{28F9A52C-B5C7-D949-AA93-BBF7677BE89B}"/>
                </a:ext>
              </a:extLst>
            </p:cNvPr>
            <p:cNvSpPr txBox="1"/>
            <p:nvPr/>
          </p:nvSpPr>
          <p:spPr>
            <a:xfrm>
              <a:off x="1282333" y="4689437"/>
              <a:ext cx="4489984" cy="830997"/>
            </a:xfrm>
            <a:prstGeom prst="rect">
              <a:avLst/>
            </a:prstGeom>
            <a:noFill/>
          </p:spPr>
          <p:txBody>
            <a:bodyPr wrap="square" rtlCol="0">
              <a:spAutoFit/>
            </a:bodyPr>
            <a:lstStyle/>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Static record sets are used (not site specific)</a:t>
              </a:r>
            </a:p>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User must select own records</a:t>
              </a:r>
            </a:p>
          </p:txBody>
        </p:sp>
        <p:pic>
          <p:nvPicPr>
            <p:cNvPr id="41" name="Grafik 40" descr="Herztöne Silhouette">
              <a:extLst>
                <a:ext uri="{FF2B5EF4-FFF2-40B4-BE49-F238E27FC236}">
                  <a16:creationId xmlns:a16="http://schemas.microsoft.com/office/drawing/2014/main" id="{8933D0CB-4AB5-FD9A-499F-60EFC1E5F0F2}"/>
                </a:ext>
              </a:extLst>
            </p:cNvPr>
            <p:cNvPicPr>
              <a:picLocks noChangeAspect="1"/>
            </p:cNvPicPr>
            <p:nvPr/>
          </p:nvPicPr>
          <p:blipFill>
            <a:blip r:embed="rId4">
              <a:extLst>
                <a:ext uri="{96DAC541-7B7A-43D3-8B79-37D633B846F1}">
                  <asvg:svgBlip xmlns:asvg="http://schemas.microsoft.com/office/drawing/2016/SVG/main" r:embed="rId5"/>
                </a:ext>
              </a:extLst>
            </a:blip>
            <a:srcRect t="20070" b="12872"/>
            <a:stretch>
              <a:fillRect/>
            </a:stretch>
          </p:blipFill>
          <p:spPr>
            <a:xfrm>
              <a:off x="367932" y="4761117"/>
              <a:ext cx="914400" cy="756607"/>
            </a:xfrm>
            <a:prstGeom prst="rect">
              <a:avLst/>
            </a:prstGeom>
          </p:spPr>
        </p:pic>
      </p:grpSp>
      <p:grpSp>
        <p:nvGrpSpPr>
          <p:cNvPr id="56" name="Gruppieren 55">
            <a:extLst>
              <a:ext uri="{FF2B5EF4-FFF2-40B4-BE49-F238E27FC236}">
                <a16:creationId xmlns:a16="http://schemas.microsoft.com/office/drawing/2014/main" id="{A8FCC4D3-7981-6474-B91A-4DF182F4AAEE}"/>
              </a:ext>
            </a:extLst>
          </p:cNvPr>
          <p:cNvGrpSpPr/>
          <p:nvPr/>
        </p:nvGrpSpPr>
        <p:grpSpPr>
          <a:xfrm>
            <a:off x="6148474" y="4046991"/>
            <a:ext cx="5452822" cy="830997"/>
            <a:chOff x="442610" y="5589479"/>
            <a:chExt cx="5452822" cy="830997"/>
          </a:xfrm>
        </p:grpSpPr>
        <p:sp>
          <p:nvSpPr>
            <p:cNvPr id="38" name="Textfeld 37">
              <a:extLst>
                <a:ext uri="{FF2B5EF4-FFF2-40B4-BE49-F238E27FC236}">
                  <a16:creationId xmlns:a16="http://schemas.microsoft.com/office/drawing/2014/main" id="{F97B776B-94A9-4787-3890-F4FBEDAD4600}"/>
                </a:ext>
              </a:extLst>
            </p:cNvPr>
            <p:cNvSpPr txBox="1"/>
            <p:nvPr/>
          </p:nvSpPr>
          <p:spPr>
            <a:xfrm>
              <a:off x="1303763" y="5589479"/>
              <a:ext cx="4591669" cy="830997"/>
            </a:xfrm>
            <a:prstGeom prst="rect">
              <a:avLst/>
            </a:prstGeom>
            <a:noFill/>
          </p:spPr>
          <p:txBody>
            <a:bodyPr wrap="square" rtlCol="0">
              <a:spAutoFit/>
            </a:bodyPr>
            <a:lstStyle/>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Primarily PGA or SA(T1). </a:t>
              </a:r>
            </a:p>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More efficient predictors have not yet been considered e.g. AvgSA</a:t>
              </a:r>
            </a:p>
          </p:txBody>
        </p:sp>
        <p:pic>
          <p:nvPicPr>
            <p:cNvPr id="45" name="Grafik 44" descr="Muskulöser Arm Silhouette">
              <a:extLst>
                <a:ext uri="{FF2B5EF4-FFF2-40B4-BE49-F238E27FC236}">
                  <a16:creationId xmlns:a16="http://schemas.microsoft.com/office/drawing/2014/main" id="{DD31B8B0-0BED-ABEA-C19A-5AD892ADED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2610" y="5648556"/>
              <a:ext cx="698641" cy="698641"/>
            </a:xfrm>
            <a:prstGeom prst="rect">
              <a:avLst/>
            </a:prstGeom>
          </p:spPr>
        </p:pic>
      </p:grpSp>
      <p:grpSp>
        <p:nvGrpSpPr>
          <p:cNvPr id="59" name="Gruppieren 58">
            <a:extLst>
              <a:ext uri="{FF2B5EF4-FFF2-40B4-BE49-F238E27FC236}">
                <a16:creationId xmlns:a16="http://schemas.microsoft.com/office/drawing/2014/main" id="{CD5AC4C4-8DB6-CD0A-D100-A6A7757F1CB1}"/>
              </a:ext>
            </a:extLst>
          </p:cNvPr>
          <p:cNvGrpSpPr/>
          <p:nvPr/>
        </p:nvGrpSpPr>
        <p:grpSpPr>
          <a:xfrm>
            <a:off x="353002" y="2743478"/>
            <a:ext cx="5452823" cy="914400"/>
            <a:chOff x="379135" y="2475825"/>
            <a:chExt cx="5452823" cy="914400"/>
          </a:xfrm>
        </p:grpSpPr>
        <p:sp>
          <p:nvSpPr>
            <p:cNvPr id="35" name="Textfeld 34">
              <a:extLst>
                <a:ext uri="{FF2B5EF4-FFF2-40B4-BE49-F238E27FC236}">
                  <a16:creationId xmlns:a16="http://schemas.microsoft.com/office/drawing/2014/main" id="{DF90AFA2-879F-F06F-CE26-CD81818C69E1}"/>
                </a:ext>
              </a:extLst>
            </p:cNvPr>
            <p:cNvSpPr txBox="1"/>
            <p:nvPr/>
          </p:nvSpPr>
          <p:spPr>
            <a:xfrm>
              <a:off x="1293536" y="2544436"/>
              <a:ext cx="4538422" cy="830997"/>
            </a:xfrm>
            <a:prstGeom prst="rect">
              <a:avLst/>
            </a:prstGeom>
            <a:noFill/>
          </p:spPr>
          <p:txBody>
            <a:bodyPr wrap="square" rtlCol="0">
              <a:spAutoFit/>
            </a:bodyPr>
            <a:lstStyle/>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No explicit consideration of modelling or material uncertainties.</a:t>
              </a:r>
            </a:p>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Could be incorporated in all methods</a:t>
              </a:r>
            </a:p>
          </p:txBody>
        </p:sp>
        <p:pic>
          <p:nvPicPr>
            <p:cNvPr id="47" name="Grafik 46" descr="Normalverteilung Silhouette">
              <a:extLst>
                <a:ext uri="{FF2B5EF4-FFF2-40B4-BE49-F238E27FC236}">
                  <a16:creationId xmlns:a16="http://schemas.microsoft.com/office/drawing/2014/main" id="{BD5B3748-5A0C-6EEA-6F07-5B478A615BA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379135" y="2475825"/>
              <a:ext cx="914400" cy="914400"/>
            </a:xfrm>
            <a:prstGeom prst="rect">
              <a:avLst/>
            </a:prstGeom>
          </p:spPr>
        </p:pic>
      </p:grpSp>
      <p:grpSp>
        <p:nvGrpSpPr>
          <p:cNvPr id="4" name="Gruppieren 3">
            <a:extLst>
              <a:ext uri="{FF2B5EF4-FFF2-40B4-BE49-F238E27FC236}">
                <a16:creationId xmlns:a16="http://schemas.microsoft.com/office/drawing/2014/main" id="{9602046C-0783-C781-13A5-8CA9B967F4B1}"/>
              </a:ext>
            </a:extLst>
          </p:cNvPr>
          <p:cNvGrpSpPr/>
          <p:nvPr/>
        </p:nvGrpSpPr>
        <p:grpSpPr>
          <a:xfrm>
            <a:off x="503535" y="4140163"/>
            <a:ext cx="4285208" cy="831183"/>
            <a:chOff x="596332" y="4818053"/>
            <a:chExt cx="4285208" cy="831183"/>
          </a:xfrm>
        </p:grpSpPr>
        <p:sp>
          <p:nvSpPr>
            <p:cNvPr id="39" name="Textfeld 38">
              <a:extLst>
                <a:ext uri="{FF2B5EF4-FFF2-40B4-BE49-F238E27FC236}">
                  <a16:creationId xmlns:a16="http://schemas.microsoft.com/office/drawing/2014/main" id="{B3CA2934-5CF8-0CBC-1845-060097402219}"/>
                </a:ext>
              </a:extLst>
            </p:cNvPr>
            <p:cNvSpPr txBox="1"/>
            <p:nvPr/>
          </p:nvSpPr>
          <p:spPr>
            <a:xfrm>
              <a:off x="1351406" y="4818239"/>
              <a:ext cx="3530134" cy="830997"/>
            </a:xfrm>
            <a:prstGeom prst="rect">
              <a:avLst/>
            </a:prstGeom>
            <a:noFill/>
          </p:spPr>
          <p:txBody>
            <a:bodyPr wrap="none" rtlCol="0">
              <a:spAutoFit/>
            </a:bodyPr>
            <a:lstStyle/>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Generally, IDA is used</a:t>
              </a:r>
            </a:p>
            <a:p>
              <a:pPr marL="285750" indent="-285750">
                <a:buFont typeface="Arial" panose="020B0604020202020204" pitchFamily="34" charset="0"/>
                <a:buChar char="•"/>
              </a:pPr>
              <a:r>
                <a:rPr lang="en-AU" sz="1600" noProof="0" dirty="0">
                  <a:solidFill>
                    <a:srgbClr val="333333"/>
                  </a:solidFill>
                  <a:latin typeface="Futura LT Pro Light" panose="020B0402020204020303" pitchFamily="34" charset="0"/>
                  <a:cs typeface="+mn-cs"/>
                </a:rPr>
                <a:t>Nonlinear SDOF approximation</a:t>
              </a:r>
            </a:p>
            <a:p>
              <a:pPr marL="285750" indent="-285750">
                <a:buFont typeface="Arial" panose="020B0604020202020204" pitchFamily="34" charset="0"/>
                <a:buChar char="•"/>
              </a:pPr>
              <a:r>
                <a:rPr lang="en-AU" sz="1600" dirty="0">
                  <a:solidFill>
                    <a:srgbClr val="333333"/>
                  </a:solidFill>
                  <a:latin typeface="Futura LT Pro Light" panose="020B0402020204020303" pitchFamily="34" charset="0"/>
                  <a:cs typeface="+mn-cs"/>
                </a:rPr>
                <a:t>Generally, building specific</a:t>
              </a:r>
              <a:endParaRPr lang="en-AU" sz="1600" noProof="0" dirty="0">
                <a:solidFill>
                  <a:srgbClr val="333333"/>
                </a:solidFill>
                <a:latin typeface="Futura LT Pro Light" panose="020B0402020204020303" pitchFamily="34" charset="0"/>
                <a:cs typeface="+mn-cs"/>
              </a:endParaRPr>
            </a:p>
          </p:txBody>
        </p:sp>
        <p:grpSp>
          <p:nvGrpSpPr>
            <p:cNvPr id="48" name="Gruppieren 47">
              <a:extLst>
                <a:ext uri="{FF2B5EF4-FFF2-40B4-BE49-F238E27FC236}">
                  <a16:creationId xmlns:a16="http://schemas.microsoft.com/office/drawing/2014/main" id="{52C577EC-F483-87DC-5ACA-70BEC0365B0E}"/>
                </a:ext>
              </a:extLst>
            </p:cNvPr>
            <p:cNvGrpSpPr/>
            <p:nvPr/>
          </p:nvGrpSpPr>
          <p:grpSpPr>
            <a:xfrm>
              <a:off x="596332" y="4818053"/>
              <a:ext cx="431602" cy="637588"/>
              <a:chOff x="7849083" y="2807708"/>
              <a:chExt cx="950900" cy="1404724"/>
            </a:xfrm>
          </p:grpSpPr>
          <p:cxnSp>
            <p:nvCxnSpPr>
              <p:cNvPr id="49" name="Gerader Verbinder 48">
                <a:extLst>
                  <a:ext uri="{FF2B5EF4-FFF2-40B4-BE49-F238E27FC236}">
                    <a16:creationId xmlns:a16="http://schemas.microsoft.com/office/drawing/2014/main" id="{62D9E27A-B1E6-6018-A78F-34C1DFBFFD77}"/>
                  </a:ext>
                </a:extLst>
              </p:cNvPr>
              <p:cNvCxnSpPr/>
              <p:nvPr/>
            </p:nvCxnSpPr>
            <p:spPr>
              <a:xfrm flipV="1">
                <a:off x="8317135" y="3060304"/>
                <a:ext cx="0" cy="1152128"/>
              </a:xfrm>
              <a:prstGeom prst="line">
                <a:avLst/>
              </a:prstGeom>
              <a:noFill/>
              <a:ln w="28575" cap="flat" cmpd="sng" algn="ctr">
                <a:solidFill>
                  <a:srgbClr val="FFFFFF">
                    <a:lumMod val="65000"/>
                  </a:srgbClr>
                </a:solidFill>
                <a:prstDash val="dash"/>
              </a:ln>
              <a:effectLst/>
            </p:spPr>
          </p:cxnSp>
          <p:sp>
            <p:nvSpPr>
              <p:cNvPr id="50" name="Freihandform: Form 49">
                <a:extLst>
                  <a:ext uri="{FF2B5EF4-FFF2-40B4-BE49-F238E27FC236}">
                    <a16:creationId xmlns:a16="http://schemas.microsoft.com/office/drawing/2014/main" id="{D5596E49-AD80-6D95-673A-8CB40BDB2374}"/>
                  </a:ext>
                </a:extLst>
              </p:cNvPr>
              <p:cNvSpPr/>
              <p:nvPr/>
            </p:nvSpPr>
            <p:spPr>
              <a:xfrm>
                <a:off x="7948763" y="3102034"/>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cxnSp>
            <p:nvCxnSpPr>
              <p:cNvPr id="51" name="Gerader Verbinder 50">
                <a:extLst>
                  <a:ext uri="{FF2B5EF4-FFF2-40B4-BE49-F238E27FC236}">
                    <a16:creationId xmlns:a16="http://schemas.microsoft.com/office/drawing/2014/main" id="{9ABCB9C3-6F82-16DF-BFF3-88C64D0EE621}"/>
                  </a:ext>
                </a:extLst>
              </p:cNvPr>
              <p:cNvCxnSpPr>
                <a:cxnSpLocks/>
              </p:cNvCxnSpPr>
              <p:nvPr/>
            </p:nvCxnSpPr>
            <p:spPr>
              <a:xfrm>
                <a:off x="7957095" y="4212432"/>
                <a:ext cx="720080" cy="0"/>
              </a:xfrm>
              <a:prstGeom prst="line">
                <a:avLst/>
              </a:prstGeom>
              <a:noFill/>
              <a:ln w="57150" cap="flat" cmpd="sng" algn="ctr">
                <a:solidFill>
                  <a:schemeClr val="tx1"/>
                </a:solidFill>
                <a:prstDash val="solid"/>
              </a:ln>
              <a:effectLst/>
            </p:spPr>
          </p:cxnSp>
          <p:sp>
            <p:nvSpPr>
              <p:cNvPr id="52" name="Freihandform: Form 51">
                <a:extLst>
                  <a:ext uri="{FF2B5EF4-FFF2-40B4-BE49-F238E27FC236}">
                    <a16:creationId xmlns:a16="http://schemas.microsoft.com/office/drawing/2014/main" id="{EF3344A5-A343-2E18-F5F8-159301D6E289}"/>
                  </a:ext>
                </a:extLst>
              </p:cNvPr>
              <p:cNvSpPr/>
              <p:nvPr/>
            </p:nvSpPr>
            <p:spPr>
              <a:xfrm flipH="1">
                <a:off x="8323485" y="3102033"/>
                <a:ext cx="374722" cy="1098550"/>
              </a:xfrm>
              <a:custGeom>
                <a:avLst/>
                <a:gdLst>
                  <a:gd name="connsiteX0" fmla="*/ 374650 w 374650"/>
                  <a:gd name="connsiteY0" fmla="*/ 1098550 h 1098550"/>
                  <a:gd name="connsiteX1" fmla="*/ 0 w 374650"/>
                  <a:gd name="connsiteY1" fmla="*/ 0 h 1098550"/>
                  <a:gd name="connsiteX0" fmla="*/ 374650 w 374650"/>
                  <a:gd name="connsiteY0" fmla="*/ 1098550 h 1098550"/>
                  <a:gd name="connsiteX1" fmla="*/ 0 w 374650"/>
                  <a:gd name="connsiteY1" fmla="*/ 0 h 1098550"/>
                  <a:gd name="connsiteX0" fmla="*/ 374650 w 374676"/>
                  <a:gd name="connsiteY0" fmla="*/ 1098550 h 1098550"/>
                  <a:gd name="connsiteX1" fmla="*/ 0 w 374676"/>
                  <a:gd name="connsiteY1" fmla="*/ 0 h 1098550"/>
                  <a:gd name="connsiteX0" fmla="*/ 374650 w 374722"/>
                  <a:gd name="connsiteY0" fmla="*/ 1098550 h 1098550"/>
                  <a:gd name="connsiteX1" fmla="*/ 0 w 374722"/>
                  <a:gd name="connsiteY1" fmla="*/ 0 h 1098550"/>
                </a:gdLst>
                <a:ahLst/>
                <a:cxnLst>
                  <a:cxn ang="0">
                    <a:pos x="connsiteX0" y="connsiteY0"/>
                  </a:cxn>
                  <a:cxn ang="0">
                    <a:pos x="connsiteX1" y="connsiteY1"/>
                  </a:cxn>
                </a:cxnLst>
                <a:rect l="l" t="t" r="r" b="b"/>
                <a:pathLst>
                  <a:path w="374722" h="1098550">
                    <a:moveTo>
                      <a:pt x="374650" y="1098550"/>
                    </a:moveTo>
                    <a:cubicBezTo>
                      <a:pt x="376767" y="1030817"/>
                      <a:pt x="334433" y="378883"/>
                      <a:pt x="0" y="0"/>
                    </a:cubicBezTo>
                  </a:path>
                </a:pathLst>
              </a:custGeom>
              <a:noFill/>
              <a:ln w="2857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53" name="Ellipse 52">
                <a:extLst>
                  <a:ext uri="{FF2B5EF4-FFF2-40B4-BE49-F238E27FC236}">
                    <a16:creationId xmlns:a16="http://schemas.microsoft.com/office/drawing/2014/main" id="{D829930C-A06B-77F9-BAA6-86731159523B}"/>
                  </a:ext>
                </a:extLst>
              </p:cNvPr>
              <p:cNvSpPr/>
              <p:nvPr/>
            </p:nvSpPr>
            <p:spPr>
              <a:xfrm>
                <a:off x="7849083" y="2994022"/>
                <a:ext cx="216024" cy="216024"/>
              </a:xfrm>
              <a:prstGeom prst="ellipse">
                <a:avLst/>
              </a:prstGeom>
              <a:solidFill>
                <a:srgbClr val="00263E"/>
              </a:solidFill>
              <a:ln w="1079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54" name="Ellipse 53">
                <a:extLst>
                  <a:ext uri="{FF2B5EF4-FFF2-40B4-BE49-F238E27FC236}">
                    <a16:creationId xmlns:a16="http://schemas.microsoft.com/office/drawing/2014/main" id="{5FB32F96-4267-2B15-B510-E407811792C3}"/>
                  </a:ext>
                </a:extLst>
              </p:cNvPr>
              <p:cNvSpPr/>
              <p:nvPr/>
            </p:nvSpPr>
            <p:spPr>
              <a:xfrm>
                <a:off x="8583959" y="2994080"/>
                <a:ext cx="216024" cy="216024"/>
              </a:xfrm>
              <a:prstGeom prst="ellipse">
                <a:avLst/>
              </a:prstGeom>
              <a:solidFill>
                <a:srgbClr val="00263E"/>
              </a:solidFill>
              <a:ln w="1079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sp>
            <p:nvSpPr>
              <p:cNvPr id="55" name="Freihandform: Form 54">
                <a:extLst>
                  <a:ext uri="{FF2B5EF4-FFF2-40B4-BE49-F238E27FC236}">
                    <a16:creationId xmlns:a16="http://schemas.microsoft.com/office/drawing/2014/main" id="{937DB119-AF4B-93E2-3F2A-46AEF08804EC}"/>
                  </a:ext>
                </a:extLst>
              </p:cNvPr>
              <p:cNvSpPr/>
              <p:nvPr/>
            </p:nvSpPr>
            <p:spPr>
              <a:xfrm rot="2074661">
                <a:off x="8086254" y="2807708"/>
                <a:ext cx="474470" cy="329028"/>
              </a:xfrm>
              <a:custGeom>
                <a:avLst/>
                <a:gdLst>
                  <a:gd name="connsiteX0" fmla="*/ 0 w 298450"/>
                  <a:gd name="connsiteY0" fmla="*/ 209550 h 209550"/>
                  <a:gd name="connsiteX1" fmla="*/ 298450 w 298450"/>
                  <a:gd name="connsiteY1" fmla="*/ 0 h 209550"/>
                  <a:gd name="connsiteX0" fmla="*/ 0 w 298450"/>
                  <a:gd name="connsiteY0" fmla="*/ 209550 h 209550"/>
                  <a:gd name="connsiteX1" fmla="*/ 298450 w 298450"/>
                  <a:gd name="connsiteY1" fmla="*/ 0 h 209550"/>
                  <a:gd name="connsiteX0" fmla="*/ 0 w 298450"/>
                  <a:gd name="connsiteY0" fmla="*/ 216991 h 216991"/>
                  <a:gd name="connsiteX1" fmla="*/ 298450 w 298450"/>
                  <a:gd name="connsiteY1" fmla="*/ 7441 h 216991"/>
                  <a:gd name="connsiteX0" fmla="*/ 0 w 298450"/>
                  <a:gd name="connsiteY0" fmla="*/ 209550 h 209550"/>
                  <a:gd name="connsiteX1" fmla="*/ 298450 w 298450"/>
                  <a:gd name="connsiteY1" fmla="*/ 0 h 209550"/>
                </a:gdLst>
                <a:ahLst/>
                <a:cxnLst>
                  <a:cxn ang="0">
                    <a:pos x="connsiteX0" y="connsiteY0"/>
                  </a:cxn>
                  <a:cxn ang="0">
                    <a:pos x="connsiteX1" y="connsiteY1"/>
                  </a:cxn>
                </a:cxnLst>
                <a:rect l="l" t="t" r="r" b="b"/>
                <a:pathLst>
                  <a:path w="298450" h="209550">
                    <a:moveTo>
                      <a:pt x="0" y="209550"/>
                    </a:moveTo>
                    <a:cubicBezTo>
                      <a:pt x="55033" y="38100"/>
                      <a:pt x="135467" y="0"/>
                      <a:pt x="298450" y="0"/>
                    </a:cubicBezTo>
                  </a:path>
                </a:pathLst>
              </a:custGeom>
              <a:noFill/>
              <a:ln w="28575" cap="flat" cmpd="sng" algn="ctr">
                <a:solidFill>
                  <a:schemeClr val="tx1"/>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Futura LT Pro Book"/>
                  <a:ea typeface="+mn-ea"/>
                  <a:cs typeface="+mn-cs"/>
                </a:endParaRPr>
              </a:p>
            </p:txBody>
          </p:sp>
        </p:grpSp>
      </p:grpSp>
      <p:sp>
        <p:nvSpPr>
          <p:cNvPr id="5" name="Textfeld 4">
            <a:extLst>
              <a:ext uri="{FF2B5EF4-FFF2-40B4-BE49-F238E27FC236}">
                <a16:creationId xmlns:a16="http://schemas.microsoft.com/office/drawing/2014/main" id="{0ECDCA59-015E-4893-9F72-B02EA25C62B5}"/>
              </a:ext>
            </a:extLst>
          </p:cNvPr>
          <p:cNvSpPr txBox="1"/>
          <p:nvPr/>
        </p:nvSpPr>
        <p:spPr>
          <a:xfrm>
            <a:off x="552560" y="5652393"/>
            <a:ext cx="9276743" cy="369332"/>
          </a:xfrm>
          <a:prstGeom prst="rect">
            <a:avLst/>
          </a:prstGeom>
          <a:noFill/>
        </p:spPr>
        <p:txBody>
          <a:bodyPr wrap="square" rtlCol="0">
            <a:spAutoFit/>
          </a:bodyPr>
          <a:lstStyle/>
          <a:p>
            <a:r>
              <a:rPr lang="en-AU" b="1" noProof="0" dirty="0">
                <a:solidFill>
                  <a:srgbClr val="333333"/>
                </a:solidFill>
                <a:latin typeface="Futura LT Pro Light" panose="020B0402020204020303" pitchFamily="34" charset="0"/>
                <a:cs typeface="+mn-cs"/>
              </a:rPr>
              <a:t>No Complex techniques? </a:t>
            </a:r>
            <a:r>
              <a:rPr lang="en-AU" noProof="0" dirty="0">
                <a:solidFill>
                  <a:srgbClr val="333333"/>
                </a:solidFill>
                <a:latin typeface="Futura LT Pro Light" panose="020B0402020204020303" pitchFamily="34" charset="0"/>
                <a:cs typeface="+mn-cs"/>
              </a:rPr>
              <a:t>SDOF-IDA, record selection, matching pushover curves</a:t>
            </a:r>
          </a:p>
        </p:txBody>
      </p:sp>
      <p:sp>
        <p:nvSpPr>
          <p:cNvPr id="18" name="Textfeld 17">
            <a:extLst>
              <a:ext uri="{FF2B5EF4-FFF2-40B4-BE49-F238E27FC236}">
                <a16:creationId xmlns:a16="http://schemas.microsoft.com/office/drawing/2014/main" id="{77C776F2-8DD4-E661-3443-93D64DC412BF}"/>
              </a:ext>
            </a:extLst>
          </p:cNvPr>
          <p:cNvSpPr txBox="1"/>
          <p:nvPr/>
        </p:nvSpPr>
        <p:spPr>
          <a:xfrm>
            <a:off x="552102" y="6025957"/>
            <a:ext cx="7934449" cy="369332"/>
          </a:xfrm>
          <a:prstGeom prst="rect">
            <a:avLst/>
          </a:prstGeom>
          <a:noFill/>
        </p:spPr>
        <p:txBody>
          <a:bodyPr wrap="square" rtlCol="0">
            <a:spAutoFit/>
          </a:bodyPr>
          <a:lstStyle/>
          <a:p>
            <a:r>
              <a:rPr lang="en-AU" b="1" noProof="0" dirty="0">
                <a:solidFill>
                  <a:schemeClr val="tx2"/>
                </a:solidFill>
                <a:latin typeface="Futura LT Pro Light" panose="020B0402020204020303" pitchFamily="34" charset="0"/>
                <a:cs typeface="+mn-cs"/>
              </a:rPr>
              <a:t>No single procedure fits the bill!       </a:t>
            </a:r>
            <a:r>
              <a:rPr lang="en-AU" b="1" noProof="0" dirty="0">
                <a:solidFill>
                  <a:schemeClr val="tx2"/>
                </a:solidFill>
                <a:latin typeface="Futura LT Pro Light" panose="020B0402020204020303" pitchFamily="34" charset="0"/>
                <a:cs typeface="+mn-cs"/>
                <a:sym typeface="Wingdings" panose="05000000000000000000" pitchFamily="2" charset="2"/>
              </a:rPr>
              <a:t>      We need to derive our own</a:t>
            </a:r>
            <a:endParaRPr lang="en-AU" noProof="0" dirty="0">
              <a:solidFill>
                <a:schemeClr val="tx2"/>
              </a:solidFill>
              <a:latin typeface="Futura LT Pro Light" panose="020B0402020204020303" pitchFamily="34" charset="0"/>
              <a:cs typeface="+mn-cs"/>
            </a:endParaRPr>
          </a:p>
        </p:txBody>
      </p:sp>
      <p:sp>
        <p:nvSpPr>
          <p:cNvPr id="19" name="Textfeld 18">
            <a:extLst>
              <a:ext uri="{FF2B5EF4-FFF2-40B4-BE49-F238E27FC236}">
                <a16:creationId xmlns:a16="http://schemas.microsoft.com/office/drawing/2014/main" id="{F8F7FB96-D2A1-96B9-36A7-A16EB039E5F1}"/>
              </a:ext>
            </a:extLst>
          </p:cNvPr>
          <p:cNvSpPr txBox="1"/>
          <p:nvPr/>
        </p:nvSpPr>
        <p:spPr>
          <a:xfrm>
            <a:off x="552560" y="5271378"/>
            <a:ext cx="9276743" cy="369332"/>
          </a:xfrm>
          <a:prstGeom prst="rect">
            <a:avLst/>
          </a:prstGeom>
          <a:noFill/>
        </p:spPr>
        <p:txBody>
          <a:bodyPr wrap="square" rtlCol="0">
            <a:spAutoFit/>
          </a:bodyPr>
          <a:lstStyle/>
          <a:p>
            <a:r>
              <a:rPr lang="en-AU" b="1" noProof="0" dirty="0">
                <a:solidFill>
                  <a:srgbClr val="333333"/>
                </a:solidFill>
                <a:latin typeface="Futura LT Pro Light" panose="020B0402020204020303" pitchFamily="34" charset="0"/>
                <a:cs typeface="+mn-cs"/>
              </a:rPr>
              <a:t>Use a priori Information? </a:t>
            </a:r>
            <a:r>
              <a:rPr lang="en-AU" noProof="0" dirty="0">
                <a:solidFill>
                  <a:srgbClr val="333333"/>
                </a:solidFill>
                <a:latin typeface="Futura LT Pro Light" panose="020B0402020204020303" pitchFamily="34" charset="0"/>
                <a:cs typeface="+mn-cs"/>
              </a:rPr>
              <a:t>No. Trial and error</a:t>
            </a:r>
          </a:p>
        </p:txBody>
      </p:sp>
    </p:spTree>
    <p:extLst>
      <p:ext uri="{BB962C8B-B14F-4D97-AF65-F5344CB8AC3E}">
        <p14:creationId xmlns:p14="http://schemas.microsoft.com/office/powerpoint/2010/main" val="180481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769856F8-2B6E-963A-D526-81578798AD44}"/>
              </a:ext>
            </a:extLst>
          </p:cNvPr>
          <p:cNvSpPr>
            <a:spLocks noGrp="1"/>
          </p:cNvSpPr>
          <p:nvPr>
            <p:ph type="body" sz="quarter" idx="18"/>
          </p:nvPr>
        </p:nvSpPr>
        <p:spPr>
          <a:xfrm>
            <a:off x="432000" y="1476053"/>
            <a:ext cx="11312077" cy="4248472"/>
          </a:xfrm>
        </p:spPr>
        <p:txBody>
          <a:bodyPr/>
          <a:lstStyle/>
          <a:p>
            <a:pPr marL="457200" indent="-457200">
              <a:buFont typeface="+mj-lt"/>
              <a:buAutoNum type="arabicPeriod"/>
            </a:pPr>
            <a:r>
              <a:rPr lang="en-AU" noProof="0" dirty="0"/>
              <a:t>Development of </a:t>
            </a:r>
            <a:r>
              <a:rPr lang="en-AU" b="1" noProof="0" dirty="0"/>
              <a:t>a framework for </a:t>
            </a:r>
            <a:r>
              <a:rPr lang="en-AU" noProof="0" dirty="0"/>
              <a:t>the consistent derivation of the </a:t>
            </a:r>
            <a:r>
              <a:rPr lang="en-AU" b="1" noProof="0" dirty="0"/>
              <a:t>CC2D-Models</a:t>
            </a:r>
          </a:p>
          <a:p>
            <a:pPr marL="457200" indent="-457200">
              <a:buFont typeface="+mj-lt"/>
              <a:buAutoNum type="arabicPeriod"/>
            </a:pPr>
            <a:endParaRPr lang="en-AU" noProof="0" dirty="0"/>
          </a:p>
          <a:p>
            <a:pPr marL="457200" indent="-457200">
              <a:buFont typeface="+mj-lt"/>
              <a:buAutoNum type="arabicPeriod"/>
            </a:pPr>
            <a:r>
              <a:rPr lang="en-AU" noProof="0" dirty="0"/>
              <a:t>Derivation of </a:t>
            </a:r>
            <a:r>
              <a:rPr lang="en-AU" b="1" noProof="0" dirty="0"/>
              <a:t>CC2D-Models for steel CBF structures</a:t>
            </a:r>
          </a:p>
          <a:p>
            <a:pPr marL="457200" indent="-457200">
              <a:buFont typeface="+mj-lt"/>
              <a:buAutoNum type="arabicPeriod"/>
            </a:pPr>
            <a:endParaRPr lang="en-AU" noProof="0" dirty="0"/>
          </a:p>
          <a:p>
            <a:pPr marL="457200" indent="-457200">
              <a:buFont typeface="+mj-lt"/>
              <a:buAutoNum type="arabicPeriod"/>
            </a:pPr>
            <a:r>
              <a:rPr lang="en-AU" noProof="0" dirty="0"/>
              <a:t>Characterisation of the </a:t>
            </a:r>
            <a:r>
              <a:rPr lang="en-AU" b="1" noProof="0" dirty="0"/>
              <a:t>influence of site dependence </a:t>
            </a:r>
            <a:r>
              <a:rPr lang="en-AU" noProof="0" dirty="0"/>
              <a:t>on CC2D-Models in a European Context</a:t>
            </a:r>
          </a:p>
          <a:p>
            <a:pPr marL="457200" indent="-457200">
              <a:buFont typeface="+mj-lt"/>
              <a:buAutoNum type="arabicPeriod"/>
            </a:pPr>
            <a:endParaRPr lang="en-AU" noProof="0" dirty="0"/>
          </a:p>
          <a:p>
            <a:pPr marL="457200" indent="-457200">
              <a:buFont typeface="+mj-lt"/>
              <a:buAutoNum type="arabicPeriod"/>
            </a:pPr>
            <a:r>
              <a:rPr lang="en-AU" b="1" noProof="0" dirty="0">
                <a:solidFill>
                  <a:schemeClr val="tx1"/>
                </a:solidFill>
              </a:rPr>
              <a:t>Evaluation of </a:t>
            </a:r>
            <a:r>
              <a:rPr lang="en-AU" noProof="0" dirty="0"/>
              <a:t>the significance of </a:t>
            </a:r>
            <a:r>
              <a:rPr lang="en-AU" b="1" noProof="0" dirty="0"/>
              <a:t>modelling and material uncertainty </a:t>
            </a:r>
            <a:r>
              <a:rPr lang="en-AU" noProof="0" dirty="0"/>
              <a:t>in the development of CC2D-Models for steel CBF structures</a:t>
            </a:r>
          </a:p>
          <a:p>
            <a:pPr marL="457200" indent="-457200">
              <a:buFont typeface="+mj-lt"/>
              <a:buAutoNum type="arabicPeriod"/>
            </a:pPr>
            <a:endParaRPr lang="en-AU" noProof="0" dirty="0"/>
          </a:p>
          <a:p>
            <a:pPr marL="457200" indent="-457200">
              <a:buFont typeface="+mj-lt"/>
              <a:buAutoNum type="arabicPeriod"/>
            </a:pPr>
            <a:r>
              <a:rPr lang="en-AU" b="1" noProof="0" dirty="0"/>
              <a:t>Verification of the effectiveness </a:t>
            </a:r>
            <a:r>
              <a:rPr lang="en-AU" noProof="0" dirty="0"/>
              <a:t>of the design procedure at achieving the desired reliability level</a:t>
            </a:r>
          </a:p>
          <a:p>
            <a:pPr marL="342900" indent="-342900">
              <a:buFont typeface="Arial" panose="020B0604020202020204" pitchFamily="34" charset="0"/>
              <a:buChar char="•"/>
            </a:pPr>
            <a:endParaRPr lang="en-AU" noProof="0" dirty="0"/>
          </a:p>
          <a:p>
            <a:pPr marL="342900" indent="-342900">
              <a:buFont typeface="Arial" panose="020B0604020202020204" pitchFamily="34" charset="0"/>
              <a:buChar char="•"/>
            </a:pPr>
            <a:endParaRPr lang="en-AU" noProof="0" dirty="0"/>
          </a:p>
        </p:txBody>
      </p:sp>
      <p:sp>
        <p:nvSpPr>
          <p:cNvPr id="3" name="Titel 2">
            <a:extLst>
              <a:ext uri="{FF2B5EF4-FFF2-40B4-BE49-F238E27FC236}">
                <a16:creationId xmlns:a16="http://schemas.microsoft.com/office/drawing/2014/main" id="{5E191A8F-9309-A46D-79F5-DA1691F3B33E}"/>
              </a:ext>
            </a:extLst>
          </p:cNvPr>
          <p:cNvSpPr>
            <a:spLocks noGrp="1"/>
          </p:cNvSpPr>
          <p:nvPr>
            <p:ph type="title"/>
          </p:nvPr>
        </p:nvSpPr>
        <p:spPr/>
        <p:txBody>
          <a:bodyPr/>
          <a:lstStyle/>
          <a:p>
            <a:r>
              <a:rPr lang="en-AU" noProof="0" dirty="0"/>
              <a:t>Research Direction:</a:t>
            </a:r>
          </a:p>
        </p:txBody>
      </p:sp>
    </p:spTree>
    <p:extLst>
      <p:ext uri="{BB962C8B-B14F-4D97-AF65-F5344CB8AC3E}">
        <p14:creationId xmlns:p14="http://schemas.microsoft.com/office/powerpoint/2010/main" val="257605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0BE0098F-7BBF-73CD-D1FB-6AB4BC694015}"/>
              </a:ext>
            </a:extLst>
          </p:cNvPr>
          <p:cNvSpPr>
            <a:spLocks noGrp="1"/>
          </p:cNvSpPr>
          <p:nvPr>
            <p:ph type="body" sz="quarter" idx="18"/>
          </p:nvPr>
        </p:nvSpPr>
        <p:spPr/>
        <p:txBody>
          <a:bodyPr/>
          <a:lstStyle/>
          <a:p>
            <a:r>
              <a:rPr lang="en-AU" b="1" noProof="0" dirty="0"/>
              <a:t>Motivation: </a:t>
            </a:r>
          </a:p>
          <a:p>
            <a:pPr marL="342900" indent="-342900">
              <a:buFont typeface="Arial" panose="020B0604020202020204" pitchFamily="34" charset="0"/>
              <a:buChar char="•"/>
            </a:pPr>
            <a:r>
              <a:rPr lang="en-AU" noProof="0" dirty="0"/>
              <a:t>There is currently no CC2D-model for reliability-based design that is suitable for implementation in a design standard, easy to use and incorporates the effects of material/modelling uncertainties and site dependence.</a:t>
            </a:r>
          </a:p>
          <a:p>
            <a:endParaRPr lang="en-AU" noProof="0" dirty="0"/>
          </a:p>
          <a:p>
            <a:r>
              <a:rPr lang="en-AU" b="1" noProof="0" dirty="0"/>
              <a:t>Solution:</a:t>
            </a:r>
          </a:p>
          <a:p>
            <a:pPr marL="457200" indent="-457200">
              <a:buFont typeface="+mj-lt"/>
              <a:buAutoNum type="arabicPeriod"/>
            </a:pPr>
            <a:r>
              <a:rPr lang="en-AU" noProof="0" dirty="0"/>
              <a:t>Characterise the influence of site properties on the fragility curve estimates using SDOF models</a:t>
            </a:r>
          </a:p>
          <a:p>
            <a:pPr marL="457200" indent="-457200">
              <a:buFont typeface="+mj-lt"/>
              <a:buAutoNum type="arabicPeriod"/>
            </a:pPr>
            <a:r>
              <a:rPr lang="en-AU" noProof="0" dirty="0"/>
              <a:t>Derive new CC2D-Models for steel concentrically braced frames using detailed MDOF models</a:t>
            </a:r>
          </a:p>
          <a:p>
            <a:pPr marL="457200" indent="-457200">
              <a:buFont typeface="+mj-lt"/>
              <a:buAutoNum type="arabicPeriod"/>
            </a:pPr>
            <a:r>
              <a:rPr lang="en-AU" noProof="0" dirty="0"/>
              <a:t>Investigate the importance of material and modelling uncertainties on fragility curves estimates of MDOF systems</a:t>
            </a:r>
          </a:p>
          <a:p>
            <a:pPr marL="457200" indent="-457200">
              <a:buFont typeface="+mj-lt"/>
              <a:buAutoNum type="arabicPeriod"/>
            </a:pPr>
            <a:r>
              <a:rPr lang="en-AU" dirty="0"/>
              <a:t>Test the effectiveness of the proposed reliability-based design method</a:t>
            </a:r>
            <a:endParaRPr lang="en-AU" noProof="0" dirty="0"/>
          </a:p>
          <a:p>
            <a:endParaRPr lang="en-AU" noProof="0" dirty="0"/>
          </a:p>
        </p:txBody>
      </p:sp>
      <p:sp>
        <p:nvSpPr>
          <p:cNvPr id="3" name="Titel 2">
            <a:extLst>
              <a:ext uri="{FF2B5EF4-FFF2-40B4-BE49-F238E27FC236}">
                <a16:creationId xmlns:a16="http://schemas.microsoft.com/office/drawing/2014/main" id="{15D3420A-C18E-FDD8-46CE-00FBC09EEAD9}"/>
              </a:ext>
            </a:extLst>
          </p:cNvPr>
          <p:cNvSpPr>
            <a:spLocks noGrp="1"/>
          </p:cNvSpPr>
          <p:nvPr>
            <p:ph type="title"/>
          </p:nvPr>
        </p:nvSpPr>
        <p:spPr/>
        <p:txBody>
          <a:bodyPr/>
          <a:lstStyle/>
          <a:p>
            <a:r>
              <a:rPr lang="en-AU" noProof="0" dirty="0"/>
              <a:t>Summary</a:t>
            </a:r>
          </a:p>
        </p:txBody>
      </p:sp>
    </p:spTree>
    <p:extLst>
      <p:ext uri="{BB962C8B-B14F-4D97-AF65-F5344CB8AC3E}">
        <p14:creationId xmlns:p14="http://schemas.microsoft.com/office/powerpoint/2010/main" val="347565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F9EA962D-FA5B-ACDE-772C-FE6725F6E765}"/>
              </a:ext>
            </a:extLst>
          </p:cNvPr>
          <p:cNvSpPr>
            <a:spLocks noGrp="1"/>
          </p:cNvSpPr>
          <p:nvPr>
            <p:ph type="title"/>
          </p:nvPr>
        </p:nvSpPr>
        <p:spPr>
          <a:xfrm>
            <a:off x="428624" y="2916213"/>
            <a:ext cx="11312525" cy="576263"/>
          </a:xfrm>
        </p:spPr>
        <p:txBody>
          <a:bodyPr/>
          <a:lstStyle/>
          <a:p>
            <a:r>
              <a:rPr lang="en-AU" noProof="0" dirty="0"/>
              <a:t>Work Packages</a:t>
            </a:r>
          </a:p>
        </p:txBody>
      </p:sp>
    </p:spTree>
    <p:extLst>
      <p:ext uri="{BB962C8B-B14F-4D97-AF65-F5344CB8AC3E}">
        <p14:creationId xmlns:p14="http://schemas.microsoft.com/office/powerpoint/2010/main" val="3435192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8C6D6-A96C-ED17-38A5-1C9B2CBE85E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05C72C8-2DF3-25AD-99B9-30EB97485A8A}"/>
              </a:ext>
            </a:extLst>
          </p:cNvPr>
          <p:cNvSpPr>
            <a:spLocks noGrp="1"/>
          </p:cNvSpPr>
          <p:nvPr>
            <p:ph type="body" sz="quarter" idx="18"/>
          </p:nvPr>
        </p:nvSpPr>
        <p:spPr>
          <a:xfrm>
            <a:off x="432000" y="1476053"/>
            <a:ext cx="11312077" cy="4248472"/>
          </a:xfrm>
        </p:spPr>
        <p:txBody>
          <a:bodyPr/>
          <a:lstStyle/>
          <a:p>
            <a:pPr marL="457200" indent="-457200">
              <a:buFont typeface="+mj-lt"/>
              <a:buAutoNum type="arabicPeriod"/>
            </a:pPr>
            <a:r>
              <a:rPr lang="en-AU" noProof="0" dirty="0"/>
              <a:t>Development of </a:t>
            </a:r>
            <a:r>
              <a:rPr lang="en-AU" b="1" noProof="0" dirty="0"/>
              <a:t>a framework for </a:t>
            </a:r>
            <a:r>
              <a:rPr lang="en-AU" noProof="0" dirty="0"/>
              <a:t>the consistent derivation of the </a:t>
            </a:r>
            <a:r>
              <a:rPr lang="en-AU" b="1" noProof="0" dirty="0"/>
              <a:t>CC2D-Models</a:t>
            </a:r>
          </a:p>
          <a:p>
            <a:pPr marL="457200" indent="-457200">
              <a:buFont typeface="+mj-lt"/>
              <a:buAutoNum type="arabicPeriod"/>
            </a:pPr>
            <a:endParaRPr lang="en-AU" noProof="0" dirty="0"/>
          </a:p>
          <a:p>
            <a:pPr marL="457200" indent="-457200">
              <a:buFont typeface="+mj-lt"/>
              <a:buAutoNum type="arabicPeriod"/>
            </a:pPr>
            <a:r>
              <a:rPr lang="en-AU" noProof="0" dirty="0"/>
              <a:t>Derivation of </a:t>
            </a:r>
            <a:r>
              <a:rPr lang="en-AU" b="1" noProof="0" dirty="0"/>
              <a:t>CC2D-Models for steel CBF structures</a:t>
            </a:r>
          </a:p>
          <a:p>
            <a:pPr marL="457200" indent="-457200">
              <a:buFont typeface="+mj-lt"/>
              <a:buAutoNum type="arabicPeriod"/>
            </a:pPr>
            <a:endParaRPr lang="en-AU" noProof="0" dirty="0"/>
          </a:p>
          <a:p>
            <a:pPr marL="457200" indent="-457200">
              <a:buFont typeface="+mj-lt"/>
              <a:buAutoNum type="arabicPeriod"/>
            </a:pPr>
            <a:r>
              <a:rPr lang="en-AU" noProof="0" dirty="0"/>
              <a:t>Characterisation of the </a:t>
            </a:r>
            <a:r>
              <a:rPr lang="en-AU" b="1" noProof="0" dirty="0"/>
              <a:t>influence of site dependence </a:t>
            </a:r>
            <a:r>
              <a:rPr lang="en-AU" noProof="0" dirty="0"/>
              <a:t>on CC2D-Models in a European Context</a:t>
            </a:r>
          </a:p>
          <a:p>
            <a:pPr marL="457200" indent="-457200">
              <a:buFont typeface="+mj-lt"/>
              <a:buAutoNum type="arabicPeriod"/>
            </a:pPr>
            <a:endParaRPr lang="en-AU" noProof="0" dirty="0"/>
          </a:p>
          <a:p>
            <a:pPr marL="457200" indent="-457200">
              <a:buFont typeface="+mj-lt"/>
              <a:buAutoNum type="arabicPeriod"/>
            </a:pPr>
            <a:r>
              <a:rPr lang="en-AU" b="1" noProof="0" dirty="0">
                <a:solidFill>
                  <a:schemeClr val="tx1"/>
                </a:solidFill>
              </a:rPr>
              <a:t>Evaluation of </a:t>
            </a:r>
            <a:r>
              <a:rPr lang="en-AU" noProof="0" dirty="0"/>
              <a:t>the significance of </a:t>
            </a:r>
            <a:r>
              <a:rPr lang="en-AU" b="1" noProof="0" dirty="0"/>
              <a:t>modelling and material uncertainty </a:t>
            </a:r>
            <a:r>
              <a:rPr lang="en-AU" noProof="0" dirty="0"/>
              <a:t>in the development of CC2D-Models for steel CBF structures</a:t>
            </a:r>
          </a:p>
          <a:p>
            <a:pPr marL="457200" indent="-457200">
              <a:buFont typeface="+mj-lt"/>
              <a:buAutoNum type="arabicPeriod"/>
            </a:pPr>
            <a:endParaRPr lang="en-AU" noProof="0" dirty="0"/>
          </a:p>
          <a:p>
            <a:pPr marL="457200" indent="-457200">
              <a:buFont typeface="+mj-lt"/>
              <a:buAutoNum type="arabicPeriod"/>
            </a:pPr>
            <a:r>
              <a:rPr lang="en-AU" b="1" noProof="0" dirty="0"/>
              <a:t>Verification of the effectiveness </a:t>
            </a:r>
            <a:r>
              <a:rPr lang="en-AU" noProof="0" dirty="0"/>
              <a:t>of the design procedure at achieving the desired reliability level</a:t>
            </a:r>
          </a:p>
          <a:p>
            <a:pPr marL="342900" indent="-342900">
              <a:buFont typeface="Arial" panose="020B0604020202020204" pitchFamily="34" charset="0"/>
              <a:buChar char="•"/>
            </a:pPr>
            <a:endParaRPr lang="en-AU" noProof="0" dirty="0"/>
          </a:p>
          <a:p>
            <a:pPr marL="342900" indent="-342900">
              <a:buFont typeface="Arial" panose="020B0604020202020204" pitchFamily="34" charset="0"/>
              <a:buChar char="•"/>
            </a:pPr>
            <a:endParaRPr lang="en-AU" noProof="0" dirty="0"/>
          </a:p>
        </p:txBody>
      </p:sp>
      <p:sp>
        <p:nvSpPr>
          <p:cNvPr id="3" name="Titel 2">
            <a:extLst>
              <a:ext uri="{FF2B5EF4-FFF2-40B4-BE49-F238E27FC236}">
                <a16:creationId xmlns:a16="http://schemas.microsoft.com/office/drawing/2014/main" id="{44508265-4090-EECE-CA7E-0B83618FE337}"/>
              </a:ext>
            </a:extLst>
          </p:cNvPr>
          <p:cNvSpPr>
            <a:spLocks noGrp="1"/>
          </p:cNvSpPr>
          <p:nvPr>
            <p:ph type="title"/>
          </p:nvPr>
        </p:nvSpPr>
        <p:spPr/>
        <p:txBody>
          <a:bodyPr/>
          <a:lstStyle/>
          <a:p>
            <a:r>
              <a:rPr lang="en-AU" noProof="0" dirty="0"/>
              <a:t>Research Direction:</a:t>
            </a:r>
          </a:p>
        </p:txBody>
      </p:sp>
    </p:spTree>
    <p:extLst>
      <p:ext uri="{BB962C8B-B14F-4D97-AF65-F5344CB8AC3E}">
        <p14:creationId xmlns:p14="http://schemas.microsoft.com/office/powerpoint/2010/main" val="3226038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B050D7A0-8A6A-8403-A885-C3B23FE2014C}"/>
              </a:ext>
            </a:extLst>
          </p:cNvPr>
          <p:cNvSpPr>
            <a:spLocks noGrp="1"/>
          </p:cNvSpPr>
          <p:nvPr>
            <p:ph type="body" sz="quarter" idx="18"/>
          </p:nvPr>
        </p:nvSpPr>
        <p:spPr/>
        <p:txBody>
          <a:bodyPr/>
          <a:lstStyle/>
          <a:p>
            <a:endParaRPr lang="en-AU" b="1" noProof="0" dirty="0"/>
          </a:p>
          <a:p>
            <a:r>
              <a:rPr lang="en-AU" b="1" noProof="0" dirty="0"/>
              <a:t>WP 00 </a:t>
            </a:r>
            <a:r>
              <a:rPr lang="en-AU" noProof="0" dirty="0"/>
              <a:t>– Evaluation of existing fragility curve models</a:t>
            </a:r>
          </a:p>
          <a:p>
            <a:r>
              <a:rPr lang="en-AU" noProof="0" dirty="0"/>
              <a:t>	</a:t>
            </a:r>
          </a:p>
          <a:p>
            <a:r>
              <a:rPr lang="en-AU" b="1" noProof="0" dirty="0"/>
              <a:t>WP 01 </a:t>
            </a:r>
            <a:r>
              <a:rPr lang="en-AU" noProof="0" dirty="0"/>
              <a:t>– Site-dependence of fragility curve parameters</a:t>
            </a:r>
          </a:p>
          <a:p>
            <a:endParaRPr lang="en-AU" noProof="0" dirty="0"/>
          </a:p>
          <a:p>
            <a:r>
              <a:rPr lang="en-AU" b="1" noProof="0" dirty="0"/>
              <a:t>WP 02 </a:t>
            </a:r>
            <a:r>
              <a:rPr lang="en-AU" noProof="0" dirty="0"/>
              <a:t>– Development of CC2D-Models for steel CBF archetype structures + Framework</a:t>
            </a:r>
          </a:p>
          <a:p>
            <a:endParaRPr lang="en-AU" noProof="0" dirty="0"/>
          </a:p>
          <a:p>
            <a:r>
              <a:rPr lang="en-AU" b="1" noProof="0" dirty="0"/>
              <a:t>WP 03 </a:t>
            </a:r>
            <a:r>
              <a:rPr lang="en-AU" noProof="0" dirty="0"/>
              <a:t>– The influence of modelling and material uncertainty on CD-Models for steel CBFs</a:t>
            </a:r>
          </a:p>
          <a:p>
            <a:endParaRPr lang="en-AU" noProof="0" dirty="0"/>
          </a:p>
          <a:p>
            <a:r>
              <a:rPr lang="en-AU" b="1" noProof="0" dirty="0"/>
              <a:t>WP 04 </a:t>
            </a:r>
            <a:r>
              <a:rPr lang="en-AU" noProof="0" dirty="0"/>
              <a:t>– Verification of the reliability-based design procedure </a:t>
            </a:r>
          </a:p>
          <a:p>
            <a:endParaRPr lang="en-AU" noProof="0" dirty="0"/>
          </a:p>
          <a:p>
            <a:r>
              <a:rPr lang="en-AU" b="1" noProof="0" dirty="0"/>
              <a:t>WP 05</a:t>
            </a:r>
            <a:r>
              <a:rPr lang="en-AU" noProof="0" dirty="0"/>
              <a:t> – Publications</a:t>
            </a:r>
          </a:p>
          <a:p>
            <a:endParaRPr lang="en-AU" noProof="0" dirty="0"/>
          </a:p>
          <a:p>
            <a:r>
              <a:rPr lang="en-AU" b="1" noProof="0" dirty="0"/>
              <a:t>WP 06 </a:t>
            </a:r>
            <a:r>
              <a:rPr lang="en-AU" noProof="0" dirty="0"/>
              <a:t>– Dissertation </a:t>
            </a:r>
          </a:p>
        </p:txBody>
      </p:sp>
      <p:sp>
        <p:nvSpPr>
          <p:cNvPr id="3" name="Titel 2">
            <a:extLst>
              <a:ext uri="{FF2B5EF4-FFF2-40B4-BE49-F238E27FC236}">
                <a16:creationId xmlns:a16="http://schemas.microsoft.com/office/drawing/2014/main" id="{9CBE562A-D48D-F579-C5EB-353D0E79930E}"/>
              </a:ext>
            </a:extLst>
          </p:cNvPr>
          <p:cNvSpPr>
            <a:spLocks noGrp="1"/>
          </p:cNvSpPr>
          <p:nvPr>
            <p:ph type="title"/>
          </p:nvPr>
        </p:nvSpPr>
        <p:spPr/>
        <p:txBody>
          <a:bodyPr/>
          <a:lstStyle/>
          <a:p>
            <a:r>
              <a:rPr lang="en-AU" noProof="0" dirty="0"/>
              <a:t>Work-Packages</a:t>
            </a:r>
          </a:p>
        </p:txBody>
      </p:sp>
    </p:spTree>
    <p:extLst>
      <p:ext uri="{BB962C8B-B14F-4D97-AF65-F5344CB8AC3E}">
        <p14:creationId xmlns:p14="http://schemas.microsoft.com/office/powerpoint/2010/main" val="74401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F5EE1-3A4D-32CA-AB7C-0320B7141DD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DE8E3BD9-9ED8-4345-D5D5-E65608229217}"/>
              </a:ext>
            </a:extLst>
          </p:cNvPr>
          <p:cNvSpPr>
            <a:spLocks noGrp="1"/>
          </p:cNvSpPr>
          <p:nvPr>
            <p:ph type="body" sz="quarter" idx="18"/>
          </p:nvPr>
        </p:nvSpPr>
        <p:spPr/>
        <p:txBody>
          <a:bodyPr/>
          <a:lstStyle/>
          <a:p>
            <a:r>
              <a:rPr lang="en-AU" b="1" u="sng" noProof="0" dirty="0"/>
              <a:t>Motivation:</a:t>
            </a:r>
            <a:r>
              <a:rPr lang="en-AU" u="sng" noProof="0" dirty="0"/>
              <a:t> </a:t>
            </a:r>
          </a:p>
          <a:p>
            <a:r>
              <a:rPr lang="en-AU" noProof="0" dirty="0"/>
              <a:t>Many collapse fragility curves for a large range of structures have been published in the literature. </a:t>
            </a:r>
          </a:p>
          <a:p>
            <a:endParaRPr lang="en-AU" i="1" noProof="0" dirty="0"/>
          </a:p>
          <a:p>
            <a:r>
              <a:rPr lang="en-AU" b="1" i="1" u="sng" noProof="0" dirty="0"/>
              <a:t>Research Question: </a:t>
            </a:r>
          </a:p>
          <a:p>
            <a:r>
              <a:rPr lang="en-AU" i="1" noProof="0" dirty="0"/>
              <a:t>Are there enough fragility curves of sufficient quality in the literature to enable the derivation of suitable CC2D-Models for use in reliability-based design?</a:t>
            </a:r>
            <a:endParaRPr lang="en-AU" noProof="0" dirty="0"/>
          </a:p>
          <a:p>
            <a:endParaRPr lang="en-AU" noProof="0" dirty="0"/>
          </a:p>
          <a:p>
            <a:r>
              <a:rPr lang="en-AU" b="1" u="sng" noProof="0" dirty="0"/>
              <a:t>Status: </a:t>
            </a:r>
            <a:r>
              <a:rPr lang="en-AU" b="1" noProof="0" dirty="0">
                <a:solidFill>
                  <a:srgbClr val="00B050"/>
                </a:solidFill>
              </a:rPr>
              <a:t>Completed</a:t>
            </a:r>
          </a:p>
        </p:txBody>
      </p:sp>
      <p:sp>
        <p:nvSpPr>
          <p:cNvPr id="3" name="Titel 2">
            <a:extLst>
              <a:ext uri="{FF2B5EF4-FFF2-40B4-BE49-F238E27FC236}">
                <a16:creationId xmlns:a16="http://schemas.microsoft.com/office/drawing/2014/main" id="{E4A8CB5B-1CE1-01AB-1533-F4C2F381C507}"/>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spTree>
    <p:extLst>
      <p:ext uri="{BB962C8B-B14F-4D97-AF65-F5344CB8AC3E}">
        <p14:creationId xmlns:p14="http://schemas.microsoft.com/office/powerpoint/2010/main" val="486549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A63E8-84F1-E315-6478-E262F6855E9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D7B5AAAA-6451-B9A0-212B-1417A7ADBEFD}"/>
              </a:ext>
            </a:extLst>
          </p:cNvPr>
          <p:cNvSpPr>
            <a:spLocks noGrp="1"/>
          </p:cNvSpPr>
          <p:nvPr>
            <p:ph type="body" sz="quarter" idx="18"/>
          </p:nvPr>
        </p:nvSpPr>
        <p:spPr/>
        <p:txBody>
          <a:bodyPr/>
          <a:lstStyle/>
          <a:p>
            <a:r>
              <a:rPr lang="en-AU" b="1" u="sng" noProof="0" dirty="0"/>
              <a:t>Motivation:</a:t>
            </a:r>
            <a:r>
              <a:rPr lang="en-AU" u="sng" noProof="0" dirty="0"/>
              <a:t> </a:t>
            </a:r>
          </a:p>
          <a:p>
            <a:r>
              <a:rPr lang="en-AU" noProof="0" dirty="0"/>
              <a:t>It has been shown that the dispersion of fragility curves is influenced by the contribution of different tectonic source types to the site hazard. Europe contains many different tectonic source types (active shallow crust, subduction interface, subduction in-slab, …) and the hazard at many location is influenced by two or more of these source types.</a:t>
            </a:r>
          </a:p>
          <a:p>
            <a:endParaRPr lang="en-AU" i="1" noProof="0" dirty="0"/>
          </a:p>
          <a:p>
            <a:r>
              <a:rPr lang="en-AU" b="1" i="1" u="sng" noProof="0" dirty="0"/>
              <a:t>Research Questions: </a:t>
            </a:r>
          </a:p>
          <a:p>
            <a:r>
              <a:rPr lang="en-AU" i="1" noProof="0" dirty="0"/>
              <a:t>How are the fragility curve parameters affected by the location of the structure within Europe? </a:t>
            </a:r>
          </a:p>
          <a:p>
            <a:endParaRPr lang="en-AU" i="1" noProof="0" dirty="0"/>
          </a:p>
          <a:p>
            <a:r>
              <a:rPr lang="en-AU" i="1" noProof="0" dirty="0"/>
              <a:t>Can variations in the fragility curves be modelled in a predictable way to allow incorporation in reliability-based design?</a:t>
            </a:r>
            <a:endParaRPr lang="en-AU" noProof="0" dirty="0"/>
          </a:p>
          <a:p>
            <a:endParaRPr lang="en-AU" noProof="0" dirty="0"/>
          </a:p>
          <a:p>
            <a:r>
              <a:rPr lang="en-AU" b="1" u="sng" noProof="0" dirty="0"/>
              <a:t>Status:</a:t>
            </a:r>
            <a:r>
              <a:rPr lang="en-AU" b="1" noProof="0" dirty="0"/>
              <a:t> </a:t>
            </a:r>
            <a:r>
              <a:rPr lang="en-AU" b="1" noProof="0" dirty="0">
                <a:solidFill>
                  <a:srgbClr val="00B050"/>
                </a:solidFill>
              </a:rPr>
              <a:t>Started – active</a:t>
            </a:r>
          </a:p>
        </p:txBody>
      </p:sp>
      <p:sp>
        <p:nvSpPr>
          <p:cNvPr id="3" name="Titel 2">
            <a:extLst>
              <a:ext uri="{FF2B5EF4-FFF2-40B4-BE49-F238E27FC236}">
                <a16:creationId xmlns:a16="http://schemas.microsoft.com/office/drawing/2014/main" id="{C4C5A7D2-9B59-0199-91AD-6C9267130D2C}"/>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spTree>
    <p:extLst>
      <p:ext uri="{BB962C8B-B14F-4D97-AF65-F5344CB8AC3E}">
        <p14:creationId xmlns:p14="http://schemas.microsoft.com/office/powerpoint/2010/main" val="923705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BB198-108A-4857-C410-5E41F740B232}"/>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E217D1A7-6320-9077-FD02-C2BF14BD2538}"/>
              </a:ext>
            </a:extLst>
          </p:cNvPr>
          <p:cNvSpPr>
            <a:spLocks noGrp="1"/>
          </p:cNvSpPr>
          <p:nvPr>
            <p:ph type="body" sz="quarter" idx="18"/>
          </p:nvPr>
        </p:nvSpPr>
        <p:spPr/>
        <p:txBody>
          <a:bodyPr/>
          <a:lstStyle/>
          <a:p>
            <a:r>
              <a:rPr lang="en-AU" b="1" u="sng" noProof="0" dirty="0"/>
              <a:t>Motivation:</a:t>
            </a:r>
            <a:r>
              <a:rPr lang="en-AU" u="sng" noProof="0" dirty="0"/>
              <a:t> </a:t>
            </a:r>
          </a:p>
          <a:p>
            <a:r>
              <a:rPr lang="en-AU" dirty="0"/>
              <a:t>There is currently no CC2D-model for reliability-based design that is accurate, suitable for implementation in a design standard and user friendly for engineering practitioners. </a:t>
            </a:r>
          </a:p>
          <a:p>
            <a:r>
              <a:rPr lang="en-AU" dirty="0"/>
              <a:t>Steel structures have generally been neglected in the development of capacity model for risk-based design</a:t>
            </a:r>
          </a:p>
          <a:p>
            <a:endParaRPr lang="en-AU" i="1" noProof="0" dirty="0"/>
          </a:p>
          <a:p>
            <a:r>
              <a:rPr lang="en-AU" b="1" i="1" u="sng" noProof="0" dirty="0"/>
              <a:t>Research Question: </a:t>
            </a:r>
          </a:p>
          <a:p>
            <a:r>
              <a:rPr lang="en-AU" i="1" dirty="0"/>
              <a:t>How can the relationship between the collapse capacity and the design force of steel CBFs be quantified and modelled?</a:t>
            </a:r>
          </a:p>
          <a:p>
            <a:endParaRPr lang="en-AU" noProof="0" dirty="0"/>
          </a:p>
          <a:p>
            <a:r>
              <a:rPr lang="en-AU" b="1" u="sng" noProof="0" dirty="0"/>
              <a:t>Status:</a:t>
            </a:r>
            <a:r>
              <a:rPr lang="en-AU" b="1" noProof="0" dirty="0"/>
              <a:t> </a:t>
            </a:r>
            <a:r>
              <a:rPr lang="en-AU" b="1" noProof="0" dirty="0">
                <a:solidFill>
                  <a:srgbClr val="FFC000"/>
                </a:solidFill>
              </a:rPr>
              <a:t>Started – paused</a:t>
            </a:r>
          </a:p>
        </p:txBody>
      </p:sp>
      <p:sp>
        <p:nvSpPr>
          <p:cNvPr id="3" name="Titel 2">
            <a:extLst>
              <a:ext uri="{FF2B5EF4-FFF2-40B4-BE49-F238E27FC236}">
                <a16:creationId xmlns:a16="http://schemas.microsoft.com/office/drawing/2014/main" id="{00794F89-17C7-BDC3-4805-EB9183C2A7D9}"/>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spTree>
    <p:extLst>
      <p:ext uri="{BB962C8B-B14F-4D97-AF65-F5344CB8AC3E}">
        <p14:creationId xmlns:p14="http://schemas.microsoft.com/office/powerpoint/2010/main" val="138992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5D293-E85E-DE72-B339-827031EB757E}"/>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FAA043D2-9DF6-0EB2-A5D3-5DE22F399F9F}"/>
              </a:ext>
            </a:extLst>
          </p:cNvPr>
          <p:cNvSpPr>
            <a:spLocks noGrp="1"/>
          </p:cNvSpPr>
          <p:nvPr>
            <p:ph type="title"/>
          </p:nvPr>
        </p:nvSpPr>
        <p:spPr/>
        <p:txBody>
          <a:bodyPr/>
          <a:lstStyle/>
          <a:p>
            <a:r>
              <a:rPr lang="en-AU" noProof="0" dirty="0"/>
              <a:t>WP03 – Modelling and Material Uncertainty </a:t>
            </a:r>
          </a:p>
        </p:txBody>
      </p:sp>
      <p:sp>
        <p:nvSpPr>
          <p:cNvPr id="5" name="Textplatzhalter 1">
            <a:extLst>
              <a:ext uri="{FF2B5EF4-FFF2-40B4-BE49-F238E27FC236}">
                <a16:creationId xmlns:a16="http://schemas.microsoft.com/office/drawing/2014/main" id="{5F748C14-A7E2-6A08-86A4-43F01E430F39}"/>
              </a:ext>
            </a:extLst>
          </p:cNvPr>
          <p:cNvSpPr>
            <a:spLocks noGrp="1"/>
          </p:cNvSpPr>
          <p:nvPr>
            <p:ph type="body" sz="quarter" idx="18"/>
          </p:nvPr>
        </p:nvSpPr>
        <p:spPr>
          <a:xfrm>
            <a:off x="432000" y="1044005"/>
            <a:ext cx="11312077" cy="5400600"/>
          </a:xfrm>
        </p:spPr>
        <p:txBody>
          <a:bodyPr/>
          <a:lstStyle/>
          <a:p>
            <a:r>
              <a:rPr lang="en-AU" b="1" u="sng" noProof="0" dirty="0">
                <a:solidFill>
                  <a:schemeClr val="tx1"/>
                </a:solidFill>
              </a:rPr>
              <a:t>Motivation:</a:t>
            </a:r>
          </a:p>
          <a:p>
            <a:r>
              <a:rPr lang="en-AU" noProof="0" dirty="0">
                <a:solidFill>
                  <a:schemeClr val="tx1"/>
                </a:solidFill>
              </a:rPr>
              <a:t>Modelling / material parameters based on statistical regression are associated with an inherent uncertainty. The variation of these parameters can have a noticeable </a:t>
            </a:r>
            <a:r>
              <a:rPr lang="en-AU" dirty="0">
                <a:solidFill>
                  <a:schemeClr val="tx1"/>
                </a:solidFill>
              </a:rPr>
              <a:t>e</a:t>
            </a:r>
            <a:r>
              <a:rPr lang="en-AU" noProof="0" dirty="0" err="1">
                <a:solidFill>
                  <a:schemeClr val="tx1"/>
                </a:solidFill>
              </a:rPr>
              <a:t>ffect</a:t>
            </a:r>
            <a:r>
              <a:rPr lang="en-AU" noProof="0" dirty="0">
                <a:solidFill>
                  <a:schemeClr val="tx1"/>
                </a:solidFill>
              </a:rPr>
              <a:t> on the response of the structure and therefore the fragility curve parameters</a:t>
            </a:r>
          </a:p>
          <a:p>
            <a:endParaRPr lang="en-AU" noProof="0" dirty="0">
              <a:solidFill>
                <a:schemeClr val="tx1"/>
              </a:solidFill>
            </a:endParaRPr>
          </a:p>
          <a:p>
            <a:r>
              <a:rPr lang="en-AU" b="1" u="sng" noProof="0" dirty="0"/>
              <a:t>Research Questions:</a:t>
            </a:r>
            <a:r>
              <a:rPr lang="en-AU" noProof="0" dirty="0"/>
              <a:t> </a:t>
            </a:r>
          </a:p>
          <a:p>
            <a:r>
              <a:rPr lang="en-AU" i="1" noProof="0" dirty="0"/>
              <a:t>To what extent do modelling and material uncertainties affect the fragility curve parameters of steel CBFs? </a:t>
            </a:r>
          </a:p>
          <a:p>
            <a:endParaRPr lang="en-AU" i="1" dirty="0"/>
          </a:p>
          <a:p>
            <a:r>
              <a:rPr lang="en-AU" i="1" noProof="0" dirty="0"/>
              <a:t>Is the effect significant enough to require incorporation into the reliability-based design procedure? </a:t>
            </a:r>
          </a:p>
          <a:p>
            <a:endParaRPr lang="en-AU" i="1" dirty="0"/>
          </a:p>
          <a:p>
            <a:r>
              <a:rPr lang="en-AU" i="1" noProof="0" dirty="0"/>
              <a:t>How can this effect be best incorporated into the design procedure?</a:t>
            </a:r>
          </a:p>
          <a:p>
            <a:endParaRPr lang="en-AU" noProof="0" dirty="0"/>
          </a:p>
          <a:p>
            <a:r>
              <a:rPr lang="en-AU" b="1" u="sng" dirty="0"/>
              <a:t>Status:</a:t>
            </a:r>
            <a:r>
              <a:rPr lang="en-AU" b="1" dirty="0"/>
              <a:t> </a:t>
            </a:r>
            <a:r>
              <a:rPr lang="en-AU" b="1" dirty="0">
                <a:solidFill>
                  <a:srgbClr val="FFC000"/>
                </a:solidFill>
              </a:rPr>
              <a:t>Started – paused</a:t>
            </a:r>
          </a:p>
          <a:p>
            <a:pPr marL="457200" indent="-457200">
              <a:buFont typeface="+mj-lt"/>
              <a:buAutoNum type="arabicPeriod"/>
            </a:pPr>
            <a:endParaRPr lang="en-AU" noProof="0" dirty="0"/>
          </a:p>
          <a:p>
            <a:endParaRPr lang="en-AU" noProof="0" dirty="0"/>
          </a:p>
        </p:txBody>
      </p:sp>
    </p:spTree>
    <p:extLst>
      <p:ext uri="{BB962C8B-B14F-4D97-AF65-F5344CB8AC3E}">
        <p14:creationId xmlns:p14="http://schemas.microsoft.com/office/powerpoint/2010/main" val="3955021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2B913-B39A-5B89-93D0-8DA587D276E9}"/>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6F764F6E-F8CD-F68F-2472-625CB41BFFDE}"/>
              </a:ext>
            </a:extLst>
          </p:cNvPr>
          <p:cNvSpPr>
            <a:spLocks noGrp="1"/>
          </p:cNvSpPr>
          <p:nvPr>
            <p:ph type="title"/>
          </p:nvPr>
        </p:nvSpPr>
        <p:spPr/>
        <p:txBody>
          <a:bodyPr/>
          <a:lstStyle/>
          <a:p>
            <a:r>
              <a:rPr lang="en-AU" noProof="0" dirty="0"/>
              <a:t>WP04 – Verification of the Design Procedure</a:t>
            </a:r>
          </a:p>
        </p:txBody>
      </p:sp>
      <p:sp>
        <p:nvSpPr>
          <p:cNvPr id="4" name="Textplatzhalter 1">
            <a:extLst>
              <a:ext uri="{FF2B5EF4-FFF2-40B4-BE49-F238E27FC236}">
                <a16:creationId xmlns:a16="http://schemas.microsoft.com/office/drawing/2014/main" id="{37C35FEF-41E8-97AE-662E-22A74A795507}"/>
              </a:ext>
            </a:extLst>
          </p:cNvPr>
          <p:cNvSpPr>
            <a:spLocks noGrp="1"/>
          </p:cNvSpPr>
          <p:nvPr>
            <p:ph type="body" sz="quarter" idx="18"/>
          </p:nvPr>
        </p:nvSpPr>
        <p:spPr>
          <a:xfrm>
            <a:off x="432000" y="899989"/>
            <a:ext cx="11312077" cy="5651824"/>
          </a:xfrm>
        </p:spPr>
        <p:txBody>
          <a:bodyPr/>
          <a:lstStyle/>
          <a:p>
            <a:r>
              <a:rPr lang="en-AU" b="1" u="sng" dirty="0">
                <a:solidFill>
                  <a:schemeClr val="tx1"/>
                </a:solidFill>
              </a:rPr>
              <a:t>Motivation:</a:t>
            </a:r>
          </a:p>
          <a:p>
            <a:r>
              <a:rPr lang="en-AU" dirty="0">
                <a:solidFill>
                  <a:schemeClr val="tx1"/>
                </a:solidFill>
              </a:rPr>
              <a:t>To be able to promote this design method as a viable alternative to hazard-based design and other risk-based design methods we must be able to show that it produces adequate results</a:t>
            </a:r>
          </a:p>
          <a:p>
            <a:endParaRPr lang="en-AU" dirty="0">
              <a:solidFill>
                <a:schemeClr val="tx1"/>
              </a:solidFill>
            </a:endParaRPr>
          </a:p>
          <a:p>
            <a:r>
              <a:rPr lang="en-AU" b="1" u="sng" dirty="0"/>
              <a:t>Research Questions:</a:t>
            </a:r>
            <a:r>
              <a:rPr lang="en-AU" dirty="0"/>
              <a:t> </a:t>
            </a:r>
          </a:p>
          <a:p>
            <a:r>
              <a:rPr lang="en-AU" i="1" dirty="0"/>
              <a:t>How do the actual collapse capacities of structures designed using reliability-based design and the CD-Models compare to the target values? </a:t>
            </a:r>
          </a:p>
          <a:p>
            <a:endParaRPr lang="en-AU" i="1" dirty="0"/>
          </a:p>
          <a:p>
            <a:r>
              <a:rPr lang="en-AU" i="1" dirty="0"/>
              <a:t>What parameters or components of the design procedure influence the accuracy the most?</a:t>
            </a:r>
          </a:p>
          <a:p>
            <a:endParaRPr lang="en-AU" dirty="0"/>
          </a:p>
          <a:p>
            <a:r>
              <a:rPr lang="en-AU" b="1" u="sng" dirty="0"/>
              <a:t>Status:</a:t>
            </a:r>
            <a:r>
              <a:rPr lang="en-AU" b="1" dirty="0"/>
              <a:t> </a:t>
            </a:r>
            <a:r>
              <a:rPr lang="en-AU" b="1" dirty="0">
                <a:solidFill>
                  <a:srgbClr val="FF0000"/>
                </a:solidFill>
              </a:rPr>
              <a:t>Not Started</a:t>
            </a:r>
          </a:p>
          <a:p>
            <a:endParaRPr lang="en-AU" noProof="0" dirty="0"/>
          </a:p>
        </p:txBody>
      </p:sp>
    </p:spTree>
    <p:extLst>
      <p:ext uri="{BB962C8B-B14F-4D97-AF65-F5344CB8AC3E}">
        <p14:creationId xmlns:p14="http://schemas.microsoft.com/office/powerpoint/2010/main" val="2743175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7FDE8D1C-C486-4F28-9E3F-2000A8061293}"/>
              </a:ext>
            </a:extLst>
          </p:cNvPr>
          <p:cNvSpPr>
            <a:spLocks noGrp="1"/>
          </p:cNvSpPr>
          <p:nvPr>
            <p:ph type="body" sz="quarter" idx="18"/>
          </p:nvPr>
        </p:nvSpPr>
        <p:spPr/>
        <p:txBody>
          <a:bodyPr/>
          <a:lstStyle/>
          <a:p>
            <a:endParaRPr lang="de-DE" dirty="0"/>
          </a:p>
        </p:txBody>
      </p:sp>
      <p:sp>
        <p:nvSpPr>
          <p:cNvPr id="3" name="Titel 2">
            <a:extLst>
              <a:ext uri="{FF2B5EF4-FFF2-40B4-BE49-F238E27FC236}">
                <a16:creationId xmlns:a16="http://schemas.microsoft.com/office/drawing/2014/main" id="{565ACD4A-8AA8-18D8-51FB-72C5B3F6A467}"/>
              </a:ext>
            </a:extLst>
          </p:cNvPr>
          <p:cNvSpPr>
            <a:spLocks noGrp="1"/>
          </p:cNvSpPr>
          <p:nvPr>
            <p:ph type="title"/>
          </p:nvPr>
        </p:nvSpPr>
        <p:spPr/>
        <p:txBody>
          <a:bodyPr/>
          <a:lstStyle/>
          <a:p>
            <a:r>
              <a:rPr lang="en-AU" dirty="0"/>
              <a:t>Work-Packages</a:t>
            </a:r>
            <a:endParaRPr lang="de-DE" dirty="0"/>
          </a:p>
        </p:txBody>
      </p:sp>
      <p:pic>
        <p:nvPicPr>
          <p:cNvPr id="5" name="Grafik 4" descr="Ein Bild, das Text, Screenshot, Zahl, Display enthält.&#10;&#10;KI-generierte Inhalte können fehlerhaft sein.">
            <a:extLst>
              <a:ext uri="{FF2B5EF4-FFF2-40B4-BE49-F238E27FC236}">
                <a16:creationId xmlns:a16="http://schemas.microsoft.com/office/drawing/2014/main" id="{3CFEA3D6-1704-B8D5-3E3A-E2F8309E4F36}"/>
              </a:ext>
            </a:extLst>
          </p:cNvPr>
          <p:cNvPicPr>
            <a:picLocks noChangeAspect="1"/>
          </p:cNvPicPr>
          <p:nvPr/>
        </p:nvPicPr>
        <p:blipFill>
          <a:blip r:embed="rId2"/>
          <a:stretch>
            <a:fillRect/>
          </a:stretch>
        </p:blipFill>
        <p:spPr>
          <a:xfrm>
            <a:off x="432000" y="976410"/>
            <a:ext cx="9818293" cy="5468195"/>
          </a:xfrm>
          <a:prstGeom prst="rect">
            <a:avLst/>
          </a:prstGeom>
        </p:spPr>
      </p:pic>
      <p:sp>
        <p:nvSpPr>
          <p:cNvPr id="6" name="Textfeld 5">
            <a:extLst>
              <a:ext uri="{FF2B5EF4-FFF2-40B4-BE49-F238E27FC236}">
                <a16:creationId xmlns:a16="http://schemas.microsoft.com/office/drawing/2014/main" id="{FFB75AD9-0C5B-A901-A736-B3CACA036E19}"/>
              </a:ext>
            </a:extLst>
          </p:cNvPr>
          <p:cNvSpPr txBox="1"/>
          <p:nvPr/>
        </p:nvSpPr>
        <p:spPr>
          <a:xfrm>
            <a:off x="10267556" y="1009542"/>
            <a:ext cx="1116336"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2 </a:t>
            </a:r>
            <a:r>
              <a:rPr lang="de-DE" b="1" dirty="0" err="1">
                <a:solidFill>
                  <a:schemeClr val="tx2"/>
                </a:solidFill>
                <a:latin typeface="Futura LT Pro Light" panose="020B0402020204020303" pitchFamily="34" charset="0"/>
                <a:cs typeface="+mn-cs"/>
              </a:rPr>
              <a:t>Years</a:t>
            </a:r>
            <a:endParaRPr lang="de-DE" b="1" dirty="0">
              <a:solidFill>
                <a:schemeClr val="tx2"/>
              </a:solidFill>
              <a:latin typeface="Futura LT Pro Light" panose="020B0402020204020303" pitchFamily="34" charset="0"/>
              <a:cs typeface="+mn-cs"/>
            </a:endParaRPr>
          </a:p>
        </p:txBody>
      </p:sp>
      <p:sp>
        <p:nvSpPr>
          <p:cNvPr id="7" name="Textfeld 6">
            <a:extLst>
              <a:ext uri="{FF2B5EF4-FFF2-40B4-BE49-F238E27FC236}">
                <a16:creationId xmlns:a16="http://schemas.microsoft.com/office/drawing/2014/main" id="{A23BDA4D-0FEA-8061-1C2A-BD820C94CA10}"/>
              </a:ext>
            </a:extLst>
          </p:cNvPr>
          <p:cNvSpPr txBox="1"/>
          <p:nvPr/>
        </p:nvSpPr>
        <p:spPr>
          <a:xfrm>
            <a:off x="10250293" y="2196133"/>
            <a:ext cx="1667242"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12/25 – 04/26</a:t>
            </a:r>
          </a:p>
        </p:txBody>
      </p:sp>
      <p:sp>
        <p:nvSpPr>
          <p:cNvPr id="9" name="Textfeld 8">
            <a:extLst>
              <a:ext uri="{FF2B5EF4-FFF2-40B4-BE49-F238E27FC236}">
                <a16:creationId xmlns:a16="http://schemas.microsoft.com/office/drawing/2014/main" id="{EF59CC11-5A5A-F0FB-453A-CDBA79518516}"/>
              </a:ext>
            </a:extLst>
          </p:cNvPr>
          <p:cNvSpPr txBox="1"/>
          <p:nvPr/>
        </p:nvSpPr>
        <p:spPr>
          <a:xfrm>
            <a:off x="10261351" y="3357389"/>
            <a:ext cx="1667242"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05/26 – 11/26</a:t>
            </a:r>
          </a:p>
        </p:txBody>
      </p:sp>
      <p:sp>
        <p:nvSpPr>
          <p:cNvPr id="10" name="Textfeld 9">
            <a:extLst>
              <a:ext uri="{FF2B5EF4-FFF2-40B4-BE49-F238E27FC236}">
                <a16:creationId xmlns:a16="http://schemas.microsoft.com/office/drawing/2014/main" id="{7E7B6FFE-9518-2E09-E3DA-D48348C597CB}"/>
              </a:ext>
            </a:extLst>
          </p:cNvPr>
          <p:cNvSpPr txBox="1"/>
          <p:nvPr/>
        </p:nvSpPr>
        <p:spPr>
          <a:xfrm>
            <a:off x="10250293" y="4333979"/>
            <a:ext cx="1667242"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12/26 – 05/27</a:t>
            </a:r>
          </a:p>
        </p:txBody>
      </p:sp>
      <p:sp>
        <p:nvSpPr>
          <p:cNvPr id="12" name="Textfeld 11">
            <a:extLst>
              <a:ext uri="{FF2B5EF4-FFF2-40B4-BE49-F238E27FC236}">
                <a16:creationId xmlns:a16="http://schemas.microsoft.com/office/drawing/2014/main" id="{959F94DE-E96E-6C91-529F-BBA0D2D73373}"/>
              </a:ext>
            </a:extLst>
          </p:cNvPr>
          <p:cNvSpPr txBox="1"/>
          <p:nvPr/>
        </p:nvSpPr>
        <p:spPr>
          <a:xfrm>
            <a:off x="10249278" y="5179226"/>
            <a:ext cx="1667242"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06/26 – 08/27</a:t>
            </a:r>
          </a:p>
        </p:txBody>
      </p:sp>
      <p:sp>
        <p:nvSpPr>
          <p:cNvPr id="13" name="Textfeld 12">
            <a:extLst>
              <a:ext uri="{FF2B5EF4-FFF2-40B4-BE49-F238E27FC236}">
                <a16:creationId xmlns:a16="http://schemas.microsoft.com/office/drawing/2014/main" id="{6E1D35CC-4C8E-FB4D-041F-7FF233039147}"/>
              </a:ext>
            </a:extLst>
          </p:cNvPr>
          <p:cNvSpPr txBox="1"/>
          <p:nvPr/>
        </p:nvSpPr>
        <p:spPr>
          <a:xfrm>
            <a:off x="10249278" y="5627249"/>
            <a:ext cx="1667242"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08/26 – 10/27</a:t>
            </a:r>
          </a:p>
        </p:txBody>
      </p:sp>
    </p:spTree>
    <p:extLst>
      <p:ext uri="{BB962C8B-B14F-4D97-AF65-F5344CB8AC3E}">
        <p14:creationId xmlns:p14="http://schemas.microsoft.com/office/powerpoint/2010/main" val="2096692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D54A0FA2-8CC8-4913-8FB5-BA15141A683B}"/>
              </a:ext>
            </a:extLst>
          </p:cNvPr>
          <p:cNvSpPr>
            <a:spLocks noGrp="1"/>
          </p:cNvSpPr>
          <p:nvPr>
            <p:ph type="body" sz="quarter" idx="18"/>
          </p:nvPr>
        </p:nvSpPr>
        <p:spPr/>
        <p:txBody>
          <a:bodyPr/>
          <a:lstStyle/>
          <a:p>
            <a:r>
              <a:rPr lang="en-AU" b="1" u="sng" noProof="0" dirty="0"/>
              <a:t>Motivation:</a:t>
            </a:r>
            <a:r>
              <a:rPr lang="en-AU" u="sng" noProof="0" dirty="0"/>
              <a:t> </a:t>
            </a:r>
          </a:p>
          <a:p>
            <a:r>
              <a:rPr lang="en-AU" noProof="0" dirty="0"/>
              <a:t>Many collapse fragility curves for a large range of structures have been published in the literature. </a:t>
            </a:r>
          </a:p>
          <a:p>
            <a:endParaRPr lang="en-AU" i="1" noProof="0" dirty="0"/>
          </a:p>
          <a:p>
            <a:r>
              <a:rPr lang="en-AU" b="1" i="1" u="sng" noProof="0" dirty="0"/>
              <a:t>Research Question: </a:t>
            </a:r>
          </a:p>
          <a:p>
            <a:r>
              <a:rPr lang="en-AU" i="1" noProof="0" dirty="0"/>
              <a:t>Are there enough fragility curves of sufficient quality in the literature to enable the derivation of suitable CC2D-Models for use in reliability-based design?</a:t>
            </a:r>
            <a:endParaRPr lang="en-AU" noProof="0" dirty="0"/>
          </a:p>
          <a:p>
            <a:endParaRPr lang="en-AU" noProof="0" dirty="0"/>
          </a:p>
          <a:p>
            <a:r>
              <a:rPr lang="en-AU" b="1" u="sng" noProof="0" dirty="0"/>
              <a:t>Status: </a:t>
            </a:r>
            <a:r>
              <a:rPr lang="en-AU" b="1" noProof="0" dirty="0">
                <a:solidFill>
                  <a:srgbClr val="00B050"/>
                </a:solidFill>
              </a:rPr>
              <a:t>Completed</a:t>
            </a:r>
          </a:p>
        </p:txBody>
      </p:sp>
      <p:sp>
        <p:nvSpPr>
          <p:cNvPr id="3" name="Titel 2">
            <a:extLst>
              <a:ext uri="{FF2B5EF4-FFF2-40B4-BE49-F238E27FC236}">
                <a16:creationId xmlns:a16="http://schemas.microsoft.com/office/drawing/2014/main" id="{FA406C06-A133-5162-4A67-059029ECB07C}"/>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spTree>
    <p:extLst>
      <p:ext uri="{BB962C8B-B14F-4D97-AF65-F5344CB8AC3E}">
        <p14:creationId xmlns:p14="http://schemas.microsoft.com/office/powerpoint/2010/main" val="1493906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4F767-E379-25EE-63BF-4134FD4C50CA}"/>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504E54D3-9D8C-37CD-D785-C2E72F9C2F00}"/>
              </a:ext>
            </a:extLst>
          </p:cNvPr>
          <p:cNvSpPr>
            <a:spLocks noGrp="1"/>
          </p:cNvSpPr>
          <p:nvPr>
            <p:ph type="body" sz="quarter" idx="18"/>
          </p:nvPr>
        </p:nvSpPr>
        <p:spPr/>
        <p:txBody>
          <a:bodyPr/>
          <a:lstStyle/>
          <a:p>
            <a:pPr marL="457200" indent="-457200">
              <a:buAutoNum type="arabicPeriod"/>
            </a:pPr>
            <a:r>
              <a:rPr lang="en-AU" b="1" noProof="0" dirty="0">
                <a:solidFill>
                  <a:schemeClr val="tx1"/>
                </a:solidFill>
              </a:rPr>
              <a:t>Create a database of fragility curves from the literature</a:t>
            </a:r>
          </a:p>
          <a:p>
            <a:pPr marL="800100" lvl="1" indent="-342900">
              <a:buFont typeface="Arial" panose="020B0604020202020204" pitchFamily="34" charset="0"/>
              <a:buChar char="•"/>
            </a:pPr>
            <a:r>
              <a:rPr lang="en-AU" noProof="0" dirty="0">
                <a:solidFill>
                  <a:schemeClr val="tx1"/>
                </a:solidFill>
              </a:rPr>
              <a:t>EC8 “new” structures</a:t>
            </a:r>
          </a:p>
          <a:p>
            <a:pPr marL="800100" lvl="1" indent="-342900">
              <a:buFont typeface="Arial" panose="020B0604020202020204" pitchFamily="34" charset="0"/>
              <a:buChar char="•"/>
            </a:pPr>
            <a:r>
              <a:rPr lang="en-AU" noProof="0" dirty="0">
                <a:solidFill>
                  <a:schemeClr val="tx1"/>
                </a:solidFill>
              </a:rPr>
              <a:t>Must contain information on the design parameters</a:t>
            </a:r>
          </a:p>
        </p:txBody>
      </p:sp>
      <p:sp>
        <p:nvSpPr>
          <p:cNvPr id="3" name="Titel 2">
            <a:extLst>
              <a:ext uri="{FF2B5EF4-FFF2-40B4-BE49-F238E27FC236}">
                <a16:creationId xmlns:a16="http://schemas.microsoft.com/office/drawing/2014/main" id="{DE72A538-E541-69F9-6C92-67EE3FF64031}"/>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pic>
        <p:nvPicPr>
          <p:cNvPr id="5" name="Grafik 4" descr="Ein Bild, das Text, Screenshot, Zahl, Software enthält.&#10;&#10;KI-generierte Inhalte können fehlerhaft sein.">
            <a:extLst>
              <a:ext uri="{FF2B5EF4-FFF2-40B4-BE49-F238E27FC236}">
                <a16:creationId xmlns:a16="http://schemas.microsoft.com/office/drawing/2014/main" id="{8332BF6F-0413-DBF9-C08D-6C69158ACF74}"/>
              </a:ext>
            </a:extLst>
          </p:cNvPr>
          <p:cNvPicPr>
            <a:picLocks noChangeAspect="1"/>
          </p:cNvPicPr>
          <p:nvPr/>
        </p:nvPicPr>
        <p:blipFill>
          <a:blip r:embed="rId2"/>
          <a:srcRect b="10612"/>
          <a:stretch>
            <a:fillRect/>
          </a:stretch>
        </p:blipFill>
        <p:spPr>
          <a:xfrm>
            <a:off x="4356695" y="2227047"/>
            <a:ext cx="7459116" cy="3934115"/>
          </a:xfrm>
          <a:prstGeom prst="rect">
            <a:avLst/>
          </a:prstGeom>
        </p:spPr>
      </p:pic>
      <p:sp>
        <p:nvSpPr>
          <p:cNvPr id="6" name="Textfeld 5">
            <a:extLst>
              <a:ext uri="{FF2B5EF4-FFF2-40B4-BE49-F238E27FC236}">
                <a16:creationId xmlns:a16="http://schemas.microsoft.com/office/drawing/2014/main" id="{C7D1AB44-B31C-540B-82E7-54BD830FA959}"/>
              </a:ext>
            </a:extLst>
          </p:cNvPr>
          <p:cNvSpPr txBox="1"/>
          <p:nvPr/>
        </p:nvSpPr>
        <p:spPr>
          <a:xfrm>
            <a:off x="460699" y="2451643"/>
            <a:ext cx="3240360" cy="2585323"/>
          </a:xfrm>
          <a:prstGeom prst="rect">
            <a:avLst/>
          </a:prstGeom>
          <a:noFill/>
        </p:spPr>
        <p:txBody>
          <a:bodyPr wrap="square" rtlCol="0">
            <a:spAutoFit/>
          </a:bodyPr>
          <a:lstStyle/>
          <a:p>
            <a:r>
              <a:rPr lang="en-AU" b="1" u="sng" noProof="0" dirty="0">
                <a:solidFill>
                  <a:srgbClr val="333333"/>
                </a:solidFill>
                <a:latin typeface="Futura LT Pro Light" panose="020B0402020204020303" pitchFamily="34" charset="0"/>
                <a:cs typeface="+mn-cs"/>
              </a:rPr>
              <a:t>The Numbers:</a:t>
            </a:r>
          </a:p>
          <a:p>
            <a:endParaRPr lang="en-AU" noProof="0" dirty="0">
              <a:solidFill>
                <a:srgbClr val="333333"/>
              </a:solidFill>
              <a:latin typeface="Futura LT Pro Light" panose="020B0402020204020303" pitchFamily="34" charset="0"/>
              <a:cs typeface="+mn-cs"/>
            </a:endParaRPr>
          </a:p>
          <a:p>
            <a:r>
              <a:rPr lang="en-AU" noProof="0" dirty="0">
                <a:solidFill>
                  <a:srgbClr val="333333"/>
                </a:solidFill>
                <a:latin typeface="Futura LT Pro Light" panose="020B0402020204020303" pitchFamily="34" charset="0"/>
                <a:cs typeface="+mn-cs"/>
              </a:rPr>
              <a:t>15     Studies</a:t>
            </a:r>
          </a:p>
          <a:p>
            <a:endParaRPr lang="en-AU" noProof="0" dirty="0">
              <a:solidFill>
                <a:srgbClr val="333333"/>
              </a:solidFill>
              <a:latin typeface="Futura LT Pro Light" panose="020B0402020204020303" pitchFamily="34" charset="0"/>
              <a:cs typeface="+mn-cs"/>
            </a:endParaRPr>
          </a:p>
          <a:p>
            <a:r>
              <a:rPr lang="en-AU" noProof="0" dirty="0">
                <a:solidFill>
                  <a:srgbClr val="333333"/>
                </a:solidFill>
                <a:latin typeface="Futura LT Pro Light" panose="020B0402020204020303" pitchFamily="34" charset="0"/>
                <a:cs typeface="+mn-cs"/>
              </a:rPr>
              <a:t>136   RC MRFs</a:t>
            </a:r>
          </a:p>
          <a:p>
            <a:endParaRPr lang="en-AU" noProof="0" dirty="0">
              <a:solidFill>
                <a:srgbClr val="333333"/>
              </a:solidFill>
              <a:latin typeface="Futura LT Pro Light" panose="020B0402020204020303" pitchFamily="34" charset="0"/>
              <a:cs typeface="+mn-cs"/>
            </a:endParaRPr>
          </a:p>
          <a:p>
            <a:r>
              <a:rPr lang="en-AU" noProof="0" dirty="0">
                <a:solidFill>
                  <a:srgbClr val="333333"/>
                </a:solidFill>
                <a:latin typeface="Futura LT Pro Light" panose="020B0402020204020303" pitchFamily="34" charset="0"/>
                <a:cs typeface="+mn-cs"/>
              </a:rPr>
              <a:t>21     RC Wall/Dual systems</a:t>
            </a:r>
          </a:p>
          <a:p>
            <a:endParaRPr lang="en-AU" noProof="0" dirty="0">
              <a:solidFill>
                <a:srgbClr val="333333"/>
              </a:solidFill>
              <a:latin typeface="Futura LT Pro Light" panose="020B0402020204020303" pitchFamily="34" charset="0"/>
              <a:cs typeface="+mn-cs"/>
            </a:endParaRPr>
          </a:p>
          <a:p>
            <a:r>
              <a:rPr lang="en-AU" noProof="0" dirty="0">
                <a:solidFill>
                  <a:srgbClr val="333333"/>
                </a:solidFill>
                <a:latin typeface="Futura LT Pro Light" panose="020B0402020204020303" pitchFamily="34" charset="0"/>
                <a:cs typeface="+mn-cs"/>
              </a:rPr>
              <a:t>33     Steel MRFS</a:t>
            </a:r>
          </a:p>
        </p:txBody>
      </p:sp>
    </p:spTree>
    <p:extLst>
      <p:ext uri="{BB962C8B-B14F-4D97-AF65-F5344CB8AC3E}">
        <p14:creationId xmlns:p14="http://schemas.microsoft.com/office/powerpoint/2010/main" val="2744841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3410-3C68-7C1D-2FBB-1451C94F8151}"/>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BD9A1E95-460C-BC74-FA66-85E55F4DB284}"/>
              </a:ext>
            </a:extLst>
          </p:cNvPr>
          <p:cNvSpPr>
            <a:spLocks noGrp="1"/>
          </p:cNvSpPr>
          <p:nvPr>
            <p:ph type="body" sz="quarter" idx="18"/>
          </p:nvPr>
        </p:nvSpPr>
        <p:spPr/>
        <p:txBody>
          <a:bodyPr/>
          <a:lstStyle/>
          <a:p>
            <a:r>
              <a:rPr lang="en-AU" b="1" noProof="0" dirty="0">
                <a:solidFill>
                  <a:schemeClr val="tx1"/>
                </a:solidFill>
              </a:rPr>
              <a:t>2. Inspection of the Database </a:t>
            </a:r>
          </a:p>
          <a:p>
            <a:endParaRPr lang="en-AU" noProof="0" dirty="0">
              <a:solidFill>
                <a:schemeClr val="tx1"/>
              </a:solidFill>
            </a:endParaRPr>
          </a:p>
        </p:txBody>
      </p:sp>
      <p:sp>
        <p:nvSpPr>
          <p:cNvPr id="3" name="Titel 2">
            <a:extLst>
              <a:ext uri="{FF2B5EF4-FFF2-40B4-BE49-F238E27FC236}">
                <a16:creationId xmlns:a16="http://schemas.microsoft.com/office/drawing/2014/main" id="{349922CC-EAD4-2E82-EF61-5FE40F48A3A6}"/>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pic>
        <p:nvPicPr>
          <p:cNvPr id="7" name="Grafik 6" descr="Ein Bild, das Text, Diagramm, Screenshot, Reihe enthält.&#10;&#10;KI-generierte Inhalte können fehlerhaft sein.">
            <a:extLst>
              <a:ext uri="{FF2B5EF4-FFF2-40B4-BE49-F238E27FC236}">
                <a16:creationId xmlns:a16="http://schemas.microsoft.com/office/drawing/2014/main" id="{EB66627C-0CCA-F9BB-A8C8-AE428E4CF077}"/>
              </a:ext>
            </a:extLst>
          </p:cNvPr>
          <p:cNvPicPr>
            <a:picLocks noChangeAspect="1"/>
          </p:cNvPicPr>
          <p:nvPr/>
        </p:nvPicPr>
        <p:blipFill>
          <a:blip r:embed="rId2"/>
          <a:stretch>
            <a:fillRect/>
          </a:stretch>
        </p:blipFill>
        <p:spPr>
          <a:xfrm>
            <a:off x="1240543" y="1828049"/>
            <a:ext cx="9524864" cy="4616556"/>
          </a:xfrm>
          <a:prstGeom prst="rect">
            <a:avLst/>
          </a:prstGeom>
        </p:spPr>
      </p:pic>
      <p:sp>
        <p:nvSpPr>
          <p:cNvPr id="8" name="Textfeld 7">
            <a:extLst>
              <a:ext uri="{FF2B5EF4-FFF2-40B4-BE49-F238E27FC236}">
                <a16:creationId xmlns:a16="http://schemas.microsoft.com/office/drawing/2014/main" id="{4AAFDA0D-D141-499D-5EEE-AED7365990E4}"/>
              </a:ext>
            </a:extLst>
          </p:cNvPr>
          <p:cNvSpPr txBox="1"/>
          <p:nvPr/>
        </p:nvSpPr>
        <p:spPr>
          <a:xfrm>
            <a:off x="2772519" y="1548061"/>
            <a:ext cx="2592288"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Reinforced Concrete</a:t>
            </a:r>
          </a:p>
        </p:txBody>
      </p:sp>
      <p:sp>
        <p:nvSpPr>
          <p:cNvPr id="9" name="Textfeld 8">
            <a:extLst>
              <a:ext uri="{FF2B5EF4-FFF2-40B4-BE49-F238E27FC236}">
                <a16:creationId xmlns:a16="http://schemas.microsoft.com/office/drawing/2014/main" id="{AC34CBF1-C04C-6B1A-9B29-B9FBAD879E62}"/>
              </a:ext>
            </a:extLst>
          </p:cNvPr>
          <p:cNvSpPr txBox="1"/>
          <p:nvPr/>
        </p:nvSpPr>
        <p:spPr>
          <a:xfrm>
            <a:off x="8302414" y="1548061"/>
            <a:ext cx="878817"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Steel</a:t>
            </a:r>
          </a:p>
        </p:txBody>
      </p:sp>
    </p:spTree>
    <p:extLst>
      <p:ext uri="{BB962C8B-B14F-4D97-AF65-F5344CB8AC3E}">
        <p14:creationId xmlns:p14="http://schemas.microsoft.com/office/powerpoint/2010/main" val="3620032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B3154-50DA-1702-5C40-DB2A046EC914}"/>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7B9B67F2-EEA3-5835-9DDC-BEAC0827A77D}"/>
              </a:ext>
            </a:extLst>
          </p:cNvPr>
          <p:cNvSpPr>
            <a:spLocks noGrp="1"/>
          </p:cNvSpPr>
          <p:nvPr>
            <p:ph type="body" sz="quarter" idx="18"/>
          </p:nvPr>
        </p:nvSpPr>
        <p:spPr/>
        <p:txBody>
          <a:bodyPr/>
          <a:lstStyle/>
          <a:p>
            <a:endParaRPr lang="en-AU" noProof="0" dirty="0">
              <a:solidFill>
                <a:schemeClr val="tx1"/>
              </a:solidFill>
            </a:endParaRPr>
          </a:p>
        </p:txBody>
      </p:sp>
      <p:sp>
        <p:nvSpPr>
          <p:cNvPr id="3" name="Titel 2">
            <a:extLst>
              <a:ext uri="{FF2B5EF4-FFF2-40B4-BE49-F238E27FC236}">
                <a16:creationId xmlns:a16="http://schemas.microsoft.com/office/drawing/2014/main" id="{0CD66264-8D39-8BBB-7D48-A889F4BC1105}"/>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pic>
        <p:nvPicPr>
          <p:cNvPr id="5" name="Grafik 4" descr="Ein Bild, das Text, Screenshot, Diagramm, Zahl enthält.&#10;&#10;KI-generierte Inhalte können fehlerhaft sein.">
            <a:extLst>
              <a:ext uri="{FF2B5EF4-FFF2-40B4-BE49-F238E27FC236}">
                <a16:creationId xmlns:a16="http://schemas.microsoft.com/office/drawing/2014/main" id="{C075FBE5-2BB3-404D-DF68-9628294C6157}"/>
              </a:ext>
            </a:extLst>
          </p:cNvPr>
          <p:cNvPicPr>
            <a:picLocks noChangeAspect="1"/>
          </p:cNvPicPr>
          <p:nvPr/>
        </p:nvPicPr>
        <p:blipFill>
          <a:blip r:embed="rId2"/>
          <a:stretch>
            <a:fillRect/>
          </a:stretch>
        </p:blipFill>
        <p:spPr>
          <a:xfrm>
            <a:off x="540271" y="1980109"/>
            <a:ext cx="3562847" cy="3105583"/>
          </a:xfrm>
          <a:prstGeom prst="rect">
            <a:avLst/>
          </a:prstGeom>
        </p:spPr>
      </p:pic>
      <p:pic>
        <p:nvPicPr>
          <p:cNvPr id="7" name="Grafik 6" descr="Ein Bild, das Text, Screenshot, Diagramm, Reihe enthält.&#10;&#10;KI-generierte Inhalte können fehlerhaft sein.">
            <a:extLst>
              <a:ext uri="{FF2B5EF4-FFF2-40B4-BE49-F238E27FC236}">
                <a16:creationId xmlns:a16="http://schemas.microsoft.com/office/drawing/2014/main" id="{841915AE-D007-070F-918C-3ACDA3C80057}"/>
              </a:ext>
            </a:extLst>
          </p:cNvPr>
          <p:cNvPicPr>
            <a:picLocks noChangeAspect="1"/>
          </p:cNvPicPr>
          <p:nvPr/>
        </p:nvPicPr>
        <p:blipFill>
          <a:blip r:embed="rId3"/>
          <a:stretch>
            <a:fillRect/>
          </a:stretch>
        </p:blipFill>
        <p:spPr>
          <a:xfrm>
            <a:off x="4360750" y="1851623"/>
            <a:ext cx="3562847" cy="3162741"/>
          </a:xfrm>
          <a:prstGeom prst="rect">
            <a:avLst/>
          </a:prstGeom>
        </p:spPr>
      </p:pic>
      <p:pic>
        <p:nvPicPr>
          <p:cNvPr id="9" name="Grafik 8" descr="Ein Bild, das Text, Screenshot, Diagramm, Reihe enthält.&#10;&#10;KI-generierte Inhalte können fehlerhaft sein.">
            <a:extLst>
              <a:ext uri="{FF2B5EF4-FFF2-40B4-BE49-F238E27FC236}">
                <a16:creationId xmlns:a16="http://schemas.microsoft.com/office/drawing/2014/main" id="{0B994FF7-1D99-EF01-6F2F-CCCA354D5821}"/>
              </a:ext>
            </a:extLst>
          </p:cNvPr>
          <p:cNvPicPr>
            <a:picLocks noChangeAspect="1"/>
          </p:cNvPicPr>
          <p:nvPr/>
        </p:nvPicPr>
        <p:blipFill>
          <a:blip r:embed="rId4"/>
          <a:stretch>
            <a:fillRect/>
          </a:stretch>
        </p:blipFill>
        <p:spPr>
          <a:xfrm>
            <a:off x="8317135" y="1969552"/>
            <a:ext cx="2893232" cy="2950185"/>
          </a:xfrm>
          <a:prstGeom prst="rect">
            <a:avLst/>
          </a:prstGeom>
        </p:spPr>
      </p:pic>
      <p:sp>
        <p:nvSpPr>
          <p:cNvPr id="10" name="Textfeld 9">
            <a:extLst>
              <a:ext uri="{FF2B5EF4-FFF2-40B4-BE49-F238E27FC236}">
                <a16:creationId xmlns:a16="http://schemas.microsoft.com/office/drawing/2014/main" id="{9F44DA6E-81DA-636D-B144-A1128F75496A}"/>
              </a:ext>
            </a:extLst>
          </p:cNvPr>
          <p:cNvSpPr txBox="1"/>
          <p:nvPr/>
        </p:nvSpPr>
        <p:spPr>
          <a:xfrm>
            <a:off x="1548383" y="1704844"/>
            <a:ext cx="2078856"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Different Studies</a:t>
            </a:r>
          </a:p>
        </p:txBody>
      </p:sp>
      <p:sp>
        <p:nvSpPr>
          <p:cNvPr id="11" name="Textfeld 10">
            <a:extLst>
              <a:ext uri="{FF2B5EF4-FFF2-40B4-BE49-F238E27FC236}">
                <a16:creationId xmlns:a16="http://schemas.microsoft.com/office/drawing/2014/main" id="{B6F4DDCA-230E-19DE-9969-226F8FC7F855}"/>
              </a:ext>
            </a:extLst>
          </p:cNvPr>
          <p:cNvSpPr txBox="1"/>
          <p:nvPr/>
        </p:nvSpPr>
        <p:spPr>
          <a:xfrm>
            <a:off x="5436815" y="1666957"/>
            <a:ext cx="2078856"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No. of Stories</a:t>
            </a:r>
          </a:p>
        </p:txBody>
      </p:sp>
      <p:sp>
        <p:nvSpPr>
          <p:cNvPr id="12" name="Textfeld 11">
            <a:extLst>
              <a:ext uri="{FF2B5EF4-FFF2-40B4-BE49-F238E27FC236}">
                <a16:creationId xmlns:a16="http://schemas.microsoft.com/office/drawing/2014/main" id="{42BEC462-4905-885C-8BDB-00E0CBB3073D}"/>
              </a:ext>
            </a:extLst>
          </p:cNvPr>
          <p:cNvSpPr txBox="1"/>
          <p:nvPr/>
        </p:nvSpPr>
        <p:spPr>
          <a:xfrm>
            <a:off x="8830567" y="1704844"/>
            <a:ext cx="2078856"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Analysis Method</a:t>
            </a:r>
          </a:p>
        </p:txBody>
      </p:sp>
    </p:spTree>
    <p:extLst>
      <p:ext uri="{BB962C8B-B14F-4D97-AF65-F5344CB8AC3E}">
        <p14:creationId xmlns:p14="http://schemas.microsoft.com/office/powerpoint/2010/main" val="2190020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E6B93-E25A-B12C-9099-A0F766C99FE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22A61510-EF1C-B0CF-4AD0-6219F235C262}"/>
              </a:ext>
            </a:extLst>
          </p:cNvPr>
          <p:cNvSpPr>
            <a:spLocks noGrp="1"/>
          </p:cNvSpPr>
          <p:nvPr>
            <p:ph type="body" sz="quarter" idx="18"/>
          </p:nvPr>
        </p:nvSpPr>
        <p:spPr/>
        <p:txBody>
          <a:bodyPr/>
          <a:lstStyle/>
          <a:p>
            <a:r>
              <a:rPr lang="en-AU" b="1" noProof="0" dirty="0">
                <a:solidFill>
                  <a:schemeClr val="tx1"/>
                </a:solidFill>
              </a:rPr>
              <a:t>3. Regression Analysis</a:t>
            </a:r>
          </a:p>
        </p:txBody>
      </p:sp>
      <p:sp>
        <p:nvSpPr>
          <p:cNvPr id="3" name="Titel 2">
            <a:extLst>
              <a:ext uri="{FF2B5EF4-FFF2-40B4-BE49-F238E27FC236}">
                <a16:creationId xmlns:a16="http://schemas.microsoft.com/office/drawing/2014/main" id="{9ABDE2A9-1890-DD28-98CA-3D9C6E650DB4}"/>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pic>
        <p:nvPicPr>
          <p:cNvPr id="5" name="Grafik 4" descr="Ein Bild, das Text, Screenshot, Reihe, Diagramm enthält.&#10;&#10;KI-generierte Inhalte können fehlerhaft sein.">
            <a:extLst>
              <a:ext uri="{FF2B5EF4-FFF2-40B4-BE49-F238E27FC236}">
                <a16:creationId xmlns:a16="http://schemas.microsoft.com/office/drawing/2014/main" id="{BCC3239E-5BAA-C961-946E-CEE32FD64420}"/>
              </a:ext>
            </a:extLst>
          </p:cNvPr>
          <p:cNvPicPr>
            <a:picLocks noChangeAspect="1"/>
          </p:cNvPicPr>
          <p:nvPr/>
        </p:nvPicPr>
        <p:blipFill>
          <a:blip r:embed="rId2"/>
          <a:stretch>
            <a:fillRect/>
          </a:stretch>
        </p:blipFill>
        <p:spPr>
          <a:xfrm>
            <a:off x="667732" y="2010528"/>
            <a:ext cx="4942541" cy="4290061"/>
          </a:xfrm>
          <a:prstGeom prst="rect">
            <a:avLst/>
          </a:prstGeom>
        </p:spPr>
      </p:pic>
      <p:pic>
        <p:nvPicPr>
          <p:cNvPr id="7" name="Grafik 6" descr="Ein Bild, das Text, Reihe, Diagramm, Screenshot enthält.&#10;&#10;KI-generierte Inhalte können fehlerhaft sein.">
            <a:extLst>
              <a:ext uri="{FF2B5EF4-FFF2-40B4-BE49-F238E27FC236}">
                <a16:creationId xmlns:a16="http://schemas.microsoft.com/office/drawing/2014/main" id="{A168BCC1-7490-70AF-51F5-BFB3D60D803E}"/>
              </a:ext>
            </a:extLst>
          </p:cNvPr>
          <p:cNvPicPr>
            <a:picLocks noChangeAspect="1"/>
          </p:cNvPicPr>
          <p:nvPr/>
        </p:nvPicPr>
        <p:blipFill>
          <a:blip r:embed="rId3"/>
          <a:stretch>
            <a:fillRect/>
          </a:stretch>
        </p:blipFill>
        <p:spPr>
          <a:xfrm>
            <a:off x="6284019" y="2119661"/>
            <a:ext cx="4608512" cy="3825196"/>
          </a:xfrm>
          <a:prstGeom prst="rect">
            <a:avLst/>
          </a:prstGeom>
        </p:spPr>
      </p:pic>
      <p:sp>
        <p:nvSpPr>
          <p:cNvPr id="8" name="Textfeld 7">
            <a:extLst>
              <a:ext uri="{FF2B5EF4-FFF2-40B4-BE49-F238E27FC236}">
                <a16:creationId xmlns:a16="http://schemas.microsoft.com/office/drawing/2014/main" id="{0A9217AA-BD93-1056-D685-0003F69C5993}"/>
              </a:ext>
            </a:extLst>
          </p:cNvPr>
          <p:cNvSpPr txBox="1"/>
          <p:nvPr/>
        </p:nvSpPr>
        <p:spPr>
          <a:xfrm>
            <a:off x="7885087" y="1825862"/>
            <a:ext cx="2448272"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Inherent Capacity</a:t>
            </a:r>
          </a:p>
        </p:txBody>
      </p:sp>
    </p:spTree>
    <p:extLst>
      <p:ext uri="{BB962C8B-B14F-4D97-AF65-F5344CB8AC3E}">
        <p14:creationId xmlns:p14="http://schemas.microsoft.com/office/powerpoint/2010/main" val="42899825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F310B-2220-AB9D-556F-F38D3DE3CA8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platzhalter 1">
                <a:extLst>
                  <a:ext uri="{FF2B5EF4-FFF2-40B4-BE49-F238E27FC236}">
                    <a16:creationId xmlns:a16="http://schemas.microsoft.com/office/drawing/2014/main" id="{E042CF7F-B425-33EB-C5D1-A36A7F6B3BAC}"/>
                  </a:ext>
                </a:extLst>
              </p:cNvPr>
              <p:cNvSpPr>
                <a:spLocks noGrp="1"/>
              </p:cNvSpPr>
              <p:nvPr>
                <p:ph type="body" sz="quarter" idx="18"/>
              </p:nvPr>
            </p:nvSpPr>
            <p:spPr/>
            <p:txBody>
              <a:bodyPr/>
              <a:lstStyle/>
              <a:p>
                <a:r>
                  <a:rPr lang="en-AU" b="1" noProof="0" dirty="0">
                    <a:solidFill>
                      <a:schemeClr val="tx1"/>
                    </a:solidFill>
                  </a:rPr>
                  <a:t>4. Application to risk-targeted seismic demand maps</a:t>
                </a:r>
              </a:p>
              <a:p>
                <a:pPr marL="800100" lvl="1" indent="-342900">
                  <a:buFont typeface="Arial" panose="020B0604020202020204" pitchFamily="34" charset="0"/>
                  <a:buChar char="•"/>
                </a:pPr>
                <a:r>
                  <a:rPr lang="en-AU" noProof="0" dirty="0">
                    <a:solidFill>
                      <a:schemeClr val="tx1"/>
                    </a:solidFill>
                  </a:rPr>
                  <a:t>Piecewise model: </a:t>
                </a:r>
                <a14:m>
                  <m:oMath xmlns:m="http://schemas.openxmlformats.org/officeDocument/2006/math">
                    <m:sSub>
                      <m:sSubPr>
                        <m:ctrlPr>
                          <a:rPr lang="en-AU" sz="1400" i="1" noProof="0" smtClean="0">
                            <a:latin typeface="Cambria Math" panose="02040503050406030204" pitchFamily="18" charset="0"/>
                            <a:ea typeface="Calibri" panose="020F0502020204030204" pitchFamily="34" charset="0"/>
                            <a:cs typeface="Times New Roman" panose="02020603050405020304" pitchFamily="18" charset="0"/>
                          </a:rPr>
                        </m:ctrlPr>
                      </m:sSubPr>
                      <m:e>
                        <m:r>
                          <a:rPr lang="en-AU" sz="1400" i="1" noProof="0" smtClean="0">
                            <a:latin typeface="Cambria Math" panose="02040503050406030204" pitchFamily="18" charset="0"/>
                            <a:ea typeface="Calibri" panose="020F0502020204030204" pitchFamily="34" charset="0"/>
                            <a:cs typeface="Times New Roman" panose="02020603050405020304" pitchFamily="18" charset="0"/>
                          </a:rPr>
                          <m:t>𝜃</m:t>
                        </m:r>
                      </m:e>
                      <m:sub>
                        <m:r>
                          <a:rPr lang="en-AU" sz="1400" i="1" noProof="0" smtClean="0">
                            <a:latin typeface="Cambria Math" panose="02040503050406030204" pitchFamily="18" charset="0"/>
                            <a:ea typeface="Calibri" panose="020F0502020204030204" pitchFamily="34" charset="0"/>
                            <a:cs typeface="Times New Roman" panose="02020603050405020304" pitchFamily="18" charset="0"/>
                          </a:rPr>
                          <m:t>𝑐</m:t>
                        </m:r>
                      </m:sub>
                    </m:sSub>
                    <m:r>
                      <a:rPr lang="en-AU" sz="1400" i="1" noProof="0" smtClean="0">
                        <a:latin typeface="Cambria Math" panose="02040503050406030204" pitchFamily="18" charset="0"/>
                        <a:ea typeface="MS Mincho" panose="02020609040205080304" pitchFamily="49" charset="-128"/>
                        <a:cs typeface="Times New Roman" panose="02020603050405020304" pitchFamily="18" charset="0"/>
                      </a:rPr>
                      <m:t>=</m:t>
                    </m:r>
                    <m:func>
                      <m:funcPr>
                        <m:ctrlPr>
                          <a:rPr lang="en-AU" i="1" noProof="0" smtClean="0">
                            <a:latin typeface="Cambria Math" panose="02040503050406030204" pitchFamily="18" charset="0"/>
                            <a:ea typeface="MS Mincho" panose="02020609040205080304" pitchFamily="49" charset="-128"/>
                          </a:rPr>
                        </m:ctrlPr>
                      </m:funcPr>
                      <m:fName>
                        <m:r>
                          <m:rPr>
                            <m:sty m:val="p"/>
                          </m:rPr>
                          <a:rPr lang="en-AU" sz="1400" noProof="0" smtClean="0">
                            <a:latin typeface="Cambria Math" panose="02040503050406030204" pitchFamily="18" charset="0"/>
                            <a:ea typeface="MS Mincho" panose="02020609040205080304" pitchFamily="49" charset="-128"/>
                            <a:cs typeface="Times New Roman" panose="02020603050405020304" pitchFamily="18" charset="0"/>
                          </a:rPr>
                          <m:t>max</m:t>
                        </m:r>
                      </m:fName>
                      <m:e>
                        <m:d>
                          <m:dPr>
                            <m:ctrlPr>
                              <a:rPr lang="en-AU" i="1" noProof="0" smtClean="0">
                                <a:latin typeface="Cambria Math" panose="02040503050406030204" pitchFamily="18" charset="0"/>
                                <a:ea typeface="MS Mincho" panose="02020609040205080304" pitchFamily="49" charset="-128"/>
                              </a:rPr>
                            </m:ctrlPr>
                          </m:dPr>
                          <m:e>
                            <m:r>
                              <a:rPr lang="en-AU" sz="1400" i="1" noProof="0" smtClean="0">
                                <a:latin typeface="Cambria Math" panose="02040503050406030204" pitchFamily="18" charset="0"/>
                                <a:ea typeface="MS Mincho" panose="02020609040205080304" pitchFamily="49" charset="-128"/>
                                <a:cs typeface="Times New Roman" panose="02020603050405020304" pitchFamily="18" charset="0"/>
                              </a:rPr>
                              <m:t>9.19∙</m:t>
                            </m:r>
                            <m:sSub>
                              <m:sSubPr>
                                <m:ctrlPr>
                                  <a:rPr lang="en-AU" i="1" noProof="0" smtClean="0">
                                    <a:latin typeface="Cambria Math" panose="02040503050406030204" pitchFamily="18" charset="0"/>
                                    <a:ea typeface="MS Mincho" panose="02020609040205080304" pitchFamily="49" charset="-128"/>
                                  </a:rPr>
                                </m:ctrlPr>
                              </m:sSubPr>
                              <m:e>
                                <m:r>
                                  <a:rPr lang="en-AU" sz="1400" i="1" noProof="0" smtClean="0">
                                    <a:latin typeface="Cambria Math" panose="02040503050406030204" pitchFamily="18" charset="0"/>
                                    <a:ea typeface="MS Mincho" panose="02020609040205080304" pitchFamily="49" charset="-128"/>
                                    <a:cs typeface="Times New Roman" panose="02020603050405020304" pitchFamily="18" charset="0"/>
                                  </a:rPr>
                                  <m:t>𝑎</m:t>
                                </m:r>
                              </m:e>
                              <m:sub>
                                <m:r>
                                  <a:rPr lang="en-AU" sz="1400" i="1" noProof="0" smtClean="0">
                                    <a:latin typeface="Cambria Math" panose="02040503050406030204" pitchFamily="18" charset="0"/>
                                    <a:ea typeface="MS Mincho" panose="02020609040205080304" pitchFamily="49" charset="-128"/>
                                    <a:cs typeface="Times New Roman" panose="02020603050405020304" pitchFamily="18" charset="0"/>
                                  </a:rPr>
                                  <m:t>𝑔</m:t>
                                </m:r>
                              </m:sub>
                            </m:sSub>
                            <m:r>
                              <a:rPr lang="en-AU" sz="1400" i="1" noProof="0" smtClean="0">
                                <a:latin typeface="Cambria Math" panose="02040503050406030204" pitchFamily="18" charset="0"/>
                                <a:ea typeface="MS Mincho" panose="02020609040205080304" pitchFamily="49" charset="-128"/>
                                <a:cs typeface="Times New Roman" panose="02020603050405020304" pitchFamily="18" charset="0"/>
                              </a:rPr>
                              <m:t>;7,84</m:t>
                            </m:r>
                          </m:e>
                        </m:d>
                      </m:e>
                    </m:func>
                  </m:oMath>
                </a14:m>
                <a:r>
                  <a:rPr lang="en-AU" sz="1400" noProof="0" dirty="0">
                    <a:latin typeface="Times New Roman" panose="02020603050405020304" pitchFamily="18" charset="0"/>
                    <a:ea typeface="MS Mincho" panose="02020609040205080304" pitchFamily="49" charset="-128"/>
                    <a:cs typeface="Times New Roman" panose="02020603050405020304" pitchFamily="18" charset="0"/>
                  </a:rPr>
                  <a:t> </a:t>
                </a:r>
                <a:r>
                  <a:rPr lang="en-AU" sz="1400" noProof="0" dirty="0">
                    <a:ea typeface="MS Mincho" panose="02020609040205080304" pitchFamily="49" charset="-128"/>
                    <a:cs typeface="Times New Roman" panose="02020603050405020304" pitchFamily="18" charset="0"/>
                  </a:rPr>
                  <a:t>and</a:t>
                </a:r>
                <a:r>
                  <a:rPr lang="en-AU" sz="1400" noProof="0" dirty="0">
                    <a:latin typeface="Times New Roman" panose="02020603050405020304" pitchFamily="18" charset="0"/>
                    <a:ea typeface="MS Mincho" panose="02020609040205080304" pitchFamily="49" charset="-128"/>
                    <a:cs typeface="Times New Roman" panose="02020603050405020304" pitchFamily="18" charset="0"/>
                  </a:rPr>
                  <a:t> </a:t>
                </a:r>
                <a14:m>
                  <m:oMath xmlns:m="http://schemas.openxmlformats.org/officeDocument/2006/math">
                    <m:sSub>
                      <m:sSubPr>
                        <m:ctrlPr>
                          <a:rPr lang="en-AU" sz="1800" i="1" noProof="0" smtClean="0">
                            <a:latin typeface="Cambria Math" panose="02040503050406030204" pitchFamily="18" charset="0"/>
                            <a:ea typeface="MS Mincho" panose="02020609040205080304" pitchFamily="49" charset="-128"/>
                            <a:cs typeface="Times New Roman" panose="02020603050405020304" pitchFamily="18" charset="0"/>
                          </a:rPr>
                        </m:ctrlPr>
                      </m:sSubPr>
                      <m:e>
                        <m:r>
                          <a:rPr lang="en-AU" sz="1800" i="1" noProof="0" smtClean="0">
                            <a:latin typeface="Cambria Math" panose="02040503050406030204" pitchFamily="18" charset="0"/>
                            <a:ea typeface="MS Mincho" panose="02020609040205080304" pitchFamily="49" charset="-128"/>
                            <a:cs typeface="Times New Roman" panose="02020603050405020304" pitchFamily="18" charset="0"/>
                          </a:rPr>
                          <m:t>𝛽</m:t>
                        </m:r>
                      </m:e>
                      <m:sub>
                        <m:r>
                          <a:rPr lang="en-AU" sz="1800" i="1" noProof="0" smtClean="0">
                            <a:latin typeface="Cambria Math" panose="02040503050406030204" pitchFamily="18" charset="0"/>
                            <a:ea typeface="MS Mincho" panose="02020609040205080304" pitchFamily="49" charset="-128"/>
                            <a:cs typeface="Times New Roman" panose="02020603050405020304" pitchFamily="18" charset="0"/>
                          </a:rPr>
                          <m:t>𝑐</m:t>
                        </m:r>
                      </m:sub>
                    </m:sSub>
                    <m:r>
                      <a:rPr lang="en-AU" sz="1800" i="1" noProof="0" smtClean="0">
                        <a:latin typeface="Cambria Math" panose="02040503050406030204" pitchFamily="18" charset="0"/>
                        <a:ea typeface="MS Mincho" panose="02020609040205080304" pitchFamily="49" charset="-128"/>
                        <a:cs typeface="Times New Roman" panose="02020603050405020304" pitchFamily="18" charset="0"/>
                      </a:rPr>
                      <m:t>=</m:t>
                    </m:r>
                    <m:r>
                      <a:rPr lang="en-AU" i="1" noProof="0" smtClean="0">
                        <a:latin typeface="Cambria Math" panose="02040503050406030204" pitchFamily="18" charset="0"/>
                        <a:ea typeface="MS Mincho" panose="02020609040205080304" pitchFamily="49" charset="-128"/>
                      </a:rPr>
                      <m:t>0,7</m:t>
                    </m:r>
                  </m:oMath>
                </a14:m>
                <a:r>
                  <a:rPr lang="en-AU" sz="1800" noProof="0" dirty="0">
                    <a:latin typeface="Times New Roman" panose="02020603050405020304" pitchFamily="18" charset="0"/>
                    <a:ea typeface="MS Mincho" panose="02020609040205080304" pitchFamily="49" charset="-128"/>
                  </a:rPr>
                  <a:t> </a:t>
                </a:r>
                <a:endParaRPr lang="en-AU" noProof="0" dirty="0"/>
              </a:p>
              <a:p>
                <a:pPr marL="800100" lvl="1" indent="-342900">
                  <a:buFont typeface="Arial" panose="020B0604020202020204" pitchFamily="34" charset="0"/>
                  <a:buChar char="•"/>
                </a:pPr>
                <a:endParaRPr lang="en-AU" noProof="0" dirty="0">
                  <a:solidFill>
                    <a:schemeClr val="tx1"/>
                  </a:solidFill>
                </a:endParaRPr>
              </a:p>
            </p:txBody>
          </p:sp>
        </mc:Choice>
        <mc:Fallback xmlns="">
          <p:sp>
            <p:nvSpPr>
              <p:cNvPr id="2" name="Textplatzhalter 1">
                <a:extLst>
                  <a:ext uri="{FF2B5EF4-FFF2-40B4-BE49-F238E27FC236}">
                    <a16:creationId xmlns:a16="http://schemas.microsoft.com/office/drawing/2014/main" id="{E042CF7F-B425-33EB-C5D1-A36A7F6B3BAC}"/>
                  </a:ext>
                </a:extLst>
              </p:cNvPr>
              <p:cNvSpPr>
                <a:spLocks noGrp="1" noRot="1" noChangeAspect="1" noMove="1" noResize="1" noEditPoints="1" noAdjustHandles="1" noChangeArrowheads="1" noChangeShapeType="1" noTextEdit="1"/>
              </p:cNvSpPr>
              <p:nvPr>
                <p:ph type="body" sz="quarter" idx="18"/>
              </p:nvPr>
            </p:nvSpPr>
            <p:spPr>
              <a:blipFill>
                <a:blip r:embed="rId3"/>
                <a:stretch>
                  <a:fillRect l="-593" t="-564"/>
                </a:stretch>
              </a:blipFill>
            </p:spPr>
            <p:txBody>
              <a:bodyPr/>
              <a:lstStyle/>
              <a:p>
                <a:r>
                  <a:rPr lang="de-DE">
                    <a:noFill/>
                  </a:rPr>
                  <a:t> </a:t>
                </a:r>
              </a:p>
            </p:txBody>
          </p:sp>
        </mc:Fallback>
      </mc:AlternateContent>
      <p:sp>
        <p:nvSpPr>
          <p:cNvPr id="3" name="Titel 2">
            <a:extLst>
              <a:ext uri="{FF2B5EF4-FFF2-40B4-BE49-F238E27FC236}">
                <a16:creationId xmlns:a16="http://schemas.microsoft.com/office/drawing/2014/main" id="{486F1FAE-EA82-881A-09FF-6C689954C55B}"/>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pic>
        <p:nvPicPr>
          <p:cNvPr id="4" name="Grafik 3" descr="Ein Bild, das Text, Diagramm, Zeichnung, Entwurf enthält.&#10;&#10;Automatisch generierte Beschreibung">
            <a:extLst>
              <a:ext uri="{FF2B5EF4-FFF2-40B4-BE49-F238E27FC236}">
                <a16:creationId xmlns:a16="http://schemas.microsoft.com/office/drawing/2014/main" id="{E00450F2-1C2C-3C77-7D25-06F71A150459}"/>
              </a:ext>
            </a:extLst>
          </p:cNvPr>
          <p:cNvPicPr>
            <a:picLocks noChangeAspect="1"/>
          </p:cNvPicPr>
          <p:nvPr/>
        </p:nvPicPr>
        <p:blipFill rotWithShape="1">
          <a:blip r:embed="rId4"/>
          <a:srcRect l="7502" t="2" b="61149"/>
          <a:stretch/>
        </p:blipFill>
        <p:spPr bwMode="auto">
          <a:xfrm>
            <a:off x="261764" y="2513408"/>
            <a:ext cx="5832648" cy="2574307"/>
          </a:xfrm>
          <a:prstGeom prst="rect">
            <a:avLst/>
          </a:prstGeom>
          <a:ln>
            <a:noFill/>
          </a:ln>
          <a:extLst>
            <a:ext uri="{53640926-AAD7-44D8-BBD7-CCE9431645EC}">
              <a14:shadowObscured xmlns:a14="http://schemas.microsoft.com/office/drawing/2010/main"/>
            </a:ext>
          </a:extLst>
        </p:spPr>
      </p:pic>
      <p:pic>
        <p:nvPicPr>
          <p:cNvPr id="5" name="Grafik 4" descr="Ein Bild, das Text, Diagramm, Zeichnung, Entwurf enthält.&#10;&#10;Automatisch generierte Beschreibung">
            <a:extLst>
              <a:ext uri="{FF2B5EF4-FFF2-40B4-BE49-F238E27FC236}">
                <a16:creationId xmlns:a16="http://schemas.microsoft.com/office/drawing/2014/main" id="{F9B25030-1A0A-CEA3-85F1-80E214E79EE3}"/>
              </a:ext>
            </a:extLst>
          </p:cNvPr>
          <p:cNvPicPr>
            <a:picLocks noChangeAspect="1"/>
          </p:cNvPicPr>
          <p:nvPr/>
        </p:nvPicPr>
        <p:blipFill rotWithShape="1">
          <a:blip r:embed="rId4"/>
          <a:srcRect l="7502" t="49493" b="11656"/>
          <a:stretch/>
        </p:blipFill>
        <p:spPr bwMode="auto">
          <a:xfrm>
            <a:off x="6094412" y="2505915"/>
            <a:ext cx="5866600" cy="2589292"/>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0074ACA4-7847-81F2-EE82-D6783B02D01D}"/>
                  </a:ext>
                </a:extLst>
              </p:cNvPr>
              <p:cNvSpPr txBox="1"/>
              <p:nvPr/>
            </p:nvSpPr>
            <p:spPr>
              <a:xfrm>
                <a:off x="684287" y="2144076"/>
                <a:ext cx="1574341" cy="3748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b="1" i="1" noProof="0" smtClean="0">
                              <a:solidFill>
                                <a:srgbClr val="333333"/>
                              </a:solidFill>
                              <a:latin typeface="Cambria Math" panose="02040503050406030204" pitchFamily="18" charset="0"/>
                              <a:cs typeface="+mn-cs"/>
                            </a:rPr>
                          </m:ctrlPr>
                        </m:sSubPr>
                        <m:e>
                          <m:r>
                            <a:rPr lang="en-AU" b="1" i="1" noProof="0" smtClean="0">
                              <a:solidFill>
                                <a:srgbClr val="333333"/>
                              </a:solidFill>
                              <a:latin typeface="Cambria Math" panose="02040503050406030204" pitchFamily="18" charset="0"/>
                              <a:cs typeface="+mn-cs"/>
                            </a:rPr>
                            <m:t>𝝀</m:t>
                          </m:r>
                        </m:e>
                        <m:sub>
                          <m:r>
                            <a:rPr lang="en-AU" b="1" i="1" noProof="0" smtClean="0">
                              <a:solidFill>
                                <a:srgbClr val="333333"/>
                              </a:solidFill>
                              <a:latin typeface="Cambria Math" panose="02040503050406030204" pitchFamily="18" charset="0"/>
                              <a:cs typeface="+mn-cs"/>
                            </a:rPr>
                            <m:t>𝒕</m:t>
                          </m:r>
                        </m:sub>
                      </m:sSub>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𝟏</m:t>
                      </m:r>
                      <m:r>
                        <a:rPr lang="en-AU" b="1" i="1" noProof="0" smtClean="0">
                          <a:solidFill>
                            <a:srgbClr val="333333"/>
                          </a:solidFill>
                          <a:latin typeface="Cambria Math" panose="02040503050406030204" pitchFamily="18" charset="0"/>
                          <a:cs typeface="+mn-cs"/>
                        </a:rPr>
                        <m:t>∙</m:t>
                      </m:r>
                      <m:sSup>
                        <m:sSupPr>
                          <m:ctrlPr>
                            <a:rPr lang="en-AU" b="1" i="1" noProof="0" smtClean="0">
                              <a:solidFill>
                                <a:srgbClr val="333333"/>
                              </a:solidFill>
                              <a:latin typeface="Cambria Math" panose="02040503050406030204" pitchFamily="18" charset="0"/>
                              <a:cs typeface="+mn-cs"/>
                            </a:rPr>
                          </m:ctrlPr>
                        </m:sSupPr>
                        <m:e>
                          <m:r>
                            <a:rPr lang="en-AU" b="1" i="1" noProof="0" smtClean="0">
                              <a:solidFill>
                                <a:srgbClr val="333333"/>
                              </a:solidFill>
                              <a:latin typeface="Cambria Math" panose="02040503050406030204" pitchFamily="18" charset="0"/>
                              <a:cs typeface="+mn-cs"/>
                            </a:rPr>
                            <m:t>𝟏𝟎</m:t>
                          </m:r>
                        </m:e>
                        <m:sup>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𝟒</m:t>
                          </m:r>
                        </m:sup>
                      </m:sSup>
                    </m:oMath>
                  </m:oMathPara>
                </a14:m>
                <a:endParaRPr lang="en-AU" b="1" noProof="0" dirty="0">
                  <a:solidFill>
                    <a:srgbClr val="333333"/>
                  </a:solidFill>
                  <a:latin typeface="Futura LT Pro Light" panose="020B0402020204020303" pitchFamily="34" charset="0"/>
                  <a:cs typeface="+mn-cs"/>
                </a:endParaRPr>
              </a:p>
            </p:txBody>
          </p:sp>
        </mc:Choice>
        <mc:Fallback xmlns="">
          <p:sp>
            <p:nvSpPr>
              <p:cNvPr id="6" name="Textfeld 5">
                <a:extLst>
                  <a:ext uri="{FF2B5EF4-FFF2-40B4-BE49-F238E27FC236}">
                    <a16:creationId xmlns:a16="http://schemas.microsoft.com/office/drawing/2014/main" id="{0074ACA4-7847-81F2-EE82-D6783B02D01D}"/>
                  </a:ext>
                </a:extLst>
              </p:cNvPr>
              <p:cNvSpPr txBox="1">
                <a:spLocks noRot="1" noChangeAspect="1" noMove="1" noResize="1" noEditPoints="1" noAdjustHandles="1" noChangeArrowheads="1" noChangeShapeType="1" noTextEdit="1"/>
              </p:cNvSpPr>
              <p:nvPr/>
            </p:nvSpPr>
            <p:spPr>
              <a:xfrm>
                <a:off x="684287" y="2144076"/>
                <a:ext cx="1574341" cy="374846"/>
              </a:xfrm>
              <a:prstGeom prst="rect">
                <a:avLst/>
              </a:prstGeom>
              <a:blipFill>
                <a:blip r:embed="rId5"/>
                <a:stretch>
                  <a:fillRect b="-163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983EA76A-6139-401E-F7C1-434CFB832862}"/>
                  </a:ext>
                </a:extLst>
              </p:cNvPr>
              <p:cNvSpPr txBox="1"/>
              <p:nvPr/>
            </p:nvSpPr>
            <p:spPr>
              <a:xfrm>
                <a:off x="3617586" y="2144076"/>
                <a:ext cx="1574341" cy="3796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b="1" i="1" noProof="0" smtClean="0">
                              <a:solidFill>
                                <a:srgbClr val="333333"/>
                              </a:solidFill>
                              <a:latin typeface="Cambria Math" panose="02040503050406030204" pitchFamily="18" charset="0"/>
                              <a:cs typeface="+mn-cs"/>
                            </a:rPr>
                          </m:ctrlPr>
                        </m:sSubPr>
                        <m:e>
                          <m:r>
                            <a:rPr lang="en-AU" b="1" i="1" noProof="0" smtClean="0">
                              <a:solidFill>
                                <a:srgbClr val="333333"/>
                              </a:solidFill>
                              <a:latin typeface="Cambria Math" panose="02040503050406030204" pitchFamily="18" charset="0"/>
                              <a:cs typeface="+mn-cs"/>
                            </a:rPr>
                            <m:t>𝝀</m:t>
                          </m:r>
                        </m:e>
                        <m:sub>
                          <m:r>
                            <a:rPr lang="en-AU" b="1" i="1" noProof="0" smtClean="0">
                              <a:solidFill>
                                <a:srgbClr val="333333"/>
                              </a:solidFill>
                              <a:latin typeface="Cambria Math" panose="02040503050406030204" pitchFamily="18" charset="0"/>
                              <a:cs typeface="+mn-cs"/>
                            </a:rPr>
                            <m:t>𝒕</m:t>
                          </m:r>
                        </m:sub>
                      </m:sSub>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𝟓</m:t>
                      </m:r>
                      <m:r>
                        <a:rPr lang="en-AU" b="1" i="1" noProof="0" smtClean="0">
                          <a:solidFill>
                            <a:srgbClr val="333333"/>
                          </a:solidFill>
                          <a:latin typeface="Cambria Math" panose="02040503050406030204" pitchFamily="18" charset="0"/>
                          <a:cs typeface="+mn-cs"/>
                        </a:rPr>
                        <m:t>∙</m:t>
                      </m:r>
                      <m:sSup>
                        <m:sSupPr>
                          <m:ctrlPr>
                            <a:rPr lang="en-AU" b="1" i="1" noProof="0" smtClean="0">
                              <a:solidFill>
                                <a:srgbClr val="333333"/>
                              </a:solidFill>
                              <a:latin typeface="Cambria Math" panose="02040503050406030204" pitchFamily="18" charset="0"/>
                              <a:cs typeface="+mn-cs"/>
                            </a:rPr>
                          </m:ctrlPr>
                        </m:sSupPr>
                        <m:e>
                          <m:r>
                            <a:rPr lang="en-AU" b="1" i="1" noProof="0" smtClean="0">
                              <a:solidFill>
                                <a:srgbClr val="333333"/>
                              </a:solidFill>
                              <a:latin typeface="Cambria Math" panose="02040503050406030204" pitchFamily="18" charset="0"/>
                              <a:cs typeface="+mn-cs"/>
                            </a:rPr>
                            <m:t>𝟏𝟎</m:t>
                          </m:r>
                        </m:e>
                        <m:sup>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𝟓</m:t>
                          </m:r>
                        </m:sup>
                      </m:sSup>
                    </m:oMath>
                  </m:oMathPara>
                </a14:m>
                <a:endParaRPr lang="en-AU" b="1" noProof="0" dirty="0">
                  <a:solidFill>
                    <a:srgbClr val="333333"/>
                  </a:solidFill>
                  <a:latin typeface="Futura LT Pro Light" panose="020B0402020204020303" pitchFamily="34" charset="0"/>
                  <a:cs typeface="+mn-cs"/>
                </a:endParaRPr>
              </a:p>
            </p:txBody>
          </p:sp>
        </mc:Choice>
        <mc:Fallback xmlns="">
          <p:sp>
            <p:nvSpPr>
              <p:cNvPr id="7" name="Textfeld 6">
                <a:extLst>
                  <a:ext uri="{FF2B5EF4-FFF2-40B4-BE49-F238E27FC236}">
                    <a16:creationId xmlns:a16="http://schemas.microsoft.com/office/drawing/2014/main" id="{983EA76A-6139-401E-F7C1-434CFB832862}"/>
                  </a:ext>
                </a:extLst>
              </p:cNvPr>
              <p:cNvSpPr txBox="1">
                <a:spLocks noRot="1" noChangeAspect="1" noMove="1" noResize="1" noEditPoints="1" noAdjustHandles="1" noChangeArrowheads="1" noChangeShapeType="1" noTextEdit="1"/>
              </p:cNvSpPr>
              <p:nvPr/>
            </p:nvSpPr>
            <p:spPr>
              <a:xfrm>
                <a:off x="3617586" y="2144076"/>
                <a:ext cx="1574341" cy="379656"/>
              </a:xfrm>
              <a:prstGeom prst="rect">
                <a:avLst/>
              </a:prstGeom>
              <a:blipFill>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DF44B60F-C8EA-3D2C-D653-5252233C893B}"/>
                  </a:ext>
                </a:extLst>
              </p:cNvPr>
              <p:cNvSpPr txBox="1"/>
              <p:nvPr/>
            </p:nvSpPr>
            <p:spPr>
              <a:xfrm>
                <a:off x="6550885" y="2124125"/>
                <a:ext cx="1574341" cy="3796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b="1" i="1" noProof="0" smtClean="0">
                              <a:solidFill>
                                <a:srgbClr val="333333"/>
                              </a:solidFill>
                              <a:latin typeface="Cambria Math" panose="02040503050406030204" pitchFamily="18" charset="0"/>
                              <a:cs typeface="+mn-cs"/>
                            </a:rPr>
                          </m:ctrlPr>
                        </m:sSubPr>
                        <m:e>
                          <m:r>
                            <a:rPr lang="en-AU" b="1" i="1" noProof="0" smtClean="0">
                              <a:solidFill>
                                <a:srgbClr val="333333"/>
                              </a:solidFill>
                              <a:latin typeface="Cambria Math" panose="02040503050406030204" pitchFamily="18" charset="0"/>
                              <a:cs typeface="+mn-cs"/>
                            </a:rPr>
                            <m:t>𝝀</m:t>
                          </m:r>
                        </m:e>
                        <m:sub>
                          <m:r>
                            <a:rPr lang="en-AU" b="1" i="1" noProof="0" smtClean="0">
                              <a:solidFill>
                                <a:srgbClr val="333333"/>
                              </a:solidFill>
                              <a:latin typeface="Cambria Math" panose="02040503050406030204" pitchFamily="18" charset="0"/>
                              <a:cs typeface="+mn-cs"/>
                            </a:rPr>
                            <m:t>𝒕</m:t>
                          </m:r>
                        </m:sub>
                      </m:sSub>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𝟏</m:t>
                      </m:r>
                      <m:r>
                        <a:rPr lang="en-AU" b="1" i="1" noProof="0" smtClean="0">
                          <a:solidFill>
                            <a:srgbClr val="333333"/>
                          </a:solidFill>
                          <a:latin typeface="Cambria Math" panose="02040503050406030204" pitchFamily="18" charset="0"/>
                          <a:cs typeface="+mn-cs"/>
                        </a:rPr>
                        <m:t>∙</m:t>
                      </m:r>
                      <m:sSup>
                        <m:sSupPr>
                          <m:ctrlPr>
                            <a:rPr lang="en-AU" b="1" i="1" noProof="0" smtClean="0">
                              <a:solidFill>
                                <a:srgbClr val="333333"/>
                              </a:solidFill>
                              <a:latin typeface="Cambria Math" panose="02040503050406030204" pitchFamily="18" charset="0"/>
                              <a:cs typeface="+mn-cs"/>
                            </a:rPr>
                          </m:ctrlPr>
                        </m:sSupPr>
                        <m:e>
                          <m:r>
                            <a:rPr lang="en-AU" b="1" i="1" noProof="0" smtClean="0">
                              <a:solidFill>
                                <a:srgbClr val="333333"/>
                              </a:solidFill>
                              <a:latin typeface="Cambria Math" panose="02040503050406030204" pitchFamily="18" charset="0"/>
                              <a:cs typeface="+mn-cs"/>
                            </a:rPr>
                            <m:t>𝟏𝟎</m:t>
                          </m:r>
                        </m:e>
                        <m:sup>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𝟓</m:t>
                          </m:r>
                        </m:sup>
                      </m:sSup>
                    </m:oMath>
                  </m:oMathPara>
                </a14:m>
                <a:endParaRPr lang="en-AU" b="1" noProof="0" dirty="0">
                  <a:solidFill>
                    <a:srgbClr val="333333"/>
                  </a:solidFill>
                  <a:latin typeface="Futura LT Pro Light" panose="020B0402020204020303" pitchFamily="34" charset="0"/>
                  <a:cs typeface="+mn-cs"/>
                </a:endParaRPr>
              </a:p>
            </p:txBody>
          </p:sp>
        </mc:Choice>
        <mc:Fallback xmlns="">
          <p:sp>
            <p:nvSpPr>
              <p:cNvPr id="8" name="Textfeld 7">
                <a:extLst>
                  <a:ext uri="{FF2B5EF4-FFF2-40B4-BE49-F238E27FC236}">
                    <a16:creationId xmlns:a16="http://schemas.microsoft.com/office/drawing/2014/main" id="{DF44B60F-C8EA-3D2C-D653-5252233C893B}"/>
                  </a:ext>
                </a:extLst>
              </p:cNvPr>
              <p:cNvSpPr txBox="1">
                <a:spLocks noRot="1" noChangeAspect="1" noMove="1" noResize="1" noEditPoints="1" noAdjustHandles="1" noChangeArrowheads="1" noChangeShapeType="1" noTextEdit="1"/>
              </p:cNvSpPr>
              <p:nvPr/>
            </p:nvSpPr>
            <p:spPr>
              <a:xfrm>
                <a:off x="6550885" y="2124125"/>
                <a:ext cx="1574341" cy="379656"/>
              </a:xfrm>
              <a:prstGeom prst="rect">
                <a:avLst/>
              </a:prstGeom>
              <a:blipFill>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17CD57D4-2357-D2F4-1C04-FE3CD66CCF3B}"/>
                  </a:ext>
                </a:extLst>
              </p:cNvPr>
              <p:cNvSpPr txBox="1"/>
              <p:nvPr/>
            </p:nvSpPr>
            <p:spPr>
              <a:xfrm>
                <a:off x="9484184" y="2124125"/>
                <a:ext cx="1574341" cy="3796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b="1" i="1" noProof="0" smtClean="0">
                              <a:solidFill>
                                <a:srgbClr val="333333"/>
                              </a:solidFill>
                              <a:latin typeface="Cambria Math" panose="02040503050406030204" pitchFamily="18" charset="0"/>
                              <a:cs typeface="+mn-cs"/>
                            </a:rPr>
                          </m:ctrlPr>
                        </m:sSubPr>
                        <m:e>
                          <m:r>
                            <a:rPr lang="en-AU" b="1" i="1" noProof="0" smtClean="0">
                              <a:solidFill>
                                <a:srgbClr val="333333"/>
                              </a:solidFill>
                              <a:latin typeface="Cambria Math" panose="02040503050406030204" pitchFamily="18" charset="0"/>
                              <a:cs typeface="+mn-cs"/>
                            </a:rPr>
                            <m:t>𝝀</m:t>
                          </m:r>
                        </m:e>
                        <m:sub>
                          <m:r>
                            <a:rPr lang="en-AU" b="1" i="1" noProof="0" smtClean="0">
                              <a:solidFill>
                                <a:srgbClr val="333333"/>
                              </a:solidFill>
                              <a:latin typeface="Cambria Math" panose="02040503050406030204" pitchFamily="18" charset="0"/>
                              <a:cs typeface="+mn-cs"/>
                            </a:rPr>
                            <m:t>𝒕</m:t>
                          </m:r>
                        </m:sub>
                      </m:sSub>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𝟓</m:t>
                      </m:r>
                      <m:r>
                        <a:rPr lang="en-AU" b="1" i="1" noProof="0" smtClean="0">
                          <a:solidFill>
                            <a:srgbClr val="333333"/>
                          </a:solidFill>
                          <a:latin typeface="Cambria Math" panose="02040503050406030204" pitchFamily="18" charset="0"/>
                          <a:cs typeface="+mn-cs"/>
                        </a:rPr>
                        <m:t>∙</m:t>
                      </m:r>
                      <m:sSup>
                        <m:sSupPr>
                          <m:ctrlPr>
                            <a:rPr lang="en-AU" b="1" i="1" noProof="0" smtClean="0">
                              <a:solidFill>
                                <a:srgbClr val="333333"/>
                              </a:solidFill>
                              <a:latin typeface="Cambria Math" panose="02040503050406030204" pitchFamily="18" charset="0"/>
                              <a:cs typeface="+mn-cs"/>
                            </a:rPr>
                          </m:ctrlPr>
                        </m:sSupPr>
                        <m:e>
                          <m:r>
                            <a:rPr lang="en-AU" b="1" i="1" noProof="0" smtClean="0">
                              <a:solidFill>
                                <a:srgbClr val="333333"/>
                              </a:solidFill>
                              <a:latin typeface="Cambria Math" panose="02040503050406030204" pitchFamily="18" charset="0"/>
                              <a:cs typeface="+mn-cs"/>
                            </a:rPr>
                            <m:t>𝟏𝟎</m:t>
                          </m:r>
                        </m:e>
                        <m:sup>
                          <m:r>
                            <a:rPr lang="en-AU" b="1" i="1" noProof="0" smtClean="0">
                              <a:solidFill>
                                <a:srgbClr val="333333"/>
                              </a:solidFill>
                              <a:latin typeface="Cambria Math" panose="02040503050406030204" pitchFamily="18" charset="0"/>
                              <a:cs typeface="+mn-cs"/>
                            </a:rPr>
                            <m:t>−</m:t>
                          </m:r>
                          <m:r>
                            <a:rPr lang="en-AU" b="1" i="1" noProof="0" smtClean="0">
                              <a:solidFill>
                                <a:srgbClr val="333333"/>
                              </a:solidFill>
                              <a:latin typeface="Cambria Math" panose="02040503050406030204" pitchFamily="18" charset="0"/>
                              <a:cs typeface="+mn-cs"/>
                            </a:rPr>
                            <m:t>𝟔</m:t>
                          </m:r>
                        </m:sup>
                      </m:sSup>
                    </m:oMath>
                  </m:oMathPara>
                </a14:m>
                <a:endParaRPr lang="en-AU" b="1" noProof="0" dirty="0">
                  <a:solidFill>
                    <a:srgbClr val="333333"/>
                  </a:solidFill>
                  <a:latin typeface="Futura LT Pro Light" panose="020B0402020204020303" pitchFamily="34" charset="0"/>
                  <a:cs typeface="+mn-cs"/>
                </a:endParaRPr>
              </a:p>
            </p:txBody>
          </p:sp>
        </mc:Choice>
        <mc:Fallback xmlns="">
          <p:sp>
            <p:nvSpPr>
              <p:cNvPr id="9" name="Textfeld 8">
                <a:extLst>
                  <a:ext uri="{FF2B5EF4-FFF2-40B4-BE49-F238E27FC236}">
                    <a16:creationId xmlns:a16="http://schemas.microsoft.com/office/drawing/2014/main" id="{17CD57D4-2357-D2F4-1C04-FE3CD66CCF3B}"/>
                  </a:ext>
                </a:extLst>
              </p:cNvPr>
              <p:cNvSpPr txBox="1">
                <a:spLocks noRot="1" noChangeAspect="1" noMove="1" noResize="1" noEditPoints="1" noAdjustHandles="1" noChangeArrowheads="1" noChangeShapeType="1" noTextEdit="1"/>
              </p:cNvSpPr>
              <p:nvPr/>
            </p:nvSpPr>
            <p:spPr>
              <a:xfrm>
                <a:off x="9484184" y="2124125"/>
                <a:ext cx="1574341" cy="379656"/>
              </a:xfrm>
              <a:prstGeom prst="rect">
                <a:avLst/>
              </a:prstGeom>
              <a:blipFill>
                <a:blip r:embed="rId8"/>
                <a:stretch>
                  <a:fillRect/>
                </a:stretch>
              </a:blipFill>
            </p:spPr>
            <p:txBody>
              <a:bodyPr/>
              <a:lstStyle/>
              <a:p>
                <a:r>
                  <a:rPr lang="de-DE">
                    <a:noFill/>
                  </a:rPr>
                  <a:t> </a:t>
                </a:r>
              </a:p>
            </p:txBody>
          </p:sp>
        </mc:Fallback>
      </mc:AlternateContent>
      <p:sp>
        <p:nvSpPr>
          <p:cNvPr id="10" name="Textfeld 9">
            <a:extLst>
              <a:ext uri="{FF2B5EF4-FFF2-40B4-BE49-F238E27FC236}">
                <a16:creationId xmlns:a16="http://schemas.microsoft.com/office/drawing/2014/main" id="{DBEFB5EF-E8A4-2A87-5241-9DF15269DA31}"/>
              </a:ext>
            </a:extLst>
          </p:cNvPr>
          <p:cNvSpPr txBox="1"/>
          <p:nvPr/>
        </p:nvSpPr>
        <p:spPr>
          <a:xfrm>
            <a:off x="1535384" y="5548391"/>
            <a:ext cx="3168352" cy="369332"/>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White = No Seismic Design</a:t>
            </a:r>
          </a:p>
        </p:txBody>
      </p:sp>
      <p:sp>
        <p:nvSpPr>
          <p:cNvPr id="11" name="Pfeil: nach rechts 10">
            <a:extLst>
              <a:ext uri="{FF2B5EF4-FFF2-40B4-BE49-F238E27FC236}">
                <a16:creationId xmlns:a16="http://schemas.microsoft.com/office/drawing/2014/main" id="{730624D1-16D2-617C-7269-B9C65075657E}"/>
              </a:ext>
            </a:extLst>
          </p:cNvPr>
          <p:cNvSpPr/>
          <p:nvPr/>
        </p:nvSpPr>
        <p:spPr>
          <a:xfrm rot="16200000">
            <a:off x="4053218" y="5169993"/>
            <a:ext cx="637557" cy="154701"/>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12" name="Pfeil: nach rechts 11">
            <a:extLst>
              <a:ext uri="{FF2B5EF4-FFF2-40B4-BE49-F238E27FC236}">
                <a16:creationId xmlns:a16="http://schemas.microsoft.com/office/drawing/2014/main" id="{C5ABD678-BBB1-F20A-1100-9DF9280D7867}"/>
              </a:ext>
            </a:extLst>
          </p:cNvPr>
          <p:cNvSpPr/>
          <p:nvPr/>
        </p:nvSpPr>
        <p:spPr>
          <a:xfrm rot="16200000">
            <a:off x="1373619" y="5138254"/>
            <a:ext cx="637557" cy="154701"/>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13" name="Textfeld 12">
            <a:extLst>
              <a:ext uri="{FF2B5EF4-FFF2-40B4-BE49-F238E27FC236}">
                <a16:creationId xmlns:a16="http://schemas.microsoft.com/office/drawing/2014/main" id="{63076BB6-BC6D-F7A7-1CB4-1D0EFE29840A}"/>
              </a:ext>
            </a:extLst>
          </p:cNvPr>
          <p:cNvSpPr txBox="1"/>
          <p:nvPr/>
        </p:nvSpPr>
        <p:spPr>
          <a:xfrm>
            <a:off x="5436815" y="5628562"/>
            <a:ext cx="3168352" cy="646331"/>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cs typeface="+mn-cs"/>
              </a:rPr>
              <a:t>Seismic region similar to EC8/NA</a:t>
            </a:r>
          </a:p>
        </p:txBody>
      </p:sp>
      <p:sp>
        <p:nvSpPr>
          <p:cNvPr id="14" name="Pfeil: nach rechts 13">
            <a:extLst>
              <a:ext uri="{FF2B5EF4-FFF2-40B4-BE49-F238E27FC236}">
                <a16:creationId xmlns:a16="http://schemas.microsoft.com/office/drawing/2014/main" id="{2D715C3F-4093-6852-EF50-B76221668124}"/>
              </a:ext>
            </a:extLst>
          </p:cNvPr>
          <p:cNvSpPr/>
          <p:nvPr/>
        </p:nvSpPr>
        <p:spPr>
          <a:xfrm rot="16200000">
            <a:off x="6563973" y="5232433"/>
            <a:ext cx="637557" cy="154701"/>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
        <p:nvSpPr>
          <p:cNvPr id="15" name="Textfeld 14">
            <a:extLst>
              <a:ext uri="{FF2B5EF4-FFF2-40B4-BE49-F238E27FC236}">
                <a16:creationId xmlns:a16="http://schemas.microsoft.com/office/drawing/2014/main" id="{D3987492-38BE-67F9-2262-D7B219E3BCB2}"/>
              </a:ext>
            </a:extLst>
          </p:cNvPr>
          <p:cNvSpPr txBox="1"/>
          <p:nvPr/>
        </p:nvSpPr>
        <p:spPr>
          <a:xfrm>
            <a:off x="8965208" y="5628562"/>
            <a:ext cx="2880320" cy="646331"/>
          </a:xfrm>
          <a:prstGeom prst="rect">
            <a:avLst/>
          </a:prstGeom>
          <a:noFill/>
        </p:spPr>
        <p:txBody>
          <a:bodyPr wrap="square" rtlCol="0">
            <a:spAutoFit/>
          </a:bodyPr>
          <a:lstStyle/>
          <a:p>
            <a:r>
              <a:rPr lang="en-AU" noProof="0" dirty="0">
                <a:solidFill>
                  <a:srgbClr val="333333"/>
                </a:solidFill>
                <a:latin typeface="Futura LT Pro Light" panose="020B0402020204020303" pitchFamily="34" charset="0"/>
              </a:rPr>
              <a:t>Seismic region</a:t>
            </a:r>
            <a:r>
              <a:rPr lang="en-AU" noProof="0" dirty="0">
                <a:solidFill>
                  <a:srgbClr val="333333"/>
                </a:solidFill>
                <a:latin typeface="Futura LT Pro Light" panose="020B0402020204020303" pitchFamily="34" charset="0"/>
                <a:cs typeface="+mn-cs"/>
              </a:rPr>
              <a:t> larger than EC8/NA</a:t>
            </a:r>
          </a:p>
        </p:txBody>
      </p:sp>
      <p:sp>
        <p:nvSpPr>
          <p:cNvPr id="16" name="Pfeil: nach rechts 15">
            <a:extLst>
              <a:ext uri="{FF2B5EF4-FFF2-40B4-BE49-F238E27FC236}">
                <a16:creationId xmlns:a16="http://schemas.microsoft.com/office/drawing/2014/main" id="{8B92819B-79A4-1778-FD03-F1BE47834195}"/>
              </a:ext>
            </a:extLst>
          </p:cNvPr>
          <p:cNvSpPr/>
          <p:nvPr/>
        </p:nvSpPr>
        <p:spPr>
          <a:xfrm rot="16200000">
            <a:off x="9870908" y="5232433"/>
            <a:ext cx="637557" cy="154701"/>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solidFill>
                <a:schemeClr val="tx1"/>
              </a:solidFill>
            </a:endParaRPr>
          </a:p>
        </p:txBody>
      </p:sp>
    </p:spTree>
    <p:extLst>
      <p:ext uri="{BB962C8B-B14F-4D97-AF65-F5344CB8AC3E}">
        <p14:creationId xmlns:p14="http://schemas.microsoft.com/office/powerpoint/2010/main" val="3206830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16D2B-0723-8F87-156D-3389C0001161}"/>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4E2B7524-6086-BC32-D28C-5FA061C8321A}"/>
              </a:ext>
            </a:extLst>
          </p:cNvPr>
          <p:cNvSpPr>
            <a:spLocks noGrp="1"/>
          </p:cNvSpPr>
          <p:nvPr>
            <p:ph type="body" sz="quarter" idx="18"/>
          </p:nvPr>
        </p:nvSpPr>
        <p:spPr/>
        <p:txBody>
          <a:bodyPr/>
          <a:lstStyle/>
          <a:p>
            <a:r>
              <a:rPr lang="en-AU" b="1" noProof="0" dirty="0">
                <a:solidFill>
                  <a:schemeClr val="tx1"/>
                </a:solidFill>
              </a:rPr>
              <a:t>Summary</a:t>
            </a:r>
          </a:p>
          <a:p>
            <a:endParaRPr lang="en-AU" b="1" noProof="0" dirty="0">
              <a:solidFill>
                <a:schemeClr val="tx1"/>
              </a:solidFill>
            </a:endParaRPr>
          </a:p>
          <a:p>
            <a:pPr marL="457200" indent="-457200">
              <a:buFont typeface="+mj-lt"/>
              <a:buAutoNum type="arabicPeriod"/>
            </a:pPr>
            <a:r>
              <a:rPr lang="en-AU" noProof="0" dirty="0">
                <a:solidFill>
                  <a:schemeClr val="tx1"/>
                </a:solidFill>
              </a:rPr>
              <a:t>There is significant variability in the relationship between collapse capacity and design force for EC8 structures based on data obtained from the literature</a:t>
            </a:r>
          </a:p>
          <a:p>
            <a:pPr marL="457200" indent="-457200">
              <a:buFont typeface="+mj-lt"/>
              <a:buAutoNum type="arabicPeriod"/>
            </a:pPr>
            <a:endParaRPr lang="en-AU" noProof="0" dirty="0">
              <a:solidFill>
                <a:schemeClr val="tx1"/>
              </a:solidFill>
            </a:endParaRPr>
          </a:p>
          <a:p>
            <a:pPr marL="457200" indent="-457200">
              <a:buFont typeface="+mj-lt"/>
              <a:buAutoNum type="arabicPeriod"/>
            </a:pPr>
            <a:r>
              <a:rPr lang="en-AU" noProof="0" dirty="0">
                <a:solidFill>
                  <a:schemeClr val="tx1"/>
                </a:solidFill>
              </a:rPr>
              <a:t>Using data from multiple studies that don’t use a consistent analysis framework leads to large variability and discrepancies</a:t>
            </a:r>
          </a:p>
          <a:p>
            <a:pPr marL="457200" indent="-457200">
              <a:buFont typeface="+mj-lt"/>
              <a:buAutoNum type="arabicPeriod"/>
            </a:pPr>
            <a:endParaRPr lang="en-AU" noProof="0" dirty="0">
              <a:solidFill>
                <a:schemeClr val="tx1"/>
              </a:solidFill>
            </a:endParaRPr>
          </a:p>
          <a:p>
            <a:pPr marL="457200" indent="-457200">
              <a:buFont typeface="+mj-lt"/>
              <a:buAutoNum type="arabicPeriod"/>
            </a:pPr>
            <a:r>
              <a:rPr lang="en-AU" noProof="0" dirty="0">
                <a:solidFill>
                  <a:schemeClr val="tx1"/>
                </a:solidFill>
              </a:rPr>
              <a:t>RC MRFs are well represented. RC-Wall systems and steel structures are not </a:t>
            </a:r>
          </a:p>
          <a:p>
            <a:pPr marL="457200" indent="-457200">
              <a:buFont typeface="+mj-lt"/>
              <a:buAutoNum type="arabicPeriod"/>
            </a:pPr>
            <a:endParaRPr lang="en-AU" noProof="0" dirty="0">
              <a:solidFill>
                <a:schemeClr val="tx1"/>
              </a:solidFill>
            </a:endParaRPr>
          </a:p>
          <a:p>
            <a:pPr marL="457200" indent="-457200">
              <a:buFont typeface="+mj-lt"/>
              <a:buAutoNum type="arabicPeriod"/>
            </a:pPr>
            <a:r>
              <a:rPr lang="en-AU" b="1" noProof="0" dirty="0">
                <a:solidFill>
                  <a:schemeClr val="tx1"/>
                </a:solidFill>
              </a:rPr>
              <a:t>No. There is not sufficient data of sufficient quality.</a:t>
            </a:r>
          </a:p>
          <a:p>
            <a:pPr marL="457200" indent="-457200">
              <a:buFont typeface="+mj-lt"/>
              <a:buAutoNum type="arabicPeriod"/>
            </a:pPr>
            <a:endParaRPr lang="en-AU" noProof="0" dirty="0">
              <a:solidFill>
                <a:schemeClr val="tx1"/>
              </a:solidFill>
            </a:endParaRPr>
          </a:p>
          <a:p>
            <a:pPr marL="457200" indent="-457200">
              <a:buFont typeface="+mj-lt"/>
              <a:buAutoNum type="arabicPeriod"/>
            </a:pPr>
            <a:r>
              <a:rPr lang="en-AU" b="1" noProof="0" dirty="0">
                <a:solidFill>
                  <a:schemeClr val="tx1"/>
                </a:solidFill>
              </a:rPr>
              <a:t>We must generate our own fragility curves </a:t>
            </a:r>
          </a:p>
          <a:p>
            <a:endParaRPr lang="en-AU" b="1" noProof="0" dirty="0">
              <a:solidFill>
                <a:schemeClr val="tx1"/>
              </a:solidFill>
            </a:endParaRPr>
          </a:p>
          <a:p>
            <a:endParaRPr lang="en-AU" b="1" noProof="0" dirty="0">
              <a:solidFill>
                <a:schemeClr val="tx1"/>
              </a:solidFill>
            </a:endParaRPr>
          </a:p>
        </p:txBody>
      </p:sp>
      <p:sp>
        <p:nvSpPr>
          <p:cNvPr id="3" name="Titel 2">
            <a:extLst>
              <a:ext uri="{FF2B5EF4-FFF2-40B4-BE49-F238E27FC236}">
                <a16:creationId xmlns:a16="http://schemas.microsoft.com/office/drawing/2014/main" id="{BCA902BF-94E1-038B-9334-842F1BEC2D8D}"/>
              </a:ext>
            </a:extLst>
          </p:cNvPr>
          <p:cNvSpPr>
            <a:spLocks noGrp="1"/>
          </p:cNvSpPr>
          <p:nvPr>
            <p:ph type="title"/>
          </p:nvPr>
        </p:nvSpPr>
        <p:spPr/>
        <p:txBody>
          <a:bodyPr/>
          <a:lstStyle/>
          <a:p>
            <a:r>
              <a:rPr lang="en-AU" noProof="0" dirty="0"/>
              <a:t>WP00 – Evaluation of existing fragility curve models</a:t>
            </a:r>
            <a:br>
              <a:rPr lang="en-AU" noProof="0" dirty="0"/>
            </a:br>
            <a:endParaRPr lang="en-AU" noProof="0" dirty="0"/>
          </a:p>
        </p:txBody>
      </p:sp>
    </p:spTree>
    <p:extLst>
      <p:ext uri="{BB962C8B-B14F-4D97-AF65-F5344CB8AC3E}">
        <p14:creationId xmlns:p14="http://schemas.microsoft.com/office/powerpoint/2010/main" val="189360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008A1-01AC-55B8-E7AD-8A8BA19C4634}"/>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BF4073E-BC4F-35AF-B3FA-2F0E9A905C19}"/>
              </a:ext>
            </a:extLst>
          </p:cNvPr>
          <p:cNvSpPr>
            <a:spLocks noGrp="1"/>
          </p:cNvSpPr>
          <p:nvPr>
            <p:ph type="body" sz="quarter" idx="18"/>
          </p:nvPr>
        </p:nvSpPr>
        <p:spPr/>
        <p:txBody>
          <a:bodyPr/>
          <a:lstStyle/>
          <a:p>
            <a:r>
              <a:rPr lang="en-AU" b="1" u="sng" noProof="0" dirty="0"/>
              <a:t>Motivation:</a:t>
            </a:r>
            <a:r>
              <a:rPr lang="en-AU" u="sng" noProof="0" dirty="0"/>
              <a:t> </a:t>
            </a:r>
          </a:p>
          <a:p>
            <a:r>
              <a:rPr lang="en-AU" noProof="0" dirty="0"/>
              <a:t>It has been shown that the dispersion of fragility curves is influenced by the contribution of different tectonic source types to the site hazard. Europe contains many different tectonic source types (active shallow crust, subduction interface, subduction in-slab, …) and the hazard at many location is influenced by two or more of these source types.</a:t>
            </a:r>
          </a:p>
          <a:p>
            <a:endParaRPr lang="en-AU" i="1" noProof="0" dirty="0"/>
          </a:p>
          <a:p>
            <a:r>
              <a:rPr lang="en-AU" b="1" i="1" u="sng" noProof="0" dirty="0"/>
              <a:t>Research Questions: </a:t>
            </a:r>
          </a:p>
          <a:p>
            <a:r>
              <a:rPr lang="en-AU" i="1" noProof="0" dirty="0"/>
              <a:t>How are the fragility curve parameters affected by the location of the structure within Europe? </a:t>
            </a:r>
          </a:p>
          <a:p>
            <a:endParaRPr lang="en-AU" i="1" noProof="0" dirty="0"/>
          </a:p>
          <a:p>
            <a:r>
              <a:rPr lang="en-AU" i="1" noProof="0" dirty="0"/>
              <a:t>Can variations in the fragility curves be modelled in a predictable way to allow incorporation in reliability-based design?</a:t>
            </a:r>
            <a:endParaRPr lang="en-AU" noProof="0" dirty="0"/>
          </a:p>
          <a:p>
            <a:endParaRPr lang="en-AU" noProof="0" dirty="0"/>
          </a:p>
          <a:p>
            <a:r>
              <a:rPr lang="en-AU" b="1" u="sng" noProof="0" dirty="0"/>
              <a:t>Status:</a:t>
            </a:r>
            <a:r>
              <a:rPr lang="en-AU" b="1" noProof="0" dirty="0"/>
              <a:t> </a:t>
            </a:r>
            <a:r>
              <a:rPr lang="en-AU" b="1" noProof="0" dirty="0">
                <a:solidFill>
                  <a:srgbClr val="00B050"/>
                </a:solidFill>
              </a:rPr>
              <a:t>Started – active</a:t>
            </a:r>
          </a:p>
        </p:txBody>
      </p:sp>
      <p:sp>
        <p:nvSpPr>
          <p:cNvPr id="3" name="Titel 2">
            <a:extLst>
              <a:ext uri="{FF2B5EF4-FFF2-40B4-BE49-F238E27FC236}">
                <a16:creationId xmlns:a16="http://schemas.microsoft.com/office/drawing/2014/main" id="{FDFDE007-7CC7-B51F-43F1-51121C242704}"/>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spTree>
    <p:extLst>
      <p:ext uri="{BB962C8B-B14F-4D97-AF65-F5344CB8AC3E}">
        <p14:creationId xmlns:p14="http://schemas.microsoft.com/office/powerpoint/2010/main" val="2960613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D9B66-8769-6615-9F18-45AD6667D15F}"/>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A2F89FC-0972-F961-B541-1CBC17F76584}"/>
              </a:ext>
            </a:extLst>
          </p:cNvPr>
          <p:cNvSpPr>
            <a:spLocks noGrp="1"/>
          </p:cNvSpPr>
          <p:nvPr>
            <p:ph type="body" sz="quarter" idx="18"/>
          </p:nvPr>
        </p:nvSpPr>
        <p:spPr/>
        <p:txBody>
          <a:bodyPr/>
          <a:lstStyle/>
          <a:p>
            <a:r>
              <a:rPr lang="en-AU" b="1" noProof="0" dirty="0">
                <a:solidFill>
                  <a:schemeClr val="tx1"/>
                </a:solidFill>
              </a:rPr>
              <a:t>Overview of the Methodology:</a:t>
            </a:r>
          </a:p>
          <a:p>
            <a:endParaRPr lang="en-AU" noProof="0" dirty="0">
              <a:solidFill>
                <a:schemeClr val="tx1"/>
              </a:solidFill>
            </a:endParaRPr>
          </a:p>
          <a:p>
            <a:pPr marL="342900" indent="-342900">
              <a:buFont typeface="Arial" panose="020B0604020202020204" pitchFamily="34" charset="0"/>
              <a:buChar char="•"/>
            </a:pPr>
            <a:r>
              <a:rPr lang="en-AU" noProof="0" dirty="0">
                <a:solidFill>
                  <a:schemeClr val="tx1"/>
                </a:solidFill>
              </a:rPr>
              <a:t>For a many sites across Europe select a set of records that is consistent with the hazard and tectonic source characteristics</a:t>
            </a:r>
          </a:p>
          <a:p>
            <a:pPr marL="342900" indent="-342900">
              <a:buFont typeface="Arial" panose="020B0604020202020204" pitchFamily="34" charset="0"/>
              <a:buChar char="•"/>
            </a:pPr>
            <a:endParaRPr lang="en-AU" noProof="0" dirty="0">
              <a:solidFill>
                <a:schemeClr val="tx1"/>
              </a:solidFill>
            </a:endParaRPr>
          </a:p>
          <a:p>
            <a:pPr marL="342900" indent="-342900">
              <a:buFont typeface="Arial" panose="020B0604020202020204" pitchFamily="34" charset="0"/>
              <a:buChar char="•"/>
            </a:pPr>
            <a:r>
              <a:rPr lang="en-AU" noProof="0" dirty="0">
                <a:solidFill>
                  <a:schemeClr val="tx1"/>
                </a:solidFill>
              </a:rPr>
              <a:t>For each site perform IDA on a set of representative SDOF systems to derive fragility curves</a:t>
            </a:r>
          </a:p>
          <a:p>
            <a:pPr marL="342900" indent="-342900">
              <a:buFont typeface="Arial" panose="020B0604020202020204" pitchFamily="34" charset="0"/>
              <a:buChar char="•"/>
            </a:pPr>
            <a:endParaRPr lang="en-AU" noProof="0" dirty="0">
              <a:solidFill>
                <a:schemeClr val="tx1"/>
              </a:solidFill>
            </a:endParaRPr>
          </a:p>
          <a:p>
            <a:pPr marL="342900" indent="-342900">
              <a:buFont typeface="Arial" panose="020B0604020202020204" pitchFamily="34" charset="0"/>
              <a:buChar char="•"/>
            </a:pPr>
            <a:r>
              <a:rPr lang="en-AU" noProof="0" dirty="0">
                <a:solidFill>
                  <a:schemeClr val="tx1"/>
                </a:solidFill>
              </a:rPr>
              <a:t>Assess the results based on the hazard and tectonic characteristics as well as the SDOF oscillator properties.</a:t>
            </a:r>
          </a:p>
          <a:p>
            <a:pPr marL="342900" indent="-342900">
              <a:buFont typeface="Arial" panose="020B0604020202020204" pitchFamily="34" charset="0"/>
              <a:buChar char="•"/>
            </a:pPr>
            <a:endParaRPr lang="en-AU" noProof="0" dirty="0">
              <a:solidFill>
                <a:schemeClr val="tx1"/>
              </a:solidFill>
            </a:endParaRPr>
          </a:p>
          <a:p>
            <a:pPr marL="342900" indent="-342900">
              <a:buFont typeface="Arial" panose="020B0604020202020204" pitchFamily="34" charset="0"/>
              <a:buChar char="•"/>
            </a:pPr>
            <a:r>
              <a:rPr lang="en-AU" noProof="0" dirty="0">
                <a:solidFill>
                  <a:schemeClr val="tx1"/>
                </a:solidFill>
              </a:rPr>
              <a:t>Derive models for the observed differences in the fragility curve parameters relative to a “reference” model</a:t>
            </a:r>
          </a:p>
        </p:txBody>
      </p:sp>
      <p:sp>
        <p:nvSpPr>
          <p:cNvPr id="3" name="Titel 2">
            <a:extLst>
              <a:ext uri="{FF2B5EF4-FFF2-40B4-BE49-F238E27FC236}">
                <a16:creationId xmlns:a16="http://schemas.microsoft.com/office/drawing/2014/main" id="{CB9B3239-5371-40DD-1ECC-5B1F03E3D08A}"/>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spTree>
    <p:extLst>
      <p:ext uri="{BB962C8B-B14F-4D97-AF65-F5344CB8AC3E}">
        <p14:creationId xmlns:p14="http://schemas.microsoft.com/office/powerpoint/2010/main" val="1444799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6F7D1-2AF9-D528-0455-17CBD344E65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4DD7655-AF38-B110-4F44-C186E68DFAB9}"/>
              </a:ext>
            </a:extLst>
          </p:cNvPr>
          <p:cNvSpPr>
            <a:spLocks noGrp="1"/>
          </p:cNvSpPr>
          <p:nvPr>
            <p:ph type="body" sz="quarter" idx="18"/>
          </p:nvPr>
        </p:nvSpPr>
        <p:spPr/>
        <p:txBody>
          <a:bodyPr/>
          <a:lstStyle/>
          <a:p>
            <a:r>
              <a:rPr lang="en-AU" b="1" noProof="0" dirty="0">
                <a:solidFill>
                  <a:schemeClr val="tx1"/>
                </a:solidFill>
              </a:rPr>
              <a:t>1. Intensity Measure Selection</a:t>
            </a:r>
          </a:p>
          <a:p>
            <a:endParaRPr lang="en-AU" noProof="0" dirty="0"/>
          </a:p>
          <a:p>
            <a:r>
              <a:rPr lang="en-AU" noProof="0" dirty="0"/>
              <a:t>Average spectral acceleration Avg.SA([T</a:t>
            </a:r>
            <a:r>
              <a:rPr lang="en-AU" baseline="-25000" noProof="0" dirty="0"/>
              <a:t>i</a:t>
            </a:r>
            <a:r>
              <a:rPr lang="en-AU" noProof="0" dirty="0"/>
              <a:t>, </a:t>
            </a:r>
            <a:r>
              <a:rPr lang="en-AU" noProof="0" dirty="0" err="1"/>
              <a:t>T</a:t>
            </a:r>
            <a:r>
              <a:rPr lang="en-AU" baseline="-25000" noProof="0" dirty="0" err="1"/>
              <a:t>j</a:t>
            </a:r>
            <a:r>
              <a:rPr lang="en-AU" noProof="0" dirty="0"/>
              <a:t>])</a:t>
            </a:r>
          </a:p>
          <a:p>
            <a:pPr marL="800100" lvl="1" indent="-342900">
              <a:buFont typeface="Arial" panose="020B0604020202020204" pitchFamily="34" charset="0"/>
              <a:buChar char="•"/>
            </a:pPr>
            <a:r>
              <a:rPr lang="en-AU" noProof="0" dirty="0"/>
              <a:t>An efficient predictor of Collapse and peak floor accelerations</a:t>
            </a:r>
          </a:p>
          <a:p>
            <a:pPr marL="800100" lvl="1" indent="-342900">
              <a:buFont typeface="Arial" panose="020B0604020202020204" pitchFamily="34" charset="0"/>
              <a:buChar char="•"/>
            </a:pPr>
            <a:r>
              <a:rPr lang="en-AU" b="1" noProof="0" dirty="0"/>
              <a:t>AvgSA(0,3): </a:t>
            </a:r>
            <a:r>
              <a:rPr lang="en-AU" noProof="0" dirty="0"/>
              <a:t>SA[0, 0.33, 0.66, 0.99, 1.33, 1.67, 2.0, 2.33, 2.66, 3.00] </a:t>
            </a:r>
            <a:r>
              <a:rPr lang="en-AU" noProof="0" dirty="0">
                <a:sym typeface="Wingdings" panose="05000000000000000000" pitchFamily="2" charset="2"/>
              </a:rPr>
              <a:t>  T1 up to 1s</a:t>
            </a:r>
          </a:p>
          <a:p>
            <a:pPr marL="800100" lvl="1" indent="-342900">
              <a:buFont typeface="Arial" panose="020B0604020202020204" pitchFamily="34" charset="0"/>
              <a:buChar char="•"/>
            </a:pPr>
            <a:r>
              <a:rPr lang="en-AU" b="1" noProof="0" dirty="0"/>
              <a:t>AvgSA(0,6): </a:t>
            </a:r>
            <a:r>
              <a:rPr lang="en-AU" noProof="0" dirty="0"/>
              <a:t>SA[0, 0.66, 1.33, 2.00, 2.67, 3.34, 4.00, 4.67, 5.33, 6.00]  </a:t>
            </a:r>
            <a:r>
              <a:rPr lang="en-AU" noProof="0" dirty="0">
                <a:sym typeface="Wingdings" panose="05000000000000000000" pitchFamily="2" charset="2"/>
              </a:rPr>
              <a:t> T1 up to 2s</a:t>
            </a:r>
          </a:p>
          <a:p>
            <a:pPr marL="1714500" lvl="2" indent="-342900">
              <a:buFont typeface="Arial" panose="020B0604020202020204" pitchFamily="34" charset="0"/>
              <a:buChar char="•"/>
            </a:pPr>
            <a:endParaRPr lang="en-AU" noProof="0" dirty="0">
              <a:sym typeface="Wingdings" panose="05000000000000000000" pitchFamily="2" charset="2"/>
            </a:endParaRPr>
          </a:p>
          <a:p>
            <a:r>
              <a:rPr lang="en-AU" noProof="0" dirty="0">
                <a:sym typeface="Wingdings" panose="05000000000000000000" pitchFamily="2" charset="2"/>
              </a:rPr>
              <a:t>Other IMs for GM-Selection</a:t>
            </a:r>
          </a:p>
          <a:p>
            <a:pPr marL="800100" lvl="1" indent="-342900">
              <a:buFont typeface="Arial" panose="020B0604020202020204" pitchFamily="34" charset="0"/>
              <a:buChar char="•"/>
            </a:pPr>
            <a:r>
              <a:rPr lang="en-AU" noProof="0" dirty="0">
                <a:sym typeface="Wingdings" panose="05000000000000000000" pitchFamily="2" charset="2"/>
              </a:rPr>
              <a:t>Significant Duration (5-95%)      important for degrading systems</a:t>
            </a:r>
          </a:p>
          <a:p>
            <a:pPr marL="800100" lvl="1" indent="-342900">
              <a:buFont typeface="Arial" panose="020B0604020202020204" pitchFamily="34" charset="0"/>
              <a:buChar char="•"/>
            </a:pPr>
            <a:r>
              <a:rPr lang="en-AU" noProof="0" dirty="0">
                <a:sym typeface="Wingdings" panose="05000000000000000000" pitchFamily="2" charset="2"/>
              </a:rPr>
              <a:t>Spectral acceleration     ensures compatibility with spectral shape</a:t>
            </a:r>
          </a:p>
          <a:p>
            <a:pPr marL="1695450" lvl="2" indent="-342900">
              <a:buFont typeface="Arial" panose="020B0604020202020204" pitchFamily="34" charset="0"/>
              <a:buChar char="•"/>
            </a:pPr>
            <a:r>
              <a:rPr lang="en-AU" noProof="0" dirty="0">
                <a:sym typeface="Wingdings" panose="05000000000000000000" pitchFamily="2" charset="2"/>
              </a:rPr>
              <a:t>30 periods from 0.01s und 10s </a:t>
            </a:r>
          </a:p>
        </p:txBody>
      </p:sp>
      <p:sp>
        <p:nvSpPr>
          <p:cNvPr id="3" name="Titel 2">
            <a:extLst>
              <a:ext uri="{FF2B5EF4-FFF2-40B4-BE49-F238E27FC236}">
                <a16:creationId xmlns:a16="http://schemas.microsoft.com/office/drawing/2014/main" id="{7F25A61E-841B-129A-501F-4F0B213C8E22}"/>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spTree>
    <p:extLst>
      <p:ext uri="{BB962C8B-B14F-4D97-AF65-F5344CB8AC3E}">
        <p14:creationId xmlns:p14="http://schemas.microsoft.com/office/powerpoint/2010/main" val="3805326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DACDB-F3E1-6146-EE9D-ECA0AB66FD8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F4A8B8BE-3646-E410-3A9D-EBF23A798035}"/>
              </a:ext>
            </a:extLst>
          </p:cNvPr>
          <p:cNvSpPr>
            <a:spLocks noGrp="1"/>
          </p:cNvSpPr>
          <p:nvPr>
            <p:ph type="body" sz="quarter" idx="18"/>
          </p:nvPr>
        </p:nvSpPr>
        <p:spPr/>
        <p:txBody>
          <a:bodyPr/>
          <a:lstStyle/>
          <a:p>
            <a:r>
              <a:rPr lang="en-AU" b="1" noProof="0" dirty="0">
                <a:solidFill>
                  <a:schemeClr val="tx1"/>
                </a:solidFill>
              </a:rPr>
              <a:t>2. Site Selection</a:t>
            </a:r>
          </a:p>
          <a:p>
            <a:pPr marL="342900" indent="-342900">
              <a:buFont typeface="Arial" panose="020B0604020202020204" pitchFamily="34" charset="0"/>
              <a:buChar char="•"/>
            </a:pPr>
            <a:r>
              <a:rPr lang="en-AU" noProof="0" dirty="0">
                <a:solidFill>
                  <a:schemeClr val="tx1"/>
                </a:solidFill>
              </a:rPr>
              <a:t>Seismicity Level </a:t>
            </a:r>
            <a:r>
              <a:rPr lang="en-AU" noProof="0" dirty="0">
                <a:solidFill>
                  <a:schemeClr val="tx1"/>
                </a:solidFill>
                <a:sym typeface="Wingdings" panose="05000000000000000000" pitchFamily="2" charset="2"/>
              </a:rPr>
              <a:t> </a:t>
            </a:r>
            <a:r>
              <a:rPr lang="en-AU" u="sng" noProof="0" dirty="0">
                <a:solidFill>
                  <a:schemeClr val="tx1"/>
                </a:solidFill>
                <a:sym typeface="Wingdings" panose="05000000000000000000" pitchFamily="2" charset="2"/>
              </a:rPr>
              <a:t>Low/mod </a:t>
            </a:r>
            <a:r>
              <a:rPr lang="en-AU" noProof="0" dirty="0">
                <a:solidFill>
                  <a:schemeClr val="tx1"/>
                </a:solidFill>
                <a:sym typeface="Wingdings" panose="05000000000000000000" pitchFamily="2" charset="2"/>
              </a:rPr>
              <a:t>and </a:t>
            </a:r>
            <a:r>
              <a:rPr lang="en-AU" u="sng" noProof="0" dirty="0">
                <a:solidFill>
                  <a:schemeClr val="tx1"/>
                </a:solidFill>
                <a:sym typeface="Wingdings" panose="05000000000000000000" pitchFamily="2" charset="2"/>
              </a:rPr>
              <a:t>High</a:t>
            </a:r>
            <a:endParaRPr lang="en-AU" u="sng" noProof="0" dirty="0">
              <a:solidFill>
                <a:schemeClr val="tx1"/>
              </a:solidFill>
            </a:endParaRPr>
          </a:p>
        </p:txBody>
      </p:sp>
      <p:sp>
        <p:nvSpPr>
          <p:cNvPr id="3" name="Titel 2">
            <a:extLst>
              <a:ext uri="{FF2B5EF4-FFF2-40B4-BE49-F238E27FC236}">
                <a16:creationId xmlns:a16="http://schemas.microsoft.com/office/drawing/2014/main" id="{1A9EE306-8862-E4EA-5C69-9E4807B97740}"/>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pic>
        <p:nvPicPr>
          <p:cNvPr id="4" name="Grafik 3" descr="Ein Bild, das Text, Karte, Screenshot enthält.&#10;&#10;KI-generierte Inhalte können fehlerhaft sein.">
            <a:extLst>
              <a:ext uri="{FF2B5EF4-FFF2-40B4-BE49-F238E27FC236}">
                <a16:creationId xmlns:a16="http://schemas.microsoft.com/office/drawing/2014/main" id="{D92B425F-2913-E547-17F2-89723060E7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279" y="1962897"/>
            <a:ext cx="5532131" cy="4233680"/>
          </a:xfrm>
          <a:prstGeom prst="rect">
            <a:avLst/>
          </a:prstGeom>
        </p:spPr>
      </p:pic>
      <p:pic>
        <p:nvPicPr>
          <p:cNvPr id="5" name="Grafik 4" descr="Ein Bild, das Text, Karte, Screenshot enthält.&#10;&#10;KI-generierte Inhalte können fehlerhaft sein.">
            <a:extLst>
              <a:ext uri="{FF2B5EF4-FFF2-40B4-BE49-F238E27FC236}">
                <a16:creationId xmlns:a16="http://schemas.microsoft.com/office/drawing/2014/main" id="{D8AAE0D2-8EA1-3E55-8E76-689F367171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2889" y="1930892"/>
            <a:ext cx="5239522" cy="4297689"/>
          </a:xfrm>
          <a:prstGeom prst="rect">
            <a:avLst/>
          </a:prstGeom>
        </p:spPr>
      </p:pic>
    </p:spTree>
    <p:extLst>
      <p:ext uri="{BB962C8B-B14F-4D97-AF65-F5344CB8AC3E}">
        <p14:creationId xmlns:p14="http://schemas.microsoft.com/office/powerpoint/2010/main" val="33254347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0121-39CE-36FF-FB63-6BA28329432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61D6B002-2922-52DC-C5DB-A2D3D46D8055}"/>
              </a:ext>
            </a:extLst>
          </p:cNvPr>
          <p:cNvSpPr>
            <a:spLocks noGrp="1"/>
          </p:cNvSpPr>
          <p:nvPr>
            <p:ph type="body" sz="quarter" idx="18"/>
          </p:nvPr>
        </p:nvSpPr>
        <p:spPr/>
        <p:txBody>
          <a:bodyPr/>
          <a:lstStyle/>
          <a:p>
            <a:r>
              <a:rPr lang="en-AU" b="1" noProof="0" dirty="0">
                <a:solidFill>
                  <a:schemeClr val="tx1"/>
                </a:solidFill>
              </a:rPr>
              <a:t>2. Site Selection</a:t>
            </a:r>
          </a:p>
          <a:p>
            <a:pPr marL="342900" indent="-342900">
              <a:buFont typeface="Arial" panose="020B0604020202020204" pitchFamily="34" charset="0"/>
              <a:buChar char="•"/>
            </a:pPr>
            <a:r>
              <a:rPr lang="en-AU" noProof="0" dirty="0">
                <a:solidFill>
                  <a:schemeClr val="tx1"/>
                </a:solidFill>
              </a:rPr>
              <a:t>Attenuation of ground motion (based on ESHM20)</a:t>
            </a:r>
          </a:p>
          <a:p>
            <a:endParaRPr lang="en-AU" noProof="0" dirty="0">
              <a:solidFill>
                <a:schemeClr val="tx1"/>
              </a:solidFill>
            </a:endParaRPr>
          </a:p>
        </p:txBody>
      </p:sp>
      <p:sp>
        <p:nvSpPr>
          <p:cNvPr id="3" name="Titel 2">
            <a:extLst>
              <a:ext uri="{FF2B5EF4-FFF2-40B4-BE49-F238E27FC236}">
                <a16:creationId xmlns:a16="http://schemas.microsoft.com/office/drawing/2014/main" id="{C32FD753-6F61-6E60-34C1-66A5287A53F2}"/>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pic>
        <p:nvPicPr>
          <p:cNvPr id="4" name="Grafik 3" descr="Ein Bild, das Text, Karte, Diagramm, Screenshot enthält.&#10;&#10;KI-generierte Inhalte können fehlerhaft sein.">
            <a:extLst>
              <a:ext uri="{FF2B5EF4-FFF2-40B4-BE49-F238E27FC236}">
                <a16:creationId xmlns:a16="http://schemas.microsoft.com/office/drawing/2014/main" id="{42282225-4BD6-4A53-FBA1-6B06C1CFE0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886" y="2057691"/>
            <a:ext cx="5239522" cy="4297689"/>
          </a:xfrm>
          <a:prstGeom prst="rect">
            <a:avLst/>
          </a:prstGeom>
        </p:spPr>
      </p:pic>
      <p:pic>
        <p:nvPicPr>
          <p:cNvPr id="5" name="Grafik 4" descr="Ein Bild, das Text, Karte, Diagramm, Screenshot enthält.&#10;&#10;KI-generierte Inhalte können fehlerhaft sein.">
            <a:extLst>
              <a:ext uri="{FF2B5EF4-FFF2-40B4-BE49-F238E27FC236}">
                <a16:creationId xmlns:a16="http://schemas.microsoft.com/office/drawing/2014/main" id="{08323441-4534-6236-9B09-29BE00E13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7973" y="2074908"/>
            <a:ext cx="5239522" cy="4297689"/>
          </a:xfrm>
          <a:prstGeom prst="rect">
            <a:avLst/>
          </a:prstGeom>
        </p:spPr>
      </p:pic>
    </p:spTree>
    <p:extLst>
      <p:ext uri="{BB962C8B-B14F-4D97-AF65-F5344CB8AC3E}">
        <p14:creationId xmlns:p14="http://schemas.microsoft.com/office/powerpoint/2010/main" val="3934966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019B9-E416-5A3E-7DA4-21AAD75A0E74}"/>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590102A7-844C-20C6-38EB-B4AAD3D37CF4}"/>
              </a:ext>
            </a:extLst>
          </p:cNvPr>
          <p:cNvSpPr>
            <a:spLocks noGrp="1"/>
          </p:cNvSpPr>
          <p:nvPr>
            <p:ph type="body" sz="quarter" idx="18"/>
          </p:nvPr>
        </p:nvSpPr>
        <p:spPr>
          <a:xfrm>
            <a:off x="432000" y="1044005"/>
            <a:ext cx="11312077" cy="1440160"/>
          </a:xfrm>
        </p:spPr>
        <p:txBody>
          <a:bodyPr numCol="1"/>
          <a:lstStyle/>
          <a:p>
            <a:r>
              <a:rPr lang="en-AU" b="1" noProof="0" dirty="0">
                <a:solidFill>
                  <a:schemeClr val="tx1"/>
                </a:solidFill>
              </a:rPr>
              <a:t>2. Site Selection</a:t>
            </a:r>
          </a:p>
          <a:p>
            <a:pPr marL="342900" indent="-342900">
              <a:buFont typeface="Arial" panose="020B0604020202020204" pitchFamily="34" charset="0"/>
              <a:buChar char="•"/>
            </a:pPr>
            <a:r>
              <a:rPr lang="en-AU" noProof="0" dirty="0">
                <a:sym typeface="Wingdings" panose="05000000000000000000" pitchFamily="2" charset="2"/>
              </a:rPr>
              <a:t>60 Sites   30 pro seismicity level, 5 per attenuation region</a:t>
            </a:r>
          </a:p>
          <a:p>
            <a:pPr marL="342900" indent="-342900">
              <a:buFont typeface="Arial" panose="020B0604020202020204" pitchFamily="34" charset="0"/>
              <a:buChar char="•"/>
            </a:pPr>
            <a:r>
              <a:rPr lang="en-AU" noProof="0" dirty="0">
                <a:sym typeface="Wingdings" panose="05000000000000000000" pitchFamily="2" charset="2"/>
              </a:rPr>
              <a:t>Well distributed relative to the different tectonic sources</a:t>
            </a:r>
          </a:p>
          <a:p>
            <a:endParaRPr lang="en-AU" b="1" noProof="0" dirty="0">
              <a:solidFill>
                <a:schemeClr val="tx1"/>
              </a:solidFill>
            </a:endParaRPr>
          </a:p>
        </p:txBody>
      </p:sp>
      <p:sp>
        <p:nvSpPr>
          <p:cNvPr id="3" name="Titel 2">
            <a:extLst>
              <a:ext uri="{FF2B5EF4-FFF2-40B4-BE49-F238E27FC236}">
                <a16:creationId xmlns:a16="http://schemas.microsoft.com/office/drawing/2014/main" id="{04C95B43-1D90-7E2E-CE53-549BC20F4745}"/>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pic>
        <p:nvPicPr>
          <p:cNvPr id="6" name="Grafik 5" descr="Ein Bild, das Text, Karte, Diagramm, Screenshot enthält.&#10;&#10;KI-generierte Inhalte können fehlerhaft sein.">
            <a:extLst>
              <a:ext uri="{FF2B5EF4-FFF2-40B4-BE49-F238E27FC236}">
                <a16:creationId xmlns:a16="http://schemas.microsoft.com/office/drawing/2014/main" id="{62C39914-BED9-0F36-C821-8A19EC203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262" y="2357979"/>
            <a:ext cx="5486119" cy="4066694"/>
          </a:xfrm>
          <a:prstGeom prst="rect">
            <a:avLst/>
          </a:prstGeom>
        </p:spPr>
      </p:pic>
      <p:pic>
        <p:nvPicPr>
          <p:cNvPr id="7" name="Grafik 6" descr="Ein Bild, das Text, Karte, Atlas, Screenshot enthält.&#10;&#10;KI-generierte Inhalte können fehlerhaft sein.">
            <a:extLst>
              <a:ext uri="{FF2B5EF4-FFF2-40B4-BE49-F238E27FC236}">
                <a16:creationId xmlns:a16="http://schemas.microsoft.com/office/drawing/2014/main" id="{B0E82923-6815-BAA5-B9E2-813A59AF91FC}"/>
              </a:ext>
            </a:extLst>
          </p:cNvPr>
          <p:cNvPicPr>
            <a:picLocks noChangeAspect="1"/>
          </p:cNvPicPr>
          <p:nvPr/>
        </p:nvPicPr>
        <p:blipFill>
          <a:blip r:embed="rId3"/>
          <a:stretch>
            <a:fillRect/>
          </a:stretch>
        </p:blipFill>
        <p:spPr>
          <a:xfrm>
            <a:off x="6397352" y="2551350"/>
            <a:ext cx="5328592" cy="3806137"/>
          </a:xfrm>
          <a:prstGeom prst="rect">
            <a:avLst/>
          </a:prstGeom>
        </p:spPr>
      </p:pic>
    </p:spTree>
    <p:extLst>
      <p:ext uri="{BB962C8B-B14F-4D97-AF65-F5344CB8AC3E}">
        <p14:creationId xmlns:p14="http://schemas.microsoft.com/office/powerpoint/2010/main" val="3702731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AC94B-3EE7-D491-3563-7F3A7FBA0381}"/>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D993CC4E-2355-0A68-EFB3-258AB2F1ED11}"/>
              </a:ext>
            </a:extLst>
          </p:cNvPr>
          <p:cNvSpPr>
            <a:spLocks noGrp="1"/>
          </p:cNvSpPr>
          <p:nvPr>
            <p:ph type="body" sz="quarter" idx="18"/>
          </p:nvPr>
        </p:nvSpPr>
        <p:spPr>
          <a:xfrm>
            <a:off x="432000" y="1044005"/>
            <a:ext cx="11312077" cy="1440160"/>
          </a:xfrm>
        </p:spPr>
        <p:txBody>
          <a:bodyPr numCol="1"/>
          <a:lstStyle/>
          <a:p>
            <a:r>
              <a:rPr lang="en-AU" b="1" noProof="0" dirty="0">
                <a:solidFill>
                  <a:schemeClr val="tx1"/>
                </a:solidFill>
              </a:rPr>
              <a:t>2. Site Selection</a:t>
            </a:r>
          </a:p>
          <a:p>
            <a:endParaRPr lang="en-AU" b="1" noProof="0" dirty="0">
              <a:solidFill>
                <a:schemeClr val="tx1"/>
              </a:solidFill>
            </a:endParaRPr>
          </a:p>
        </p:txBody>
      </p:sp>
      <p:sp>
        <p:nvSpPr>
          <p:cNvPr id="3" name="Titel 2">
            <a:extLst>
              <a:ext uri="{FF2B5EF4-FFF2-40B4-BE49-F238E27FC236}">
                <a16:creationId xmlns:a16="http://schemas.microsoft.com/office/drawing/2014/main" id="{62670643-E3A3-73CC-40E5-C1ECC9C02FF6}"/>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pic>
        <p:nvPicPr>
          <p:cNvPr id="4" name="Grafik 3" descr="Ein Bild, das Text, Diagramm, Reihe enthält.&#10;&#10;KI-generierte Inhalte können fehlerhaft sein.">
            <a:extLst>
              <a:ext uri="{FF2B5EF4-FFF2-40B4-BE49-F238E27FC236}">
                <a16:creationId xmlns:a16="http://schemas.microsoft.com/office/drawing/2014/main" id="{4FE2C079-D886-9EAB-1610-17CE7FE7CA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453" y="1092319"/>
            <a:ext cx="7044865" cy="5404791"/>
          </a:xfrm>
          <a:prstGeom prst="rect">
            <a:avLst/>
          </a:prstGeom>
        </p:spPr>
      </p:pic>
      <p:sp>
        <p:nvSpPr>
          <p:cNvPr id="5" name="Textfeld 4">
            <a:extLst>
              <a:ext uri="{FF2B5EF4-FFF2-40B4-BE49-F238E27FC236}">
                <a16:creationId xmlns:a16="http://schemas.microsoft.com/office/drawing/2014/main" id="{EC9D26D3-3944-D040-F381-54BCC3D59D95}"/>
              </a:ext>
            </a:extLst>
          </p:cNvPr>
          <p:cNvSpPr txBox="1"/>
          <p:nvPr/>
        </p:nvSpPr>
        <p:spPr>
          <a:xfrm>
            <a:off x="4421614" y="3818495"/>
            <a:ext cx="1800200" cy="307777"/>
          </a:xfrm>
          <a:prstGeom prst="rect">
            <a:avLst/>
          </a:prstGeom>
          <a:noFill/>
        </p:spPr>
        <p:txBody>
          <a:bodyPr wrap="square" rtlCol="0">
            <a:spAutoFit/>
          </a:bodyPr>
          <a:lstStyle/>
          <a:p>
            <a:r>
              <a:rPr lang="de-DE" sz="1400" b="1" dirty="0">
                <a:solidFill>
                  <a:srgbClr val="333333"/>
                </a:solidFill>
                <a:latin typeface="Futura LT Pro Light" panose="020B0402020204020303" pitchFamily="34" charset="0"/>
                <a:cs typeface="+mn-cs"/>
              </a:rPr>
              <a:t>Selected </a:t>
            </a:r>
            <a:r>
              <a:rPr lang="de-DE" sz="1400" b="1" dirty="0" err="1">
                <a:solidFill>
                  <a:srgbClr val="333333"/>
                </a:solidFill>
                <a:latin typeface="Futura LT Pro Light" panose="020B0402020204020303" pitchFamily="34" charset="0"/>
                <a:cs typeface="+mn-cs"/>
              </a:rPr>
              <a:t>sites</a:t>
            </a:r>
            <a:endParaRPr lang="de-DE" sz="1400" b="1" dirty="0">
              <a:solidFill>
                <a:srgbClr val="333333"/>
              </a:solidFill>
              <a:latin typeface="Futura LT Pro Light" panose="020B0402020204020303" pitchFamily="34" charset="0"/>
              <a:cs typeface="+mn-cs"/>
            </a:endParaRPr>
          </a:p>
        </p:txBody>
      </p:sp>
      <p:sp>
        <p:nvSpPr>
          <p:cNvPr id="8" name="Textfeld 7">
            <a:extLst>
              <a:ext uri="{FF2B5EF4-FFF2-40B4-BE49-F238E27FC236}">
                <a16:creationId xmlns:a16="http://schemas.microsoft.com/office/drawing/2014/main" id="{ACC2F571-9193-48CB-FEE6-677F0D0D0D99}"/>
              </a:ext>
            </a:extLst>
          </p:cNvPr>
          <p:cNvSpPr txBox="1"/>
          <p:nvPr/>
        </p:nvSpPr>
        <p:spPr>
          <a:xfrm>
            <a:off x="6460696" y="3107373"/>
            <a:ext cx="1891772" cy="523220"/>
          </a:xfrm>
          <a:prstGeom prst="rect">
            <a:avLst/>
          </a:prstGeom>
          <a:noFill/>
        </p:spPr>
        <p:txBody>
          <a:bodyPr wrap="square" rtlCol="0">
            <a:spAutoFit/>
          </a:bodyPr>
          <a:lstStyle/>
          <a:p>
            <a:r>
              <a:rPr lang="de-DE" sz="1400" b="1" dirty="0">
                <a:solidFill>
                  <a:srgbClr val="333333"/>
                </a:solidFill>
                <a:latin typeface="Futura LT Pro Light" panose="020B0402020204020303" pitchFamily="34" charset="0"/>
                <a:cs typeface="+mn-cs"/>
              </a:rPr>
              <a:t>Average of </a:t>
            </a:r>
            <a:r>
              <a:rPr lang="de-DE" sz="1400" b="1" dirty="0" err="1">
                <a:solidFill>
                  <a:srgbClr val="333333"/>
                </a:solidFill>
                <a:latin typeface="Futura LT Pro Light" panose="020B0402020204020303" pitchFamily="34" charset="0"/>
                <a:cs typeface="+mn-cs"/>
              </a:rPr>
              <a:t>selected</a:t>
            </a:r>
            <a:r>
              <a:rPr lang="de-DE" sz="1400" b="1" dirty="0">
                <a:solidFill>
                  <a:srgbClr val="333333"/>
                </a:solidFill>
                <a:latin typeface="Futura LT Pro Light" panose="020B0402020204020303" pitchFamily="34" charset="0"/>
                <a:cs typeface="+mn-cs"/>
              </a:rPr>
              <a:t> </a:t>
            </a:r>
            <a:r>
              <a:rPr lang="de-DE" sz="1400" b="1" dirty="0" err="1">
                <a:solidFill>
                  <a:srgbClr val="333333"/>
                </a:solidFill>
                <a:latin typeface="Futura LT Pro Light" panose="020B0402020204020303" pitchFamily="34" charset="0"/>
                <a:cs typeface="+mn-cs"/>
              </a:rPr>
              <a:t>sites</a:t>
            </a:r>
            <a:endParaRPr lang="de-DE" sz="1400" b="1" dirty="0">
              <a:solidFill>
                <a:srgbClr val="333333"/>
              </a:solidFill>
              <a:latin typeface="Futura LT Pro Light" panose="020B0402020204020303" pitchFamily="34" charset="0"/>
              <a:cs typeface="+mn-cs"/>
            </a:endParaRPr>
          </a:p>
        </p:txBody>
      </p:sp>
      <p:cxnSp>
        <p:nvCxnSpPr>
          <p:cNvPr id="9" name="Gerade Verbindung mit Pfeil 8">
            <a:extLst>
              <a:ext uri="{FF2B5EF4-FFF2-40B4-BE49-F238E27FC236}">
                <a16:creationId xmlns:a16="http://schemas.microsoft.com/office/drawing/2014/main" id="{F218F42D-4EE5-BF31-4536-93EC664EA6A7}"/>
              </a:ext>
            </a:extLst>
          </p:cNvPr>
          <p:cNvCxnSpPr>
            <a:cxnSpLocks/>
          </p:cNvCxnSpPr>
          <p:nvPr/>
        </p:nvCxnSpPr>
        <p:spPr>
          <a:xfrm>
            <a:off x="5429726" y="4223664"/>
            <a:ext cx="360040" cy="108012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480A7FCF-6C39-3675-0F09-C7657D3FE1A0}"/>
              </a:ext>
            </a:extLst>
          </p:cNvPr>
          <p:cNvCxnSpPr>
            <a:cxnSpLocks/>
          </p:cNvCxnSpPr>
          <p:nvPr/>
        </p:nvCxnSpPr>
        <p:spPr>
          <a:xfrm flipH="1">
            <a:off x="6617858" y="3818495"/>
            <a:ext cx="396044" cy="15030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F60E66EA-DBE9-B439-5B08-3AE6C6D46C48}"/>
              </a:ext>
            </a:extLst>
          </p:cNvPr>
          <p:cNvSpPr txBox="1"/>
          <p:nvPr/>
        </p:nvSpPr>
        <p:spPr>
          <a:xfrm>
            <a:off x="4169585" y="1319650"/>
            <a:ext cx="5400600" cy="369332"/>
          </a:xfrm>
          <a:prstGeom prst="rect">
            <a:avLst/>
          </a:prstGeom>
          <a:noFill/>
        </p:spPr>
        <p:txBody>
          <a:bodyPr wrap="square" rtlCol="0">
            <a:spAutoFit/>
          </a:bodyPr>
          <a:lstStyle/>
          <a:p>
            <a:r>
              <a:rPr lang="de-DE" b="1" dirty="0">
                <a:solidFill>
                  <a:srgbClr val="333333"/>
                </a:solidFill>
                <a:latin typeface="Futura LT Pro Light" panose="020B0402020204020303" pitchFamily="34" charset="0"/>
                <a:cs typeface="+mn-cs"/>
              </a:rPr>
              <a:t>Distribution of Avg.SA </a:t>
            </a:r>
            <a:r>
              <a:rPr lang="de-DE" b="1" dirty="0" err="1">
                <a:solidFill>
                  <a:srgbClr val="333333"/>
                </a:solidFill>
                <a:latin typeface="Futura LT Pro Light" panose="020B0402020204020303" pitchFamily="34" charset="0"/>
                <a:cs typeface="+mn-cs"/>
              </a:rPr>
              <a:t>within</a:t>
            </a:r>
            <a:r>
              <a:rPr lang="de-DE" b="1" dirty="0">
                <a:solidFill>
                  <a:srgbClr val="333333"/>
                </a:solidFill>
                <a:latin typeface="Futura LT Pro Light" panose="020B0402020204020303" pitchFamily="34" charset="0"/>
                <a:cs typeface="+mn-cs"/>
              </a:rPr>
              <a:t> </a:t>
            </a:r>
            <a:r>
              <a:rPr lang="de-DE" b="1" dirty="0" err="1">
                <a:solidFill>
                  <a:srgbClr val="333333"/>
                </a:solidFill>
                <a:latin typeface="Futura LT Pro Light" panose="020B0402020204020303" pitchFamily="34" charset="0"/>
                <a:cs typeface="+mn-cs"/>
              </a:rPr>
              <a:t>the</a:t>
            </a:r>
            <a:r>
              <a:rPr lang="de-DE" b="1" dirty="0">
                <a:solidFill>
                  <a:srgbClr val="333333"/>
                </a:solidFill>
                <a:latin typeface="Futura LT Pro Light" panose="020B0402020204020303" pitchFamily="34" charset="0"/>
                <a:cs typeface="+mn-cs"/>
              </a:rPr>
              <a:t> </a:t>
            </a:r>
            <a:r>
              <a:rPr lang="de-DE" b="1" dirty="0" err="1">
                <a:solidFill>
                  <a:srgbClr val="333333"/>
                </a:solidFill>
                <a:latin typeface="Futura LT Pro Light" panose="020B0402020204020303" pitchFamily="34" charset="0"/>
                <a:cs typeface="+mn-cs"/>
              </a:rPr>
              <a:t>regions</a:t>
            </a:r>
            <a:endParaRPr lang="de-DE" b="1" dirty="0">
              <a:solidFill>
                <a:srgbClr val="333333"/>
              </a:solidFill>
              <a:latin typeface="Futura LT Pro Light" panose="020B0402020204020303" pitchFamily="34" charset="0"/>
              <a:cs typeface="+mn-cs"/>
            </a:endParaRPr>
          </a:p>
        </p:txBody>
      </p:sp>
    </p:spTree>
    <p:extLst>
      <p:ext uri="{BB962C8B-B14F-4D97-AF65-F5344CB8AC3E}">
        <p14:creationId xmlns:p14="http://schemas.microsoft.com/office/powerpoint/2010/main" val="1351936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B068-6607-FA78-D514-241085002823}"/>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C58ED633-EF6F-8D89-DE3A-983A9614C1D0}"/>
              </a:ext>
            </a:extLst>
          </p:cNvPr>
          <p:cNvSpPr>
            <a:spLocks noGrp="1"/>
          </p:cNvSpPr>
          <p:nvPr>
            <p:ph type="body" sz="quarter" idx="18"/>
          </p:nvPr>
        </p:nvSpPr>
        <p:spPr>
          <a:xfrm>
            <a:off x="432000" y="1044005"/>
            <a:ext cx="11312077" cy="5328592"/>
          </a:xfrm>
        </p:spPr>
        <p:txBody>
          <a:bodyPr numCol="1"/>
          <a:lstStyle/>
          <a:p>
            <a:r>
              <a:rPr lang="en-AU" b="1" dirty="0">
                <a:solidFill>
                  <a:schemeClr val="tx1"/>
                </a:solidFill>
              </a:rPr>
              <a:t>4</a:t>
            </a:r>
            <a:r>
              <a:rPr lang="en-AU" b="1" noProof="0" dirty="0">
                <a:solidFill>
                  <a:schemeClr val="tx1"/>
                </a:solidFill>
              </a:rPr>
              <a:t>. Ground Motion Selection</a:t>
            </a:r>
          </a:p>
          <a:p>
            <a:pPr marL="342900" indent="-342900">
              <a:buFont typeface="Arial" panose="020B0604020202020204" pitchFamily="34" charset="0"/>
              <a:buChar char="•"/>
            </a:pPr>
            <a:r>
              <a:rPr lang="en-AU" noProof="0" dirty="0">
                <a:solidFill>
                  <a:schemeClr val="tx1"/>
                </a:solidFill>
              </a:rPr>
              <a:t>GM</a:t>
            </a:r>
            <a:r>
              <a:rPr lang="en-AU" dirty="0">
                <a:solidFill>
                  <a:schemeClr val="tx1"/>
                </a:solidFill>
              </a:rPr>
              <a:t>s from the ESM database + extra subduction records from Kik-Net/NGA-Subduction</a:t>
            </a:r>
          </a:p>
          <a:p>
            <a:pPr marL="342900" indent="-342900">
              <a:buFont typeface="Arial" panose="020B0604020202020204" pitchFamily="34" charset="0"/>
              <a:buChar char="•"/>
            </a:pPr>
            <a:r>
              <a:rPr lang="en-AU" noProof="0" dirty="0">
                <a:solidFill>
                  <a:schemeClr val="tx1"/>
                </a:solidFill>
              </a:rPr>
              <a:t>Derivation of new IM-correlation relationships for the hazard assessment</a:t>
            </a:r>
          </a:p>
          <a:p>
            <a:pPr marL="342900" indent="-342900">
              <a:buFont typeface="Arial" panose="020B0604020202020204" pitchFamily="34" charset="0"/>
              <a:buChar char="•"/>
            </a:pPr>
            <a:r>
              <a:rPr lang="en-AU" noProof="0" dirty="0">
                <a:solidFill>
                  <a:schemeClr val="tx1"/>
                </a:solidFill>
              </a:rPr>
              <a:t>Generalised conditional intensity measure selection</a:t>
            </a:r>
          </a:p>
          <a:p>
            <a:endParaRPr lang="en-AU" dirty="0">
              <a:solidFill>
                <a:schemeClr val="tx1"/>
              </a:solidFill>
            </a:endParaRPr>
          </a:p>
          <a:p>
            <a:r>
              <a:rPr lang="en-AU" b="1" dirty="0">
                <a:solidFill>
                  <a:schemeClr val="tx1"/>
                </a:solidFill>
              </a:rPr>
              <a:t>5</a:t>
            </a:r>
            <a:r>
              <a:rPr lang="en-AU" b="1" noProof="0" dirty="0">
                <a:solidFill>
                  <a:schemeClr val="tx1"/>
                </a:solidFill>
              </a:rPr>
              <a:t>. Statistical assessment of site hazard disaggregation and selected records</a:t>
            </a:r>
          </a:p>
          <a:p>
            <a:endParaRPr lang="en-AU" noProof="0" dirty="0">
              <a:solidFill>
                <a:schemeClr val="tx1"/>
              </a:solidFill>
            </a:endParaRPr>
          </a:p>
          <a:p>
            <a:r>
              <a:rPr lang="en-AU" b="1" dirty="0">
                <a:solidFill>
                  <a:schemeClr val="tx1"/>
                </a:solidFill>
              </a:rPr>
              <a:t>6. Fragility Analysis of SDOF systems</a:t>
            </a:r>
          </a:p>
          <a:p>
            <a:endParaRPr lang="en-AU" noProof="0" dirty="0">
              <a:solidFill>
                <a:schemeClr val="tx1"/>
              </a:solidFill>
            </a:endParaRPr>
          </a:p>
          <a:p>
            <a:r>
              <a:rPr lang="en-AU" b="1" dirty="0">
                <a:solidFill>
                  <a:schemeClr val="tx1"/>
                </a:solidFill>
              </a:rPr>
              <a:t>7. Statistical assessment of fragility results and model development</a:t>
            </a:r>
          </a:p>
          <a:p>
            <a:endParaRPr lang="en-AU" b="1" noProof="0" dirty="0">
              <a:solidFill>
                <a:schemeClr val="tx1"/>
              </a:solidFill>
            </a:endParaRPr>
          </a:p>
          <a:p>
            <a:r>
              <a:rPr lang="en-AU" b="1" dirty="0">
                <a:solidFill>
                  <a:schemeClr val="tx1"/>
                </a:solidFill>
              </a:rPr>
              <a:t>8. Propose a set of “reference” ground motions for the further development of CC2D-models</a:t>
            </a:r>
            <a:endParaRPr lang="en-AU" b="1" noProof="0" dirty="0">
              <a:solidFill>
                <a:schemeClr val="tx1"/>
              </a:solidFill>
            </a:endParaRPr>
          </a:p>
        </p:txBody>
      </p:sp>
      <p:sp>
        <p:nvSpPr>
          <p:cNvPr id="3" name="Titel 2">
            <a:extLst>
              <a:ext uri="{FF2B5EF4-FFF2-40B4-BE49-F238E27FC236}">
                <a16:creationId xmlns:a16="http://schemas.microsoft.com/office/drawing/2014/main" id="{47045CF0-6403-516A-595E-1EFDDE92F2FD}"/>
              </a:ext>
            </a:extLst>
          </p:cNvPr>
          <p:cNvSpPr>
            <a:spLocks noGrp="1"/>
          </p:cNvSpPr>
          <p:nvPr>
            <p:ph type="title"/>
          </p:nvPr>
        </p:nvSpPr>
        <p:spPr/>
        <p:txBody>
          <a:bodyPr/>
          <a:lstStyle/>
          <a:p>
            <a:r>
              <a:rPr lang="en-AU" noProof="0" dirty="0"/>
              <a:t>WP01 – Site-dependence of fragility curve parameters</a:t>
            </a:r>
            <a:br>
              <a:rPr lang="en-AU" noProof="0" dirty="0"/>
            </a:br>
            <a:endParaRPr lang="en-AU" noProof="0" dirty="0"/>
          </a:p>
        </p:txBody>
      </p:sp>
    </p:spTree>
    <p:extLst>
      <p:ext uri="{BB962C8B-B14F-4D97-AF65-F5344CB8AC3E}">
        <p14:creationId xmlns:p14="http://schemas.microsoft.com/office/powerpoint/2010/main" val="1998462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94E7A-00B9-DC9C-574F-E40DC7E9BB72}"/>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8694AE52-6003-6C89-2444-D0A6850DA65A}"/>
              </a:ext>
            </a:extLst>
          </p:cNvPr>
          <p:cNvSpPr>
            <a:spLocks noGrp="1"/>
          </p:cNvSpPr>
          <p:nvPr>
            <p:ph type="body" sz="quarter" idx="18"/>
          </p:nvPr>
        </p:nvSpPr>
        <p:spPr/>
        <p:txBody>
          <a:bodyPr/>
          <a:lstStyle/>
          <a:p>
            <a:r>
              <a:rPr lang="en-AU" b="1" u="sng" noProof="0" dirty="0"/>
              <a:t>Motivation:</a:t>
            </a:r>
            <a:r>
              <a:rPr lang="en-AU" u="sng" noProof="0" dirty="0"/>
              <a:t> </a:t>
            </a:r>
          </a:p>
          <a:p>
            <a:r>
              <a:rPr lang="en-AU" dirty="0"/>
              <a:t>There is currently no CC2D-model for reliability-based design that is accurate, suitable for implementation in a design standard and user friendly for engineering practitioners. </a:t>
            </a:r>
          </a:p>
          <a:p>
            <a:r>
              <a:rPr lang="en-AU" dirty="0"/>
              <a:t>Steel structures have generally been neglected in the development of capacity model for risk-based design</a:t>
            </a:r>
          </a:p>
          <a:p>
            <a:endParaRPr lang="en-AU" i="1" noProof="0" dirty="0"/>
          </a:p>
          <a:p>
            <a:r>
              <a:rPr lang="en-AU" b="1" i="1" u="sng" noProof="0" dirty="0"/>
              <a:t>Research Question: </a:t>
            </a:r>
          </a:p>
          <a:p>
            <a:r>
              <a:rPr lang="en-AU" i="1" dirty="0"/>
              <a:t>How can the relationship between the collapse capacity and the design force of steel CBFs be quantified and modelled?</a:t>
            </a:r>
          </a:p>
          <a:p>
            <a:endParaRPr lang="en-AU" noProof="0" dirty="0"/>
          </a:p>
          <a:p>
            <a:r>
              <a:rPr lang="en-AU" b="1" u="sng" noProof="0" dirty="0"/>
              <a:t>Status:</a:t>
            </a:r>
            <a:r>
              <a:rPr lang="en-AU" b="1" noProof="0" dirty="0"/>
              <a:t> </a:t>
            </a:r>
            <a:r>
              <a:rPr lang="en-AU" b="1" noProof="0" dirty="0">
                <a:solidFill>
                  <a:srgbClr val="FFC000"/>
                </a:solidFill>
              </a:rPr>
              <a:t>Started – paused</a:t>
            </a:r>
          </a:p>
        </p:txBody>
      </p:sp>
      <p:sp>
        <p:nvSpPr>
          <p:cNvPr id="3" name="Titel 2">
            <a:extLst>
              <a:ext uri="{FF2B5EF4-FFF2-40B4-BE49-F238E27FC236}">
                <a16:creationId xmlns:a16="http://schemas.microsoft.com/office/drawing/2014/main" id="{BCDA829C-C5CF-A6F1-8102-D81F20291415}"/>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spTree>
    <p:extLst>
      <p:ext uri="{BB962C8B-B14F-4D97-AF65-F5344CB8AC3E}">
        <p14:creationId xmlns:p14="http://schemas.microsoft.com/office/powerpoint/2010/main" val="27790634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345F6-3836-FA78-40CA-95B099937D26}"/>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39764C0-EFD6-6DAD-3EF1-37822E7FB8A4}"/>
              </a:ext>
            </a:extLst>
          </p:cNvPr>
          <p:cNvSpPr>
            <a:spLocks noGrp="1"/>
          </p:cNvSpPr>
          <p:nvPr>
            <p:ph type="body" sz="quarter" idx="18"/>
          </p:nvPr>
        </p:nvSpPr>
        <p:spPr/>
        <p:txBody>
          <a:bodyPr/>
          <a:lstStyle/>
          <a:p>
            <a:r>
              <a:rPr lang="en-AU" b="1" noProof="0" dirty="0">
                <a:solidFill>
                  <a:schemeClr val="tx1"/>
                </a:solidFill>
              </a:rPr>
              <a:t>Overview of the Methodology:</a:t>
            </a:r>
          </a:p>
          <a:p>
            <a:endParaRPr lang="en-AU" dirty="0">
              <a:solidFill>
                <a:schemeClr val="tx1"/>
              </a:solidFill>
            </a:endParaRPr>
          </a:p>
          <a:p>
            <a:pPr marL="457200" indent="-457200">
              <a:spcAft>
                <a:spcPts val="600"/>
              </a:spcAft>
              <a:buFont typeface="Arial" panose="020B0604020202020204" pitchFamily="34" charset="0"/>
              <a:buChar char="•"/>
            </a:pPr>
            <a:r>
              <a:rPr lang="en-AU" dirty="0"/>
              <a:t>Select the design and geometric parameters to be investigated</a:t>
            </a:r>
          </a:p>
          <a:p>
            <a:pPr marL="457200" indent="-457200">
              <a:spcAft>
                <a:spcPts val="600"/>
              </a:spcAft>
              <a:buFont typeface="Arial" panose="020B0604020202020204" pitchFamily="34" charset="0"/>
              <a:buChar char="•"/>
            </a:pPr>
            <a:endParaRPr lang="en-AU" dirty="0"/>
          </a:p>
          <a:p>
            <a:pPr marL="457200" indent="-457200">
              <a:spcAft>
                <a:spcPts val="600"/>
              </a:spcAft>
              <a:buFont typeface="Arial" panose="020B0604020202020204" pitchFamily="34" charset="0"/>
              <a:buChar char="•"/>
            </a:pPr>
            <a:r>
              <a:rPr lang="en-AU" dirty="0"/>
              <a:t>Design and model a suite of archetype structures according to gen. 2 of EC8 </a:t>
            </a:r>
          </a:p>
          <a:p>
            <a:pPr marL="457200" indent="-457200">
              <a:spcAft>
                <a:spcPts val="600"/>
              </a:spcAft>
              <a:buFont typeface="Arial" panose="020B0604020202020204" pitchFamily="34" charset="0"/>
              <a:buChar char="•"/>
            </a:pPr>
            <a:endParaRPr lang="en-AU" dirty="0"/>
          </a:p>
          <a:p>
            <a:pPr marL="457200" indent="-457200">
              <a:spcAft>
                <a:spcPts val="600"/>
              </a:spcAft>
              <a:buFont typeface="Arial" panose="020B0604020202020204" pitchFamily="34" charset="0"/>
              <a:buChar char="•"/>
            </a:pPr>
            <a:r>
              <a:rPr lang="en-AU" dirty="0"/>
              <a:t>Perform IDA to determine the fragility parameters for each structure</a:t>
            </a:r>
          </a:p>
          <a:p>
            <a:pPr>
              <a:spcAft>
                <a:spcPts val="600"/>
              </a:spcAft>
            </a:pPr>
            <a:endParaRPr lang="en-AU" dirty="0"/>
          </a:p>
          <a:p>
            <a:pPr marL="457200" indent="-457200">
              <a:spcAft>
                <a:spcPts val="600"/>
              </a:spcAft>
              <a:buFont typeface="Arial" panose="020B0604020202020204" pitchFamily="34" charset="0"/>
              <a:buChar char="•"/>
            </a:pPr>
            <a:r>
              <a:rPr lang="en-AU" dirty="0"/>
              <a:t>Statistically analyse the results to determine the dominant design parameters and derive a CC2D-Model for steel CBF</a:t>
            </a:r>
            <a:endParaRPr lang="en-AU" noProof="0" dirty="0">
              <a:solidFill>
                <a:schemeClr val="tx1"/>
              </a:solidFill>
            </a:endParaRPr>
          </a:p>
        </p:txBody>
      </p:sp>
      <p:sp>
        <p:nvSpPr>
          <p:cNvPr id="3" name="Titel 2">
            <a:extLst>
              <a:ext uri="{FF2B5EF4-FFF2-40B4-BE49-F238E27FC236}">
                <a16:creationId xmlns:a16="http://schemas.microsoft.com/office/drawing/2014/main" id="{8780BB70-D35A-B43E-7B3E-9E68C2BF5D6C}"/>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spTree>
    <p:extLst>
      <p:ext uri="{BB962C8B-B14F-4D97-AF65-F5344CB8AC3E}">
        <p14:creationId xmlns:p14="http://schemas.microsoft.com/office/powerpoint/2010/main" val="34996299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E6AD5-B4F2-C099-A2CD-2690B16E879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5B6BC319-B025-25A6-F4A5-A3938CB28D39}"/>
              </a:ext>
            </a:extLst>
          </p:cNvPr>
          <p:cNvSpPr>
            <a:spLocks noGrp="1"/>
          </p:cNvSpPr>
          <p:nvPr>
            <p:ph type="body" sz="quarter" idx="18"/>
          </p:nvPr>
        </p:nvSpPr>
        <p:spPr/>
        <p:txBody>
          <a:bodyPr/>
          <a:lstStyle/>
          <a:p>
            <a:r>
              <a:rPr lang="en-AU" b="1" noProof="0" dirty="0">
                <a:solidFill>
                  <a:schemeClr val="tx1"/>
                </a:solidFill>
              </a:rPr>
              <a:t>1. Design Parameters</a:t>
            </a:r>
          </a:p>
          <a:p>
            <a:endParaRPr lang="en-AU" noProof="0" dirty="0">
              <a:solidFill>
                <a:schemeClr val="tx1"/>
              </a:solidFill>
            </a:endParaRPr>
          </a:p>
        </p:txBody>
      </p:sp>
      <p:sp>
        <p:nvSpPr>
          <p:cNvPr id="3" name="Titel 2">
            <a:extLst>
              <a:ext uri="{FF2B5EF4-FFF2-40B4-BE49-F238E27FC236}">
                <a16:creationId xmlns:a16="http://schemas.microsoft.com/office/drawing/2014/main" id="{883C1CEF-205F-7044-C255-40A6C7F8081C}"/>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sp>
        <p:nvSpPr>
          <p:cNvPr id="6" name="Textfeld 5">
            <a:extLst>
              <a:ext uri="{FF2B5EF4-FFF2-40B4-BE49-F238E27FC236}">
                <a16:creationId xmlns:a16="http://schemas.microsoft.com/office/drawing/2014/main" id="{19B3654B-A3C9-5D29-F31B-75191A661962}"/>
              </a:ext>
            </a:extLst>
          </p:cNvPr>
          <p:cNvSpPr txBox="1"/>
          <p:nvPr/>
        </p:nvSpPr>
        <p:spPr>
          <a:xfrm>
            <a:off x="5778299" y="1233656"/>
            <a:ext cx="3810659" cy="369332"/>
          </a:xfrm>
          <a:prstGeom prst="rect">
            <a:avLst/>
          </a:prstGeom>
          <a:noFill/>
        </p:spPr>
        <p:txBody>
          <a:bodyPr wrap="none" rtlCol="0">
            <a:spAutoFit/>
          </a:bodyPr>
          <a:lstStyle/>
          <a:p>
            <a:r>
              <a:rPr lang="de-DE" dirty="0">
                <a:solidFill>
                  <a:srgbClr val="333333"/>
                </a:solidFill>
                <a:latin typeface="Futura LT Pro Light" panose="020B0402020204020303" pitchFamily="34" charset="0"/>
                <a:cs typeface="+mn-cs"/>
              </a:rPr>
              <a:t>Geometry / Material Parameters</a:t>
            </a:r>
          </a:p>
        </p:txBody>
      </p:sp>
      <p:sp>
        <p:nvSpPr>
          <p:cNvPr id="7" name="Textfeld 6">
            <a:extLst>
              <a:ext uri="{FF2B5EF4-FFF2-40B4-BE49-F238E27FC236}">
                <a16:creationId xmlns:a16="http://schemas.microsoft.com/office/drawing/2014/main" id="{03BD6A56-CF79-18BB-238C-3D64A08F14C4}"/>
              </a:ext>
            </a:extLst>
          </p:cNvPr>
          <p:cNvSpPr txBox="1"/>
          <p:nvPr/>
        </p:nvSpPr>
        <p:spPr>
          <a:xfrm>
            <a:off x="5778299" y="3553020"/>
            <a:ext cx="2097049" cy="369332"/>
          </a:xfrm>
          <a:prstGeom prst="rect">
            <a:avLst/>
          </a:prstGeom>
          <a:noFill/>
        </p:spPr>
        <p:txBody>
          <a:bodyPr wrap="none" rtlCol="0">
            <a:spAutoFit/>
          </a:bodyPr>
          <a:lstStyle/>
          <a:p>
            <a:r>
              <a:rPr lang="de-DE" dirty="0">
                <a:solidFill>
                  <a:srgbClr val="333333"/>
                </a:solidFill>
                <a:latin typeface="Futura LT Pro Light" panose="020B0402020204020303" pitchFamily="34" charset="0"/>
                <a:cs typeface="+mn-cs"/>
              </a:rPr>
              <a:t>Load Parameters</a:t>
            </a:r>
          </a:p>
        </p:txBody>
      </p:sp>
      <p:graphicFrame>
        <p:nvGraphicFramePr>
          <p:cNvPr id="8" name="Tabelle 7">
            <a:extLst>
              <a:ext uri="{FF2B5EF4-FFF2-40B4-BE49-F238E27FC236}">
                <a16:creationId xmlns:a16="http://schemas.microsoft.com/office/drawing/2014/main" id="{7C2331A7-A426-4884-81FE-F273C1A0AD61}"/>
              </a:ext>
            </a:extLst>
          </p:cNvPr>
          <p:cNvGraphicFramePr>
            <a:graphicFrameLocks noGrp="1"/>
          </p:cNvGraphicFramePr>
          <p:nvPr>
            <p:extLst>
              <p:ext uri="{D42A27DB-BD31-4B8C-83A1-F6EECF244321}">
                <p14:modId xmlns:p14="http://schemas.microsoft.com/office/powerpoint/2010/main" val="1577433911"/>
              </p:ext>
            </p:extLst>
          </p:nvPr>
        </p:nvGraphicFramePr>
        <p:xfrm>
          <a:off x="5778299" y="1613030"/>
          <a:ext cx="5408788" cy="1478280"/>
        </p:xfrm>
        <a:graphic>
          <a:graphicData uri="http://schemas.openxmlformats.org/drawingml/2006/table">
            <a:tbl>
              <a:tblPr firstRow="1" bandRow="1">
                <a:tableStyleId>{2D5ABB26-0587-4C30-8999-92F81FD0307C}</a:tableStyleId>
              </a:tblPr>
              <a:tblGrid>
                <a:gridCol w="2964350">
                  <a:extLst>
                    <a:ext uri="{9D8B030D-6E8A-4147-A177-3AD203B41FA5}">
                      <a16:colId xmlns:a16="http://schemas.microsoft.com/office/drawing/2014/main" val="2363817688"/>
                    </a:ext>
                  </a:extLst>
                </a:gridCol>
                <a:gridCol w="2444438">
                  <a:extLst>
                    <a:ext uri="{9D8B030D-6E8A-4147-A177-3AD203B41FA5}">
                      <a16:colId xmlns:a16="http://schemas.microsoft.com/office/drawing/2014/main" val="2817520373"/>
                    </a:ext>
                  </a:extLst>
                </a:gridCol>
              </a:tblGrid>
              <a:tr h="0">
                <a:tc>
                  <a:txBody>
                    <a:bodyPr/>
                    <a:lstStyle/>
                    <a:p>
                      <a:pPr algn="ctr"/>
                      <a:r>
                        <a:rPr lang="de-DE" b="1" dirty="0"/>
                        <a:t>Parameters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de-DE" b="1" dirty="0"/>
                        <a:t>Value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13538335"/>
                  </a:ext>
                </a:extLst>
              </a:tr>
              <a:tr h="370840">
                <a:tc>
                  <a:txBody>
                    <a:bodyPr/>
                    <a:lstStyle/>
                    <a:p>
                      <a:r>
                        <a:rPr lang="de-DE" dirty="0" err="1"/>
                        <a:t>No</a:t>
                      </a:r>
                      <a:r>
                        <a:rPr lang="de-DE" dirty="0"/>
                        <a:t>. of </a:t>
                      </a:r>
                      <a:r>
                        <a:rPr lang="de-DE" dirty="0" err="1"/>
                        <a:t>storeys</a:t>
                      </a:r>
                      <a:endParaRPr lang="de-DE"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r>
                        <a:rPr lang="de-DE" dirty="0"/>
                        <a:t>3, 5, 7</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3526368"/>
                  </a:ext>
                </a:extLst>
              </a:tr>
              <a:tr h="370840">
                <a:tc>
                  <a:txBody>
                    <a:bodyPr/>
                    <a:lstStyle/>
                    <a:p>
                      <a:r>
                        <a:rPr lang="de-DE" dirty="0"/>
                        <a:t>Bay </a:t>
                      </a:r>
                      <a:r>
                        <a:rPr lang="de-DE" dirty="0" err="1"/>
                        <a:t>width</a:t>
                      </a:r>
                      <a:r>
                        <a:rPr lang="de-DE" dirty="0"/>
                        <a:t> [m]</a:t>
                      </a:r>
                    </a:p>
                  </a:txBody>
                  <a:tcPr>
                    <a:lnL w="12700" cap="flat" cmpd="sng" algn="ctr">
                      <a:solidFill>
                        <a:schemeClr val="tx1"/>
                      </a:solidFill>
                      <a:prstDash val="solid"/>
                      <a:round/>
                      <a:headEnd type="none" w="med" len="med"/>
                      <a:tailEnd type="none" w="med" len="med"/>
                    </a:lnL>
                  </a:tcPr>
                </a:tc>
                <a:tc>
                  <a:txBody>
                    <a:bodyPr/>
                    <a:lstStyle/>
                    <a:p>
                      <a:pPr algn="r"/>
                      <a:r>
                        <a:rPr lang="de-DE" dirty="0"/>
                        <a:t>5, 6, 7</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73825161"/>
                  </a:ext>
                </a:extLst>
              </a:tr>
              <a:tr h="370840">
                <a:tc>
                  <a:txBody>
                    <a:bodyPr/>
                    <a:lstStyle/>
                    <a:p>
                      <a:r>
                        <a:rPr lang="de-DE" dirty="0"/>
                        <a:t>Steel Grade</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r>
                        <a:rPr lang="de-DE" dirty="0"/>
                        <a:t>S235, S355</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7129578"/>
                  </a:ext>
                </a:extLst>
              </a:tr>
            </a:tbl>
          </a:graphicData>
        </a:graphic>
      </p:graphicFrame>
      <mc:AlternateContent xmlns:mc="http://schemas.openxmlformats.org/markup-compatibility/2006" xmlns:a14="http://schemas.microsoft.com/office/drawing/2010/main">
        <mc:Choice Requires="a14">
          <p:graphicFrame>
            <p:nvGraphicFramePr>
              <p:cNvPr id="9" name="Tabelle 8">
                <a:extLst>
                  <a:ext uri="{FF2B5EF4-FFF2-40B4-BE49-F238E27FC236}">
                    <a16:creationId xmlns:a16="http://schemas.microsoft.com/office/drawing/2014/main" id="{4079A487-4997-C6B6-3254-3C2D5CD1F641}"/>
                  </a:ext>
                </a:extLst>
              </p:cNvPr>
              <p:cNvGraphicFramePr>
                <a:graphicFrameLocks noGrp="1"/>
              </p:cNvGraphicFramePr>
              <p:nvPr>
                <p:extLst>
                  <p:ext uri="{D42A27DB-BD31-4B8C-83A1-F6EECF244321}">
                    <p14:modId xmlns:p14="http://schemas.microsoft.com/office/powerpoint/2010/main" val="2297229109"/>
                  </p:ext>
                </p:extLst>
              </p:nvPr>
            </p:nvGraphicFramePr>
            <p:xfrm>
              <a:off x="5778299" y="3990717"/>
              <a:ext cx="5408788" cy="2021840"/>
            </p:xfrm>
            <a:graphic>
              <a:graphicData uri="http://schemas.openxmlformats.org/drawingml/2006/table">
                <a:tbl>
                  <a:tblPr firstRow="1" bandRow="1">
                    <a:tableStyleId>{2D5ABB26-0587-4C30-8999-92F81FD0307C}</a:tableStyleId>
                  </a:tblPr>
                  <a:tblGrid>
                    <a:gridCol w="2282380">
                      <a:extLst>
                        <a:ext uri="{9D8B030D-6E8A-4147-A177-3AD203B41FA5}">
                          <a16:colId xmlns:a16="http://schemas.microsoft.com/office/drawing/2014/main" val="2363817688"/>
                        </a:ext>
                      </a:extLst>
                    </a:gridCol>
                    <a:gridCol w="3126408">
                      <a:extLst>
                        <a:ext uri="{9D8B030D-6E8A-4147-A177-3AD203B41FA5}">
                          <a16:colId xmlns:a16="http://schemas.microsoft.com/office/drawing/2014/main" val="2817520373"/>
                        </a:ext>
                      </a:extLst>
                    </a:gridCol>
                  </a:tblGrid>
                  <a:tr h="370840">
                    <a:tc>
                      <a:txBody>
                        <a:bodyPr/>
                        <a:lstStyle/>
                        <a:p>
                          <a:pPr algn="ctr"/>
                          <a:r>
                            <a:rPr lang="de-DE" b="1" dirty="0"/>
                            <a:t>Parameter</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de-DE" b="1" dirty="0"/>
                            <a:t>Value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13538335"/>
                      </a:ext>
                    </a:extLst>
                  </a:tr>
                  <a:tr h="370840">
                    <a:tc>
                      <a:txBody>
                        <a:bodyPr/>
                        <a:lstStyle/>
                        <a:p>
                          <a:r>
                            <a:rPr lang="de-DE" dirty="0" err="1"/>
                            <a:t>Mass</a:t>
                          </a:r>
                          <a:r>
                            <a:rPr lang="de-DE" dirty="0"/>
                            <a:t> </a:t>
                          </a:r>
                          <a:r>
                            <a:rPr lang="de-DE" dirty="0" err="1"/>
                            <a:t>distribution</a:t>
                          </a:r>
                          <a:endParaRPr lang="de-DE"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r>
                            <a:rPr lang="de-DE" dirty="0"/>
                            <a:t>Uniform,  </a:t>
                          </a:r>
                        </a:p>
                        <a:p>
                          <a:pPr algn="r"/>
                          <a:r>
                            <a:rPr lang="de-DE" dirty="0"/>
                            <a:t>Non-uniform (</a:t>
                          </a:r>
                          <a:r>
                            <a:rPr lang="de-DE" dirty="0" err="1"/>
                            <a:t>regular</a:t>
                          </a:r>
                          <a:r>
                            <a:rPr lang="de-DE" dirty="0"/>
                            <a: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17032398"/>
                      </a:ext>
                    </a:extLst>
                  </a:tr>
                  <a:tr h="370840">
                    <a:tc>
                      <a:txBody>
                        <a:bodyPr/>
                        <a:lstStyle/>
                        <a:p>
                          <a:r>
                            <a:rPr lang="de-DE" dirty="0" err="1"/>
                            <a:t>Ductility</a:t>
                          </a:r>
                          <a:r>
                            <a:rPr lang="de-DE" dirty="0"/>
                            <a:t> </a:t>
                          </a:r>
                          <a:r>
                            <a:rPr lang="de-DE" dirty="0" err="1"/>
                            <a:t>class</a:t>
                          </a:r>
                          <a:endParaRPr lang="de-DE" dirty="0"/>
                        </a:p>
                      </a:txBody>
                      <a:tcPr>
                        <a:lnL w="12700" cap="flat" cmpd="sng" algn="ctr">
                          <a:solidFill>
                            <a:schemeClr val="tx1"/>
                          </a:solidFill>
                          <a:prstDash val="solid"/>
                          <a:round/>
                          <a:headEnd type="none" w="med" len="med"/>
                          <a:tailEnd type="none" w="med" len="med"/>
                        </a:lnL>
                      </a:tcPr>
                    </a:tc>
                    <a:tc>
                      <a:txBody>
                        <a:bodyPr/>
                        <a:lstStyle/>
                        <a:p>
                          <a:pPr algn="r"/>
                          <a:r>
                            <a:rPr lang="de-DE" dirty="0"/>
                            <a:t>1, 2, 3</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70871868"/>
                      </a:ext>
                    </a:extLst>
                  </a:tr>
                  <a:tr h="370840">
                    <a:tc>
                      <a:txBody>
                        <a:bodyPr/>
                        <a:lstStyle/>
                        <a:p>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𝑆</m:t>
                                  </m:r>
                                </m:e>
                                <m:sub>
                                  <m:r>
                                    <a:rPr lang="de-DE" b="0" i="1" smtClean="0">
                                      <a:latin typeface="Cambria Math" panose="02040503050406030204" pitchFamily="18" charset="0"/>
                                    </a:rPr>
                                    <m:t>𝛼</m:t>
                                  </m:r>
                                  <m:r>
                                    <a:rPr lang="de-DE" b="0" i="1" smtClean="0">
                                      <a:latin typeface="Cambria Math" panose="02040503050406030204" pitchFamily="18" charset="0"/>
                                    </a:rPr>
                                    <m:t>,475</m:t>
                                  </m:r>
                                </m:sub>
                              </m:sSub>
                            </m:oMath>
                          </a14:m>
                          <a:r>
                            <a:rPr lang="de-DE" dirty="0"/>
                            <a:t> [g]</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r>
                            <a:rPr lang="de-DE" dirty="0"/>
                            <a:t>0, 0.1, 0.2, 0.31, 0.41, 0.51, 0.71, 1.02, 1.22</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528282"/>
                      </a:ext>
                    </a:extLst>
                  </a:tr>
                </a:tbl>
              </a:graphicData>
            </a:graphic>
          </p:graphicFrame>
        </mc:Choice>
        <mc:Fallback xmlns="">
          <p:graphicFrame>
            <p:nvGraphicFramePr>
              <p:cNvPr id="9" name="Tabelle 8">
                <a:extLst>
                  <a:ext uri="{FF2B5EF4-FFF2-40B4-BE49-F238E27FC236}">
                    <a16:creationId xmlns:a16="http://schemas.microsoft.com/office/drawing/2014/main" id="{4079A487-4997-C6B6-3254-3C2D5CD1F641}"/>
                  </a:ext>
                </a:extLst>
              </p:cNvPr>
              <p:cNvGraphicFramePr>
                <a:graphicFrameLocks noGrp="1"/>
              </p:cNvGraphicFramePr>
              <p:nvPr>
                <p:extLst>
                  <p:ext uri="{D42A27DB-BD31-4B8C-83A1-F6EECF244321}">
                    <p14:modId xmlns:p14="http://schemas.microsoft.com/office/powerpoint/2010/main" val="2297229109"/>
                  </p:ext>
                </p:extLst>
              </p:nvPr>
            </p:nvGraphicFramePr>
            <p:xfrm>
              <a:off x="5778299" y="3990717"/>
              <a:ext cx="5408788" cy="2021840"/>
            </p:xfrm>
            <a:graphic>
              <a:graphicData uri="http://schemas.openxmlformats.org/drawingml/2006/table">
                <a:tbl>
                  <a:tblPr firstRow="1" bandRow="1">
                    <a:tableStyleId>{2D5ABB26-0587-4C30-8999-92F81FD0307C}</a:tableStyleId>
                  </a:tblPr>
                  <a:tblGrid>
                    <a:gridCol w="2282380">
                      <a:extLst>
                        <a:ext uri="{9D8B030D-6E8A-4147-A177-3AD203B41FA5}">
                          <a16:colId xmlns:a16="http://schemas.microsoft.com/office/drawing/2014/main" val="2363817688"/>
                        </a:ext>
                      </a:extLst>
                    </a:gridCol>
                    <a:gridCol w="3126408">
                      <a:extLst>
                        <a:ext uri="{9D8B030D-6E8A-4147-A177-3AD203B41FA5}">
                          <a16:colId xmlns:a16="http://schemas.microsoft.com/office/drawing/2014/main" val="2817520373"/>
                        </a:ext>
                      </a:extLst>
                    </a:gridCol>
                  </a:tblGrid>
                  <a:tr h="370840">
                    <a:tc>
                      <a:txBody>
                        <a:bodyPr/>
                        <a:lstStyle/>
                        <a:p>
                          <a:pPr algn="ctr"/>
                          <a:r>
                            <a:rPr lang="de-DE" b="1" dirty="0"/>
                            <a:t>Parameter</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de-DE" b="1" dirty="0"/>
                            <a:t>Value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13538335"/>
                      </a:ext>
                    </a:extLst>
                  </a:tr>
                  <a:tr h="640080">
                    <a:tc>
                      <a:txBody>
                        <a:bodyPr/>
                        <a:lstStyle/>
                        <a:p>
                          <a:r>
                            <a:rPr lang="de-DE" dirty="0" err="1"/>
                            <a:t>Mass</a:t>
                          </a:r>
                          <a:r>
                            <a:rPr lang="de-DE" dirty="0"/>
                            <a:t> </a:t>
                          </a:r>
                          <a:r>
                            <a:rPr lang="de-DE" dirty="0" err="1"/>
                            <a:t>distribution</a:t>
                          </a:r>
                          <a:endParaRPr lang="de-DE"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r>
                            <a:rPr lang="de-DE" dirty="0"/>
                            <a:t>Uniform,  </a:t>
                          </a:r>
                        </a:p>
                        <a:p>
                          <a:pPr algn="r"/>
                          <a:r>
                            <a:rPr lang="de-DE" dirty="0"/>
                            <a:t>Non-uniform (</a:t>
                          </a:r>
                          <a:r>
                            <a:rPr lang="de-DE" dirty="0" err="1"/>
                            <a:t>regular</a:t>
                          </a:r>
                          <a:r>
                            <a:rPr lang="de-DE" dirty="0"/>
                            <a: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17032398"/>
                      </a:ext>
                    </a:extLst>
                  </a:tr>
                  <a:tr h="370840">
                    <a:tc>
                      <a:txBody>
                        <a:bodyPr/>
                        <a:lstStyle/>
                        <a:p>
                          <a:r>
                            <a:rPr lang="de-DE" dirty="0" err="1"/>
                            <a:t>Ductility</a:t>
                          </a:r>
                          <a:r>
                            <a:rPr lang="de-DE" dirty="0"/>
                            <a:t> </a:t>
                          </a:r>
                          <a:r>
                            <a:rPr lang="de-DE" dirty="0" err="1"/>
                            <a:t>class</a:t>
                          </a:r>
                          <a:endParaRPr lang="de-DE" dirty="0"/>
                        </a:p>
                      </a:txBody>
                      <a:tcPr>
                        <a:lnL w="12700" cap="flat" cmpd="sng" algn="ctr">
                          <a:solidFill>
                            <a:schemeClr val="tx1"/>
                          </a:solidFill>
                          <a:prstDash val="solid"/>
                          <a:round/>
                          <a:headEnd type="none" w="med" len="med"/>
                          <a:tailEnd type="none" w="med" len="med"/>
                        </a:lnL>
                      </a:tcPr>
                    </a:tc>
                    <a:tc>
                      <a:txBody>
                        <a:bodyPr/>
                        <a:lstStyle/>
                        <a:p>
                          <a:pPr algn="r"/>
                          <a:r>
                            <a:rPr lang="de-DE" dirty="0"/>
                            <a:t>1, 2, 3</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70871868"/>
                      </a:ext>
                    </a:extLst>
                  </a:tr>
                  <a:tr h="640080">
                    <a:tc>
                      <a:txBody>
                        <a:bodyPr/>
                        <a:lstStyle/>
                        <a:p>
                          <a:endParaRPr lang="de-DE"/>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blipFill>
                          <a:blip r:embed="rId2"/>
                          <a:stretch>
                            <a:fillRect l="-267" t="-221905" r="-137600" b="-14286"/>
                          </a:stretch>
                        </a:blipFill>
                      </a:tcPr>
                    </a:tc>
                    <a:tc>
                      <a:txBody>
                        <a:bodyPr/>
                        <a:lstStyle/>
                        <a:p>
                          <a:pPr algn="r"/>
                          <a:r>
                            <a:rPr lang="de-DE" dirty="0"/>
                            <a:t>0, 0.1, 0.2, 0.31, 0.41, 0.51, 0.71, 1.02, 1.22</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528282"/>
                      </a:ext>
                    </a:extLst>
                  </a:tr>
                </a:tbl>
              </a:graphicData>
            </a:graphic>
          </p:graphicFrame>
        </mc:Fallback>
      </mc:AlternateContent>
      <p:pic>
        <p:nvPicPr>
          <p:cNvPr id="11" name="Grafik 10" descr="Ein Bild, das Screenshot, Text, Diagramm enthält.&#10;&#10;KI-generierte Inhalte können fehlerhaft sein.">
            <a:extLst>
              <a:ext uri="{FF2B5EF4-FFF2-40B4-BE49-F238E27FC236}">
                <a16:creationId xmlns:a16="http://schemas.microsoft.com/office/drawing/2014/main" id="{5DBD511C-A120-BEE0-B81B-6ED11DB56C29}"/>
              </a:ext>
            </a:extLst>
          </p:cNvPr>
          <p:cNvPicPr>
            <a:picLocks noChangeAspect="1"/>
          </p:cNvPicPr>
          <p:nvPr/>
        </p:nvPicPr>
        <p:blipFill>
          <a:blip r:embed="rId3" cstate="print">
            <a:extLst>
              <a:ext uri="{28A0092B-C50C-407E-A947-70E740481C1C}">
                <a14:useLocalDpi xmlns:a14="http://schemas.microsoft.com/office/drawing/2010/main" val="0"/>
              </a:ext>
            </a:extLst>
          </a:blip>
          <a:srcRect l="14668" r="39494" b="10783"/>
          <a:stretch>
            <a:fillRect/>
          </a:stretch>
        </p:blipFill>
        <p:spPr>
          <a:xfrm>
            <a:off x="1575568" y="1809938"/>
            <a:ext cx="2376264" cy="2352951"/>
          </a:xfrm>
          <a:prstGeom prst="rect">
            <a:avLst/>
          </a:prstGeom>
        </p:spPr>
      </p:pic>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FCC625FC-BB9E-A100-49F9-4A9393A86DA5}"/>
                  </a:ext>
                </a:extLst>
              </p:cNvPr>
              <p:cNvSpPr txBox="1"/>
              <p:nvPr/>
            </p:nvSpPr>
            <p:spPr>
              <a:xfrm>
                <a:off x="726926" y="4273395"/>
                <a:ext cx="14401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de-DE" b="0" i="1" smtClean="0">
                          <a:solidFill>
                            <a:srgbClr val="00B050"/>
                          </a:solidFill>
                          <a:latin typeface="Cambria Math" panose="02040503050406030204" pitchFamily="18" charset="0"/>
                          <a:cs typeface="+mn-cs"/>
                        </a:rPr>
                        <m:t>𝐺</m:t>
                      </m:r>
                      <m:r>
                        <a:rPr lang="de-DE" b="0" i="1" smtClean="0">
                          <a:solidFill>
                            <a:srgbClr val="00B050"/>
                          </a:solidFill>
                          <a:latin typeface="Cambria Math" panose="02040503050406030204" pitchFamily="18" charset="0"/>
                          <a:cs typeface="+mn-cs"/>
                        </a:rPr>
                        <m:t>=7.5 </m:t>
                      </m:r>
                      <m:r>
                        <a:rPr lang="de-DE" b="0" i="1" smtClean="0">
                          <a:solidFill>
                            <a:srgbClr val="00B050"/>
                          </a:solidFill>
                          <a:latin typeface="Cambria Math" panose="02040503050406030204" pitchFamily="18" charset="0"/>
                          <a:cs typeface="+mn-cs"/>
                        </a:rPr>
                        <m:t>𝑘𝑃𝑎</m:t>
                      </m:r>
                    </m:oMath>
                  </m:oMathPara>
                </a14:m>
                <a:endParaRPr lang="de-DE" dirty="0">
                  <a:solidFill>
                    <a:srgbClr val="00B050"/>
                  </a:solidFill>
                  <a:latin typeface="Futura LT Pro Light" panose="020B0402020204020303" pitchFamily="34" charset="0"/>
                  <a:cs typeface="+mn-cs"/>
                </a:endParaRPr>
              </a:p>
            </p:txBody>
          </p:sp>
        </mc:Choice>
        <mc:Fallback xmlns="">
          <p:sp>
            <p:nvSpPr>
              <p:cNvPr id="12" name="Textfeld 11">
                <a:extLst>
                  <a:ext uri="{FF2B5EF4-FFF2-40B4-BE49-F238E27FC236}">
                    <a16:creationId xmlns:a16="http://schemas.microsoft.com/office/drawing/2014/main" id="{FCC625FC-BB9E-A100-49F9-4A9393A86DA5}"/>
                  </a:ext>
                </a:extLst>
              </p:cNvPr>
              <p:cNvSpPr txBox="1">
                <a:spLocks noRot="1" noChangeAspect="1" noMove="1" noResize="1" noEditPoints="1" noAdjustHandles="1" noChangeArrowheads="1" noChangeShapeType="1" noTextEdit="1"/>
              </p:cNvSpPr>
              <p:nvPr/>
            </p:nvSpPr>
            <p:spPr>
              <a:xfrm>
                <a:off x="726926" y="4273395"/>
                <a:ext cx="1440160" cy="369332"/>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BFAA3415-A2E5-ECDD-77A0-943F242588FB}"/>
                  </a:ext>
                </a:extLst>
              </p:cNvPr>
              <p:cNvSpPr txBox="1"/>
              <p:nvPr/>
            </p:nvSpPr>
            <p:spPr>
              <a:xfrm>
                <a:off x="726926" y="4610461"/>
                <a:ext cx="14401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de-DE" b="0" i="1" smtClean="0">
                          <a:solidFill>
                            <a:srgbClr val="7030A0"/>
                          </a:solidFill>
                          <a:latin typeface="Cambria Math" panose="02040503050406030204" pitchFamily="18" charset="0"/>
                          <a:cs typeface="+mn-cs"/>
                        </a:rPr>
                        <m:t>𝑄</m:t>
                      </m:r>
                      <m:r>
                        <a:rPr lang="de-DE" b="0" i="1" smtClean="0">
                          <a:solidFill>
                            <a:srgbClr val="7030A0"/>
                          </a:solidFill>
                          <a:latin typeface="Cambria Math" panose="02040503050406030204" pitchFamily="18" charset="0"/>
                          <a:cs typeface="+mn-cs"/>
                        </a:rPr>
                        <m:t>=3.0 </m:t>
                      </m:r>
                      <m:r>
                        <a:rPr lang="de-DE" b="0" i="1" smtClean="0">
                          <a:solidFill>
                            <a:srgbClr val="7030A0"/>
                          </a:solidFill>
                          <a:latin typeface="Cambria Math" panose="02040503050406030204" pitchFamily="18" charset="0"/>
                          <a:cs typeface="+mn-cs"/>
                        </a:rPr>
                        <m:t>𝑘𝑃𝑎</m:t>
                      </m:r>
                    </m:oMath>
                  </m:oMathPara>
                </a14:m>
                <a:endParaRPr lang="de-DE" dirty="0">
                  <a:solidFill>
                    <a:srgbClr val="7030A0"/>
                  </a:solidFill>
                  <a:latin typeface="Futura LT Pro Light" panose="020B0402020204020303" pitchFamily="34" charset="0"/>
                  <a:cs typeface="+mn-cs"/>
                </a:endParaRPr>
              </a:p>
            </p:txBody>
          </p:sp>
        </mc:Choice>
        <mc:Fallback xmlns="">
          <p:sp>
            <p:nvSpPr>
              <p:cNvPr id="13" name="Textfeld 12">
                <a:extLst>
                  <a:ext uri="{FF2B5EF4-FFF2-40B4-BE49-F238E27FC236}">
                    <a16:creationId xmlns:a16="http://schemas.microsoft.com/office/drawing/2014/main" id="{BFAA3415-A2E5-ECDD-77A0-943F242588FB}"/>
                  </a:ext>
                </a:extLst>
              </p:cNvPr>
              <p:cNvSpPr txBox="1">
                <a:spLocks noRot="1" noChangeAspect="1" noMove="1" noResize="1" noEditPoints="1" noAdjustHandles="1" noChangeArrowheads="1" noChangeShapeType="1" noTextEdit="1"/>
              </p:cNvSpPr>
              <p:nvPr/>
            </p:nvSpPr>
            <p:spPr>
              <a:xfrm>
                <a:off x="726926" y="4610461"/>
                <a:ext cx="1440160" cy="369332"/>
              </a:xfrm>
              <a:prstGeom prst="rect">
                <a:avLst/>
              </a:prstGeom>
              <a:blipFill>
                <a:blip r:embed="rId5"/>
                <a:stretch>
                  <a:fillRect b="-1311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3C983BA5-D1A1-1CAE-02BC-75C93FF209B8}"/>
                  </a:ext>
                </a:extLst>
              </p:cNvPr>
              <p:cNvSpPr txBox="1"/>
              <p:nvPr/>
            </p:nvSpPr>
            <p:spPr>
              <a:xfrm>
                <a:off x="726926" y="4999429"/>
                <a:ext cx="3240360" cy="369332"/>
              </a:xfrm>
              <a:prstGeom prst="rect">
                <a:avLst/>
              </a:prstGeom>
              <a:noFill/>
            </p:spPr>
            <p:txBody>
              <a:bodyPr wrap="square" rtlCol="0">
                <a:spAutoFit/>
              </a:bodyPr>
              <a:lstStyle/>
              <a:p>
                <a14:m>
                  <m:oMath xmlns:m="http://schemas.openxmlformats.org/officeDocument/2006/math">
                    <m:r>
                      <a:rPr lang="de-DE" b="0" i="1" smtClean="0">
                        <a:solidFill>
                          <a:schemeClr val="accent2">
                            <a:lumMod val="75000"/>
                            <a:lumOff val="25000"/>
                          </a:schemeClr>
                        </a:solidFill>
                        <a:latin typeface="Cambria Math" panose="02040503050406030204" pitchFamily="18" charset="0"/>
                        <a:cs typeface="+mn-cs"/>
                      </a:rPr>
                      <m:t>𝑆</m:t>
                    </m:r>
                  </m:oMath>
                </a14:m>
                <a:r>
                  <a:rPr lang="de-DE" dirty="0">
                    <a:solidFill>
                      <a:schemeClr val="accent2">
                        <a:lumMod val="75000"/>
                        <a:lumOff val="25000"/>
                      </a:schemeClr>
                    </a:solidFill>
                    <a:latin typeface="Futura LT Pro Light" panose="020B0402020204020303" pitchFamily="34" charset="0"/>
                    <a:cs typeface="+mn-cs"/>
                  </a:rPr>
                  <a:t>: </a:t>
                </a:r>
                <a14:m>
                  <m:oMath xmlns:m="http://schemas.openxmlformats.org/officeDocument/2006/math">
                    <m:r>
                      <a:rPr lang="de-DE" b="0" i="1" smtClean="0">
                        <a:solidFill>
                          <a:schemeClr val="accent2">
                            <a:lumMod val="75000"/>
                            <a:lumOff val="25000"/>
                          </a:schemeClr>
                        </a:solidFill>
                        <a:latin typeface="Cambria Math" panose="02040503050406030204" pitchFamily="18" charset="0"/>
                        <a:cs typeface="+mn-cs"/>
                      </a:rPr>
                      <m:t>&lt;1000 </m:t>
                    </m:r>
                    <m:r>
                      <a:rPr lang="de-DE" b="0" i="1" smtClean="0">
                        <a:solidFill>
                          <a:schemeClr val="accent2">
                            <a:lumMod val="75000"/>
                            <a:lumOff val="25000"/>
                          </a:schemeClr>
                        </a:solidFill>
                        <a:latin typeface="Cambria Math" panose="02040503050406030204" pitchFamily="18" charset="0"/>
                        <a:cs typeface="+mn-cs"/>
                      </a:rPr>
                      <m:t>𝑚</m:t>
                    </m:r>
                    <m:r>
                      <a:rPr lang="de-DE" b="0" i="1" smtClean="0">
                        <a:solidFill>
                          <a:schemeClr val="accent2">
                            <a:lumMod val="75000"/>
                            <a:lumOff val="25000"/>
                          </a:schemeClr>
                        </a:solidFill>
                        <a:latin typeface="Cambria Math" panose="02040503050406030204" pitchFamily="18" charset="0"/>
                        <a:cs typeface="+mn-cs"/>
                      </a:rPr>
                      <m:t>;</m:t>
                    </m:r>
                  </m:oMath>
                </a14:m>
                <a:r>
                  <a:rPr lang="de-DE" dirty="0">
                    <a:solidFill>
                      <a:schemeClr val="accent2">
                        <a:lumMod val="75000"/>
                        <a:lumOff val="25000"/>
                      </a:schemeClr>
                    </a:solidFill>
                    <a:latin typeface="Futura LT Pro Light" panose="020B0402020204020303" pitchFamily="34" charset="0"/>
                    <a:cs typeface="+mn-cs"/>
                  </a:rPr>
                  <a:t> </a:t>
                </a:r>
                <a14:m>
                  <m:oMath xmlns:m="http://schemas.openxmlformats.org/officeDocument/2006/math">
                    <m:sSub>
                      <m:sSubPr>
                        <m:ctrlPr>
                          <a:rPr lang="de-DE" b="0" i="1" dirty="0" smtClean="0">
                            <a:solidFill>
                              <a:schemeClr val="accent2">
                                <a:lumMod val="75000"/>
                                <a:lumOff val="25000"/>
                              </a:schemeClr>
                            </a:solidFill>
                            <a:latin typeface="Cambria Math" panose="02040503050406030204" pitchFamily="18" charset="0"/>
                            <a:cs typeface="+mn-cs"/>
                          </a:rPr>
                        </m:ctrlPr>
                      </m:sSubPr>
                      <m:e>
                        <m:r>
                          <a:rPr lang="de-DE" b="0" i="1" dirty="0" smtClean="0">
                            <a:solidFill>
                              <a:schemeClr val="accent2">
                                <a:lumMod val="75000"/>
                                <a:lumOff val="25000"/>
                              </a:schemeClr>
                            </a:solidFill>
                            <a:latin typeface="Cambria Math" panose="02040503050406030204" pitchFamily="18" charset="0"/>
                            <a:cs typeface="+mn-cs"/>
                          </a:rPr>
                          <m:t>𝑠</m:t>
                        </m:r>
                      </m:e>
                      <m:sub>
                        <m:r>
                          <a:rPr lang="de-DE" b="0" i="1" dirty="0" smtClean="0">
                            <a:solidFill>
                              <a:schemeClr val="accent2">
                                <a:lumMod val="75000"/>
                                <a:lumOff val="25000"/>
                              </a:schemeClr>
                            </a:solidFill>
                            <a:latin typeface="Cambria Math" panose="02040503050406030204" pitchFamily="18" charset="0"/>
                            <a:cs typeface="+mn-cs"/>
                          </a:rPr>
                          <m:t>𝑘</m:t>
                        </m:r>
                      </m:sub>
                    </m:sSub>
                    <m:r>
                      <a:rPr lang="de-DE" b="0" i="1" dirty="0" smtClean="0">
                        <a:solidFill>
                          <a:schemeClr val="accent2">
                            <a:lumMod val="75000"/>
                            <a:lumOff val="25000"/>
                          </a:schemeClr>
                        </a:solidFill>
                        <a:latin typeface="Cambria Math" panose="02040503050406030204" pitchFamily="18" charset="0"/>
                        <a:cs typeface="+mn-cs"/>
                      </a:rPr>
                      <m:t>=0.85 </m:t>
                    </m:r>
                    <m:r>
                      <a:rPr lang="de-DE" b="0" i="1" dirty="0" smtClean="0">
                        <a:solidFill>
                          <a:schemeClr val="accent2">
                            <a:lumMod val="75000"/>
                            <a:lumOff val="25000"/>
                          </a:schemeClr>
                        </a:solidFill>
                        <a:latin typeface="Cambria Math" panose="02040503050406030204" pitchFamily="18" charset="0"/>
                        <a:cs typeface="+mn-cs"/>
                      </a:rPr>
                      <m:t>𝑘𝑃𝑎</m:t>
                    </m:r>
                  </m:oMath>
                </a14:m>
                <a:endParaRPr lang="de-DE" dirty="0">
                  <a:solidFill>
                    <a:schemeClr val="accent2">
                      <a:lumMod val="75000"/>
                      <a:lumOff val="25000"/>
                    </a:schemeClr>
                  </a:solidFill>
                  <a:latin typeface="Futura LT Pro Light" panose="020B0402020204020303" pitchFamily="34" charset="0"/>
                  <a:cs typeface="+mn-cs"/>
                </a:endParaRPr>
              </a:p>
            </p:txBody>
          </p:sp>
        </mc:Choice>
        <mc:Fallback xmlns="">
          <p:sp>
            <p:nvSpPr>
              <p:cNvPr id="14" name="Textfeld 13">
                <a:extLst>
                  <a:ext uri="{FF2B5EF4-FFF2-40B4-BE49-F238E27FC236}">
                    <a16:creationId xmlns:a16="http://schemas.microsoft.com/office/drawing/2014/main" id="{3C983BA5-D1A1-1CAE-02BC-75C93FF209B8}"/>
                  </a:ext>
                </a:extLst>
              </p:cNvPr>
              <p:cNvSpPr txBox="1">
                <a:spLocks noRot="1" noChangeAspect="1" noMove="1" noResize="1" noEditPoints="1" noAdjustHandles="1" noChangeArrowheads="1" noChangeShapeType="1" noTextEdit="1"/>
              </p:cNvSpPr>
              <p:nvPr/>
            </p:nvSpPr>
            <p:spPr>
              <a:xfrm>
                <a:off x="726926" y="4999429"/>
                <a:ext cx="3240360" cy="369332"/>
              </a:xfrm>
              <a:prstGeom prst="rect">
                <a:avLst/>
              </a:prstGeom>
              <a:blipFill>
                <a:blip r:embed="rId6"/>
                <a:stretch>
                  <a:fillRect t="-8197" b="-2459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E4D0B458-C406-8745-E7D3-27C82750BE4B}"/>
                  </a:ext>
                </a:extLst>
              </p:cNvPr>
              <p:cNvSpPr txBox="1"/>
              <p:nvPr/>
            </p:nvSpPr>
            <p:spPr>
              <a:xfrm>
                <a:off x="726926" y="5356131"/>
                <a:ext cx="3240360" cy="369332"/>
              </a:xfrm>
              <a:prstGeom prst="rect">
                <a:avLst/>
              </a:prstGeom>
              <a:noFill/>
            </p:spPr>
            <p:txBody>
              <a:bodyPr wrap="square" rtlCol="0">
                <a:spAutoFit/>
              </a:bodyPr>
              <a:lstStyle/>
              <a:p>
                <a14:m>
                  <m:oMath xmlns:m="http://schemas.openxmlformats.org/officeDocument/2006/math">
                    <m:r>
                      <a:rPr lang="de-DE" b="0" i="1" smtClean="0">
                        <a:solidFill>
                          <a:srgbClr val="C00000"/>
                        </a:solidFill>
                        <a:latin typeface="Cambria Math" panose="02040503050406030204" pitchFamily="18" charset="0"/>
                        <a:cs typeface="+mn-cs"/>
                      </a:rPr>
                      <m:t>𝑊</m:t>
                    </m:r>
                  </m:oMath>
                </a14:m>
                <a:r>
                  <a:rPr lang="de-DE" dirty="0">
                    <a:solidFill>
                      <a:srgbClr val="C00000"/>
                    </a:solidFill>
                    <a:latin typeface="Futura LT Pro Light" panose="020B0402020204020303" pitchFamily="34" charset="0"/>
                    <a:cs typeface="+mn-cs"/>
                  </a:rPr>
                  <a:t>: Zone 1 </a:t>
                </a:r>
                <a:r>
                  <a:rPr lang="de-DE" dirty="0" err="1">
                    <a:solidFill>
                      <a:srgbClr val="C00000"/>
                    </a:solidFill>
                    <a:latin typeface="Futura LT Pro Light" panose="020B0402020204020303" pitchFamily="34" charset="0"/>
                    <a:cs typeface="+mn-cs"/>
                  </a:rPr>
                  <a:t>Category</a:t>
                </a:r>
                <a:r>
                  <a:rPr lang="de-DE" dirty="0">
                    <a:solidFill>
                      <a:srgbClr val="C00000"/>
                    </a:solidFill>
                    <a:latin typeface="Futura LT Pro Light" panose="020B0402020204020303" pitchFamily="34" charset="0"/>
                    <a:cs typeface="+mn-cs"/>
                  </a:rPr>
                  <a:t> 4</a:t>
                </a:r>
              </a:p>
            </p:txBody>
          </p:sp>
        </mc:Choice>
        <mc:Fallback xmlns="">
          <p:sp>
            <p:nvSpPr>
              <p:cNvPr id="15" name="Textfeld 14">
                <a:extLst>
                  <a:ext uri="{FF2B5EF4-FFF2-40B4-BE49-F238E27FC236}">
                    <a16:creationId xmlns:a16="http://schemas.microsoft.com/office/drawing/2014/main" id="{E4D0B458-C406-8745-E7D3-27C82750BE4B}"/>
                  </a:ext>
                </a:extLst>
              </p:cNvPr>
              <p:cNvSpPr txBox="1">
                <a:spLocks noRot="1" noChangeAspect="1" noMove="1" noResize="1" noEditPoints="1" noAdjustHandles="1" noChangeArrowheads="1" noChangeShapeType="1" noTextEdit="1"/>
              </p:cNvSpPr>
              <p:nvPr/>
            </p:nvSpPr>
            <p:spPr>
              <a:xfrm>
                <a:off x="726926" y="5356131"/>
                <a:ext cx="3240360" cy="369332"/>
              </a:xfrm>
              <a:prstGeom prst="rect">
                <a:avLst/>
              </a:prstGeom>
              <a:blipFill>
                <a:blip r:embed="rId7"/>
                <a:stretch>
                  <a:fillRect t="-10000" b="-26667"/>
                </a:stretch>
              </a:blipFill>
            </p:spPr>
            <p:txBody>
              <a:bodyPr/>
              <a:lstStyle/>
              <a:p>
                <a:r>
                  <a:rPr lang="de-DE">
                    <a:noFill/>
                  </a:rPr>
                  <a:t> </a:t>
                </a:r>
              </a:p>
            </p:txBody>
          </p:sp>
        </mc:Fallback>
      </mc:AlternateContent>
      <p:sp>
        <p:nvSpPr>
          <p:cNvPr id="16" name="Rechteck 15">
            <a:extLst>
              <a:ext uri="{FF2B5EF4-FFF2-40B4-BE49-F238E27FC236}">
                <a16:creationId xmlns:a16="http://schemas.microsoft.com/office/drawing/2014/main" id="{B3CA4598-5CF7-0442-675F-153CA95E32A6}"/>
              </a:ext>
            </a:extLst>
          </p:cNvPr>
          <p:cNvSpPr/>
          <p:nvPr/>
        </p:nvSpPr>
        <p:spPr>
          <a:xfrm>
            <a:off x="1645791" y="1719125"/>
            <a:ext cx="2235600" cy="54000"/>
          </a:xfrm>
          <a:prstGeom prst="rect">
            <a:avLst/>
          </a:prstGeom>
          <a:solidFill>
            <a:srgbClr val="006BAE">
              <a:alpha val="50196"/>
            </a:srgbClr>
          </a:solidFill>
          <a:ln>
            <a:solidFill>
              <a:srgbClr val="006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cxnSp>
        <p:nvCxnSpPr>
          <p:cNvPr id="18" name="Gerade Verbindung mit Pfeil 17">
            <a:extLst>
              <a:ext uri="{FF2B5EF4-FFF2-40B4-BE49-F238E27FC236}">
                <a16:creationId xmlns:a16="http://schemas.microsoft.com/office/drawing/2014/main" id="{F1B9C5B8-E8A8-6534-20FF-06618CACF9F3}"/>
              </a:ext>
            </a:extLst>
          </p:cNvPr>
          <p:cNvCxnSpPr/>
          <p:nvPr/>
        </p:nvCxnSpPr>
        <p:spPr>
          <a:xfrm>
            <a:off x="726926" y="2124125"/>
            <a:ext cx="72008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D9C139E7-C3BC-DA54-0C61-A3DC1DFBD221}"/>
              </a:ext>
            </a:extLst>
          </p:cNvPr>
          <p:cNvCxnSpPr>
            <a:cxnSpLocks/>
          </p:cNvCxnSpPr>
          <p:nvPr/>
        </p:nvCxnSpPr>
        <p:spPr>
          <a:xfrm>
            <a:off x="972319" y="2772197"/>
            <a:ext cx="474687"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A8214E04-5D24-4490-8532-56DDADA16C8D}"/>
              </a:ext>
            </a:extLst>
          </p:cNvPr>
          <p:cNvCxnSpPr>
            <a:cxnSpLocks/>
          </p:cNvCxnSpPr>
          <p:nvPr/>
        </p:nvCxnSpPr>
        <p:spPr>
          <a:xfrm>
            <a:off x="1088528" y="3348261"/>
            <a:ext cx="36004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EA756A46-F1AA-90BE-6805-B97F177EB484}"/>
              </a:ext>
            </a:extLst>
          </p:cNvPr>
          <p:cNvSpPr txBox="1"/>
          <p:nvPr/>
        </p:nvSpPr>
        <p:spPr>
          <a:xfrm>
            <a:off x="9520063" y="6062707"/>
            <a:ext cx="1779654" cy="369332"/>
          </a:xfrm>
          <a:prstGeom prst="rect">
            <a:avLst/>
          </a:prstGeom>
          <a:noFill/>
        </p:spPr>
        <p:txBody>
          <a:bodyPr wrap="none" rtlCol="0">
            <a:spAutoFit/>
          </a:bodyPr>
          <a:lstStyle/>
          <a:p>
            <a:r>
              <a:rPr lang="de-DE" b="1" u="sng" dirty="0">
                <a:solidFill>
                  <a:schemeClr val="tx2"/>
                </a:solidFill>
                <a:latin typeface="Futura LT Pro Light" panose="020B0402020204020303" pitchFamily="34" charset="0"/>
                <a:cs typeface="+mn-cs"/>
              </a:rPr>
              <a:t>864 </a:t>
            </a:r>
            <a:r>
              <a:rPr lang="de-DE" b="1" u="sng" dirty="0" err="1">
                <a:solidFill>
                  <a:schemeClr val="tx2"/>
                </a:solidFill>
                <a:latin typeface="Futura LT Pro Light" panose="020B0402020204020303" pitchFamily="34" charset="0"/>
                <a:cs typeface="+mn-cs"/>
              </a:rPr>
              <a:t>Structures</a:t>
            </a:r>
            <a:r>
              <a:rPr lang="de-DE" b="1" u="sng" dirty="0">
                <a:solidFill>
                  <a:schemeClr val="tx2"/>
                </a:solidFill>
                <a:latin typeface="Futura LT Pro Light" panose="020B0402020204020303" pitchFamily="34" charset="0"/>
                <a:cs typeface="+mn-cs"/>
              </a:rPr>
              <a:t>!</a:t>
            </a:r>
          </a:p>
        </p:txBody>
      </p:sp>
    </p:spTree>
    <p:extLst>
      <p:ext uri="{BB962C8B-B14F-4D97-AF65-F5344CB8AC3E}">
        <p14:creationId xmlns:p14="http://schemas.microsoft.com/office/powerpoint/2010/main" val="37001829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12BB9-B90F-B93F-C0A9-D9D29E3A66F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D1D862BE-42D7-DA0F-A17D-1912E0347F55}"/>
              </a:ext>
            </a:extLst>
          </p:cNvPr>
          <p:cNvSpPr>
            <a:spLocks noGrp="1"/>
          </p:cNvSpPr>
          <p:nvPr>
            <p:ph type="body" sz="quarter" idx="18"/>
          </p:nvPr>
        </p:nvSpPr>
        <p:spPr/>
        <p:txBody>
          <a:bodyPr/>
          <a:lstStyle/>
          <a:p>
            <a:r>
              <a:rPr lang="en-AU" b="1" noProof="0" dirty="0">
                <a:solidFill>
                  <a:schemeClr val="tx1"/>
                </a:solidFill>
              </a:rPr>
              <a:t>2. Design Archetype Structures</a:t>
            </a:r>
          </a:p>
          <a:p>
            <a:pPr marL="342900" indent="-342900">
              <a:buFont typeface="Arial" panose="020B0604020202020204" pitchFamily="34" charset="0"/>
              <a:buChar char="•"/>
            </a:pPr>
            <a:endParaRPr lang="en-AU" noProof="0" dirty="0">
              <a:solidFill>
                <a:schemeClr val="tx1"/>
              </a:solidFill>
            </a:endParaRPr>
          </a:p>
          <a:p>
            <a:pPr marL="342900" indent="-342900">
              <a:buFont typeface="Arial" panose="020B0604020202020204" pitchFamily="34" charset="0"/>
              <a:buChar char="•"/>
            </a:pPr>
            <a:r>
              <a:rPr lang="en-AU" noProof="0" dirty="0">
                <a:solidFill>
                  <a:schemeClr val="tx1"/>
                </a:solidFill>
              </a:rPr>
              <a:t>Design of the structures </a:t>
            </a:r>
            <a:r>
              <a:rPr lang="en-AU" dirty="0">
                <a:solidFill>
                  <a:schemeClr val="tx1"/>
                </a:solidFill>
              </a:rPr>
              <a:t>is </a:t>
            </a:r>
            <a:r>
              <a:rPr lang="en-AU" noProof="0" dirty="0">
                <a:solidFill>
                  <a:schemeClr val="tx1"/>
                </a:solidFill>
              </a:rPr>
              <a:t>automated using Python-based algorithms and a user defined input file (.</a:t>
            </a:r>
            <a:r>
              <a:rPr lang="en-AU" noProof="0" dirty="0" err="1">
                <a:solidFill>
                  <a:schemeClr val="tx1"/>
                </a:solidFill>
              </a:rPr>
              <a:t>json</a:t>
            </a:r>
            <a:r>
              <a:rPr lang="en-AU" noProof="0" dirty="0">
                <a:solidFill>
                  <a:schemeClr val="tx1"/>
                </a:solidFill>
              </a:rPr>
              <a:t> format)</a:t>
            </a:r>
          </a:p>
          <a:p>
            <a:pPr marL="342900" indent="-342900">
              <a:buFont typeface="Arial" panose="020B0604020202020204" pitchFamily="34" charset="0"/>
              <a:buChar char="•"/>
            </a:pPr>
            <a:endParaRPr lang="en-AU" dirty="0">
              <a:solidFill>
                <a:schemeClr val="tx1"/>
              </a:solidFill>
            </a:endParaRPr>
          </a:p>
          <a:p>
            <a:pPr marL="342900" indent="-342900">
              <a:buFont typeface="Arial" panose="020B0604020202020204" pitchFamily="34" charset="0"/>
              <a:buChar char="•"/>
            </a:pPr>
            <a:r>
              <a:rPr lang="en-AU" dirty="0">
                <a:solidFill>
                  <a:schemeClr val="tx1"/>
                </a:solidFill>
              </a:rPr>
              <a:t>EC8 gen. 2 conforming design for:</a:t>
            </a:r>
          </a:p>
          <a:p>
            <a:pPr marL="800100" lvl="1" indent="-342900">
              <a:buFont typeface="+mj-lt"/>
              <a:buAutoNum type="arabicPeriod"/>
            </a:pPr>
            <a:r>
              <a:rPr lang="en-AU" dirty="0">
                <a:solidFill>
                  <a:schemeClr val="tx1"/>
                </a:solidFill>
              </a:rPr>
              <a:t>Braces</a:t>
            </a:r>
          </a:p>
          <a:p>
            <a:pPr marL="800100" lvl="1" indent="-342900">
              <a:buFont typeface="+mj-lt"/>
              <a:buAutoNum type="arabicPeriod"/>
            </a:pPr>
            <a:r>
              <a:rPr lang="en-AU" noProof="0" dirty="0">
                <a:solidFill>
                  <a:schemeClr val="tx1"/>
                </a:solidFill>
              </a:rPr>
              <a:t>Beams</a:t>
            </a:r>
          </a:p>
          <a:p>
            <a:pPr marL="800100" lvl="1" indent="-342900">
              <a:buFont typeface="+mj-lt"/>
              <a:buAutoNum type="arabicPeriod"/>
            </a:pPr>
            <a:r>
              <a:rPr lang="en-AU" dirty="0">
                <a:solidFill>
                  <a:schemeClr val="tx1"/>
                </a:solidFill>
              </a:rPr>
              <a:t>Columns</a:t>
            </a:r>
          </a:p>
          <a:p>
            <a:pPr marL="800100" lvl="1" indent="-342900">
              <a:buFont typeface="+mj-lt"/>
              <a:buAutoNum type="arabicPeriod"/>
            </a:pPr>
            <a:r>
              <a:rPr lang="en-AU" noProof="0" dirty="0">
                <a:solidFill>
                  <a:schemeClr val="tx1"/>
                </a:solidFill>
              </a:rPr>
              <a:t>Gusset Plates</a:t>
            </a:r>
          </a:p>
          <a:p>
            <a:endParaRPr lang="en-AU" dirty="0">
              <a:solidFill>
                <a:schemeClr val="tx1"/>
              </a:solidFill>
            </a:endParaRPr>
          </a:p>
          <a:p>
            <a:pPr marL="342900" indent="-342900">
              <a:buFont typeface="Arial" panose="020B0604020202020204" pitchFamily="34" charset="0"/>
              <a:buChar char="•"/>
            </a:pPr>
            <a:r>
              <a:rPr lang="en-AU" noProof="0" dirty="0">
                <a:solidFill>
                  <a:schemeClr val="tx1"/>
                </a:solidFill>
              </a:rPr>
              <a:t>Produces an output file describing the geometry of the structure (.</a:t>
            </a:r>
            <a:r>
              <a:rPr lang="en-AU" noProof="0" dirty="0" err="1">
                <a:solidFill>
                  <a:schemeClr val="tx1"/>
                </a:solidFill>
              </a:rPr>
              <a:t>json</a:t>
            </a:r>
            <a:r>
              <a:rPr lang="en-AU" noProof="0" dirty="0">
                <a:solidFill>
                  <a:schemeClr val="tx1"/>
                </a:solidFill>
              </a:rPr>
              <a:t> format)</a:t>
            </a:r>
          </a:p>
          <a:p>
            <a:pPr marL="342900" indent="-342900">
              <a:buFont typeface="Arial" panose="020B0604020202020204" pitchFamily="34" charset="0"/>
              <a:buChar char="•"/>
            </a:pPr>
            <a:endParaRPr lang="en-AU" dirty="0">
              <a:solidFill>
                <a:schemeClr val="tx1"/>
              </a:solidFill>
            </a:endParaRPr>
          </a:p>
          <a:p>
            <a:pPr marL="342900" indent="-342900">
              <a:buFont typeface="Arial" panose="020B0604020202020204" pitchFamily="34" charset="0"/>
              <a:buChar char="•"/>
            </a:pPr>
            <a:r>
              <a:rPr lang="en-AU" noProof="0" dirty="0">
                <a:solidFill>
                  <a:schemeClr val="tx1"/>
                </a:solidFill>
              </a:rPr>
              <a:t>Output file can be read by other algorithms for generating nonlinear models of the structures</a:t>
            </a:r>
          </a:p>
        </p:txBody>
      </p:sp>
      <p:sp>
        <p:nvSpPr>
          <p:cNvPr id="3" name="Titel 2">
            <a:extLst>
              <a:ext uri="{FF2B5EF4-FFF2-40B4-BE49-F238E27FC236}">
                <a16:creationId xmlns:a16="http://schemas.microsoft.com/office/drawing/2014/main" id="{145E0442-220F-BD2D-6BBC-A9E39948EE5E}"/>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spTree>
    <p:extLst>
      <p:ext uri="{BB962C8B-B14F-4D97-AF65-F5344CB8AC3E}">
        <p14:creationId xmlns:p14="http://schemas.microsoft.com/office/powerpoint/2010/main" val="358986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0FABA-4F5A-701B-42DE-8D7A0F1A697B}"/>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EDFF9F78-25ED-6330-F377-8D9743C982F1}"/>
              </a:ext>
            </a:extLst>
          </p:cNvPr>
          <p:cNvSpPr>
            <a:spLocks noGrp="1"/>
          </p:cNvSpPr>
          <p:nvPr>
            <p:ph type="body" sz="quarter" idx="18"/>
          </p:nvPr>
        </p:nvSpPr>
        <p:spPr/>
        <p:txBody>
          <a:bodyPr/>
          <a:lstStyle/>
          <a:p>
            <a:r>
              <a:rPr lang="en-AU" b="1" dirty="0">
                <a:solidFill>
                  <a:schemeClr val="tx1"/>
                </a:solidFill>
              </a:rPr>
              <a:t>2. Nonlinear Modelling</a:t>
            </a:r>
          </a:p>
          <a:p>
            <a:pPr marL="342900" indent="-342900">
              <a:buFont typeface="Arial" panose="020B0604020202020204" pitchFamily="34" charset="0"/>
              <a:buChar char="•"/>
            </a:pPr>
            <a:r>
              <a:rPr lang="en-AU" noProof="0" dirty="0">
                <a:solidFill>
                  <a:schemeClr val="tx1"/>
                </a:solidFill>
              </a:rPr>
              <a:t>Based on recommendations of Karamanci and Lignos (2014)</a:t>
            </a:r>
          </a:p>
        </p:txBody>
      </p:sp>
      <p:sp>
        <p:nvSpPr>
          <p:cNvPr id="3" name="Titel 2">
            <a:extLst>
              <a:ext uri="{FF2B5EF4-FFF2-40B4-BE49-F238E27FC236}">
                <a16:creationId xmlns:a16="http://schemas.microsoft.com/office/drawing/2014/main" id="{6C0682F4-711A-74E7-8DD0-EDFC993FE47A}"/>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pic>
        <p:nvPicPr>
          <p:cNvPr id="25" name="Grafik 24" descr="Ein Bild, das Reihe, parallel, Symmetrie, Diagramm enthält.&#10;&#10;KI-generierte Inhalte können fehlerhaft sein.">
            <a:extLst>
              <a:ext uri="{FF2B5EF4-FFF2-40B4-BE49-F238E27FC236}">
                <a16:creationId xmlns:a16="http://schemas.microsoft.com/office/drawing/2014/main" id="{532D3445-EF34-4B1E-D4DA-99D0B5A86790}"/>
              </a:ext>
            </a:extLst>
          </p:cNvPr>
          <p:cNvPicPr>
            <a:picLocks noChangeAspect="1"/>
          </p:cNvPicPr>
          <p:nvPr/>
        </p:nvPicPr>
        <p:blipFill>
          <a:blip r:embed="rId2"/>
          <a:stretch>
            <a:fillRect/>
          </a:stretch>
        </p:blipFill>
        <p:spPr>
          <a:xfrm>
            <a:off x="3132559" y="3017027"/>
            <a:ext cx="6249272" cy="2905530"/>
          </a:xfrm>
          <a:prstGeom prst="rect">
            <a:avLst/>
          </a:prstGeom>
        </p:spPr>
      </p:pic>
      <p:sp>
        <p:nvSpPr>
          <p:cNvPr id="31" name="Textfeld 30">
            <a:extLst>
              <a:ext uri="{FF2B5EF4-FFF2-40B4-BE49-F238E27FC236}">
                <a16:creationId xmlns:a16="http://schemas.microsoft.com/office/drawing/2014/main" id="{9D4D1948-3313-FE32-31D6-E067B2B823FA}"/>
              </a:ext>
            </a:extLst>
          </p:cNvPr>
          <p:cNvSpPr txBox="1"/>
          <p:nvPr/>
        </p:nvSpPr>
        <p:spPr>
          <a:xfrm>
            <a:off x="338779" y="3708301"/>
            <a:ext cx="2448272" cy="1323439"/>
          </a:xfrm>
          <a:prstGeom prst="rect">
            <a:avLst/>
          </a:prstGeom>
          <a:solidFill>
            <a:schemeClr val="bg1"/>
          </a:solidFill>
        </p:spPr>
        <p:txBody>
          <a:bodyPr wrap="square" rtlCol="0">
            <a:spAutoFit/>
          </a:bodyPr>
          <a:lstStyle/>
          <a:p>
            <a:r>
              <a:rPr lang="de-DE" sz="1600" dirty="0">
                <a:solidFill>
                  <a:srgbClr val="333333"/>
                </a:solidFill>
                <a:latin typeface="Futura LT Pro Light" panose="020B0402020204020303" pitchFamily="34" charset="0"/>
                <a:cs typeface="+mn-cs"/>
              </a:rPr>
              <a:t>8 </a:t>
            </a:r>
            <a:r>
              <a:rPr lang="de-DE" sz="1600" dirty="0" err="1">
                <a:solidFill>
                  <a:srgbClr val="333333"/>
                </a:solidFill>
                <a:latin typeface="Futura LT Pro Light" panose="020B0402020204020303" pitchFamily="34" charset="0"/>
                <a:cs typeface="+mn-cs"/>
              </a:rPr>
              <a:t>displacement-based</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fibre</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elements</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with</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corotational</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geometry</a:t>
            </a:r>
            <a:r>
              <a:rPr lang="de-DE" sz="1600" dirty="0">
                <a:solidFill>
                  <a:srgbClr val="333333"/>
                </a:solidFill>
                <a:latin typeface="Futura LT Pro Light" panose="020B0402020204020303" pitchFamily="34" charset="0"/>
                <a:cs typeface="+mn-cs"/>
              </a:rPr>
              <a:t> and initial out-of-</a:t>
            </a:r>
            <a:r>
              <a:rPr lang="de-DE" sz="1600" dirty="0" err="1">
                <a:solidFill>
                  <a:srgbClr val="333333"/>
                </a:solidFill>
                <a:latin typeface="Futura LT Pro Light" panose="020B0402020204020303" pitchFamily="34" charset="0"/>
                <a:cs typeface="+mn-cs"/>
              </a:rPr>
              <a:t>straightness</a:t>
            </a:r>
            <a:endParaRPr lang="de-DE" sz="1600" dirty="0">
              <a:solidFill>
                <a:srgbClr val="333333"/>
              </a:solidFill>
              <a:latin typeface="Futura LT Pro Light" panose="020B0402020204020303" pitchFamily="34" charset="0"/>
              <a:cs typeface="+mn-cs"/>
            </a:endParaRPr>
          </a:p>
        </p:txBody>
      </p:sp>
      <p:sp>
        <p:nvSpPr>
          <p:cNvPr id="32" name="Pfeil: nach rechts 31">
            <a:extLst>
              <a:ext uri="{FF2B5EF4-FFF2-40B4-BE49-F238E27FC236}">
                <a16:creationId xmlns:a16="http://schemas.microsoft.com/office/drawing/2014/main" id="{FD32807C-06AF-F51A-F47F-BCC0984C5E8E}"/>
              </a:ext>
            </a:extLst>
          </p:cNvPr>
          <p:cNvSpPr/>
          <p:nvPr/>
        </p:nvSpPr>
        <p:spPr>
          <a:xfrm>
            <a:off x="2795410" y="4277589"/>
            <a:ext cx="389997" cy="20341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3" name="Textfeld 32">
            <a:extLst>
              <a:ext uri="{FF2B5EF4-FFF2-40B4-BE49-F238E27FC236}">
                <a16:creationId xmlns:a16="http://schemas.microsoft.com/office/drawing/2014/main" id="{34B95D15-7334-C336-5FB4-330B4D8AB345}"/>
              </a:ext>
            </a:extLst>
          </p:cNvPr>
          <p:cNvSpPr txBox="1"/>
          <p:nvPr/>
        </p:nvSpPr>
        <p:spPr>
          <a:xfrm>
            <a:off x="5033059" y="2178141"/>
            <a:ext cx="2448272" cy="584775"/>
          </a:xfrm>
          <a:prstGeom prst="rect">
            <a:avLst/>
          </a:prstGeom>
          <a:solidFill>
            <a:schemeClr val="bg1"/>
          </a:solidFill>
        </p:spPr>
        <p:txBody>
          <a:bodyPr wrap="square" rtlCol="0">
            <a:spAutoFit/>
          </a:bodyPr>
          <a:lstStyle/>
          <a:p>
            <a:r>
              <a:rPr lang="de-DE" sz="1600" dirty="0">
                <a:solidFill>
                  <a:srgbClr val="333333"/>
                </a:solidFill>
                <a:latin typeface="Futura LT Pro Light" panose="020B0402020204020303" pitchFamily="34" charset="0"/>
                <a:cs typeface="+mn-cs"/>
              </a:rPr>
              <a:t>„rigid“ links </a:t>
            </a:r>
            <a:r>
              <a:rPr lang="de-DE" sz="1600" dirty="0" err="1">
                <a:solidFill>
                  <a:srgbClr val="333333"/>
                </a:solidFill>
                <a:latin typeface="Futura LT Pro Light" panose="020B0402020204020303" pitchFamily="34" charset="0"/>
                <a:cs typeface="+mn-cs"/>
              </a:rPr>
              <a:t>used</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to</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model</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slab</a:t>
            </a:r>
            <a:endParaRPr lang="de-DE" sz="1600" dirty="0">
              <a:solidFill>
                <a:srgbClr val="333333"/>
              </a:solidFill>
              <a:latin typeface="Futura LT Pro Light" panose="020B0402020204020303" pitchFamily="34" charset="0"/>
              <a:cs typeface="+mn-cs"/>
            </a:endParaRPr>
          </a:p>
        </p:txBody>
      </p:sp>
      <p:sp>
        <p:nvSpPr>
          <p:cNvPr id="34" name="Pfeil: nach rechts 33">
            <a:extLst>
              <a:ext uri="{FF2B5EF4-FFF2-40B4-BE49-F238E27FC236}">
                <a16:creationId xmlns:a16="http://schemas.microsoft.com/office/drawing/2014/main" id="{93E8C125-7032-41FC-30C4-CA19D9CFA174}"/>
              </a:ext>
            </a:extLst>
          </p:cNvPr>
          <p:cNvSpPr/>
          <p:nvPr/>
        </p:nvSpPr>
        <p:spPr>
          <a:xfrm rot="5400000">
            <a:off x="5535839" y="2856071"/>
            <a:ext cx="262510" cy="20341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5" name="Textfeld 34">
            <a:extLst>
              <a:ext uri="{FF2B5EF4-FFF2-40B4-BE49-F238E27FC236}">
                <a16:creationId xmlns:a16="http://schemas.microsoft.com/office/drawing/2014/main" id="{6D701A28-CFF4-CF27-47B0-3BA348A874CC}"/>
              </a:ext>
            </a:extLst>
          </p:cNvPr>
          <p:cNvSpPr txBox="1"/>
          <p:nvPr/>
        </p:nvSpPr>
        <p:spPr>
          <a:xfrm>
            <a:off x="1766272" y="2445248"/>
            <a:ext cx="2448272" cy="338554"/>
          </a:xfrm>
          <a:prstGeom prst="rect">
            <a:avLst/>
          </a:prstGeom>
          <a:solidFill>
            <a:schemeClr val="bg1"/>
          </a:solidFill>
        </p:spPr>
        <p:txBody>
          <a:bodyPr wrap="square" rtlCol="0">
            <a:spAutoFit/>
          </a:bodyPr>
          <a:lstStyle/>
          <a:p>
            <a:r>
              <a:rPr lang="de-DE" sz="1600" dirty="0" err="1">
                <a:solidFill>
                  <a:srgbClr val="333333"/>
                </a:solidFill>
                <a:latin typeface="Futura LT Pro Light" panose="020B0402020204020303" pitchFamily="34" charset="0"/>
                <a:cs typeface="+mn-cs"/>
              </a:rPr>
              <a:t>Elastic</a:t>
            </a:r>
            <a:r>
              <a:rPr lang="de-DE" sz="1600" dirty="0">
                <a:solidFill>
                  <a:srgbClr val="333333"/>
                </a:solidFill>
                <a:latin typeface="Futura LT Pro Light" panose="020B0402020204020303" pitchFamily="34" charset="0"/>
                <a:cs typeface="+mn-cs"/>
              </a:rPr>
              <a:t> beam </a:t>
            </a:r>
            <a:r>
              <a:rPr lang="de-DE" sz="1600" dirty="0" err="1">
                <a:solidFill>
                  <a:srgbClr val="333333"/>
                </a:solidFill>
                <a:latin typeface="Futura LT Pro Light" panose="020B0402020204020303" pitchFamily="34" charset="0"/>
                <a:cs typeface="+mn-cs"/>
              </a:rPr>
              <a:t>elements</a:t>
            </a:r>
            <a:endParaRPr lang="de-DE" sz="1600" dirty="0">
              <a:solidFill>
                <a:srgbClr val="333333"/>
              </a:solidFill>
              <a:latin typeface="Futura LT Pro Light" panose="020B0402020204020303" pitchFamily="34" charset="0"/>
              <a:cs typeface="+mn-cs"/>
            </a:endParaRPr>
          </a:p>
        </p:txBody>
      </p:sp>
      <p:sp>
        <p:nvSpPr>
          <p:cNvPr id="36" name="Pfeil: nach rechts 35">
            <a:extLst>
              <a:ext uri="{FF2B5EF4-FFF2-40B4-BE49-F238E27FC236}">
                <a16:creationId xmlns:a16="http://schemas.microsoft.com/office/drawing/2014/main" id="{55DE99D1-25FE-8B0F-0BFB-6D989022AE7F}"/>
              </a:ext>
            </a:extLst>
          </p:cNvPr>
          <p:cNvSpPr/>
          <p:nvPr/>
        </p:nvSpPr>
        <p:spPr>
          <a:xfrm rot="5400000">
            <a:off x="3535061" y="2846969"/>
            <a:ext cx="262510" cy="20341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7" name="Textfeld 36">
            <a:extLst>
              <a:ext uri="{FF2B5EF4-FFF2-40B4-BE49-F238E27FC236}">
                <a16:creationId xmlns:a16="http://schemas.microsoft.com/office/drawing/2014/main" id="{BD180B76-B29C-4F76-013D-725673E69253}"/>
              </a:ext>
            </a:extLst>
          </p:cNvPr>
          <p:cNvSpPr txBox="1"/>
          <p:nvPr/>
        </p:nvSpPr>
        <p:spPr>
          <a:xfrm>
            <a:off x="9523177" y="3244360"/>
            <a:ext cx="1566784" cy="338554"/>
          </a:xfrm>
          <a:prstGeom prst="rect">
            <a:avLst/>
          </a:prstGeom>
          <a:solidFill>
            <a:schemeClr val="bg1"/>
          </a:solidFill>
        </p:spPr>
        <p:txBody>
          <a:bodyPr wrap="square" rtlCol="0">
            <a:spAutoFit/>
          </a:bodyPr>
          <a:lstStyle/>
          <a:p>
            <a:r>
              <a:rPr lang="de-DE" sz="1600" dirty="0">
                <a:solidFill>
                  <a:srgbClr val="333333"/>
                </a:solidFill>
                <a:latin typeface="Futura LT Pro Light" panose="020B0402020204020303" pitchFamily="34" charset="0"/>
                <a:cs typeface="+mn-cs"/>
              </a:rPr>
              <a:t>P-</a:t>
            </a:r>
            <a:r>
              <a:rPr lang="el-GR" sz="1600" dirty="0">
                <a:solidFill>
                  <a:srgbClr val="333333"/>
                </a:solidFill>
                <a:latin typeface="Century Gothic" panose="020B0502020202020204" pitchFamily="34" charset="0"/>
                <a:cs typeface="Times New Roman" panose="02020603050405020304" pitchFamily="18" charset="0"/>
              </a:rPr>
              <a:t>Δ</a:t>
            </a:r>
            <a:r>
              <a:rPr lang="de-DE" sz="1600" dirty="0">
                <a:solidFill>
                  <a:srgbClr val="333333"/>
                </a:solidFill>
                <a:latin typeface="Century Gothic" panose="020B0502020202020204" pitchFamily="34" charset="0"/>
                <a:cs typeface="Times New Roman" panose="02020603050405020304" pitchFamily="18" charset="0"/>
              </a:rPr>
              <a:t> </a:t>
            </a:r>
            <a:r>
              <a:rPr lang="de-DE" sz="1600" dirty="0" err="1">
                <a:solidFill>
                  <a:srgbClr val="333333"/>
                </a:solidFill>
                <a:latin typeface="Century Gothic" panose="020B0502020202020204" pitchFamily="34" charset="0"/>
                <a:cs typeface="Times New Roman" panose="02020603050405020304" pitchFamily="18" charset="0"/>
              </a:rPr>
              <a:t>column</a:t>
            </a:r>
            <a:endParaRPr lang="de-DE" sz="1600" dirty="0">
              <a:solidFill>
                <a:srgbClr val="333333"/>
              </a:solidFill>
              <a:latin typeface="Century Gothic" panose="020B0502020202020204" pitchFamily="34" charset="0"/>
              <a:cs typeface="+mn-cs"/>
            </a:endParaRPr>
          </a:p>
        </p:txBody>
      </p:sp>
      <p:sp>
        <p:nvSpPr>
          <p:cNvPr id="38" name="Pfeil: nach rechts 37">
            <a:extLst>
              <a:ext uri="{FF2B5EF4-FFF2-40B4-BE49-F238E27FC236}">
                <a16:creationId xmlns:a16="http://schemas.microsoft.com/office/drawing/2014/main" id="{A87005BA-919F-60AE-E4A9-0708291A153C}"/>
              </a:ext>
            </a:extLst>
          </p:cNvPr>
          <p:cNvSpPr/>
          <p:nvPr/>
        </p:nvSpPr>
        <p:spPr>
          <a:xfrm rot="10800000">
            <a:off x="9260667" y="3311927"/>
            <a:ext cx="262510" cy="20341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9" name="Textfeld 38">
            <a:extLst>
              <a:ext uri="{FF2B5EF4-FFF2-40B4-BE49-F238E27FC236}">
                <a16:creationId xmlns:a16="http://schemas.microsoft.com/office/drawing/2014/main" id="{DA70AD31-6BF9-40AF-41E9-9CEF1B695FC6}"/>
              </a:ext>
            </a:extLst>
          </p:cNvPr>
          <p:cNvSpPr txBox="1"/>
          <p:nvPr/>
        </p:nvSpPr>
        <p:spPr>
          <a:xfrm>
            <a:off x="7453039" y="2458133"/>
            <a:ext cx="2448272" cy="338554"/>
          </a:xfrm>
          <a:prstGeom prst="rect">
            <a:avLst/>
          </a:prstGeom>
          <a:solidFill>
            <a:schemeClr val="bg1"/>
          </a:solidFill>
        </p:spPr>
        <p:txBody>
          <a:bodyPr wrap="square" rtlCol="0">
            <a:spAutoFit/>
          </a:bodyPr>
          <a:lstStyle/>
          <a:p>
            <a:r>
              <a:rPr lang="de-DE" sz="1600" dirty="0" err="1">
                <a:solidFill>
                  <a:srgbClr val="333333"/>
                </a:solidFill>
                <a:latin typeface="Futura LT Pro Light" panose="020B0402020204020303" pitchFamily="34" charset="0"/>
                <a:cs typeface="+mn-cs"/>
              </a:rPr>
              <a:t>Mass</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lumped</a:t>
            </a:r>
            <a:r>
              <a:rPr lang="de-DE" sz="1600" dirty="0">
                <a:solidFill>
                  <a:srgbClr val="333333"/>
                </a:solidFill>
                <a:latin typeface="Futura LT Pro Light" panose="020B0402020204020303" pitchFamily="34" charset="0"/>
                <a:cs typeface="+mn-cs"/>
              </a:rPr>
              <a:t> at </a:t>
            </a:r>
            <a:r>
              <a:rPr lang="de-DE" sz="1600" dirty="0" err="1">
                <a:solidFill>
                  <a:srgbClr val="333333"/>
                </a:solidFill>
                <a:latin typeface="Futura LT Pro Light" panose="020B0402020204020303" pitchFamily="34" charset="0"/>
                <a:cs typeface="+mn-cs"/>
              </a:rPr>
              <a:t>nodes</a:t>
            </a:r>
            <a:endParaRPr lang="de-DE" sz="1600" dirty="0">
              <a:solidFill>
                <a:srgbClr val="333333"/>
              </a:solidFill>
              <a:latin typeface="Century Gothic" panose="020B0502020202020204" pitchFamily="34" charset="0"/>
              <a:cs typeface="+mn-cs"/>
            </a:endParaRPr>
          </a:p>
        </p:txBody>
      </p:sp>
      <p:sp>
        <p:nvSpPr>
          <p:cNvPr id="40" name="Pfeil: nach rechts 39">
            <a:extLst>
              <a:ext uri="{FF2B5EF4-FFF2-40B4-BE49-F238E27FC236}">
                <a16:creationId xmlns:a16="http://schemas.microsoft.com/office/drawing/2014/main" id="{E9428B7F-1491-1D43-EE13-60545BFF656D}"/>
              </a:ext>
            </a:extLst>
          </p:cNvPr>
          <p:cNvSpPr/>
          <p:nvPr/>
        </p:nvSpPr>
        <p:spPr>
          <a:xfrm rot="5400000">
            <a:off x="8223698" y="2844120"/>
            <a:ext cx="262510" cy="20341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41" name="Textfeld 40">
            <a:extLst>
              <a:ext uri="{FF2B5EF4-FFF2-40B4-BE49-F238E27FC236}">
                <a16:creationId xmlns:a16="http://schemas.microsoft.com/office/drawing/2014/main" id="{A6A8941D-C68C-2FEF-BD9F-F91952FC4F2B}"/>
              </a:ext>
            </a:extLst>
          </p:cNvPr>
          <p:cNvSpPr txBox="1"/>
          <p:nvPr/>
        </p:nvSpPr>
        <p:spPr>
          <a:xfrm>
            <a:off x="1233111" y="5601995"/>
            <a:ext cx="1446192" cy="338554"/>
          </a:xfrm>
          <a:prstGeom prst="rect">
            <a:avLst/>
          </a:prstGeom>
          <a:solidFill>
            <a:schemeClr val="bg1"/>
          </a:solidFill>
        </p:spPr>
        <p:txBody>
          <a:bodyPr wrap="square" rtlCol="0">
            <a:spAutoFit/>
          </a:bodyPr>
          <a:lstStyle/>
          <a:p>
            <a:r>
              <a:rPr lang="de-DE" sz="1600" dirty="0" err="1">
                <a:solidFill>
                  <a:srgbClr val="333333"/>
                </a:solidFill>
                <a:latin typeface="Futura LT Pro Light" panose="020B0402020204020303" pitchFamily="34" charset="0"/>
                <a:cs typeface="+mn-cs"/>
              </a:rPr>
              <a:t>Pinned</a:t>
            </a:r>
            <a:r>
              <a:rPr lang="de-DE" sz="1600" dirty="0">
                <a:solidFill>
                  <a:srgbClr val="333333"/>
                </a:solidFill>
                <a:latin typeface="Futura LT Pro Light" panose="020B0402020204020303" pitchFamily="34" charset="0"/>
                <a:cs typeface="+mn-cs"/>
              </a:rPr>
              <a:t>-base</a:t>
            </a:r>
            <a:endParaRPr lang="de-DE" sz="1600" dirty="0">
              <a:solidFill>
                <a:srgbClr val="333333"/>
              </a:solidFill>
              <a:latin typeface="Century Gothic" panose="020B0502020202020204" pitchFamily="34" charset="0"/>
              <a:cs typeface="+mn-cs"/>
            </a:endParaRPr>
          </a:p>
        </p:txBody>
      </p:sp>
      <p:sp>
        <p:nvSpPr>
          <p:cNvPr id="42" name="Pfeil: nach rechts 41">
            <a:extLst>
              <a:ext uri="{FF2B5EF4-FFF2-40B4-BE49-F238E27FC236}">
                <a16:creationId xmlns:a16="http://schemas.microsoft.com/office/drawing/2014/main" id="{3B21B940-C611-76BA-2E61-BA9F026A8C11}"/>
              </a:ext>
            </a:extLst>
          </p:cNvPr>
          <p:cNvSpPr/>
          <p:nvPr/>
        </p:nvSpPr>
        <p:spPr>
          <a:xfrm>
            <a:off x="2695951" y="5676393"/>
            <a:ext cx="389997" cy="20341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43" name="Rechteck 42">
            <a:extLst>
              <a:ext uri="{FF2B5EF4-FFF2-40B4-BE49-F238E27FC236}">
                <a16:creationId xmlns:a16="http://schemas.microsoft.com/office/drawing/2014/main" id="{21439A4E-7876-3113-9441-228A642994A0}"/>
              </a:ext>
            </a:extLst>
          </p:cNvPr>
          <p:cNvSpPr/>
          <p:nvPr/>
        </p:nvSpPr>
        <p:spPr>
          <a:xfrm>
            <a:off x="4500711" y="4601203"/>
            <a:ext cx="864096" cy="576064"/>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44" name="Textfeld 43">
            <a:extLst>
              <a:ext uri="{FF2B5EF4-FFF2-40B4-BE49-F238E27FC236}">
                <a16:creationId xmlns:a16="http://schemas.microsoft.com/office/drawing/2014/main" id="{67A123D8-BC61-D89F-F9F8-B7CA6C12E687}"/>
              </a:ext>
            </a:extLst>
          </p:cNvPr>
          <p:cNvSpPr txBox="1"/>
          <p:nvPr/>
        </p:nvSpPr>
        <p:spPr>
          <a:xfrm>
            <a:off x="5123458" y="5879812"/>
            <a:ext cx="2088232" cy="338554"/>
          </a:xfrm>
          <a:prstGeom prst="rect">
            <a:avLst/>
          </a:prstGeom>
          <a:solidFill>
            <a:schemeClr val="bg1"/>
          </a:solidFill>
        </p:spPr>
        <p:txBody>
          <a:bodyPr wrap="square" rtlCol="0">
            <a:spAutoFit/>
          </a:bodyPr>
          <a:lstStyle/>
          <a:p>
            <a:r>
              <a:rPr lang="de-DE" sz="1600" dirty="0" err="1">
                <a:solidFill>
                  <a:srgbClr val="333333"/>
                </a:solidFill>
                <a:latin typeface="Futura LT Pro Light" panose="020B0402020204020303" pitchFamily="34" charset="0"/>
                <a:cs typeface="+mn-cs"/>
              </a:rPr>
              <a:t>Gusset</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connection</a:t>
            </a:r>
            <a:endParaRPr lang="de-DE" sz="1600" dirty="0">
              <a:solidFill>
                <a:srgbClr val="333333"/>
              </a:solidFill>
              <a:latin typeface="Century Gothic" panose="020B0502020202020204" pitchFamily="34" charset="0"/>
              <a:cs typeface="+mn-cs"/>
            </a:endParaRPr>
          </a:p>
        </p:txBody>
      </p:sp>
      <p:sp>
        <p:nvSpPr>
          <p:cNvPr id="45" name="Pfeil: nach rechts 44">
            <a:extLst>
              <a:ext uri="{FF2B5EF4-FFF2-40B4-BE49-F238E27FC236}">
                <a16:creationId xmlns:a16="http://schemas.microsoft.com/office/drawing/2014/main" id="{D00CB805-AC0E-2186-AE44-447097DFDEB3}"/>
              </a:ext>
            </a:extLst>
          </p:cNvPr>
          <p:cNvSpPr/>
          <p:nvPr/>
        </p:nvSpPr>
        <p:spPr>
          <a:xfrm rot="16200000">
            <a:off x="4955985" y="5455932"/>
            <a:ext cx="634195" cy="213563"/>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Tree>
    <p:extLst>
      <p:ext uri="{BB962C8B-B14F-4D97-AF65-F5344CB8AC3E}">
        <p14:creationId xmlns:p14="http://schemas.microsoft.com/office/powerpoint/2010/main" val="1804396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D5C1-4E74-9F5A-2E54-4400B446BF5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7A7C760A-E649-EE8D-2482-9751A524474D}"/>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sp>
        <p:nvSpPr>
          <p:cNvPr id="7" name="Textplatzhalter 1">
            <a:extLst>
              <a:ext uri="{FF2B5EF4-FFF2-40B4-BE49-F238E27FC236}">
                <a16:creationId xmlns:a16="http://schemas.microsoft.com/office/drawing/2014/main" id="{7F374154-88D7-35BB-C23D-57B8EBBD931A}"/>
              </a:ext>
            </a:extLst>
          </p:cNvPr>
          <p:cNvSpPr txBox="1">
            <a:spLocks/>
          </p:cNvSpPr>
          <p:nvPr/>
        </p:nvSpPr>
        <p:spPr bwMode="auto">
          <a:xfrm>
            <a:off x="492412" y="1105409"/>
            <a:ext cx="11312077" cy="54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 typeface="+mj-lt"/>
              <a:buNone/>
              <a:defRPr sz="2000" kern="1200">
                <a:solidFill>
                  <a:srgbClr val="333333"/>
                </a:solidFill>
                <a:latin typeface="Century Gothic" panose="020B0502020202020204" pitchFamily="34" charset="0"/>
                <a:ea typeface="+mn-ea"/>
                <a:cs typeface="+mn-cs"/>
              </a:defRPr>
            </a:lvl1pPr>
            <a:lvl2pPr marL="457200" indent="0" algn="l" rtl="0" eaLnBrk="1" fontAlgn="base" hangingPunct="1">
              <a:spcBef>
                <a:spcPct val="20000"/>
              </a:spcBef>
              <a:spcAft>
                <a:spcPct val="0"/>
              </a:spcAft>
              <a:buFont typeface="Futura LT Pro Book" pitchFamily="34" charset="0"/>
              <a:buNone/>
              <a:defRPr sz="1600" kern="1200">
                <a:solidFill>
                  <a:srgbClr val="333333"/>
                </a:solidFill>
                <a:latin typeface="Century Gothic" panose="020B0502020202020204" pitchFamily="34" charset="0"/>
                <a:ea typeface="+mn-ea"/>
                <a:cs typeface="+mn-cs"/>
              </a:defRPr>
            </a:lvl2pPr>
            <a:lvl3pPr marL="914400" indent="0" algn="l" rtl="0" eaLnBrk="1" fontAlgn="base" hangingPunct="1">
              <a:spcBef>
                <a:spcPct val="20000"/>
              </a:spcBef>
              <a:spcAft>
                <a:spcPct val="0"/>
              </a:spcAft>
              <a:buFont typeface="Futura LT Pro Book" pitchFamily="34" charset="0"/>
              <a:buNone/>
              <a:defRPr sz="1400" kern="1200">
                <a:solidFill>
                  <a:srgbClr val="333333"/>
                </a:solidFill>
                <a:latin typeface="Century Gothic" panose="020B0502020202020204" pitchFamily="34" charset="0"/>
                <a:ea typeface="+mn-ea"/>
                <a:cs typeface="+mn-cs"/>
              </a:defRPr>
            </a:lvl3pPr>
            <a:lvl4pPr marL="1371600" indent="0" algn="l" rtl="0" eaLnBrk="1" fontAlgn="base" hangingPunct="1">
              <a:spcBef>
                <a:spcPct val="20000"/>
              </a:spcBef>
              <a:spcAft>
                <a:spcPct val="0"/>
              </a:spcAft>
              <a:buFont typeface="Futura LT Pro Book" pitchFamily="34" charset="0"/>
              <a:buNone/>
              <a:defRPr sz="1400" kern="1200">
                <a:solidFill>
                  <a:srgbClr val="333333"/>
                </a:solidFill>
                <a:latin typeface="Century Gothic" panose="020B0502020202020204" pitchFamily="34" charset="0"/>
                <a:ea typeface="+mn-ea"/>
                <a:cs typeface="+mn-cs"/>
              </a:defRPr>
            </a:lvl4pPr>
            <a:lvl5pPr marL="1828800" indent="0" algn="l" rtl="0" eaLnBrk="1" fontAlgn="base" hangingPunct="1">
              <a:spcBef>
                <a:spcPct val="20000"/>
              </a:spcBef>
              <a:spcAft>
                <a:spcPct val="0"/>
              </a:spcAft>
              <a:buFont typeface="Futura LT Pro Book" pitchFamily="34" charset="0"/>
              <a:buNone/>
              <a:defRPr sz="1400" kern="1200">
                <a:solidFill>
                  <a:srgbClr val="333333"/>
                </a:solidFill>
                <a:latin typeface="Century Gothic" panose="020B0502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AU" b="1" dirty="0">
                <a:solidFill>
                  <a:schemeClr val="tx1"/>
                </a:solidFill>
              </a:rPr>
              <a:t>2. Nonlinear Modelling</a:t>
            </a:r>
          </a:p>
          <a:p>
            <a:pPr marL="342900" indent="-342900">
              <a:buFont typeface="Arial" panose="020B0604020202020204" pitchFamily="34" charset="0"/>
              <a:buChar char="•"/>
            </a:pPr>
            <a:r>
              <a:rPr lang="en-AU" dirty="0">
                <a:solidFill>
                  <a:schemeClr val="tx1"/>
                </a:solidFill>
              </a:rPr>
              <a:t>Based on recommendations of Karamanci and Lignos (2014)</a:t>
            </a:r>
          </a:p>
        </p:txBody>
      </p:sp>
      <p:sp>
        <p:nvSpPr>
          <p:cNvPr id="10" name="Rechteck 9">
            <a:extLst>
              <a:ext uri="{FF2B5EF4-FFF2-40B4-BE49-F238E27FC236}">
                <a16:creationId xmlns:a16="http://schemas.microsoft.com/office/drawing/2014/main" id="{8F1C085E-2D0B-3936-8CCB-EA3C2EE90F95}"/>
              </a:ext>
            </a:extLst>
          </p:cNvPr>
          <p:cNvSpPr/>
          <p:nvPr/>
        </p:nvSpPr>
        <p:spPr>
          <a:xfrm>
            <a:off x="4696726" y="3822663"/>
            <a:ext cx="2558444" cy="25412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11" name="Rechteck 10">
            <a:extLst>
              <a:ext uri="{FF2B5EF4-FFF2-40B4-BE49-F238E27FC236}">
                <a16:creationId xmlns:a16="http://schemas.microsoft.com/office/drawing/2014/main" id="{B4F0E1A6-19BC-B8A0-D9A6-57B80FF41987}"/>
              </a:ext>
            </a:extLst>
          </p:cNvPr>
          <p:cNvSpPr/>
          <p:nvPr/>
        </p:nvSpPr>
        <p:spPr>
          <a:xfrm rot="5400000">
            <a:off x="6173292" y="4264912"/>
            <a:ext cx="1655379" cy="25412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12" name="Rechteck 11">
            <a:extLst>
              <a:ext uri="{FF2B5EF4-FFF2-40B4-BE49-F238E27FC236}">
                <a16:creationId xmlns:a16="http://schemas.microsoft.com/office/drawing/2014/main" id="{4EABDEF9-ABE0-4D60-8473-E6567D7500DF}"/>
              </a:ext>
            </a:extLst>
          </p:cNvPr>
          <p:cNvSpPr/>
          <p:nvPr/>
        </p:nvSpPr>
        <p:spPr>
          <a:xfrm rot="20040000">
            <a:off x="4064735" y="4526874"/>
            <a:ext cx="3037814" cy="26435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cxnSp>
        <p:nvCxnSpPr>
          <p:cNvPr id="16" name="Gerader Verbinder 15">
            <a:extLst>
              <a:ext uri="{FF2B5EF4-FFF2-40B4-BE49-F238E27FC236}">
                <a16:creationId xmlns:a16="http://schemas.microsoft.com/office/drawing/2014/main" id="{075A8B12-B0F3-9668-3AB1-4D00E0805EEE}"/>
              </a:ext>
            </a:extLst>
          </p:cNvPr>
          <p:cNvCxnSpPr>
            <a:cxnSpLocks/>
          </p:cNvCxnSpPr>
          <p:nvPr/>
        </p:nvCxnSpPr>
        <p:spPr>
          <a:xfrm>
            <a:off x="7000981" y="2484165"/>
            <a:ext cx="0" cy="1080119"/>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841904A1-FCA9-6DA9-345B-9BB13DF30DC1}"/>
              </a:ext>
            </a:extLst>
          </p:cNvPr>
          <p:cNvCxnSpPr>
            <a:cxnSpLocks/>
          </p:cNvCxnSpPr>
          <p:nvPr/>
        </p:nvCxnSpPr>
        <p:spPr>
          <a:xfrm>
            <a:off x="7000981" y="5219664"/>
            <a:ext cx="0" cy="576869"/>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EED14BED-D90C-8D0B-169B-D95B884D668D}"/>
              </a:ext>
            </a:extLst>
          </p:cNvPr>
          <p:cNvCxnSpPr>
            <a:cxnSpLocks/>
          </p:cNvCxnSpPr>
          <p:nvPr/>
        </p:nvCxnSpPr>
        <p:spPr>
          <a:xfrm>
            <a:off x="7515240" y="3949725"/>
            <a:ext cx="1112557" cy="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CC303B2B-AA83-9725-2340-880E2C875019}"/>
              </a:ext>
            </a:extLst>
          </p:cNvPr>
          <p:cNvCxnSpPr>
            <a:cxnSpLocks/>
            <a:endCxn id="12" idx="1"/>
          </p:cNvCxnSpPr>
          <p:nvPr/>
        </p:nvCxnSpPr>
        <p:spPr>
          <a:xfrm flipV="1">
            <a:off x="3558522" y="5324895"/>
            <a:ext cx="659935" cy="34621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4BD80685-9027-3193-B9FA-E8B509CD1D02}"/>
              </a:ext>
            </a:extLst>
          </p:cNvPr>
          <p:cNvCxnSpPr>
            <a:cxnSpLocks/>
          </p:cNvCxnSpPr>
          <p:nvPr/>
        </p:nvCxnSpPr>
        <p:spPr>
          <a:xfrm>
            <a:off x="3332210" y="3949725"/>
            <a:ext cx="1112557" cy="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29" name="Gruppieren 28">
            <a:extLst>
              <a:ext uri="{FF2B5EF4-FFF2-40B4-BE49-F238E27FC236}">
                <a16:creationId xmlns:a16="http://schemas.microsoft.com/office/drawing/2014/main" id="{CFC58B2B-E96C-58C1-D384-ACD80C3D21EE}"/>
              </a:ext>
            </a:extLst>
          </p:cNvPr>
          <p:cNvGrpSpPr/>
          <p:nvPr/>
        </p:nvGrpSpPr>
        <p:grpSpPr>
          <a:xfrm>
            <a:off x="4016499" y="5230983"/>
            <a:ext cx="288032" cy="288032"/>
            <a:chOff x="2909780" y="5230983"/>
            <a:chExt cx="288032" cy="288032"/>
          </a:xfrm>
        </p:grpSpPr>
        <p:sp>
          <p:nvSpPr>
            <p:cNvPr id="27" name="Ellipse 26">
              <a:extLst>
                <a:ext uri="{FF2B5EF4-FFF2-40B4-BE49-F238E27FC236}">
                  <a16:creationId xmlns:a16="http://schemas.microsoft.com/office/drawing/2014/main" id="{4A5DF848-DB99-AF3C-B27F-8D127037D8C8}"/>
                </a:ext>
              </a:extLst>
            </p:cNvPr>
            <p:cNvSpPr/>
            <p:nvPr/>
          </p:nvSpPr>
          <p:spPr>
            <a:xfrm>
              <a:off x="2909780" y="5230983"/>
              <a:ext cx="288032" cy="288032"/>
            </a:xfrm>
            <a:prstGeom prst="ellipse">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28" name="Ellipse 27">
              <a:extLst>
                <a:ext uri="{FF2B5EF4-FFF2-40B4-BE49-F238E27FC236}">
                  <a16:creationId xmlns:a16="http://schemas.microsoft.com/office/drawing/2014/main" id="{F3271DFC-3E6C-F7B9-0F4F-AC46B71F2DBF}"/>
                </a:ext>
              </a:extLst>
            </p:cNvPr>
            <p:cNvSpPr/>
            <p:nvPr/>
          </p:nvSpPr>
          <p:spPr>
            <a:xfrm>
              <a:off x="2981796" y="5302999"/>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grpSp>
      <p:grpSp>
        <p:nvGrpSpPr>
          <p:cNvPr id="30" name="Gruppieren 29">
            <a:extLst>
              <a:ext uri="{FF2B5EF4-FFF2-40B4-BE49-F238E27FC236}">
                <a16:creationId xmlns:a16="http://schemas.microsoft.com/office/drawing/2014/main" id="{AF875086-4ECC-57F1-B0A8-E943069A3F06}"/>
              </a:ext>
            </a:extLst>
          </p:cNvPr>
          <p:cNvGrpSpPr/>
          <p:nvPr/>
        </p:nvGrpSpPr>
        <p:grpSpPr>
          <a:xfrm>
            <a:off x="4444767" y="3799085"/>
            <a:ext cx="288032" cy="288032"/>
            <a:chOff x="2909780" y="5230983"/>
            <a:chExt cx="288032" cy="288032"/>
          </a:xfrm>
        </p:grpSpPr>
        <p:sp>
          <p:nvSpPr>
            <p:cNvPr id="31" name="Ellipse 30">
              <a:extLst>
                <a:ext uri="{FF2B5EF4-FFF2-40B4-BE49-F238E27FC236}">
                  <a16:creationId xmlns:a16="http://schemas.microsoft.com/office/drawing/2014/main" id="{3C6FDE5D-A879-A8B1-7DD6-25925DD2DECA}"/>
                </a:ext>
              </a:extLst>
            </p:cNvPr>
            <p:cNvSpPr/>
            <p:nvPr/>
          </p:nvSpPr>
          <p:spPr>
            <a:xfrm>
              <a:off x="2909780" y="5230983"/>
              <a:ext cx="288032" cy="288032"/>
            </a:xfrm>
            <a:prstGeom prst="ellipse">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2" name="Ellipse 31">
              <a:extLst>
                <a:ext uri="{FF2B5EF4-FFF2-40B4-BE49-F238E27FC236}">
                  <a16:creationId xmlns:a16="http://schemas.microsoft.com/office/drawing/2014/main" id="{49051096-7352-44EA-53A5-0ACE4294E8A0}"/>
                </a:ext>
              </a:extLst>
            </p:cNvPr>
            <p:cNvSpPr/>
            <p:nvPr/>
          </p:nvSpPr>
          <p:spPr>
            <a:xfrm>
              <a:off x="2981796" y="5302999"/>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grpSp>
      <p:grpSp>
        <p:nvGrpSpPr>
          <p:cNvPr id="33" name="Gruppieren 32">
            <a:extLst>
              <a:ext uri="{FF2B5EF4-FFF2-40B4-BE49-F238E27FC236}">
                <a16:creationId xmlns:a16="http://schemas.microsoft.com/office/drawing/2014/main" id="{EB611A26-F2FA-B7CE-1EE1-9332E461964F}"/>
              </a:ext>
            </a:extLst>
          </p:cNvPr>
          <p:cNvGrpSpPr/>
          <p:nvPr/>
        </p:nvGrpSpPr>
        <p:grpSpPr>
          <a:xfrm>
            <a:off x="7227208" y="3799085"/>
            <a:ext cx="288032" cy="288032"/>
            <a:chOff x="2909780" y="5230983"/>
            <a:chExt cx="288032" cy="288032"/>
          </a:xfrm>
        </p:grpSpPr>
        <p:sp>
          <p:nvSpPr>
            <p:cNvPr id="34" name="Ellipse 33">
              <a:extLst>
                <a:ext uri="{FF2B5EF4-FFF2-40B4-BE49-F238E27FC236}">
                  <a16:creationId xmlns:a16="http://schemas.microsoft.com/office/drawing/2014/main" id="{34D7C752-FDF9-69FF-D870-4570BFC5C27E}"/>
                </a:ext>
              </a:extLst>
            </p:cNvPr>
            <p:cNvSpPr/>
            <p:nvPr/>
          </p:nvSpPr>
          <p:spPr>
            <a:xfrm>
              <a:off x="2909780" y="5230983"/>
              <a:ext cx="288032" cy="288032"/>
            </a:xfrm>
            <a:prstGeom prst="ellipse">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5" name="Ellipse 34">
              <a:extLst>
                <a:ext uri="{FF2B5EF4-FFF2-40B4-BE49-F238E27FC236}">
                  <a16:creationId xmlns:a16="http://schemas.microsoft.com/office/drawing/2014/main" id="{0A304435-88AB-959C-9369-72D4550716C0}"/>
                </a:ext>
              </a:extLst>
            </p:cNvPr>
            <p:cNvSpPr/>
            <p:nvPr/>
          </p:nvSpPr>
          <p:spPr>
            <a:xfrm>
              <a:off x="2981796" y="5302999"/>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grpSp>
      <p:sp>
        <p:nvSpPr>
          <p:cNvPr id="36" name="Textfeld 35">
            <a:extLst>
              <a:ext uri="{FF2B5EF4-FFF2-40B4-BE49-F238E27FC236}">
                <a16:creationId xmlns:a16="http://schemas.microsoft.com/office/drawing/2014/main" id="{A52A7A44-BAC6-A865-A063-5A860C2467D0}"/>
              </a:ext>
            </a:extLst>
          </p:cNvPr>
          <p:cNvSpPr txBox="1"/>
          <p:nvPr/>
        </p:nvSpPr>
        <p:spPr>
          <a:xfrm>
            <a:off x="4088515" y="2362040"/>
            <a:ext cx="2448272" cy="584775"/>
          </a:xfrm>
          <a:prstGeom prst="rect">
            <a:avLst/>
          </a:prstGeom>
          <a:solidFill>
            <a:schemeClr val="bg1"/>
          </a:solidFill>
        </p:spPr>
        <p:txBody>
          <a:bodyPr wrap="square" rtlCol="0">
            <a:spAutoFit/>
          </a:bodyPr>
          <a:lstStyle/>
          <a:p>
            <a:r>
              <a:rPr lang="de-DE" sz="1600" dirty="0">
                <a:solidFill>
                  <a:srgbClr val="333333"/>
                </a:solidFill>
                <a:latin typeface="Futura LT Pro Light" panose="020B0402020204020303" pitchFamily="34" charset="0"/>
                <a:cs typeface="+mn-cs"/>
              </a:rPr>
              <a:t>„rigid“ </a:t>
            </a:r>
            <a:r>
              <a:rPr lang="de-DE" sz="1600" dirty="0" err="1">
                <a:solidFill>
                  <a:srgbClr val="333333"/>
                </a:solidFill>
                <a:latin typeface="Futura LT Pro Light" panose="020B0402020204020303" pitchFamily="34" charset="0"/>
                <a:cs typeface="+mn-cs"/>
              </a:rPr>
              <a:t>connection</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for</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gusset</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geometry</a:t>
            </a:r>
            <a:endParaRPr lang="de-DE" sz="1600" dirty="0">
              <a:solidFill>
                <a:srgbClr val="333333"/>
              </a:solidFill>
              <a:latin typeface="Futura LT Pro Light" panose="020B0402020204020303" pitchFamily="34" charset="0"/>
              <a:cs typeface="+mn-cs"/>
            </a:endParaRPr>
          </a:p>
        </p:txBody>
      </p:sp>
      <p:sp>
        <p:nvSpPr>
          <p:cNvPr id="37" name="Pfeil: nach rechts 36">
            <a:extLst>
              <a:ext uri="{FF2B5EF4-FFF2-40B4-BE49-F238E27FC236}">
                <a16:creationId xmlns:a16="http://schemas.microsoft.com/office/drawing/2014/main" id="{346AECCB-0488-DC30-AEEE-F7D9CA753317}"/>
              </a:ext>
            </a:extLst>
          </p:cNvPr>
          <p:cNvSpPr/>
          <p:nvPr/>
        </p:nvSpPr>
        <p:spPr>
          <a:xfrm rot="5400000">
            <a:off x="5105223" y="3268928"/>
            <a:ext cx="753416" cy="20341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8" name="Textfeld 37">
            <a:extLst>
              <a:ext uri="{FF2B5EF4-FFF2-40B4-BE49-F238E27FC236}">
                <a16:creationId xmlns:a16="http://schemas.microsoft.com/office/drawing/2014/main" id="{DCF5121A-D94B-76B1-F697-AA1CCDF60F68}"/>
              </a:ext>
            </a:extLst>
          </p:cNvPr>
          <p:cNvSpPr txBox="1"/>
          <p:nvPr/>
        </p:nvSpPr>
        <p:spPr>
          <a:xfrm>
            <a:off x="8317135" y="2531316"/>
            <a:ext cx="2448272" cy="830997"/>
          </a:xfrm>
          <a:prstGeom prst="rect">
            <a:avLst/>
          </a:prstGeom>
          <a:solidFill>
            <a:schemeClr val="bg1"/>
          </a:solidFill>
        </p:spPr>
        <p:txBody>
          <a:bodyPr wrap="square" rtlCol="0">
            <a:spAutoFit/>
          </a:bodyPr>
          <a:lstStyle/>
          <a:p>
            <a:r>
              <a:rPr lang="de-DE" sz="1600" dirty="0" err="1">
                <a:solidFill>
                  <a:srgbClr val="333333"/>
                </a:solidFill>
                <a:latin typeface="Futura LT Pro Light" panose="020B0402020204020303" pitchFamily="34" charset="0"/>
                <a:cs typeface="+mn-cs"/>
              </a:rPr>
              <a:t>Rotational</a:t>
            </a:r>
            <a:r>
              <a:rPr lang="de-DE" sz="1600" dirty="0">
                <a:solidFill>
                  <a:srgbClr val="333333"/>
                </a:solidFill>
                <a:latin typeface="Futura LT Pro Light" panose="020B0402020204020303" pitchFamily="34" charset="0"/>
                <a:cs typeface="+mn-cs"/>
              </a:rPr>
              <a:t> spring </a:t>
            </a:r>
            <a:r>
              <a:rPr lang="de-DE" sz="1600" dirty="0" err="1">
                <a:solidFill>
                  <a:srgbClr val="333333"/>
                </a:solidFill>
                <a:latin typeface="Futura LT Pro Light" panose="020B0402020204020303" pitchFamily="34" charset="0"/>
                <a:cs typeface="+mn-cs"/>
              </a:rPr>
              <a:t>for</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flexibility</a:t>
            </a:r>
            <a:r>
              <a:rPr lang="de-DE" sz="1600" dirty="0">
                <a:solidFill>
                  <a:srgbClr val="333333"/>
                </a:solidFill>
                <a:latin typeface="Futura LT Pro Light" panose="020B0402020204020303" pitchFamily="34" charset="0"/>
                <a:cs typeface="+mn-cs"/>
              </a:rPr>
              <a:t> of beam-</a:t>
            </a:r>
            <a:r>
              <a:rPr lang="de-DE" sz="1600" dirty="0" err="1">
                <a:solidFill>
                  <a:srgbClr val="333333"/>
                </a:solidFill>
                <a:latin typeface="Futura LT Pro Light" panose="020B0402020204020303" pitchFamily="34" charset="0"/>
                <a:cs typeface="+mn-cs"/>
              </a:rPr>
              <a:t>column</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connection</a:t>
            </a:r>
            <a:endParaRPr lang="de-DE" sz="1600" dirty="0">
              <a:solidFill>
                <a:srgbClr val="333333"/>
              </a:solidFill>
              <a:latin typeface="Futura LT Pro Light" panose="020B0402020204020303" pitchFamily="34" charset="0"/>
              <a:cs typeface="+mn-cs"/>
            </a:endParaRPr>
          </a:p>
        </p:txBody>
      </p:sp>
      <p:sp>
        <p:nvSpPr>
          <p:cNvPr id="39" name="Pfeil: nach rechts 38">
            <a:extLst>
              <a:ext uri="{FF2B5EF4-FFF2-40B4-BE49-F238E27FC236}">
                <a16:creationId xmlns:a16="http://schemas.microsoft.com/office/drawing/2014/main" id="{61A49B49-84F5-D684-4A02-37116A1719A4}"/>
              </a:ext>
            </a:extLst>
          </p:cNvPr>
          <p:cNvSpPr/>
          <p:nvPr/>
        </p:nvSpPr>
        <p:spPr>
          <a:xfrm rot="8235909">
            <a:off x="7520008" y="3397464"/>
            <a:ext cx="753416" cy="20341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40" name="Textfeld 39">
            <a:extLst>
              <a:ext uri="{FF2B5EF4-FFF2-40B4-BE49-F238E27FC236}">
                <a16:creationId xmlns:a16="http://schemas.microsoft.com/office/drawing/2014/main" id="{14D2EF67-DCD7-1626-99D0-D2A2532DD3BF}"/>
              </a:ext>
            </a:extLst>
          </p:cNvPr>
          <p:cNvSpPr txBox="1"/>
          <p:nvPr/>
        </p:nvSpPr>
        <p:spPr>
          <a:xfrm>
            <a:off x="1298425" y="2753326"/>
            <a:ext cx="2448272" cy="830997"/>
          </a:xfrm>
          <a:prstGeom prst="rect">
            <a:avLst/>
          </a:prstGeom>
          <a:solidFill>
            <a:schemeClr val="bg1"/>
          </a:solidFill>
        </p:spPr>
        <p:txBody>
          <a:bodyPr wrap="square" rtlCol="0">
            <a:spAutoFit/>
          </a:bodyPr>
          <a:lstStyle/>
          <a:p>
            <a:r>
              <a:rPr lang="de-DE" sz="1600" dirty="0" err="1">
                <a:solidFill>
                  <a:srgbClr val="333333"/>
                </a:solidFill>
                <a:latin typeface="Futura LT Pro Light" panose="020B0402020204020303" pitchFamily="34" charset="0"/>
                <a:cs typeface="+mn-cs"/>
              </a:rPr>
              <a:t>Rotational</a:t>
            </a:r>
            <a:r>
              <a:rPr lang="de-DE" sz="1600" dirty="0">
                <a:solidFill>
                  <a:srgbClr val="333333"/>
                </a:solidFill>
                <a:latin typeface="Futura LT Pro Light" panose="020B0402020204020303" pitchFamily="34" charset="0"/>
                <a:cs typeface="+mn-cs"/>
              </a:rPr>
              <a:t> spring </a:t>
            </a:r>
            <a:r>
              <a:rPr lang="de-DE" sz="1600" dirty="0" err="1">
                <a:solidFill>
                  <a:srgbClr val="333333"/>
                </a:solidFill>
                <a:latin typeface="Futura LT Pro Light" panose="020B0402020204020303" pitchFamily="34" charset="0"/>
                <a:cs typeface="+mn-cs"/>
              </a:rPr>
              <a:t>for</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flexibility</a:t>
            </a:r>
            <a:r>
              <a:rPr lang="de-DE" sz="1600" dirty="0">
                <a:solidFill>
                  <a:srgbClr val="333333"/>
                </a:solidFill>
                <a:latin typeface="Futura LT Pro Light" panose="020B0402020204020303" pitchFamily="34" charset="0"/>
                <a:cs typeface="+mn-cs"/>
              </a:rPr>
              <a:t> of beam-</a:t>
            </a:r>
            <a:r>
              <a:rPr lang="de-DE" sz="1600" dirty="0" err="1">
                <a:solidFill>
                  <a:srgbClr val="333333"/>
                </a:solidFill>
                <a:latin typeface="Futura LT Pro Light" panose="020B0402020204020303" pitchFamily="34" charset="0"/>
                <a:cs typeface="+mn-cs"/>
              </a:rPr>
              <a:t>splice</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connection</a:t>
            </a:r>
            <a:endParaRPr lang="de-DE" sz="1600" dirty="0">
              <a:solidFill>
                <a:srgbClr val="333333"/>
              </a:solidFill>
              <a:latin typeface="Futura LT Pro Light" panose="020B0402020204020303" pitchFamily="34" charset="0"/>
              <a:cs typeface="+mn-cs"/>
            </a:endParaRPr>
          </a:p>
        </p:txBody>
      </p:sp>
      <p:sp>
        <p:nvSpPr>
          <p:cNvPr id="41" name="Pfeil: nach rechts 40">
            <a:extLst>
              <a:ext uri="{FF2B5EF4-FFF2-40B4-BE49-F238E27FC236}">
                <a16:creationId xmlns:a16="http://schemas.microsoft.com/office/drawing/2014/main" id="{733E6D8E-F05C-800C-38CC-DE7D9CE07EED}"/>
              </a:ext>
            </a:extLst>
          </p:cNvPr>
          <p:cNvSpPr/>
          <p:nvPr/>
        </p:nvSpPr>
        <p:spPr>
          <a:xfrm rot="1300218">
            <a:off x="3595102" y="3497514"/>
            <a:ext cx="753416" cy="20341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42" name="Textfeld 41">
            <a:extLst>
              <a:ext uri="{FF2B5EF4-FFF2-40B4-BE49-F238E27FC236}">
                <a16:creationId xmlns:a16="http://schemas.microsoft.com/office/drawing/2014/main" id="{3B5C70FC-BFF0-95AA-9658-A332A0B16AF7}"/>
              </a:ext>
            </a:extLst>
          </p:cNvPr>
          <p:cNvSpPr txBox="1"/>
          <p:nvPr/>
        </p:nvSpPr>
        <p:spPr>
          <a:xfrm>
            <a:off x="918994" y="4667848"/>
            <a:ext cx="2448272" cy="830997"/>
          </a:xfrm>
          <a:prstGeom prst="rect">
            <a:avLst/>
          </a:prstGeom>
          <a:solidFill>
            <a:schemeClr val="bg1"/>
          </a:solidFill>
        </p:spPr>
        <p:txBody>
          <a:bodyPr wrap="square" rtlCol="0">
            <a:spAutoFit/>
          </a:bodyPr>
          <a:lstStyle/>
          <a:p>
            <a:r>
              <a:rPr lang="de-DE" sz="1600" dirty="0" err="1">
                <a:solidFill>
                  <a:srgbClr val="333333"/>
                </a:solidFill>
                <a:latin typeface="Futura LT Pro Light" panose="020B0402020204020303" pitchFamily="34" charset="0"/>
                <a:cs typeface="+mn-cs"/>
              </a:rPr>
              <a:t>Rotational</a:t>
            </a:r>
            <a:r>
              <a:rPr lang="de-DE" sz="1600" dirty="0">
                <a:solidFill>
                  <a:srgbClr val="333333"/>
                </a:solidFill>
                <a:latin typeface="Futura LT Pro Light" panose="020B0402020204020303" pitchFamily="34" charset="0"/>
                <a:cs typeface="+mn-cs"/>
              </a:rPr>
              <a:t> spring </a:t>
            </a:r>
            <a:r>
              <a:rPr lang="de-DE" sz="1600" dirty="0" err="1">
                <a:solidFill>
                  <a:srgbClr val="333333"/>
                </a:solidFill>
                <a:latin typeface="Futura LT Pro Light" panose="020B0402020204020303" pitchFamily="34" charset="0"/>
                <a:cs typeface="+mn-cs"/>
              </a:rPr>
              <a:t>for</a:t>
            </a:r>
            <a:r>
              <a:rPr lang="de-DE" sz="1600" dirty="0">
                <a:solidFill>
                  <a:srgbClr val="333333"/>
                </a:solidFill>
                <a:latin typeface="Futura LT Pro Light" panose="020B0402020204020303" pitchFamily="34" charset="0"/>
                <a:cs typeface="+mn-cs"/>
              </a:rPr>
              <a:t> in- and out-of-plane </a:t>
            </a:r>
            <a:r>
              <a:rPr lang="de-DE" sz="1600" dirty="0" err="1">
                <a:solidFill>
                  <a:srgbClr val="333333"/>
                </a:solidFill>
                <a:latin typeface="Futura LT Pro Light" panose="020B0402020204020303" pitchFamily="34" charset="0"/>
                <a:cs typeface="+mn-cs"/>
              </a:rPr>
              <a:t>gusset</a:t>
            </a:r>
            <a:r>
              <a:rPr lang="de-DE" sz="1600" dirty="0">
                <a:solidFill>
                  <a:srgbClr val="333333"/>
                </a:solidFill>
                <a:latin typeface="Futura LT Pro Light" panose="020B0402020204020303" pitchFamily="34" charset="0"/>
                <a:cs typeface="+mn-cs"/>
              </a:rPr>
              <a:t> </a:t>
            </a:r>
            <a:r>
              <a:rPr lang="de-DE" sz="1600" dirty="0" err="1">
                <a:solidFill>
                  <a:srgbClr val="333333"/>
                </a:solidFill>
                <a:latin typeface="Futura LT Pro Light" panose="020B0402020204020303" pitchFamily="34" charset="0"/>
                <a:cs typeface="+mn-cs"/>
              </a:rPr>
              <a:t>flexibility</a:t>
            </a:r>
            <a:endParaRPr lang="de-DE" sz="1600" dirty="0">
              <a:solidFill>
                <a:srgbClr val="333333"/>
              </a:solidFill>
              <a:latin typeface="Futura LT Pro Light" panose="020B0402020204020303" pitchFamily="34" charset="0"/>
              <a:cs typeface="+mn-cs"/>
            </a:endParaRPr>
          </a:p>
        </p:txBody>
      </p:sp>
      <p:sp>
        <p:nvSpPr>
          <p:cNvPr id="43" name="Pfeil: nach rechts 42">
            <a:extLst>
              <a:ext uri="{FF2B5EF4-FFF2-40B4-BE49-F238E27FC236}">
                <a16:creationId xmlns:a16="http://schemas.microsoft.com/office/drawing/2014/main" id="{FC3A292E-58F1-930A-D99E-99C92F122A32}"/>
              </a:ext>
            </a:extLst>
          </p:cNvPr>
          <p:cNvSpPr/>
          <p:nvPr/>
        </p:nvSpPr>
        <p:spPr>
          <a:xfrm rot="341304">
            <a:off x="3128976" y="5134744"/>
            <a:ext cx="753416" cy="20341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Tree>
    <p:extLst>
      <p:ext uri="{BB962C8B-B14F-4D97-AF65-F5344CB8AC3E}">
        <p14:creationId xmlns:p14="http://schemas.microsoft.com/office/powerpoint/2010/main" val="24213534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EB607-9654-E895-56B7-536DAEF27777}"/>
            </a:ext>
          </a:extLst>
        </p:cNvPr>
        <p:cNvGrpSpPr/>
        <p:nvPr/>
      </p:nvGrpSpPr>
      <p:grpSpPr>
        <a:xfrm>
          <a:off x="0" y="0"/>
          <a:ext cx="0" cy="0"/>
          <a:chOff x="0" y="0"/>
          <a:chExt cx="0" cy="0"/>
        </a:xfrm>
      </p:grpSpPr>
      <p:pic>
        <p:nvPicPr>
          <p:cNvPr id="9" name="Grafik 8" descr="Ein Bild, das Text, Reihe, Entwurf, Diagramm enthält.&#10;&#10;KI-generierte Inhalte können fehlerhaft sein.">
            <a:extLst>
              <a:ext uri="{FF2B5EF4-FFF2-40B4-BE49-F238E27FC236}">
                <a16:creationId xmlns:a16="http://schemas.microsoft.com/office/drawing/2014/main" id="{D180D954-3977-9567-B947-8146557CCFDE}"/>
              </a:ext>
            </a:extLst>
          </p:cNvPr>
          <p:cNvPicPr>
            <a:picLocks noChangeAspect="1"/>
          </p:cNvPicPr>
          <p:nvPr/>
        </p:nvPicPr>
        <p:blipFill>
          <a:blip r:embed="rId2"/>
          <a:stretch>
            <a:fillRect/>
          </a:stretch>
        </p:blipFill>
        <p:spPr>
          <a:xfrm>
            <a:off x="7597055" y="3606367"/>
            <a:ext cx="3798986" cy="2772233"/>
          </a:xfrm>
          <a:prstGeom prst="rect">
            <a:avLst/>
          </a:prstGeom>
        </p:spPr>
      </p:pic>
      <p:pic>
        <p:nvPicPr>
          <p:cNvPr id="11" name="Grafik 10" descr="Ein Bild, das Text, Diagramm, Reihe, Screenshot enthält.&#10;&#10;KI-generierte Inhalte können fehlerhaft sein.">
            <a:extLst>
              <a:ext uri="{FF2B5EF4-FFF2-40B4-BE49-F238E27FC236}">
                <a16:creationId xmlns:a16="http://schemas.microsoft.com/office/drawing/2014/main" id="{8DE1BDFA-06F2-33A2-8968-DE627BEDD145}"/>
              </a:ext>
            </a:extLst>
          </p:cNvPr>
          <p:cNvPicPr>
            <a:picLocks noChangeAspect="1"/>
          </p:cNvPicPr>
          <p:nvPr/>
        </p:nvPicPr>
        <p:blipFill>
          <a:blip r:embed="rId3"/>
          <a:stretch>
            <a:fillRect/>
          </a:stretch>
        </p:blipFill>
        <p:spPr>
          <a:xfrm>
            <a:off x="5004767" y="939070"/>
            <a:ext cx="3746945" cy="2772233"/>
          </a:xfrm>
          <a:prstGeom prst="rect">
            <a:avLst/>
          </a:prstGeom>
        </p:spPr>
      </p:pic>
      <p:pic>
        <p:nvPicPr>
          <p:cNvPr id="7" name="Grafik 6" descr="Ein Bild, das Text, Entwurf, Diagramm enthält.&#10;&#10;KI-generierte Inhalte können fehlerhaft sein.">
            <a:extLst>
              <a:ext uri="{FF2B5EF4-FFF2-40B4-BE49-F238E27FC236}">
                <a16:creationId xmlns:a16="http://schemas.microsoft.com/office/drawing/2014/main" id="{3AFF7C7F-200C-4A95-7497-982EBEC75E50}"/>
              </a:ext>
            </a:extLst>
          </p:cNvPr>
          <p:cNvPicPr>
            <a:picLocks noChangeAspect="1"/>
          </p:cNvPicPr>
          <p:nvPr/>
        </p:nvPicPr>
        <p:blipFill>
          <a:blip r:embed="rId4"/>
          <a:stretch>
            <a:fillRect/>
          </a:stretch>
        </p:blipFill>
        <p:spPr>
          <a:xfrm>
            <a:off x="2424073" y="3387403"/>
            <a:ext cx="4087687" cy="3024336"/>
          </a:xfrm>
          <a:prstGeom prst="rect">
            <a:avLst/>
          </a:prstGeom>
        </p:spPr>
      </p:pic>
      <p:sp>
        <p:nvSpPr>
          <p:cNvPr id="2" name="Textplatzhalter 1">
            <a:extLst>
              <a:ext uri="{FF2B5EF4-FFF2-40B4-BE49-F238E27FC236}">
                <a16:creationId xmlns:a16="http://schemas.microsoft.com/office/drawing/2014/main" id="{D30E5412-0C63-B1FB-60FF-06E4BBC45E7E}"/>
              </a:ext>
            </a:extLst>
          </p:cNvPr>
          <p:cNvSpPr>
            <a:spLocks noGrp="1"/>
          </p:cNvSpPr>
          <p:nvPr>
            <p:ph type="body" sz="quarter" idx="18"/>
          </p:nvPr>
        </p:nvSpPr>
        <p:spPr/>
        <p:txBody>
          <a:bodyPr/>
          <a:lstStyle/>
          <a:p>
            <a:r>
              <a:rPr lang="en-AU" b="1" dirty="0">
                <a:solidFill>
                  <a:schemeClr val="tx1"/>
                </a:solidFill>
              </a:rPr>
              <a:t>2. Nonlinear Modelling</a:t>
            </a:r>
          </a:p>
          <a:p>
            <a:pPr marL="342900" indent="-342900">
              <a:buFont typeface="Arial" panose="020B0604020202020204" pitchFamily="34" charset="0"/>
              <a:buChar char="•"/>
            </a:pPr>
            <a:r>
              <a:rPr lang="en-AU" noProof="0" dirty="0">
                <a:solidFill>
                  <a:schemeClr val="tx1"/>
                </a:solidFill>
              </a:rPr>
              <a:t>Verification of brace modelling</a:t>
            </a:r>
          </a:p>
          <a:p>
            <a:endParaRPr lang="en-AU" dirty="0">
              <a:solidFill>
                <a:schemeClr val="tx1"/>
              </a:solidFill>
            </a:endParaRPr>
          </a:p>
          <a:p>
            <a:endParaRPr lang="en-AU" dirty="0">
              <a:solidFill>
                <a:schemeClr val="tx1"/>
              </a:solidFill>
            </a:endParaRPr>
          </a:p>
        </p:txBody>
      </p:sp>
      <p:sp>
        <p:nvSpPr>
          <p:cNvPr id="3" name="Titel 2">
            <a:extLst>
              <a:ext uri="{FF2B5EF4-FFF2-40B4-BE49-F238E27FC236}">
                <a16:creationId xmlns:a16="http://schemas.microsoft.com/office/drawing/2014/main" id="{4DDF4E66-2F81-9207-1906-EAF81A31321C}"/>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pic>
        <p:nvPicPr>
          <p:cNvPr id="5" name="Grafik 4" descr="Ein Bild, das Diagramm, Text, Reihe, parallel enthält.&#10;&#10;KI-generierte Inhalte können fehlerhaft sein.">
            <a:extLst>
              <a:ext uri="{FF2B5EF4-FFF2-40B4-BE49-F238E27FC236}">
                <a16:creationId xmlns:a16="http://schemas.microsoft.com/office/drawing/2014/main" id="{8EB24D1E-D8EF-7EDC-AAFD-3CBB6438AEEF}"/>
              </a:ext>
            </a:extLst>
          </p:cNvPr>
          <p:cNvPicPr>
            <a:picLocks noChangeAspect="1"/>
          </p:cNvPicPr>
          <p:nvPr/>
        </p:nvPicPr>
        <p:blipFill>
          <a:blip r:embed="rId5"/>
          <a:stretch>
            <a:fillRect/>
          </a:stretch>
        </p:blipFill>
        <p:spPr>
          <a:xfrm>
            <a:off x="382587" y="1836093"/>
            <a:ext cx="4087687" cy="2959351"/>
          </a:xfrm>
          <a:prstGeom prst="rect">
            <a:avLst/>
          </a:prstGeom>
        </p:spPr>
      </p:pic>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6448AAEC-DD74-B98F-041D-08B34B227070}"/>
                  </a:ext>
                </a:extLst>
              </p:cNvPr>
              <p:cNvSpPr txBox="1"/>
              <p:nvPr/>
            </p:nvSpPr>
            <p:spPr>
              <a:xfrm>
                <a:off x="5580831" y="1449934"/>
                <a:ext cx="1440160"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de-DE" b="0" i="1" smtClean="0">
                              <a:solidFill>
                                <a:srgbClr val="333333"/>
                              </a:solidFill>
                              <a:latin typeface="Cambria Math" panose="02040503050406030204" pitchFamily="18" charset="0"/>
                              <a:cs typeface="+mn-cs"/>
                            </a:rPr>
                          </m:ctrlPr>
                        </m:fPr>
                        <m:num>
                          <m:r>
                            <a:rPr lang="de-DE" b="0" i="1" smtClean="0">
                              <a:solidFill>
                                <a:srgbClr val="333333"/>
                              </a:solidFill>
                              <a:latin typeface="Cambria Math" panose="02040503050406030204" pitchFamily="18" charset="0"/>
                              <a:cs typeface="+mn-cs"/>
                            </a:rPr>
                            <m:t>𝐾𝐿</m:t>
                          </m:r>
                        </m:num>
                        <m:den>
                          <m:r>
                            <a:rPr lang="de-DE" b="0" i="1" smtClean="0">
                              <a:solidFill>
                                <a:srgbClr val="333333"/>
                              </a:solidFill>
                              <a:latin typeface="Cambria Math" panose="02040503050406030204" pitchFamily="18" charset="0"/>
                              <a:cs typeface="+mn-cs"/>
                            </a:rPr>
                            <m:t>𝑟</m:t>
                          </m:r>
                        </m:den>
                      </m:f>
                      <m:r>
                        <a:rPr lang="de-DE" b="0" i="1" smtClean="0">
                          <a:solidFill>
                            <a:srgbClr val="333333"/>
                          </a:solidFill>
                          <a:latin typeface="Cambria Math" panose="02040503050406030204" pitchFamily="18" charset="0"/>
                          <a:cs typeface="+mn-cs"/>
                        </a:rPr>
                        <m:t>=85</m:t>
                      </m:r>
                    </m:oMath>
                  </m:oMathPara>
                </a14:m>
                <a:endParaRPr lang="de-DE" dirty="0">
                  <a:solidFill>
                    <a:srgbClr val="333333"/>
                  </a:solidFill>
                  <a:latin typeface="Futura LT Pro Light" panose="020B0402020204020303" pitchFamily="34" charset="0"/>
                  <a:cs typeface="+mn-cs"/>
                </a:endParaRPr>
              </a:p>
            </p:txBody>
          </p:sp>
        </mc:Choice>
        <mc:Fallback xmlns="">
          <p:sp>
            <p:nvSpPr>
              <p:cNvPr id="12" name="Textfeld 11">
                <a:extLst>
                  <a:ext uri="{FF2B5EF4-FFF2-40B4-BE49-F238E27FC236}">
                    <a16:creationId xmlns:a16="http://schemas.microsoft.com/office/drawing/2014/main" id="{6448AAEC-DD74-B98F-041D-08B34B227070}"/>
                  </a:ext>
                </a:extLst>
              </p:cNvPr>
              <p:cNvSpPr txBox="1">
                <a:spLocks noRot="1" noChangeAspect="1" noMove="1" noResize="1" noEditPoints="1" noAdjustHandles="1" noChangeArrowheads="1" noChangeShapeType="1" noTextEdit="1"/>
              </p:cNvSpPr>
              <p:nvPr/>
            </p:nvSpPr>
            <p:spPr>
              <a:xfrm>
                <a:off x="5580831" y="1449934"/>
                <a:ext cx="1440160" cy="609077"/>
              </a:xfrm>
              <a:prstGeom prst="rect">
                <a:avLst/>
              </a:prstGeom>
              <a:blipFill>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6752AE37-B476-6E58-F9B0-04D269B05B76}"/>
                  </a:ext>
                </a:extLst>
              </p:cNvPr>
              <p:cNvSpPr txBox="1"/>
              <p:nvPr/>
            </p:nvSpPr>
            <p:spPr>
              <a:xfrm>
                <a:off x="983913" y="2599309"/>
                <a:ext cx="1440160"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de-DE" b="0" i="1" smtClean="0">
                              <a:solidFill>
                                <a:srgbClr val="333333"/>
                              </a:solidFill>
                              <a:latin typeface="Cambria Math" panose="02040503050406030204" pitchFamily="18" charset="0"/>
                              <a:cs typeface="+mn-cs"/>
                            </a:rPr>
                          </m:ctrlPr>
                        </m:fPr>
                        <m:num>
                          <m:r>
                            <a:rPr lang="de-DE" b="0" i="1" smtClean="0">
                              <a:solidFill>
                                <a:srgbClr val="333333"/>
                              </a:solidFill>
                              <a:latin typeface="Cambria Math" panose="02040503050406030204" pitchFamily="18" charset="0"/>
                              <a:cs typeface="+mn-cs"/>
                            </a:rPr>
                            <m:t>𝐾𝐿</m:t>
                          </m:r>
                        </m:num>
                        <m:den>
                          <m:r>
                            <a:rPr lang="de-DE" b="0" i="1" smtClean="0">
                              <a:solidFill>
                                <a:srgbClr val="333333"/>
                              </a:solidFill>
                              <a:latin typeface="Cambria Math" panose="02040503050406030204" pitchFamily="18" charset="0"/>
                              <a:cs typeface="+mn-cs"/>
                            </a:rPr>
                            <m:t>𝑟</m:t>
                          </m:r>
                        </m:den>
                      </m:f>
                      <m:r>
                        <a:rPr lang="de-DE" b="0" i="1" smtClean="0">
                          <a:solidFill>
                            <a:srgbClr val="333333"/>
                          </a:solidFill>
                          <a:latin typeface="Cambria Math" panose="02040503050406030204" pitchFamily="18" charset="0"/>
                          <a:cs typeface="+mn-cs"/>
                        </a:rPr>
                        <m:t>=63</m:t>
                      </m:r>
                    </m:oMath>
                  </m:oMathPara>
                </a14:m>
                <a:endParaRPr lang="de-DE" dirty="0">
                  <a:solidFill>
                    <a:srgbClr val="333333"/>
                  </a:solidFill>
                  <a:latin typeface="Futura LT Pro Light" panose="020B0402020204020303" pitchFamily="34" charset="0"/>
                  <a:cs typeface="+mn-cs"/>
                </a:endParaRPr>
              </a:p>
            </p:txBody>
          </p:sp>
        </mc:Choice>
        <mc:Fallback xmlns="">
          <p:sp>
            <p:nvSpPr>
              <p:cNvPr id="13" name="Textfeld 12">
                <a:extLst>
                  <a:ext uri="{FF2B5EF4-FFF2-40B4-BE49-F238E27FC236}">
                    <a16:creationId xmlns:a16="http://schemas.microsoft.com/office/drawing/2014/main" id="{6752AE37-B476-6E58-F9B0-04D269B05B76}"/>
                  </a:ext>
                </a:extLst>
              </p:cNvPr>
              <p:cNvSpPr txBox="1">
                <a:spLocks noRot="1" noChangeAspect="1" noMove="1" noResize="1" noEditPoints="1" noAdjustHandles="1" noChangeArrowheads="1" noChangeShapeType="1" noTextEdit="1"/>
              </p:cNvSpPr>
              <p:nvPr/>
            </p:nvSpPr>
            <p:spPr>
              <a:xfrm>
                <a:off x="983913" y="2599309"/>
                <a:ext cx="1440160" cy="609077"/>
              </a:xfrm>
              <a:prstGeom prst="rect">
                <a:avLst/>
              </a:prstGeom>
              <a:blipFill>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9F7578DE-5F29-AA7D-0B48-287716E20528}"/>
                  </a:ext>
                </a:extLst>
              </p:cNvPr>
              <p:cNvSpPr txBox="1"/>
              <p:nvPr/>
            </p:nvSpPr>
            <p:spPr>
              <a:xfrm>
                <a:off x="3276575" y="5374272"/>
                <a:ext cx="1440160"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de-DE" b="0" i="1" smtClean="0">
                              <a:solidFill>
                                <a:srgbClr val="333333"/>
                              </a:solidFill>
                              <a:latin typeface="Cambria Math" panose="02040503050406030204" pitchFamily="18" charset="0"/>
                              <a:cs typeface="+mn-cs"/>
                            </a:rPr>
                          </m:ctrlPr>
                        </m:fPr>
                        <m:num>
                          <m:r>
                            <a:rPr lang="de-DE" b="0" i="1" smtClean="0">
                              <a:solidFill>
                                <a:srgbClr val="333333"/>
                              </a:solidFill>
                              <a:latin typeface="Cambria Math" panose="02040503050406030204" pitchFamily="18" charset="0"/>
                              <a:cs typeface="+mn-cs"/>
                            </a:rPr>
                            <m:t>𝐾𝐿</m:t>
                          </m:r>
                        </m:num>
                        <m:den>
                          <m:r>
                            <a:rPr lang="de-DE" b="0" i="1" smtClean="0">
                              <a:solidFill>
                                <a:srgbClr val="333333"/>
                              </a:solidFill>
                              <a:latin typeface="Cambria Math" panose="02040503050406030204" pitchFamily="18" charset="0"/>
                              <a:cs typeface="+mn-cs"/>
                            </a:rPr>
                            <m:t>𝑟</m:t>
                          </m:r>
                        </m:den>
                      </m:f>
                      <m:r>
                        <a:rPr lang="de-DE" b="0" i="1" smtClean="0">
                          <a:solidFill>
                            <a:srgbClr val="333333"/>
                          </a:solidFill>
                          <a:latin typeface="Cambria Math" panose="02040503050406030204" pitchFamily="18" charset="0"/>
                          <a:cs typeface="+mn-cs"/>
                        </a:rPr>
                        <m:t>=120</m:t>
                      </m:r>
                    </m:oMath>
                  </m:oMathPara>
                </a14:m>
                <a:endParaRPr lang="de-DE" dirty="0">
                  <a:solidFill>
                    <a:srgbClr val="333333"/>
                  </a:solidFill>
                  <a:latin typeface="Futura LT Pro Light" panose="020B0402020204020303" pitchFamily="34" charset="0"/>
                  <a:cs typeface="+mn-cs"/>
                </a:endParaRPr>
              </a:p>
            </p:txBody>
          </p:sp>
        </mc:Choice>
        <mc:Fallback xmlns="">
          <p:sp>
            <p:nvSpPr>
              <p:cNvPr id="14" name="Textfeld 13">
                <a:extLst>
                  <a:ext uri="{FF2B5EF4-FFF2-40B4-BE49-F238E27FC236}">
                    <a16:creationId xmlns:a16="http://schemas.microsoft.com/office/drawing/2014/main" id="{9F7578DE-5F29-AA7D-0B48-287716E20528}"/>
                  </a:ext>
                </a:extLst>
              </p:cNvPr>
              <p:cNvSpPr txBox="1">
                <a:spLocks noRot="1" noChangeAspect="1" noMove="1" noResize="1" noEditPoints="1" noAdjustHandles="1" noChangeArrowheads="1" noChangeShapeType="1" noTextEdit="1"/>
              </p:cNvSpPr>
              <p:nvPr/>
            </p:nvSpPr>
            <p:spPr>
              <a:xfrm>
                <a:off x="3276575" y="5374272"/>
                <a:ext cx="1440160" cy="609077"/>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897C4380-69C0-04CC-E010-C6608B0F1A66}"/>
                  </a:ext>
                </a:extLst>
              </p:cNvPr>
              <p:cNvSpPr txBox="1"/>
              <p:nvPr/>
            </p:nvSpPr>
            <p:spPr>
              <a:xfrm>
                <a:off x="7957095" y="3890320"/>
                <a:ext cx="1440160"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de-DE" b="0" i="1" smtClean="0">
                              <a:solidFill>
                                <a:srgbClr val="333333"/>
                              </a:solidFill>
                              <a:latin typeface="Cambria Math" panose="02040503050406030204" pitchFamily="18" charset="0"/>
                              <a:cs typeface="+mn-cs"/>
                            </a:rPr>
                          </m:ctrlPr>
                        </m:fPr>
                        <m:num>
                          <m:r>
                            <a:rPr lang="de-DE" b="0" i="1" smtClean="0">
                              <a:solidFill>
                                <a:srgbClr val="333333"/>
                              </a:solidFill>
                              <a:latin typeface="Cambria Math" panose="02040503050406030204" pitchFamily="18" charset="0"/>
                              <a:cs typeface="+mn-cs"/>
                            </a:rPr>
                            <m:t>𝐾𝐿</m:t>
                          </m:r>
                        </m:num>
                        <m:den>
                          <m:r>
                            <a:rPr lang="de-DE" b="0" i="1" smtClean="0">
                              <a:solidFill>
                                <a:srgbClr val="333333"/>
                              </a:solidFill>
                              <a:latin typeface="Cambria Math" panose="02040503050406030204" pitchFamily="18" charset="0"/>
                              <a:cs typeface="+mn-cs"/>
                            </a:rPr>
                            <m:t>𝑟</m:t>
                          </m:r>
                        </m:den>
                      </m:f>
                      <m:r>
                        <a:rPr lang="de-DE" b="0" i="1" smtClean="0">
                          <a:solidFill>
                            <a:srgbClr val="333333"/>
                          </a:solidFill>
                          <a:latin typeface="Cambria Math" panose="02040503050406030204" pitchFamily="18" charset="0"/>
                          <a:cs typeface="+mn-cs"/>
                        </a:rPr>
                        <m:t>=30</m:t>
                      </m:r>
                    </m:oMath>
                  </m:oMathPara>
                </a14:m>
                <a:endParaRPr lang="de-DE" dirty="0">
                  <a:solidFill>
                    <a:srgbClr val="333333"/>
                  </a:solidFill>
                  <a:latin typeface="Futura LT Pro Light" panose="020B0402020204020303" pitchFamily="34" charset="0"/>
                  <a:cs typeface="+mn-cs"/>
                </a:endParaRPr>
              </a:p>
            </p:txBody>
          </p:sp>
        </mc:Choice>
        <mc:Fallback xmlns="">
          <p:sp>
            <p:nvSpPr>
              <p:cNvPr id="15" name="Textfeld 14">
                <a:extLst>
                  <a:ext uri="{FF2B5EF4-FFF2-40B4-BE49-F238E27FC236}">
                    <a16:creationId xmlns:a16="http://schemas.microsoft.com/office/drawing/2014/main" id="{897C4380-69C0-04CC-E010-C6608B0F1A66}"/>
                  </a:ext>
                </a:extLst>
              </p:cNvPr>
              <p:cNvSpPr txBox="1">
                <a:spLocks noRot="1" noChangeAspect="1" noMove="1" noResize="1" noEditPoints="1" noAdjustHandles="1" noChangeArrowheads="1" noChangeShapeType="1" noTextEdit="1"/>
              </p:cNvSpPr>
              <p:nvPr/>
            </p:nvSpPr>
            <p:spPr>
              <a:xfrm>
                <a:off x="7957095" y="3890320"/>
                <a:ext cx="1440160" cy="609077"/>
              </a:xfrm>
              <a:prstGeom prst="rect">
                <a:avLst/>
              </a:prstGeom>
              <a:blipFill>
                <a:blip r:embed="rId9"/>
                <a:stretch>
                  <a:fillRect/>
                </a:stretch>
              </a:blipFill>
            </p:spPr>
            <p:txBody>
              <a:bodyPr/>
              <a:lstStyle/>
              <a:p>
                <a:r>
                  <a:rPr lang="de-DE">
                    <a:noFill/>
                  </a:rPr>
                  <a:t> </a:t>
                </a:r>
              </a:p>
            </p:txBody>
          </p:sp>
        </mc:Fallback>
      </mc:AlternateContent>
      <p:sp>
        <p:nvSpPr>
          <p:cNvPr id="16" name="Textfeld 15">
            <a:extLst>
              <a:ext uri="{FF2B5EF4-FFF2-40B4-BE49-F238E27FC236}">
                <a16:creationId xmlns:a16="http://schemas.microsoft.com/office/drawing/2014/main" id="{EF73927B-939C-978D-E60D-36EBC9558615}"/>
              </a:ext>
            </a:extLst>
          </p:cNvPr>
          <p:cNvSpPr txBox="1"/>
          <p:nvPr/>
        </p:nvSpPr>
        <p:spPr>
          <a:xfrm>
            <a:off x="9403100" y="2916213"/>
            <a:ext cx="1782762"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Not so </a:t>
            </a:r>
            <a:r>
              <a:rPr lang="de-DE" b="1" dirty="0" err="1">
                <a:solidFill>
                  <a:schemeClr val="tx2"/>
                </a:solidFill>
                <a:latin typeface="Futura LT Pro Light" panose="020B0402020204020303" pitchFamily="34" charset="0"/>
                <a:cs typeface="+mn-cs"/>
              </a:rPr>
              <a:t>good</a:t>
            </a:r>
            <a:r>
              <a:rPr lang="de-DE" b="1" dirty="0">
                <a:solidFill>
                  <a:schemeClr val="tx2"/>
                </a:solidFill>
                <a:latin typeface="Futura LT Pro Light" panose="020B0402020204020303" pitchFamily="34" charset="0"/>
                <a:cs typeface="+mn-cs"/>
              </a:rPr>
              <a:t>!</a:t>
            </a:r>
          </a:p>
        </p:txBody>
      </p:sp>
      <p:sp>
        <p:nvSpPr>
          <p:cNvPr id="17" name="Pfeil: nach rechts 16">
            <a:extLst>
              <a:ext uri="{FF2B5EF4-FFF2-40B4-BE49-F238E27FC236}">
                <a16:creationId xmlns:a16="http://schemas.microsoft.com/office/drawing/2014/main" id="{7AD1267A-1B48-F5BE-DDDF-5A6B03EE6279}"/>
              </a:ext>
            </a:extLst>
          </p:cNvPr>
          <p:cNvSpPr/>
          <p:nvPr/>
        </p:nvSpPr>
        <p:spPr>
          <a:xfrm rot="5400000">
            <a:off x="9940029" y="3343104"/>
            <a:ext cx="369333" cy="20341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Tree>
    <p:extLst>
      <p:ext uri="{BB962C8B-B14F-4D97-AF65-F5344CB8AC3E}">
        <p14:creationId xmlns:p14="http://schemas.microsoft.com/office/powerpoint/2010/main" val="26648660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8E5B0-7C90-666F-24A1-735DEDA24A2D}"/>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B94599DE-7738-26E7-0CCA-00D60D2613CB}"/>
              </a:ext>
            </a:extLst>
          </p:cNvPr>
          <p:cNvSpPr>
            <a:spLocks noGrp="1"/>
          </p:cNvSpPr>
          <p:nvPr>
            <p:ph type="body" sz="quarter" idx="18"/>
          </p:nvPr>
        </p:nvSpPr>
        <p:spPr/>
        <p:txBody>
          <a:bodyPr/>
          <a:lstStyle/>
          <a:p>
            <a:r>
              <a:rPr lang="en-AU" b="1" dirty="0">
                <a:solidFill>
                  <a:schemeClr val="tx1"/>
                </a:solidFill>
              </a:rPr>
              <a:t>2. Nonlinear Modelling</a:t>
            </a:r>
          </a:p>
          <a:p>
            <a:pPr marL="342900" indent="-342900">
              <a:buFont typeface="Arial" panose="020B0604020202020204" pitchFamily="34" charset="0"/>
              <a:buChar char="•"/>
            </a:pPr>
            <a:r>
              <a:rPr lang="en-AU" dirty="0">
                <a:solidFill>
                  <a:schemeClr val="tx1"/>
                </a:solidFill>
              </a:rPr>
              <a:t>Beam-Column-Joint Model</a:t>
            </a:r>
          </a:p>
          <a:p>
            <a:pPr marL="342900" indent="-342900">
              <a:buFont typeface="Arial" panose="020B0604020202020204" pitchFamily="34" charset="0"/>
              <a:buChar char="•"/>
            </a:pPr>
            <a:r>
              <a:rPr lang="en-AU" dirty="0">
                <a:solidFill>
                  <a:schemeClr val="tx1"/>
                </a:solidFill>
              </a:rPr>
              <a:t>Backbone data from Liu und </a:t>
            </a:r>
            <a:r>
              <a:rPr lang="en-AU" dirty="0" err="1">
                <a:solidFill>
                  <a:schemeClr val="tx1"/>
                </a:solidFill>
              </a:rPr>
              <a:t>Astenah</a:t>
            </a:r>
            <a:r>
              <a:rPr lang="en-AU" dirty="0">
                <a:solidFill>
                  <a:schemeClr val="tx1"/>
                </a:solidFill>
              </a:rPr>
              <a:t> (2004)</a:t>
            </a:r>
          </a:p>
          <a:p>
            <a:pPr marL="342900" indent="-342900">
              <a:buFont typeface="Arial" panose="020B0604020202020204" pitchFamily="34" charset="0"/>
              <a:buChar char="•"/>
            </a:pPr>
            <a:r>
              <a:rPr lang="en-AU" dirty="0">
                <a:solidFill>
                  <a:schemeClr val="tx1"/>
                </a:solidFill>
              </a:rPr>
              <a:t>Hysteresis parameters from Karamanci and Lignos (2014)</a:t>
            </a:r>
          </a:p>
          <a:p>
            <a:endParaRPr lang="en-AU" noProof="0" dirty="0">
              <a:solidFill>
                <a:schemeClr val="tx1"/>
              </a:solidFill>
            </a:endParaRPr>
          </a:p>
        </p:txBody>
      </p:sp>
      <p:sp>
        <p:nvSpPr>
          <p:cNvPr id="3" name="Titel 2">
            <a:extLst>
              <a:ext uri="{FF2B5EF4-FFF2-40B4-BE49-F238E27FC236}">
                <a16:creationId xmlns:a16="http://schemas.microsoft.com/office/drawing/2014/main" id="{7A400931-0B04-C046-18BF-93CA5C6E42C8}"/>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pic>
        <p:nvPicPr>
          <p:cNvPr id="5" name="Grafik 4" descr="Ein Bild, das Diagramm, Reihe, Text, parallel enthält.&#10;&#10;KI-generierte Inhalte können fehlerhaft sein.">
            <a:extLst>
              <a:ext uri="{FF2B5EF4-FFF2-40B4-BE49-F238E27FC236}">
                <a16:creationId xmlns:a16="http://schemas.microsoft.com/office/drawing/2014/main" id="{0BEBE287-0568-F702-4B95-09C34D645814}"/>
              </a:ext>
            </a:extLst>
          </p:cNvPr>
          <p:cNvPicPr>
            <a:picLocks noChangeAspect="1"/>
          </p:cNvPicPr>
          <p:nvPr/>
        </p:nvPicPr>
        <p:blipFill>
          <a:blip r:embed="rId2"/>
          <a:stretch>
            <a:fillRect/>
          </a:stretch>
        </p:blipFill>
        <p:spPr>
          <a:xfrm>
            <a:off x="453555" y="2875963"/>
            <a:ext cx="4877172" cy="3535131"/>
          </a:xfrm>
          <a:prstGeom prst="rect">
            <a:avLst/>
          </a:prstGeom>
        </p:spPr>
      </p:pic>
      <p:pic>
        <p:nvPicPr>
          <p:cNvPr id="7" name="Grafik 6" descr="Ein Bild, das Diagramm, Reihe, Origami enthält.&#10;&#10;KI-generierte Inhalte können fehlerhaft sein.">
            <a:extLst>
              <a:ext uri="{FF2B5EF4-FFF2-40B4-BE49-F238E27FC236}">
                <a16:creationId xmlns:a16="http://schemas.microsoft.com/office/drawing/2014/main" id="{E23B0929-D21C-34F5-4E15-8EE1343746FC}"/>
              </a:ext>
            </a:extLst>
          </p:cNvPr>
          <p:cNvPicPr>
            <a:picLocks noChangeAspect="1"/>
          </p:cNvPicPr>
          <p:nvPr/>
        </p:nvPicPr>
        <p:blipFill>
          <a:blip r:embed="rId3"/>
          <a:stretch>
            <a:fillRect/>
          </a:stretch>
        </p:blipFill>
        <p:spPr>
          <a:xfrm>
            <a:off x="6588943" y="3060229"/>
            <a:ext cx="4264512" cy="3209528"/>
          </a:xfrm>
          <a:prstGeom prst="rect">
            <a:avLst/>
          </a:prstGeom>
        </p:spPr>
      </p:pic>
      <p:pic>
        <p:nvPicPr>
          <p:cNvPr id="9" name="Grafik 8" descr="Ein Bild, das Diagramm, Entwurf, Reihe, technische Zeichnung enthält.&#10;&#10;KI-generierte Inhalte können fehlerhaft sein.">
            <a:extLst>
              <a:ext uri="{FF2B5EF4-FFF2-40B4-BE49-F238E27FC236}">
                <a16:creationId xmlns:a16="http://schemas.microsoft.com/office/drawing/2014/main" id="{9BBCB272-2396-6C03-20F2-70742AF1143D}"/>
              </a:ext>
            </a:extLst>
          </p:cNvPr>
          <p:cNvPicPr>
            <a:picLocks noChangeAspect="1"/>
          </p:cNvPicPr>
          <p:nvPr/>
        </p:nvPicPr>
        <p:blipFill>
          <a:blip r:embed="rId4"/>
          <a:stretch>
            <a:fillRect/>
          </a:stretch>
        </p:blipFill>
        <p:spPr>
          <a:xfrm>
            <a:off x="8317135" y="884857"/>
            <a:ext cx="2139205" cy="1900759"/>
          </a:xfrm>
          <a:prstGeom prst="rect">
            <a:avLst/>
          </a:prstGeom>
        </p:spPr>
      </p:pic>
      <p:sp>
        <p:nvSpPr>
          <p:cNvPr id="10" name="Textfeld 9">
            <a:extLst>
              <a:ext uri="{FF2B5EF4-FFF2-40B4-BE49-F238E27FC236}">
                <a16:creationId xmlns:a16="http://schemas.microsoft.com/office/drawing/2014/main" id="{97CFE33E-E927-F644-CE21-09616D0EAD38}"/>
              </a:ext>
            </a:extLst>
          </p:cNvPr>
          <p:cNvSpPr txBox="1"/>
          <p:nvPr/>
        </p:nvSpPr>
        <p:spPr>
          <a:xfrm>
            <a:off x="7092999" y="3106738"/>
            <a:ext cx="1911672" cy="369332"/>
          </a:xfrm>
          <a:prstGeom prst="rect">
            <a:avLst/>
          </a:prstGeom>
          <a:noFill/>
        </p:spPr>
        <p:txBody>
          <a:bodyPr wrap="square" rtlCol="0">
            <a:spAutoFit/>
          </a:bodyPr>
          <a:lstStyle/>
          <a:p>
            <a:r>
              <a:rPr lang="de-DE" dirty="0" err="1">
                <a:latin typeface="Futura LT Pro Light" panose="020B0402020204020303" pitchFamily="34" charset="0"/>
                <a:cs typeface="+mn-cs"/>
              </a:rPr>
              <a:t>Function</a:t>
            </a:r>
            <a:r>
              <a:rPr lang="de-DE" dirty="0">
                <a:latin typeface="Futura LT Pro Light" panose="020B0402020204020303" pitchFamily="34" charset="0"/>
                <a:cs typeface="+mn-cs"/>
              </a:rPr>
              <a:t> of </a:t>
            </a:r>
            <a:r>
              <a:rPr lang="de-DE" dirty="0" err="1">
                <a:latin typeface="Futura LT Pro Light" panose="020B0402020204020303" pitchFamily="34" charset="0"/>
                <a:cs typeface="+mn-cs"/>
              </a:rPr>
              <a:t>Mpl</a:t>
            </a:r>
            <a:endParaRPr lang="de-DE" dirty="0">
              <a:latin typeface="Futura LT Pro Light" panose="020B0402020204020303" pitchFamily="34" charset="0"/>
              <a:cs typeface="+mn-cs"/>
            </a:endParaRPr>
          </a:p>
        </p:txBody>
      </p:sp>
      <p:sp>
        <p:nvSpPr>
          <p:cNvPr id="11" name="Textfeld 10">
            <a:extLst>
              <a:ext uri="{FF2B5EF4-FFF2-40B4-BE49-F238E27FC236}">
                <a16:creationId xmlns:a16="http://schemas.microsoft.com/office/drawing/2014/main" id="{E197ADC1-C38E-39D2-051C-8B8E9FADECFC}"/>
              </a:ext>
            </a:extLst>
          </p:cNvPr>
          <p:cNvSpPr txBox="1"/>
          <p:nvPr/>
        </p:nvSpPr>
        <p:spPr>
          <a:xfrm>
            <a:off x="11208036" y="4492913"/>
            <a:ext cx="456386" cy="369332"/>
          </a:xfrm>
          <a:prstGeom prst="rect">
            <a:avLst/>
          </a:prstGeom>
          <a:noFill/>
        </p:spPr>
        <p:txBody>
          <a:bodyPr wrap="square" rtlCol="0">
            <a:spAutoFit/>
          </a:bodyPr>
          <a:lstStyle/>
          <a:p>
            <a:r>
              <a:rPr lang="de-DE" dirty="0">
                <a:latin typeface="Futura LT Pro Light" panose="020B0402020204020303" pitchFamily="34" charset="0"/>
                <a:cs typeface="+mn-cs"/>
              </a:rPr>
              <a:t>75</a:t>
            </a:r>
          </a:p>
        </p:txBody>
      </p:sp>
      <p:sp>
        <p:nvSpPr>
          <p:cNvPr id="12" name="Textfeld 11">
            <a:extLst>
              <a:ext uri="{FF2B5EF4-FFF2-40B4-BE49-F238E27FC236}">
                <a16:creationId xmlns:a16="http://schemas.microsoft.com/office/drawing/2014/main" id="{A389C934-73E3-B6B8-4FE8-62D48BF5DD32}"/>
              </a:ext>
            </a:extLst>
          </p:cNvPr>
          <p:cNvSpPr txBox="1"/>
          <p:nvPr/>
        </p:nvSpPr>
        <p:spPr>
          <a:xfrm>
            <a:off x="10731086" y="4308247"/>
            <a:ext cx="567680" cy="369332"/>
          </a:xfrm>
          <a:prstGeom prst="rect">
            <a:avLst/>
          </a:prstGeom>
          <a:noFill/>
        </p:spPr>
        <p:txBody>
          <a:bodyPr wrap="square" rtlCol="0">
            <a:spAutoFit/>
          </a:bodyPr>
          <a:lstStyle/>
          <a:p>
            <a:r>
              <a:rPr lang="de-DE" dirty="0">
                <a:latin typeface="Futura LT Pro Light" panose="020B0402020204020303" pitchFamily="34" charset="0"/>
                <a:cs typeface="+mn-cs"/>
              </a:rPr>
              <a:t>125</a:t>
            </a:r>
          </a:p>
        </p:txBody>
      </p:sp>
      <p:sp>
        <p:nvSpPr>
          <p:cNvPr id="13" name="Textfeld 12">
            <a:extLst>
              <a:ext uri="{FF2B5EF4-FFF2-40B4-BE49-F238E27FC236}">
                <a16:creationId xmlns:a16="http://schemas.microsoft.com/office/drawing/2014/main" id="{B8AEDFC4-02F3-D6FD-218F-7BA3E544EEBD}"/>
              </a:ext>
            </a:extLst>
          </p:cNvPr>
          <p:cNvSpPr txBox="1"/>
          <p:nvPr/>
        </p:nvSpPr>
        <p:spPr>
          <a:xfrm>
            <a:off x="11167326" y="4184009"/>
            <a:ext cx="567680" cy="369332"/>
          </a:xfrm>
          <a:prstGeom prst="rect">
            <a:avLst/>
          </a:prstGeom>
          <a:noFill/>
        </p:spPr>
        <p:txBody>
          <a:bodyPr wrap="square" rtlCol="0">
            <a:spAutoFit/>
          </a:bodyPr>
          <a:lstStyle/>
          <a:p>
            <a:r>
              <a:rPr lang="de-DE" dirty="0">
                <a:latin typeface="Futura LT Pro Light" panose="020B0402020204020303" pitchFamily="34" charset="0"/>
                <a:cs typeface="+mn-cs"/>
              </a:rPr>
              <a:t>175</a:t>
            </a:r>
          </a:p>
        </p:txBody>
      </p:sp>
      <p:sp>
        <p:nvSpPr>
          <p:cNvPr id="14" name="Textfeld 13">
            <a:extLst>
              <a:ext uri="{FF2B5EF4-FFF2-40B4-BE49-F238E27FC236}">
                <a16:creationId xmlns:a16="http://schemas.microsoft.com/office/drawing/2014/main" id="{5FE6C8D5-7FAC-7FB2-C556-A611272C81E6}"/>
              </a:ext>
            </a:extLst>
          </p:cNvPr>
          <p:cNvSpPr txBox="1"/>
          <p:nvPr/>
        </p:nvSpPr>
        <p:spPr>
          <a:xfrm>
            <a:off x="10717781" y="4031421"/>
            <a:ext cx="567680" cy="369332"/>
          </a:xfrm>
          <a:prstGeom prst="rect">
            <a:avLst/>
          </a:prstGeom>
          <a:noFill/>
        </p:spPr>
        <p:txBody>
          <a:bodyPr wrap="square" rtlCol="0">
            <a:spAutoFit/>
          </a:bodyPr>
          <a:lstStyle/>
          <a:p>
            <a:r>
              <a:rPr lang="de-DE" dirty="0">
                <a:latin typeface="Futura LT Pro Light" panose="020B0402020204020303" pitchFamily="34" charset="0"/>
                <a:cs typeface="+mn-cs"/>
              </a:rPr>
              <a:t>225</a:t>
            </a:r>
          </a:p>
        </p:txBody>
      </p:sp>
      <p:sp>
        <p:nvSpPr>
          <p:cNvPr id="15" name="Textfeld 14">
            <a:extLst>
              <a:ext uri="{FF2B5EF4-FFF2-40B4-BE49-F238E27FC236}">
                <a16:creationId xmlns:a16="http://schemas.microsoft.com/office/drawing/2014/main" id="{D5895326-123B-FB0D-74FD-2AEB8210A9C6}"/>
              </a:ext>
            </a:extLst>
          </p:cNvPr>
          <p:cNvSpPr txBox="1"/>
          <p:nvPr/>
        </p:nvSpPr>
        <p:spPr>
          <a:xfrm>
            <a:off x="11143701" y="3884354"/>
            <a:ext cx="567680" cy="369332"/>
          </a:xfrm>
          <a:prstGeom prst="rect">
            <a:avLst/>
          </a:prstGeom>
          <a:noFill/>
        </p:spPr>
        <p:txBody>
          <a:bodyPr wrap="square" rtlCol="0">
            <a:spAutoFit/>
          </a:bodyPr>
          <a:lstStyle/>
          <a:p>
            <a:r>
              <a:rPr lang="de-DE" dirty="0">
                <a:latin typeface="Futura LT Pro Light" panose="020B0402020204020303" pitchFamily="34" charset="0"/>
                <a:cs typeface="+mn-cs"/>
              </a:rPr>
              <a:t>275</a:t>
            </a:r>
          </a:p>
        </p:txBody>
      </p:sp>
      <p:sp>
        <p:nvSpPr>
          <p:cNvPr id="16" name="Textfeld 15">
            <a:extLst>
              <a:ext uri="{FF2B5EF4-FFF2-40B4-BE49-F238E27FC236}">
                <a16:creationId xmlns:a16="http://schemas.microsoft.com/office/drawing/2014/main" id="{353F545C-3BA0-FBFE-5196-7039F1AE879C}"/>
              </a:ext>
            </a:extLst>
          </p:cNvPr>
          <p:cNvSpPr txBox="1"/>
          <p:nvPr/>
        </p:nvSpPr>
        <p:spPr>
          <a:xfrm>
            <a:off x="10742119" y="3720156"/>
            <a:ext cx="567680" cy="369332"/>
          </a:xfrm>
          <a:prstGeom prst="rect">
            <a:avLst/>
          </a:prstGeom>
          <a:noFill/>
        </p:spPr>
        <p:txBody>
          <a:bodyPr wrap="square" rtlCol="0">
            <a:spAutoFit/>
          </a:bodyPr>
          <a:lstStyle/>
          <a:p>
            <a:r>
              <a:rPr lang="de-DE" dirty="0">
                <a:latin typeface="Futura LT Pro Light" panose="020B0402020204020303" pitchFamily="34" charset="0"/>
                <a:cs typeface="+mn-cs"/>
              </a:rPr>
              <a:t>325</a:t>
            </a:r>
          </a:p>
        </p:txBody>
      </p:sp>
      <p:sp>
        <p:nvSpPr>
          <p:cNvPr id="17" name="Textfeld 16">
            <a:extLst>
              <a:ext uri="{FF2B5EF4-FFF2-40B4-BE49-F238E27FC236}">
                <a16:creationId xmlns:a16="http://schemas.microsoft.com/office/drawing/2014/main" id="{04A19C48-326B-7E57-A799-36D0246D301C}"/>
              </a:ext>
            </a:extLst>
          </p:cNvPr>
          <p:cNvSpPr txBox="1"/>
          <p:nvPr/>
        </p:nvSpPr>
        <p:spPr>
          <a:xfrm>
            <a:off x="10591097" y="3374973"/>
            <a:ext cx="1398446" cy="369332"/>
          </a:xfrm>
          <a:prstGeom prst="rect">
            <a:avLst/>
          </a:prstGeom>
          <a:solidFill>
            <a:schemeClr val="bg1"/>
          </a:solidFill>
        </p:spPr>
        <p:txBody>
          <a:bodyPr wrap="square" rtlCol="0">
            <a:spAutoFit/>
          </a:bodyPr>
          <a:lstStyle/>
          <a:p>
            <a:r>
              <a:rPr lang="de-DE" b="1" dirty="0" err="1">
                <a:latin typeface="Futura LT Pro Light" panose="020B0402020204020303" pitchFamily="34" charset="0"/>
                <a:cs typeface="+mn-cs"/>
              </a:rPr>
              <a:t>Mpl</a:t>
            </a:r>
            <a:r>
              <a:rPr lang="de-DE" b="1" dirty="0">
                <a:latin typeface="Futura LT Pro Light" panose="020B0402020204020303" pitchFamily="34" charset="0"/>
                <a:cs typeface="+mn-cs"/>
              </a:rPr>
              <a:t> [</a:t>
            </a:r>
            <a:r>
              <a:rPr lang="de-DE" b="1" dirty="0" err="1">
                <a:latin typeface="Futura LT Pro Light" panose="020B0402020204020303" pitchFamily="34" charset="0"/>
                <a:cs typeface="+mn-cs"/>
              </a:rPr>
              <a:t>kNm</a:t>
            </a:r>
            <a:r>
              <a:rPr lang="de-DE" b="1" dirty="0">
                <a:latin typeface="Futura LT Pro Light" panose="020B0402020204020303" pitchFamily="34" charset="0"/>
                <a:cs typeface="+mn-cs"/>
              </a:rPr>
              <a:t>]:</a:t>
            </a:r>
          </a:p>
        </p:txBody>
      </p:sp>
    </p:spTree>
    <p:extLst>
      <p:ext uri="{BB962C8B-B14F-4D97-AF65-F5344CB8AC3E}">
        <p14:creationId xmlns:p14="http://schemas.microsoft.com/office/powerpoint/2010/main" val="10533406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1849E-93DB-6230-496C-D1A2DCC26D6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F0E81E89-B983-EF85-CD48-D4EBE46E4A3C}"/>
              </a:ext>
            </a:extLst>
          </p:cNvPr>
          <p:cNvSpPr>
            <a:spLocks noGrp="1"/>
          </p:cNvSpPr>
          <p:nvPr>
            <p:ph type="body" sz="quarter" idx="18"/>
          </p:nvPr>
        </p:nvSpPr>
        <p:spPr/>
        <p:txBody>
          <a:bodyPr/>
          <a:lstStyle/>
          <a:p>
            <a:r>
              <a:rPr lang="en-AU" b="1" dirty="0">
                <a:solidFill>
                  <a:schemeClr val="tx1"/>
                </a:solidFill>
              </a:rPr>
              <a:t>2. Nonlinear Modelling</a:t>
            </a:r>
          </a:p>
          <a:p>
            <a:pPr marL="342900" indent="-342900">
              <a:buFont typeface="Arial" panose="020B0604020202020204" pitchFamily="34" charset="0"/>
              <a:buChar char="•"/>
            </a:pPr>
            <a:r>
              <a:rPr lang="en-AU" dirty="0">
                <a:solidFill>
                  <a:schemeClr val="tx1"/>
                </a:solidFill>
              </a:rPr>
              <a:t>Damping Models</a:t>
            </a:r>
          </a:p>
          <a:p>
            <a:pPr marL="342900" indent="-342900">
              <a:buFont typeface="Arial" panose="020B0604020202020204" pitchFamily="34" charset="0"/>
              <a:buChar char="•"/>
            </a:pPr>
            <a:r>
              <a:rPr lang="en-AU" dirty="0">
                <a:solidFill>
                  <a:schemeClr val="tx1"/>
                </a:solidFill>
              </a:rPr>
              <a:t>Rayleigh and Modal Damping lead to overdamping due to large changes in period</a:t>
            </a:r>
          </a:p>
          <a:p>
            <a:pPr marL="342900" indent="-342900">
              <a:buFont typeface="Arial" panose="020B0604020202020204" pitchFamily="34" charset="0"/>
              <a:buChar char="•"/>
            </a:pPr>
            <a:r>
              <a:rPr lang="en-AU" dirty="0">
                <a:solidFill>
                  <a:schemeClr val="tx1"/>
                </a:solidFill>
              </a:rPr>
              <a:t>Solution: use a model that updates each step</a:t>
            </a:r>
          </a:p>
          <a:p>
            <a:endParaRPr lang="en-AU" dirty="0">
              <a:solidFill>
                <a:schemeClr val="tx1"/>
              </a:solidFill>
            </a:endParaRPr>
          </a:p>
          <a:p>
            <a:endParaRPr lang="en-AU" noProof="0" dirty="0">
              <a:solidFill>
                <a:schemeClr val="tx1"/>
              </a:solidFill>
            </a:endParaRPr>
          </a:p>
        </p:txBody>
      </p:sp>
      <p:sp>
        <p:nvSpPr>
          <p:cNvPr id="3" name="Titel 2">
            <a:extLst>
              <a:ext uri="{FF2B5EF4-FFF2-40B4-BE49-F238E27FC236}">
                <a16:creationId xmlns:a16="http://schemas.microsoft.com/office/drawing/2014/main" id="{84970D62-AB5D-F8F4-FA66-DBDB54D87ABE}"/>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pic>
        <p:nvPicPr>
          <p:cNvPr id="6" name="Grafik 5">
            <a:extLst>
              <a:ext uri="{FF2B5EF4-FFF2-40B4-BE49-F238E27FC236}">
                <a16:creationId xmlns:a16="http://schemas.microsoft.com/office/drawing/2014/main" id="{823E00C8-BCB0-9DCF-58DA-65DB4CDC2F3E}"/>
              </a:ext>
            </a:extLst>
          </p:cNvPr>
          <p:cNvPicPr>
            <a:picLocks noChangeAspect="1"/>
          </p:cNvPicPr>
          <p:nvPr/>
        </p:nvPicPr>
        <p:blipFill>
          <a:blip r:embed="rId2" cstate="print">
            <a:extLst>
              <a:ext uri="{28A0092B-C50C-407E-A947-70E740481C1C}">
                <a14:useLocalDpi xmlns:a14="http://schemas.microsoft.com/office/drawing/2010/main" val="0"/>
              </a:ext>
            </a:extLst>
          </a:blip>
          <a:srcRect r="47561"/>
          <a:stretch>
            <a:fillRect/>
          </a:stretch>
        </p:blipFill>
        <p:spPr>
          <a:xfrm>
            <a:off x="425698" y="2712139"/>
            <a:ext cx="4795093" cy="1828804"/>
          </a:xfrm>
          <a:prstGeom prst="rect">
            <a:avLst/>
          </a:prstGeom>
        </p:spPr>
      </p:pic>
      <p:pic>
        <p:nvPicPr>
          <p:cNvPr id="18" name="Grafik 17">
            <a:extLst>
              <a:ext uri="{FF2B5EF4-FFF2-40B4-BE49-F238E27FC236}">
                <a16:creationId xmlns:a16="http://schemas.microsoft.com/office/drawing/2014/main" id="{AE2CFDB2-0482-9463-4D7F-50563F18FD0D}"/>
              </a:ext>
            </a:extLst>
          </p:cNvPr>
          <p:cNvPicPr>
            <a:picLocks noChangeAspect="1"/>
          </p:cNvPicPr>
          <p:nvPr/>
        </p:nvPicPr>
        <p:blipFill>
          <a:blip r:embed="rId2" cstate="print">
            <a:extLst>
              <a:ext uri="{28A0092B-C50C-407E-A947-70E740481C1C}">
                <a14:useLocalDpi xmlns:a14="http://schemas.microsoft.com/office/drawing/2010/main" val="0"/>
              </a:ext>
            </a:extLst>
          </a:blip>
          <a:srcRect l="53227"/>
          <a:stretch>
            <a:fillRect/>
          </a:stretch>
        </p:blipFill>
        <p:spPr>
          <a:xfrm>
            <a:off x="1048176" y="4471785"/>
            <a:ext cx="4276918" cy="1828804"/>
          </a:xfrm>
          <a:prstGeom prst="rect">
            <a:avLst/>
          </a:prstGeom>
        </p:spPr>
      </p:pic>
      <p:pic>
        <p:nvPicPr>
          <p:cNvPr id="23" name="Grafik 22" descr="Ein Bild, das Text, Reihe, Diagramm, Screenshot enthält.&#10;&#10;KI-generierte Inhalte können fehlerhaft sein.">
            <a:extLst>
              <a:ext uri="{FF2B5EF4-FFF2-40B4-BE49-F238E27FC236}">
                <a16:creationId xmlns:a16="http://schemas.microsoft.com/office/drawing/2014/main" id="{D11BEF1F-868F-3BC5-01A1-85E6CCDE44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0538" y="2672157"/>
            <a:ext cx="5144464" cy="3858349"/>
          </a:xfrm>
          <a:prstGeom prst="rect">
            <a:avLst/>
          </a:prstGeom>
        </p:spPr>
      </p:pic>
      <p:sp>
        <p:nvSpPr>
          <p:cNvPr id="24" name="Textfeld 23">
            <a:extLst>
              <a:ext uri="{FF2B5EF4-FFF2-40B4-BE49-F238E27FC236}">
                <a16:creationId xmlns:a16="http://schemas.microsoft.com/office/drawing/2014/main" id="{9CF7A0EB-4E87-4A78-5AA7-CED66B00CD3C}"/>
              </a:ext>
            </a:extLst>
          </p:cNvPr>
          <p:cNvSpPr txBox="1"/>
          <p:nvPr/>
        </p:nvSpPr>
        <p:spPr>
          <a:xfrm>
            <a:off x="7597055" y="2342807"/>
            <a:ext cx="1782762"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Model </a:t>
            </a:r>
            <a:r>
              <a:rPr lang="de-DE" b="1" dirty="0" err="1">
                <a:solidFill>
                  <a:schemeClr val="tx2"/>
                </a:solidFill>
                <a:latin typeface="Futura LT Pro Light" panose="020B0402020204020303" pitchFamily="34" charset="0"/>
                <a:cs typeface="+mn-cs"/>
              </a:rPr>
              <a:t>to</a:t>
            </a:r>
            <a:r>
              <a:rPr lang="de-DE" b="1" dirty="0">
                <a:solidFill>
                  <a:schemeClr val="tx2"/>
                </a:solidFill>
                <a:latin typeface="Futura LT Pro Light" panose="020B0402020204020303" pitchFamily="34" charset="0"/>
                <a:cs typeface="+mn-cs"/>
              </a:rPr>
              <a:t> Use</a:t>
            </a:r>
          </a:p>
        </p:txBody>
      </p:sp>
      <p:sp>
        <p:nvSpPr>
          <p:cNvPr id="25" name="Pfeil: nach rechts 24">
            <a:extLst>
              <a:ext uri="{FF2B5EF4-FFF2-40B4-BE49-F238E27FC236}">
                <a16:creationId xmlns:a16="http://schemas.microsoft.com/office/drawing/2014/main" id="{A3840E45-6711-EC18-8898-808B55BB7CC8}"/>
              </a:ext>
            </a:extLst>
          </p:cNvPr>
          <p:cNvSpPr/>
          <p:nvPr/>
        </p:nvSpPr>
        <p:spPr>
          <a:xfrm rot="5400000">
            <a:off x="8162169" y="2795097"/>
            <a:ext cx="369333" cy="20341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Tree>
    <p:extLst>
      <p:ext uri="{BB962C8B-B14F-4D97-AF65-F5344CB8AC3E}">
        <p14:creationId xmlns:p14="http://schemas.microsoft.com/office/powerpoint/2010/main" val="7367001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EE69E-9B9E-CAAA-2B75-B1968DBCB31F}"/>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D30B45F9-22B3-B318-5AE7-19D79E226FEF}"/>
              </a:ext>
            </a:extLst>
          </p:cNvPr>
          <p:cNvSpPr>
            <a:spLocks noGrp="1"/>
          </p:cNvSpPr>
          <p:nvPr>
            <p:ph type="body" sz="quarter" idx="18"/>
          </p:nvPr>
        </p:nvSpPr>
        <p:spPr/>
        <p:txBody>
          <a:bodyPr/>
          <a:lstStyle/>
          <a:p>
            <a:r>
              <a:rPr lang="en-AU" b="1" dirty="0">
                <a:solidFill>
                  <a:schemeClr val="tx1"/>
                </a:solidFill>
              </a:rPr>
              <a:t>3. Incremental Dynamic Analysis</a:t>
            </a:r>
          </a:p>
          <a:p>
            <a:r>
              <a:rPr lang="en-AU" dirty="0">
                <a:solidFill>
                  <a:schemeClr val="tx1"/>
                </a:solidFill>
              </a:rPr>
              <a:t>Analysis using </a:t>
            </a:r>
            <a:r>
              <a:rPr lang="en-AU" dirty="0" err="1">
                <a:solidFill>
                  <a:schemeClr val="tx1"/>
                </a:solidFill>
              </a:rPr>
              <a:t>OpenseesPy</a:t>
            </a:r>
            <a:r>
              <a:rPr lang="en-AU" dirty="0">
                <a:solidFill>
                  <a:schemeClr val="tx1"/>
                </a:solidFill>
              </a:rPr>
              <a:t> and IDA Algorithms implemented in Python</a:t>
            </a:r>
          </a:p>
          <a:p>
            <a:r>
              <a:rPr lang="en-AU" dirty="0">
                <a:solidFill>
                  <a:schemeClr val="tx1"/>
                </a:solidFill>
              </a:rPr>
              <a:t>Algorithms prepared and ready to go</a:t>
            </a:r>
          </a:p>
          <a:p>
            <a:endParaRPr lang="en-AU" dirty="0">
              <a:solidFill>
                <a:schemeClr val="tx1"/>
              </a:solidFill>
            </a:endParaRPr>
          </a:p>
          <a:p>
            <a:r>
              <a:rPr lang="en-AU" u="sng" dirty="0">
                <a:solidFill>
                  <a:schemeClr val="tx1"/>
                </a:solidFill>
              </a:rPr>
              <a:t>Failure Mechanisms (explicitly modelled)</a:t>
            </a:r>
          </a:p>
          <a:p>
            <a:pPr marL="457200" indent="-457200">
              <a:buFont typeface="+mj-lt"/>
              <a:buAutoNum type="arabicPeriod"/>
            </a:pPr>
            <a:r>
              <a:rPr lang="en-AU" dirty="0">
                <a:solidFill>
                  <a:schemeClr val="tx1"/>
                </a:solidFill>
              </a:rPr>
              <a:t>Buckling / LCF-fracture of columns + braces</a:t>
            </a:r>
          </a:p>
          <a:p>
            <a:pPr marL="457200" indent="-457200">
              <a:buFont typeface="+mj-lt"/>
              <a:buAutoNum type="arabicPeriod"/>
            </a:pPr>
            <a:r>
              <a:rPr lang="en-AU" dirty="0">
                <a:solidFill>
                  <a:schemeClr val="tx1"/>
                </a:solidFill>
              </a:rPr>
              <a:t>Gusset connection failure (bolt shear, block tear out, bearing)</a:t>
            </a:r>
          </a:p>
          <a:p>
            <a:pPr marL="457200" indent="-457200">
              <a:buFont typeface="+mj-lt"/>
              <a:buAutoNum type="arabicPeriod"/>
            </a:pPr>
            <a:r>
              <a:rPr lang="en-AU" dirty="0">
                <a:solidFill>
                  <a:schemeClr val="tx1"/>
                </a:solidFill>
              </a:rPr>
              <a:t>Beam-Splice / Beam-Column connection degradation</a:t>
            </a:r>
          </a:p>
          <a:p>
            <a:pPr marL="457200" indent="-457200">
              <a:buFont typeface="+mj-lt"/>
              <a:buAutoNum type="arabicPeriod"/>
            </a:pPr>
            <a:endParaRPr lang="en-AU" dirty="0">
              <a:solidFill>
                <a:schemeClr val="tx1"/>
              </a:solidFill>
            </a:endParaRPr>
          </a:p>
          <a:p>
            <a:r>
              <a:rPr lang="en-AU" b="1" dirty="0">
                <a:solidFill>
                  <a:schemeClr val="tx1"/>
                </a:solidFill>
              </a:rPr>
              <a:t>4. Calculation of Fragility Curve Parameters</a:t>
            </a:r>
          </a:p>
          <a:p>
            <a:r>
              <a:rPr lang="en-AU" dirty="0">
                <a:solidFill>
                  <a:schemeClr val="tx1"/>
                </a:solidFill>
              </a:rPr>
              <a:t>Assessment of different intensity measures (SA(T1), AvgSA(0,3), AvgSA(0,6))</a:t>
            </a:r>
          </a:p>
          <a:p>
            <a:endParaRPr lang="en-AU" dirty="0">
              <a:solidFill>
                <a:schemeClr val="tx1"/>
              </a:solidFill>
            </a:endParaRPr>
          </a:p>
          <a:p>
            <a:r>
              <a:rPr lang="en-AU" b="1" dirty="0">
                <a:solidFill>
                  <a:schemeClr val="tx1"/>
                </a:solidFill>
              </a:rPr>
              <a:t>5. Derivation of CC2D-Model</a:t>
            </a:r>
          </a:p>
          <a:p>
            <a:endParaRPr lang="en-AU" dirty="0">
              <a:solidFill>
                <a:schemeClr val="tx1"/>
              </a:solidFill>
            </a:endParaRPr>
          </a:p>
          <a:p>
            <a:endParaRPr lang="en-AU" noProof="0" dirty="0">
              <a:solidFill>
                <a:schemeClr val="tx1"/>
              </a:solidFill>
            </a:endParaRPr>
          </a:p>
        </p:txBody>
      </p:sp>
      <p:sp>
        <p:nvSpPr>
          <p:cNvPr id="3" name="Titel 2">
            <a:extLst>
              <a:ext uri="{FF2B5EF4-FFF2-40B4-BE49-F238E27FC236}">
                <a16:creationId xmlns:a16="http://schemas.microsoft.com/office/drawing/2014/main" id="{1FDE1F56-B4DB-9129-66EF-B26C5F2B7494}"/>
              </a:ext>
            </a:extLst>
          </p:cNvPr>
          <p:cNvSpPr>
            <a:spLocks noGrp="1"/>
          </p:cNvSpPr>
          <p:nvPr>
            <p:ph type="title"/>
          </p:nvPr>
        </p:nvSpPr>
        <p:spPr/>
        <p:txBody>
          <a:bodyPr/>
          <a:lstStyle/>
          <a:p>
            <a:r>
              <a:rPr lang="en-AU" noProof="0" dirty="0"/>
              <a:t>WP0</a:t>
            </a:r>
            <a:r>
              <a:rPr lang="en-AU" dirty="0"/>
              <a:t>2</a:t>
            </a:r>
            <a:r>
              <a:rPr lang="en-AU" noProof="0" dirty="0"/>
              <a:t> – </a:t>
            </a:r>
            <a:r>
              <a:rPr lang="en-AU" dirty="0"/>
              <a:t>CC2D-Models for steel CBF archetype structures</a:t>
            </a:r>
            <a:br>
              <a:rPr lang="en-AU" noProof="0" dirty="0"/>
            </a:br>
            <a:endParaRPr lang="en-AU" noProof="0" dirty="0"/>
          </a:p>
        </p:txBody>
      </p:sp>
    </p:spTree>
    <p:extLst>
      <p:ext uri="{BB962C8B-B14F-4D97-AF65-F5344CB8AC3E}">
        <p14:creationId xmlns:p14="http://schemas.microsoft.com/office/powerpoint/2010/main" val="6655931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8E66E20-53F2-C237-C6E3-24DE57ECED84}"/>
              </a:ext>
            </a:extLst>
          </p:cNvPr>
          <p:cNvSpPr>
            <a:spLocks noGrp="1"/>
          </p:cNvSpPr>
          <p:nvPr>
            <p:ph type="title"/>
          </p:nvPr>
        </p:nvSpPr>
        <p:spPr/>
        <p:txBody>
          <a:bodyPr/>
          <a:lstStyle/>
          <a:p>
            <a:r>
              <a:rPr lang="en-AU" noProof="0" dirty="0"/>
              <a:t>WP03 – Modelling and Material Uncertainty </a:t>
            </a:r>
          </a:p>
        </p:txBody>
      </p:sp>
      <p:sp>
        <p:nvSpPr>
          <p:cNvPr id="5" name="Textplatzhalter 1">
            <a:extLst>
              <a:ext uri="{FF2B5EF4-FFF2-40B4-BE49-F238E27FC236}">
                <a16:creationId xmlns:a16="http://schemas.microsoft.com/office/drawing/2014/main" id="{7DB98A1D-D7C4-591F-D68B-51D4A55E6169}"/>
              </a:ext>
            </a:extLst>
          </p:cNvPr>
          <p:cNvSpPr>
            <a:spLocks noGrp="1"/>
          </p:cNvSpPr>
          <p:nvPr>
            <p:ph type="body" sz="quarter" idx="18"/>
          </p:nvPr>
        </p:nvSpPr>
        <p:spPr>
          <a:xfrm>
            <a:off x="432000" y="1044005"/>
            <a:ext cx="11312077" cy="5400600"/>
          </a:xfrm>
        </p:spPr>
        <p:txBody>
          <a:bodyPr/>
          <a:lstStyle/>
          <a:p>
            <a:r>
              <a:rPr lang="en-AU" b="1" u="sng" noProof="0" dirty="0">
                <a:solidFill>
                  <a:schemeClr val="tx1"/>
                </a:solidFill>
              </a:rPr>
              <a:t>Motivation:</a:t>
            </a:r>
          </a:p>
          <a:p>
            <a:r>
              <a:rPr lang="en-AU" noProof="0" dirty="0">
                <a:solidFill>
                  <a:schemeClr val="tx1"/>
                </a:solidFill>
              </a:rPr>
              <a:t>Modelling / material parameters based on statistical regression are associated with an inherent uncertainty. The variation of these parameters can have a noticeable </a:t>
            </a:r>
            <a:r>
              <a:rPr lang="en-AU" dirty="0">
                <a:solidFill>
                  <a:schemeClr val="tx1"/>
                </a:solidFill>
              </a:rPr>
              <a:t>e</a:t>
            </a:r>
            <a:r>
              <a:rPr lang="en-AU" noProof="0" dirty="0" err="1">
                <a:solidFill>
                  <a:schemeClr val="tx1"/>
                </a:solidFill>
              </a:rPr>
              <a:t>ffect</a:t>
            </a:r>
            <a:r>
              <a:rPr lang="en-AU" noProof="0" dirty="0">
                <a:solidFill>
                  <a:schemeClr val="tx1"/>
                </a:solidFill>
              </a:rPr>
              <a:t> on the response of the structure and therefore the fragility curve parameters</a:t>
            </a:r>
          </a:p>
          <a:p>
            <a:endParaRPr lang="en-AU" noProof="0" dirty="0">
              <a:solidFill>
                <a:schemeClr val="tx1"/>
              </a:solidFill>
            </a:endParaRPr>
          </a:p>
          <a:p>
            <a:r>
              <a:rPr lang="en-AU" b="1" u="sng" noProof="0" dirty="0"/>
              <a:t>Research Questions:</a:t>
            </a:r>
            <a:r>
              <a:rPr lang="en-AU" noProof="0" dirty="0"/>
              <a:t> </a:t>
            </a:r>
          </a:p>
          <a:p>
            <a:r>
              <a:rPr lang="en-AU" i="1" noProof="0" dirty="0"/>
              <a:t>To what extent do modelling and material uncertainties affect the fragility curve parameters of steel CBFs? </a:t>
            </a:r>
          </a:p>
          <a:p>
            <a:endParaRPr lang="en-AU" i="1" dirty="0"/>
          </a:p>
          <a:p>
            <a:r>
              <a:rPr lang="en-AU" i="1" noProof="0" dirty="0"/>
              <a:t>Is the effect significant enough to require incorporation into the reliability-based design procedure? </a:t>
            </a:r>
          </a:p>
          <a:p>
            <a:endParaRPr lang="en-AU" i="1" dirty="0"/>
          </a:p>
          <a:p>
            <a:r>
              <a:rPr lang="en-AU" i="1" noProof="0" dirty="0"/>
              <a:t>How can this effect be best incorporated into the design procedure?</a:t>
            </a:r>
          </a:p>
          <a:p>
            <a:endParaRPr lang="en-AU" noProof="0" dirty="0"/>
          </a:p>
          <a:p>
            <a:r>
              <a:rPr lang="en-AU" b="1" u="sng" dirty="0"/>
              <a:t>Status:</a:t>
            </a:r>
            <a:r>
              <a:rPr lang="en-AU" b="1" dirty="0"/>
              <a:t> </a:t>
            </a:r>
            <a:r>
              <a:rPr lang="en-AU" b="1" dirty="0">
                <a:solidFill>
                  <a:srgbClr val="FFC000"/>
                </a:solidFill>
              </a:rPr>
              <a:t>Started – paused</a:t>
            </a:r>
          </a:p>
          <a:p>
            <a:pPr marL="457200" indent="-457200">
              <a:buFont typeface="+mj-lt"/>
              <a:buAutoNum type="arabicPeriod"/>
            </a:pPr>
            <a:endParaRPr lang="en-AU" noProof="0" dirty="0"/>
          </a:p>
          <a:p>
            <a:endParaRPr lang="en-AU" noProof="0" dirty="0"/>
          </a:p>
        </p:txBody>
      </p:sp>
    </p:spTree>
    <p:extLst>
      <p:ext uri="{BB962C8B-B14F-4D97-AF65-F5344CB8AC3E}">
        <p14:creationId xmlns:p14="http://schemas.microsoft.com/office/powerpoint/2010/main" val="34074467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0580B-D264-97FC-EE5F-E34537945AC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37B2656-FB13-9649-79F8-5122682DAA47}"/>
              </a:ext>
            </a:extLst>
          </p:cNvPr>
          <p:cNvSpPr>
            <a:spLocks noGrp="1"/>
          </p:cNvSpPr>
          <p:nvPr>
            <p:ph type="title"/>
          </p:nvPr>
        </p:nvSpPr>
        <p:spPr/>
        <p:txBody>
          <a:bodyPr/>
          <a:lstStyle/>
          <a:p>
            <a:r>
              <a:rPr lang="en-AU" noProof="0" dirty="0"/>
              <a:t>WP03 – Modelling and Material Uncertainty </a:t>
            </a:r>
          </a:p>
        </p:txBody>
      </p:sp>
      <p:sp>
        <p:nvSpPr>
          <p:cNvPr id="5" name="Textplatzhalter 1">
            <a:extLst>
              <a:ext uri="{FF2B5EF4-FFF2-40B4-BE49-F238E27FC236}">
                <a16:creationId xmlns:a16="http://schemas.microsoft.com/office/drawing/2014/main" id="{254A2DC8-E4C1-6299-8A26-4000B5002B45}"/>
              </a:ext>
            </a:extLst>
          </p:cNvPr>
          <p:cNvSpPr>
            <a:spLocks noGrp="1"/>
          </p:cNvSpPr>
          <p:nvPr>
            <p:ph type="body" sz="quarter" idx="18"/>
          </p:nvPr>
        </p:nvSpPr>
        <p:spPr>
          <a:xfrm>
            <a:off x="432000" y="1044005"/>
            <a:ext cx="11312077" cy="5400600"/>
          </a:xfrm>
        </p:spPr>
        <p:txBody>
          <a:bodyPr/>
          <a:lstStyle/>
          <a:p>
            <a:r>
              <a:rPr lang="en-AU" b="1" dirty="0">
                <a:solidFill>
                  <a:schemeClr val="tx1"/>
                </a:solidFill>
              </a:rPr>
              <a:t>Overview of the Methodology:</a:t>
            </a:r>
          </a:p>
          <a:p>
            <a:endParaRPr lang="en-AU" b="1" dirty="0">
              <a:solidFill>
                <a:schemeClr val="tx1"/>
              </a:solidFill>
            </a:endParaRPr>
          </a:p>
          <a:p>
            <a:pPr marL="457200" indent="-457200">
              <a:spcAft>
                <a:spcPts val="1800"/>
              </a:spcAft>
              <a:buFont typeface="Arial" panose="020B0604020202020204" pitchFamily="34" charset="0"/>
              <a:buChar char="•"/>
            </a:pPr>
            <a:r>
              <a:rPr lang="en-AU" noProof="0" dirty="0"/>
              <a:t>Identify the random variables to be considered</a:t>
            </a:r>
          </a:p>
          <a:p>
            <a:pPr marL="457200" indent="-457200">
              <a:spcAft>
                <a:spcPts val="1800"/>
              </a:spcAft>
              <a:buFont typeface="Arial" panose="020B0604020202020204" pitchFamily="34" charset="0"/>
              <a:buChar char="•"/>
            </a:pPr>
            <a:r>
              <a:rPr lang="en-AU" noProof="0" dirty="0"/>
              <a:t>Select a subset of “representative” archetype structures</a:t>
            </a:r>
          </a:p>
          <a:p>
            <a:pPr marL="457200" indent="-457200">
              <a:spcAft>
                <a:spcPts val="1800"/>
              </a:spcAft>
              <a:buFont typeface="Arial" panose="020B0604020202020204" pitchFamily="34" charset="0"/>
              <a:buChar char="•"/>
            </a:pPr>
            <a:r>
              <a:rPr lang="en-AU" noProof="0" dirty="0"/>
              <a:t>Use a variance reduction technique (Latin hypercube / Sobol sampling) to perform a Monte Carlo style analysis and determine the distribution of fragility parameters due to modelling / material uncertainty</a:t>
            </a:r>
          </a:p>
          <a:p>
            <a:pPr marL="457200" indent="-457200">
              <a:spcAft>
                <a:spcPts val="1800"/>
              </a:spcAft>
              <a:buFont typeface="Arial" panose="020B0604020202020204" pitchFamily="34" charset="0"/>
              <a:buChar char="•"/>
            </a:pPr>
            <a:r>
              <a:rPr lang="en-AU" noProof="0" dirty="0"/>
              <a:t>Statistically analyse the results to determine the dominant sources of uncertainty</a:t>
            </a:r>
          </a:p>
          <a:p>
            <a:pPr marL="457200" indent="-457200">
              <a:spcAft>
                <a:spcPts val="1800"/>
              </a:spcAft>
              <a:buFont typeface="Arial" panose="020B0604020202020204" pitchFamily="34" charset="0"/>
              <a:buChar char="•"/>
            </a:pPr>
            <a:r>
              <a:rPr lang="en-AU" noProof="0" dirty="0"/>
              <a:t>Perform bootstrap analyses to assess the confidence of the results</a:t>
            </a:r>
          </a:p>
          <a:p>
            <a:pPr marL="457200" indent="-457200">
              <a:spcAft>
                <a:spcPts val="1800"/>
              </a:spcAft>
              <a:buFont typeface="Arial" panose="020B0604020202020204" pitchFamily="34" charset="0"/>
              <a:buChar char="•"/>
            </a:pPr>
            <a:r>
              <a:rPr lang="en-AU" i="1" noProof="0" dirty="0"/>
              <a:t>(Optional) Fit a meta-model to the fragility data to predict the fragility curves</a:t>
            </a:r>
          </a:p>
          <a:p>
            <a:pPr marL="457200" indent="-457200">
              <a:buFont typeface="+mj-lt"/>
              <a:buAutoNum type="arabicPeriod"/>
            </a:pPr>
            <a:endParaRPr lang="en-AU" noProof="0" dirty="0"/>
          </a:p>
          <a:p>
            <a:pPr marL="457200" indent="-457200">
              <a:buFont typeface="+mj-lt"/>
              <a:buAutoNum type="arabicPeriod"/>
            </a:pPr>
            <a:endParaRPr lang="en-AU" noProof="0" dirty="0"/>
          </a:p>
          <a:p>
            <a:endParaRPr lang="en-AU" noProof="0" dirty="0"/>
          </a:p>
        </p:txBody>
      </p:sp>
    </p:spTree>
    <p:extLst>
      <p:ext uri="{BB962C8B-B14F-4D97-AF65-F5344CB8AC3E}">
        <p14:creationId xmlns:p14="http://schemas.microsoft.com/office/powerpoint/2010/main" val="725935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96ED8-C0F1-279F-900C-011CD3217CD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0C8BD93-3DAB-DDD8-1DF9-D25374EDB310}"/>
              </a:ext>
            </a:extLst>
          </p:cNvPr>
          <p:cNvSpPr>
            <a:spLocks noGrp="1"/>
          </p:cNvSpPr>
          <p:nvPr>
            <p:ph type="title"/>
          </p:nvPr>
        </p:nvSpPr>
        <p:spPr/>
        <p:txBody>
          <a:bodyPr/>
          <a:lstStyle/>
          <a:p>
            <a:r>
              <a:rPr lang="en-AU" noProof="0" dirty="0"/>
              <a:t>WP03 – Modelling and Material Uncertainty </a:t>
            </a:r>
          </a:p>
        </p:txBody>
      </p:sp>
      <p:sp>
        <p:nvSpPr>
          <p:cNvPr id="5" name="Textplatzhalter 1">
            <a:extLst>
              <a:ext uri="{FF2B5EF4-FFF2-40B4-BE49-F238E27FC236}">
                <a16:creationId xmlns:a16="http://schemas.microsoft.com/office/drawing/2014/main" id="{61961124-20CA-FB6C-9112-15039CEB95FB}"/>
              </a:ext>
            </a:extLst>
          </p:cNvPr>
          <p:cNvSpPr>
            <a:spLocks noGrp="1"/>
          </p:cNvSpPr>
          <p:nvPr>
            <p:ph type="body" sz="quarter" idx="18"/>
          </p:nvPr>
        </p:nvSpPr>
        <p:spPr>
          <a:xfrm>
            <a:off x="432000" y="1044005"/>
            <a:ext cx="11312077" cy="5400600"/>
          </a:xfrm>
        </p:spPr>
        <p:txBody>
          <a:bodyPr/>
          <a:lstStyle/>
          <a:p>
            <a:r>
              <a:rPr lang="en-AU" b="1" dirty="0">
                <a:solidFill>
                  <a:schemeClr val="tx1"/>
                </a:solidFill>
              </a:rPr>
              <a:t>1. Random Variables</a:t>
            </a:r>
            <a:endParaRPr lang="en-AU" noProof="0" dirty="0"/>
          </a:p>
          <a:p>
            <a:pPr marL="457200" indent="-457200">
              <a:buFont typeface="+mj-lt"/>
              <a:buAutoNum type="arabicPeriod"/>
            </a:pPr>
            <a:endParaRPr lang="en-AU" noProof="0" dirty="0"/>
          </a:p>
          <a:p>
            <a:endParaRPr lang="en-AU" noProof="0" dirty="0"/>
          </a:p>
        </p:txBody>
      </p:sp>
      <p:pic>
        <p:nvPicPr>
          <p:cNvPr id="7" name="Grafik 6">
            <a:extLst>
              <a:ext uri="{FF2B5EF4-FFF2-40B4-BE49-F238E27FC236}">
                <a16:creationId xmlns:a16="http://schemas.microsoft.com/office/drawing/2014/main" id="{F2307EC9-8F7C-9DC8-B3D5-04524B8B011B}"/>
              </a:ext>
            </a:extLst>
          </p:cNvPr>
          <p:cNvPicPr>
            <a:picLocks noChangeAspect="1"/>
          </p:cNvPicPr>
          <p:nvPr/>
        </p:nvPicPr>
        <p:blipFill>
          <a:blip r:embed="rId2"/>
          <a:stretch>
            <a:fillRect/>
          </a:stretch>
        </p:blipFill>
        <p:spPr>
          <a:xfrm>
            <a:off x="500062" y="1764085"/>
            <a:ext cx="5560268" cy="3805014"/>
          </a:xfrm>
          <a:prstGeom prst="rect">
            <a:avLst/>
          </a:prstGeom>
        </p:spPr>
      </p:pic>
      <p:pic>
        <p:nvPicPr>
          <p:cNvPr id="9" name="Grafik 8">
            <a:extLst>
              <a:ext uri="{FF2B5EF4-FFF2-40B4-BE49-F238E27FC236}">
                <a16:creationId xmlns:a16="http://schemas.microsoft.com/office/drawing/2014/main" id="{09A83D48-B5CD-1A4D-FD9C-40FBB7A599DB}"/>
              </a:ext>
            </a:extLst>
          </p:cNvPr>
          <p:cNvPicPr>
            <a:picLocks noChangeAspect="1"/>
          </p:cNvPicPr>
          <p:nvPr/>
        </p:nvPicPr>
        <p:blipFill>
          <a:blip r:embed="rId3"/>
          <a:stretch>
            <a:fillRect/>
          </a:stretch>
        </p:blipFill>
        <p:spPr>
          <a:xfrm>
            <a:off x="6187011" y="2427957"/>
            <a:ext cx="5625128" cy="1984623"/>
          </a:xfrm>
          <a:prstGeom prst="rect">
            <a:avLst/>
          </a:prstGeom>
        </p:spPr>
      </p:pic>
      <p:sp>
        <p:nvSpPr>
          <p:cNvPr id="10" name="Textfeld 9">
            <a:extLst>
              <a:ext uri="{FF2B5EF4-FFF2-40B4-BE49-F238E27FC236}">
                <a16:creationId xmlns:a16="http://schemas.microsoft.com/office/drawing/2014/main" id="{51681921-63BD-8F59-F84F-CBD059CEAA85}"/>
              </a:ext>
            </a:extLst>
          </p:cNvPr>
          <p:cNvSpPr txBox="1"/>
          <p:nvPr/>
        </p:nvSpPr>
        <p:spPr>
          <a:xfrm>
            <a:off x="7166597" y="4406931"/>
            <a:ext cx="4503116"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40-80 variables per </a:t>
            </a:r>
            <a:r>
              <a:rPr lang="de-DE" b="1" dirty="0" err="1">
                <a:solidFill>
                  <a:schemeClr val="tx2"/>
                </a:solidFill>
                <a:latin typeface="Futura LT Pro Light" panose="020B0402020204020303" pitchFamily="34" charset="0"/>
                <a:cs typeface="+mn-cs"/>
              </a:rPr>
              <a:t>model</a:t>
            </a:r>
            <a:r>
              <a:rPr lang="de-DE" b="1" dirty="0">
                <a:solidFill>
                  <a:schemeClr val="tx2"/>
                </a:solidFill>
                <a:latin typeface="Futura LT Pro Light" panose="020B0402020204020303" pitchFamily="34" charset="0"/>
                <a:cs typeface="+mn-cs"/>
              </a:rPr>
              <a:t> </a:t>
            </a:r>
            <a:r>
              <a:rPr lang="de-DE" b="1" dirty="0">
                <a:solidFill>
                  <a:schemeClr val="tx2"/>
                </a:solidFill>
                <a:latin typeface="Futura LT Pro Light" panose="020B0402020204020303" pitchFamily="34" charset="0"/>
                <a:cs typeface="+mn-cs"/>
                <a:sym typeface="Wingdings" panose="05000000000000000000" pitchFamily="2" charset="2"/>
              </a:rPr>
              <a:t> A Lot!!</a:t>
            </a:r>
            <a:endParaRPr lang="de-DE" b="1" dirty="0">
              <a:solidFill>
                <a:schemeClr val="tx2"/>
              </a:solidFill>
              <a:latin typeface="Futura LT Pro Light" panose="020B0402020204020303" pitchFamily="34" charset="0"/>
              <a:cs typeface="+mn-cs"/>
            </a:endParaRPr>
          </a:p>
        </p:txBody>
      </p:sp>
    </p:spTree>
    <p:extLst>
      <p:ext uri="{BB962C8B-B14F-4D97-AF65-F5344CB8AC3E}">
        <p14:creationId xmlns:p14="http://schemas.microsoft.com/office/powerpoint/2010/main" val="17596087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A45D4CE-562E-B28B-3614-9BD1AC6449D0}"/>
              </a:ext>
            </a:extLst>
          </p:cNvPr>
          <p:cNvSpPr>
            <a:spLocks noGrp="1"/>
          </p:cNvSpPr>
          <p:nvPr>
            <p:ph type="title"/>
          </p:nvPr>
        </p:nvSpPr>
        <p:spPr/>
        <p:txBody>
          <a:bodyPr/>
          <a:lstStyle/>
          <a:p>
            <a:r>
              <a:rPr lang="en-AU" noProof="0" dirty="0"/>
              <a:t>WP04 – Verification of the Design Procedure</a:t>
            </a:r>
          </a:p>
        </p:txBody>
      </p:sp>
      <p:sp>
        <p:nvSpPr>
          <p:cNvPr id="4" name="Textplatzhalter 1">
            <a:extLst>
              <a:ext uri="{FF2B5EF4-FFF2-40B4-BE49-F238E27FC236}">
                <a16:creationId xmlns:a16="http://schemas.microsoft.com/office/drawing/2014/main" id="{9F8B0AC4-4534-9263-E3A3-81691D415E78}"/>
              </a:ext>
            </a:extLst>
          </p:cNvPr>
          <p:cNvSpPr>
            <a:spLocks noGrp="1"/>
          </p:cNvSpPr>
          <p:nvPr>
            <p:ph type="body" sz="quarter" idx="18"/>
          </p:nvPr>
        </p:nvSpPr>
        <p:spPr>
          <a:xfrm>
            <a:off x="432000" y="899989"/>
            <a:ext cx="11312077" cy="5651824"/>
          </a:xfrm>
        </p:spPr>
        <p:txBody>
          <a:bodyPr/>
          <a:lstStyle/>
          <a:p>
            <a:r>
              <a:rPr lang="en-AU" b="1" u="sng" dirty="0">
                <a:solidFill>
                  <a:schemeClr val="tx1"/>
                </a:solidFill>
              </a:rPr>
              <a:t>Motivation:</a:t>
            </a:r>
          </a:p>
          <a:p>
            <a:r>
              <a:rPr lang="en-AU" dirty="0">
                <a:solidFill>
                  <a:schemeClr val="tx1"/>
                </a:solidFill>
              </a:rPr>
              <a:t>To be able to promote this design method as a viable alternative to hazard-based design and other risk-based design methods we must be able to show that it produces adequate results</a:t>
            </a:r>
          </a:p>
          <a:p>
            <a:endParaRPr lang="en-AU" dirty="0">
              <a:solidFill>
                <a:schemeClr val="tx1"/>
              </a:solidFill>
            </a:endParaRPr>
          </a:p>
          <a:p>
            <a:r>
              <a:rPr lang="en-AU" b="1" u="sng" dirty="0"/>
              <a:t>Research Questions:</a:t>
            </a:r>
            <a:r>
              <a:rPr lang="en-AU" dirty="0"/>
              <a:t> </a:t>
            </a:r>
          </a:p>
          <a:p>
            <a:r>
              <a:rPr lang="en-AU" i="1" dirty="0"/>
              <a:t>How do the actual collapse capacities of structures designed using reliability-based design and the CD-Models compare to the target values? </a:t>
            </a:r>
          </a:p>
          <a:p>
            <a:endParaRPr lang="en-AU" i="1" dirty="0"/>
          </a:p>
          <a:p>
            <a:r>
              <a:rPr lang="en-AU" i="1" dirty="0"/>
              <a:t>What parameters or components of the design procedure influence the accuracy the most?</a:t>
            </a:r>
          </a:p>
          <a:p>
            <a:endParaRPr lang="en-AU" dirty="0"/>
          </a:p>
          <a:p>
            <a:r>
              <a:rPr lang="en-AU" b="1" u="sng" dirty="0"/>
              <a:t>Status:</a:t>
            </a:r>
            <a:r>
              <a:rPr lang="en-AU" b="1" dirty="0"/>
              <a:t> </a:t>
            </a:r>
            <a:r>
              <a:rPr lang="en-AU" b="1" dirty="0">
                <a:solidFill>
                  <a:srgbClr val="FF0000"/>
                </a:solidFill>
              </a:rPr>
              <a:t>Not Started</a:t>
            </a:r>
          </a:p>
          <a:p>
            <a:endParaRPr lang="en-AU" noProof="0" dirty="0"/>
          </a:p>
        </p:txBody>
      </p:sp>
    </p:spTree>
    <p:extLst>
      <p:ext uri="{BB962C8B-B14F-4D97-AF65-F5344CB8AC3E}">
        <p14:creationId xmlns:p14="http://schemas.microsoft.com/office/powerpoint/2010/main" val="109006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A1089-F7C7-6A33-0AE6-5E3B8CE2B9A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BB38FA5-6E4F-6777-F7DA-B9044729BC18}"/>
              </a:ext>
            </a:extLst>
          </p:cNvPr>
          <p:cNvSpPr>
            <a:spLocks noGrp="1"/>
          </p:cNvSpPr>
          <p:nvPr>
            <p:ph type="title"/>
          </p:nvPr>
        </p:nvSpPr>
        <p:spPr/>
        <p:txBody>
          <a:bodyPr/>
          <a:lstStyle/>
          <a:p>
            <a:r>
              <a:rPr lang="en-AU" noProof="0" dirty="0"/>
              <a:t>WP04 – Verification of the Design Procedure</a:t>
            </a:r>
          </a:p>
        </p:txBody>
      </p:sp>
      <p:sp>
        <p:nvSpPr>
          <p:cNvPr id="4" name="Textplatzhalter 1">
            <a:extLst>
              <a:ext uri="{FF2B5EF4-FFF2-40B4-BE49-F238E27FC236}">
                <a16:creationId xmlns:a16="http://schemas.microsoft.com/office/drawing/2014/main" id="{1E20CFA7-FA33-00B6-286A-52D84A5D34BE}"/>
              </a:ext>
            </a:extLst>
          </p:cNvPr>
          <p:cNvSpPr>
            <a:spLocks noGrp="1"/>
          </p:cNvSpPr>
          <p:nvPr>
            <p:ph type="body" sz="quarter" idx="18"/>
          </p:nvPr>
        </p:nvSpPr>
        <p:spPr>
          <a:xfrm>
            <a:off x="432000" y="899989"/>
            <a:ext cx="11312077" cy="5651824"/>
          </a:xfrm>
        </p:spPr>
        <p:txBody>
          <a:bodyPr/>
          <a:lstStyle/>
          <a:p>
            <a:r>
              <a:rPr lang="en-AU" b="1" noProof="0" dirty="0">
                <a:solidFill>
                  <a:schemeClr val="tx1"/>
                </a:solidFill>
              </a:rPr>
              <a:t>Overview of Methodology:</a:t>
            </a:r>
          </a:p>
          <a:p>
            <a:endParaRPr lang="en-AU" b="1" u="sng" noProof="0" dirty="0"/>
          </a:p>
          <a:p>
            <a:pPr marL="457200" indent="-457200">
              <a:spcAft>
                <a:spcPts val="1200"/>
              </a:spcAft>
              <a:buFont typeface="Arial" panose="020B0604020202020204" pitchFamily="34" charset="0"/>
              <a:buChar char="•"/>
            </a:pPr>
            <a:r>
              <a:rPr lang="en-AU" noProof="0" dirty="0"/>
              <a:t>Select several sites distributed across Europe</a:t>
            </a:r>
          </a:p>
          <a:p>
            <a:pPr marL="457200" indent="-457200">
              <a:spcAft>
                <a:spcPts val="600"/>
              </a:spcAft>
              <a:buFont typeface="Arial" panose="020B0604020202020204" pitchFamily="34" charset="0"/>
              <a:buChar char="•"/>
            </a:pPr>
            <a:r>
              <a:rPr lang="en-AU" noProof="0" dirty="0"/>
              <a:t>Use reliability-based design to design several different steel CBF structures. Consider:</a:t>
            </a:r>
          </a:p>
          <a:p>
            <a:pPr marL="914400" lvl="1" indent="-457200">
              <a:spcAft>
                <a:spcPts val="600"/>
              </a:spcAft>
              <a:buFont typeface="Arial" panose="020B0604020202020204" pitchFamily="34" charset="0"/>
              <a:buChar char="•"/>
            </a:pPr>
            <a:r>
              <a:rPr lang="en-AU" noProof="0" dirty="0"/>
              <a:t>Different reliability levels</a:t>
            </a:r>
          </a:p>
          <a:p>
            <a:pPr marL="914400" lvl="1" indent="-457200">
              <a:spcAft>
                <a:spcPts val="600"/>
              </a:spcAft>
              <a:buFont typeface="Arial" panose="020B0604020202020204" pitchFamily="34" charset="0"/>
              <a:buChar char="•"/>
            </a:pPr>
            <a:r>
              <a:rPr lang="en-AU" noProof="0" dirty="0"/>
              <a:t>Modelling/material uncertainty</a:t>
            </a:r>
          </a:p>
          <a:p>
            <a:pPr marL="914400" lvl="1" indent="-457200">
              <a:spcAft>
                <a:spcPts val="600"/>
              </a:spcAft>
              <a:buFont typeface="Arial" panose="020B0604020202020204" pitchFamily="34" charset="0"/>
              <a:buChar char="•"/>
            </a:pPr>
            <a:r>
              <a:rPr lang="en-AU" noProof="0" dirty="0"/>
              <a:t>Site dependence</a:t>
            </a:r>
          </a:p>
          <a:p>
            <a:pPr marL="914400" lvl="1" indent="-457200">
              <a:spcAft>
                <a:spcPts val="1200"/>
              </a:spcAft>
              <a:buFont typeface="Arial" panose="020B0604020202020204" pitchFamily="34" charset="0"/>
              <a:buChar char="•"/>
            </a:pPr>
            <a:r>
              <a:rPr lang="en-AU" noProof="0" dirty="0"/>
              <a:t>Hazard curve simplification</a:t>
            </a:r>
          </a:p>
          <a:p>
            <a:pPr marL="457200" indent="-457200">
              <a:spcAft>
                <a:spcPts val="1200"/>
              </a:spcAft>
              <a:buFont typeface="Arial" panose="020B0604020202020204" pitchFamily="34" charset="0"/>
              <a:buChar char="•"/>
            </a:pPr>
            <a:r>
              <a:rPr lang="en-AU" noProof="0" dirty="0"/>
              <a:t>Assess the collapse risk using site specific Multiple-Stripe Analysis</a:t>
            </a:r>
          </a:p>
          <a:p>
            <a:pPr marL="457200" indent="-457200">
              <a:spcAft>
                <a:spcPts val="1200"/>
              </a:spcAft>
              <a:buFont typeface="Arial" panose="020B0604020202020204" pitchFamily="34" charset="0"/>
              <a:buChar char="•"/>
            </a:pPr>
            <a:r>
              <a:rPr lang="en-AU" noProof="0" dirty="0"/>
              <a:t>Compare the collapse risk results</a:t>
            </a:r>
          </a:p>
          <a:p>
            <a:pPr marL="457200" indent="-457200">
              <a:spcAft>
                <a:spcPts val="1200"/>
              </a:spcAft>
              <a:buFont typeface="Arial" panose="020B0604020202020204" pitchFamily="34" charset="0"/>
              <a:buChar char="•"/>
            </a:pPr>
            <a:r>
              <a:rPr lang="en-AU" noProof="0" dirty="0"/>
              <a:t>Provide recommendations for a framework for deriving CD-Models and performing reliability-based design</a:t>
            </a:r>
          </a:p>
          <a:p>
            <a:endParaRPr lang="en-AU" noProof="0" dirty="0"/>
          </a:p>
        </p:txBody>
      </p:sp>
    </p:spTree>
    <p:extLst>
      <p:ext uri="{BB962C8B-B14F-4D97-AF65-F5344CB8AC3E}">
        <p14:creationId xmlns:p14="http://schemas.microsoft.com/office/powerpoint/2010/main" val="20022223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BCE95-C383-63AE-6E12-A74623519EDA}"/>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54F3BFA9-5972-9DD9-AFA7-307ED82DC111}"/>
              </a:ext>
            </a:extLst>
          </p:cNvPr>
          <p:cNvSpPr>
            <a:spLocks noGrp="1"/>
          </p:cNvSpPr>
          <p:nvPr>
            <p:ph type="title"/>
          </p:nvPr>
        </p:nvSpPr>
        <p:spPr/>
        <p:txBody>
          <a:bodyPr/>
          <a:lstStyle/>
          <a:p>
            <a:r>
              <a:rPr lang="en-AU" noProof="0" dirty="0"/>
              <a:t>WP05/6 – Publications/Dissertation</a:t>
            </a:r>
          </a:p>
        </p:txBody>
      </p:sp>
      <p:sp>
        <p:nvSpPr>
          <p:cNvPr id="4" name="Textplatzhalter 1">
            <a:extLst>
              <a:ext uri="{FF2B5EF4-FFF2-40B4-BE49-F238E27FC236}">
                <a16:creationId xmlns:a16="http://schemas.microsoft.com/office/drawing/2014/main" id="{B6291AF8-ED27-8F1A-665B-53BFCF8D3BD3}"/>
              </a:ext>
            </a:extLst>
          </p:cNvPr>
          <p:cNvSpPr>
            <a:spLocks noGrp="1"/>
          </p:cNvSpPr>
          <p:nvPr>
            <p:ph type="body" sz="quarter" idx="18"/>
          </p:nvPr>
        </p:nvSpPr>
        <p:spPr>
          <a:xfrm>
            <a:off x="432000" y="899989"/>
            <a:ext cx="11312077" cy="5651824"/>
          </a:xfrm>
        </p:spPr>
        <p:txBody>
          <a:bodyPr/>
          <a:lstStyle/>
          <a:p>
            <a:r>
              <a:rPr lang="en-AU" b="1" u="sng" noProof="0" dirty="0"/>
              <a:t>Papers / Publications: </a:t>
            </a:r>
          </a:p>
          <a:p>
            <a:endParaRPr lang="en-AU" noProof="0" dirty="0"/>
          </a:p>
        </p:txBody>
      </p:sp>
      <p:graphicFrame>
        <p:nvGraphicFramePr>
          <p:cNvPr id="5" name="Tabelle 4">
            <a:extLst>
              <a:ext uri="{FF2B5EF4-FFF2-40B4-BE49-F238E27FC236}">
                <a16:creationId xmlns:a16="http://schemas.microsoft.com/office/drawing/2014/main" id="{9896C989-FDB1-0035-95B8-DB0107D0C0B5}"/>
              </a:ext>
            </a:extLst>
          </p:cNvPr>
          <p:cNvGraphicFramePr>
            <a:graphicFrameLocks noGrp="1"/>
          </p:cNvGraphicFramePr>
          <p:nvPr>
            <p:extLst>
              <p:ext uri="{D42A27DB-BD31-4B8C-83A1-F6EECF244321}">
                <p14:modId xmlns:p14="http://schemas.microsoft.com/office/powerpoint/2010/main" val="1615094414"/>
              </p:ext>
            </p:extLst>
          </p:nvPr>
        </p:nvGraphicFramePr>
        <p:xfrm>
          <a:off x="540271" y="1601665"/>
          <a:ext cx="8113184" cy="4248471"/>
        </p:xfrm>
        <a:graphic>
          <a:graphicData uri="http://schemas.openxmlformats.org/drawingml/2006/table">
            <a:tbl>
              <a:tblPr firstRow="1" bandRow="1">
                <a:tableStyleId>{073A0DAA-6AF3-43AB-8588-CEC1D06C72B9}</a:tableStyleId>
              </a:tblPr>
              <a:tblGrid>
                <a:gridCol w="917360">
                  <a:extLst>
                    <a:ext uri="{9D8B030D-6E8A-4147-A177-3AD203B41FA5}">
                      <a16:colId xmlns:a16="http://schemas.microsoft.com/office/drawing/2014/main" val="3346078920"/>
                    </a:ext>
                  </a:extLst>
                </a:gridCol>
                <a:gridCol w="7195824">
                  <a:extLst>
                    <a:ext uri="{9D8B030D-6E8A-4147-A177-3AD203B41FA5}">
                      <a16:colId xmlns:a16="http://schemas.microsoft.com/office/drawing/2014/main" val="4239787082"/>
                    </a:ext>
                  </a:extLst>
                </a:gridCol>
              </a:tblGrid>
              <a:tr h="413688">
                <a:tc>
                  <a:txBody>
                    <a:bodyPr/>
                    <a:lstStyle/>
                    <a:p>
                      <a:r>
                        <a:rPr lang="de-DE" dirty="0">
                          <a:solidFill>
                            <a:schemeClr val="tx1"/>
                          </a:solidFill>
                        </a:rPr>
                        <a:t>Paper</a:t>
                      </a:r>
                    </a:p>
                  </a:txBody>
                  <a:tcPr>
                    <a:solidFill>
                      <a:schemeClr val="bg1">
                        <a:lumMod val="65000"/>
                      </a:schemeClr>
                    </a:solidFill>
                  </a:tcPr>
                </a:tc>
                <a:tc>
                  <a:txBody>
                    <a:bodyPr/>
                    <a:lstStyle/>
                    <a:p>
                      <a:r>
                        <a:rPr lang="de-DE" dirty="0">
                          <a:solidFill>
                            <a:schemeClr val="tx1"/>
                          </a:solidFill>
                        </a:rPr>
                        <a:t>Title / Topic</a:t>
                      </a:r>
                    </a:p>
                  </a:txBody>
                  <a:tcPr>
                    <a:solidFill>
                      <a:schemeClr val="bg1">
                        <a:lumMod val="65000"/>
                      </a:schemeClr>
                    </a:solidFill>
                  </a:tcPr>
                </a:tc>
                <a:extLst>
                  <a:ext uri="{0D108BD9-81ED-4DB2-BD59-A6C34878D82A}">
                    <a16:rowId xmlns:a16="http://schemas.microsoft.com/office/drawing/2014/main" val="603136253"/>
                  </a:ext>
                </a:extLst>
              </a:tr>
              <a:tr h="550249">
                <a:tc>
                  <a:txBody>
                    <a:bodyPr/>
                    <a:lstStyle/>
                    <a:p>
                      <a:r>
                        <a:rPr lang="de-DE" b="1" dirty="0"/>
                        <a:t>J1</a:t>
                      </a:r>
                    </a:p>
                  </a:txBody>
                  <a:tcPr/>
                </a:tc>
                <a:tc>
                  <a:txBody>
                    <a:bodyPr/>
                    <a:lstStyle/>
                    <a:p>
                      <a:r>
                        <a:rPr lang="de-DE" dirty="0"/>
                        <a:t>Evaluation of </a:t>
                      </a:r>
                      <a:r>
                        <a:rPr lang="de-DE" dirty="0" err="1"/>
                        <a:t>existing</a:t>
                      </a:r>
                      <a:r>
                        <a:rPr lang="de-DE" dirty="0"/>
                        <a:t> </a:t>
                      </a:r>
                      <a:r>
                        <a:rPr lang="de-DE" dirty="0" err="1"/>
                        <a:t>fragility</a:t>
                      </a:r>
                      <a:r>
                        <a:rPr lang="de-DE" dirty="0"/>
                        <a:t> </a:t>
                      </a:r>
                      <a:r>
                        <a:rPr lang="de-DE" dirty="0" err="1"/>
                        <a:t>curves</a:t>
                      </a:r>
                      <a:endParaRPr lang="de-DE" dirty="0"/>
                    </a:p>
                  </a:txBody>
                  <a:tcPr/>
                </a:tc>
                <a:extLst>
                  <a:ext uri="{0D108BD9-81ED-4DB2-BD59-A6C34878D82A}">
                    <a16:rowId xmlns:a16="http://schemas.microsoft.com/office/drawing/2014/main" val="1689327307"/>
                  </a:ext>
                </a:extLst>
              </a:tr>
              <a:tr h="562296">
                <a:tc>
                  <a:txBody>
                    <a:bodyPr/>
                    <a:lstStyle/>
                    <a:p>
                      <a:r>
                        <a:rPr lang="de-DE" dirty="0"/>
                        <a:t>C1</a:t>
                      </a:r>
                    </a:p>
                  </a:txBody>
                  <a:tcPr/>
                </a:tc>
                <a:tc>
                  <a:txBody>
                    <a:bodyPr/>
                    <a:lstStyle/>
                    <a:p>
                      <a:r>
                        <a:rPr lang="de-DE" dirty="0" err="1"/>
                        <a:t>Simplified</a:t>
                      </a:r>
                      <a:r>
                        <a:rPr lang="de-DE" dirty="0"/>
                        <a:t> </a:t>
                      </a:r>
                      <a:r>
                        <a:rPr lang="de-DE" dirty="0" err="1"/>
                        <a:t>risk-based</a:t>
                      </a:r>
                      <a:r>
                        <a:rPr lang="de-DE" dirty="0"/>
                        <a:t> design of </a:t>
                      </a:r>
                      <a:r>
                        <a:rPr lang="de-DE" dirty="0" err="1"/>
                        <a:t>steel</a:t>
                      </a:r>
                      <a:r>
                        <a:rPr lang="de-DE" dirty="0"/>
                        <a:t> </a:t>
                      </a:r>
                      <a:r>
                        <a:rPr lang="de-DE" dirty="0" err="1"/>
                        <a:t>structures</a:t>
                      </a:r>
                      <a:endParaRPr lang="de-DE" dirty="0"/>
                    </a:p>
                  </a:txBody>
                  <a:tcPr/>
                </a:tc>
                <a:extLst>
                  <a:ext uri="{0D108BD9-81ED-4DB2-BD59-A6C34878D82A}">
                    <a16:rowId xmlns:a16="http://schemas.microsoft.com/office/drawing/2014/main" val="1678208558"/>
                  </a:ext>
                </a:extLst>
              </a:tr>
              <a:tr h="714037">
                <a:tc>
                  <a:txBody>
                    <a:bodyPr/>
                    <a:lstStyle/>
                    <a:p>
                      <a:r>
                        <a:rPr lang="de-DE" b="1" dirty="0"/>
                        <a:t>J2</a:t>
                      </a:r>
                    </a:p>
                  </a:txBody>
                  <a:tcPr/>
                </a:tc>
                <a:tc>
                  <a:txBody>
                    <a:bodyPr/>
                    <a:lstStyle/>
                    <a:p>
                      <a:r>
                        <a:rPr lang="de-DE" dirty="0"/>
                        <a:t>A </a:t>
                      </a:r>
                      <a:r>
                        <a:rPr lang="de-DE" dirty="0" err="1"/>
                        <a:t>regionalised</a:t>
                      </a:r>
                      <a:r>
                        <a:rPr lang="de-DE" dirty="0"/>
                        <a:t> </a:t>
                      </a:r>
                      <a:r>
                        <a:rPr lang="de-DE" dirty="0" err="1"/>
                        <a:t>model</a:t>
                      </a:r>
                      <a:r>
                        <a:rPr lang="de-DE" dirty="0"/>
                        <a:t> </a:t>
                      </a:r>
                      <a:r>
                        <a:rPr lang="de-DE" dirty="0" err="1"/>
                        <a:t>for</a:t>
                      </a:r>
                      <a:r>
                        <a:rPr lang="de-DE" dirty="0"/>
                        <a:t> </a:t>
                      </a:r>
                      <a:r>
                        <a:rPr lang="de-DE" dirty="0" err="1"/>
                        <a:t>the</a:t>
                      </a:r>
                      <a:r>
                        <a:rPr lang="de-DE" dirty="0"/>
                        <a:t> </a:t>
                      </a:r>
                      <a:r>
                        <a:rPr lang="de-DE" dirty="0" err="1"/>
                        <a:t>site</a:t>
                      </a:r>
                      <a:r>
                        <a:rPr lang="de-DE" dirty="0"/>
                        <a:t> </a:t>
                      </a:r>
                      <a:r>
                        <a:rPr lang="de-DE" dirty="0" err="1"/>
                        <a:t>dependence</a:t>
                      </a:r>
                      <a:r>
                        <a:rPr lang="de-DE" dirty="0"/>
                        <a:t> of </a:t>
                      </a:r>
                      <a:r>
                        <a:rPr lang="de-DE" dirty="0" err="1"/>
                        <a:t>fragility</a:t>
                      </a:r>
                      <a:r>
                        <a:rPr lang="de-DE" dirty="0"/>
                        <a:t> </a:t>
                      </a:r>
                      <a:r>
                        <a:rPr lang="de-DE" dirty="0" err="1"/>
                        <a:t>curve</a:t>
                      </a:r>
                      <a:r>
                        <a:rPr lang="de-DE" dirty="0"/>
                        <a:t> </a:t>
                      </a:r>
                      <a:r>
                        <a:rPr lang="de-DE" dirty="0" err="1"/>
                        <a:t>parameters</a:t>
                      </a:r>
                      <a:endParaRPr lang="de-DE" dirty="0"/>
                    </a:p>
                  </a:txBody>
                  <a:tcPr/>
                </a:tc>
                <a:extLst>
                  <a:ext uri="{0D108BD9-81ED-4DB2-BD59-A6C34878D82A}">
                    <a16:rowId xmlns:a16="http://schemas.microsoft.com/office/drawing/2014/main" val="946544210"/>
                  </a:ext>
                </a:extLst>
              </a:tr>
              <a:tr h="714037">
                <a:tc>
                  <a:txBody>
                    <a:bodyPr/>
                    <a:lstStyle/>
                    <a:p>
                      <a:r>
                        <a:rPr lang="de-DE" b="1" dirty="0">
                          <a:solidFill>
                            <a:schemeClr val="bg1">
                              <a:lumMod val="50000"/>
                            </a:schemeClr>
                          </a:solidFill>
                        </a:rPr>
                        <a:t>J3</a:t>
                      </a:r>
                      <a:endParaRPr lang="de-DE" b="1" i="1" dirty="0">
                        <a:solidFill>
                          <a:schemeClr val="bg1">
                            <a:lumMod val="50000"/>
                          </a:schemeClr>
                        </a:solidFill>
                      </a:endParaRPr>
                    </a:p>
                  </a:txBody>
                  <a:tcPr/>
                </a:tc>
                <a:tc>
                  <a:txBody>
                    <a:bodyPr/>
                    <a:lstStyle/>
                    <a:p>
                      <a:r>
                        <a:rPr lang="de-DE" dirty="0">
                          <a:solidFill>
                            <a:schemeClr val="bg1">
                              <a:lumMod val="50000"/>
                            </a:schemeClr>
                          </a:solidFill>
                        </a:rPr>
                        <a:t>IM </a:t>
                      </a:r>
                      <a:r>
                        <a:rPr lang="de-DE" dirty="0" err="1">
                          <a:solidFill>
                            <a:schemeClr val="bg1">
                              <a:lumMod val="50000"/>
                            </a:schemeClr>
                          </a:solidFill>
                        </a:rPr>
                        <a:t>correlation</a:t>
                      </a:r>
                      <a:r>
                        <a:rPr lang="de-DE" dirty="0">
                          <a:solidFill>
                            <a:schemeClr val="bg1">
                              <a:lumMod val="50000"/>
                            </a:schemeClr>
                          </a:solidFill>
                        </a:rPr>
                        <a:t> </a:t>
                      </a:r>
                      <a:r>
                        <a:rPr lang="de-DE" dirty="0" err="1">
                          <a:solidFill>
                            <a:schemeClr val="bg1">
                              <a:lumMod val="50000"/>
                            </a:schemeClr>
                          </a:solidFill>
                        </a:rPr>
                        <a:t>models</a:t>
                      </a:r>
                      <a:r>
                        <a:rPr lang="de-DE" dirty="0">
                          <a:solidFill>
                            <a:schemeClr val="bg1">
                              <a:lumMod val="50000"/>
                            </a:schemeClr>
                          </a:solidFill>
                        </a:rPr>
                        <a:t> </a:t>
                      </a:r>
                      <a:r>
                        <a:rPr lang="de-DE" dirty="0" err="1">
                          <a:solidFill>
                            <a:schemeClr val="bg1">
                              <a:lumMod val="50000"/>
                            </a:schemeClr>
                          </a:solidFill>
                        </a:rPr>
                        <a:t>for</a:t>
                      </a:r>
                      <a:r>
                        <a:rPr lang="de-DE" dirty="0">
                          <a:solidFill>
                            <a:schemeClr val="bg1">
                              <a:lumMod val="50000"/>
                            </a:schemeClr>
                          </a:solidFill>
                        </a:rPr>
                        <a:t> ESHM20 GMMs </a:t>
                      </a:r>
                      <a:r>
                        <a:rPr lang="de-DE" dirty="0" err="1">
                          <a:solidFill>
                            <a:schemeClr val="bg1">
                              <a:lumMod val="50000"/>
                            </a:schemeClr>
                          </a:solidFill>
                        </a:rPr>
                        <a:t>based</a:t>
                      </a:r>
                      <a:r>
                        <a:rPr lang="de-DE" dirty="0">
                          <a:solidFill>
                            <a:schemeClr val="bg1">
                              <a:lumMod val="50000"/>
                            </a:schemeClr>
                          </a:solidFill>
                        </a:rPr>
                        <a:t> on </a:t>
                      </a:r>
                      <a:r>
                        <a:rPr lang="de-DE" dirty="0" err="1">
                          <a:solidFill>
                            <a:schemeClr val="bg1">
                              <a:lumMod val="50000"/>
                            </a:schemeClr>
                          </a:solidFill>
                        </a:rPr>
                        <a:t>the</a:t>
                      </a:r>
                      <a:r>
                        <a:rPr lang="de-DE" dirty="0">
                          <a:solidFill>
                            <a:schemeClr val="bg1">
                              <a:lumMod val="50000"/>
                            </a:schemeClr>
                          </a:solidFill>
                        </a:rPr>
                        <a:t> ESM-</a:t>
                      </a:r>
                      <a:r>
                        <a:rPr lang="de-DE" dirty="0" err="1">
                          <a:solidFill>
                            <a:schemeClr val="bg1">
                              <a:lumMod val="50000"/>
                            </a:schemeClr>
                          </a:solidFill>
                        </a:rPr>
                        <a:t>database</a:t>
                      </a:r>
                      <a:endParaRPr lang="de-DE" i="1" dirty="0">
                        <a:solidFill>
                          <a:schemeClr val="bg1">
                            <a:lumMod val="50000"/>
                          </a:schemeClr>
                        </a:solidFill>
                      </a:endParaRPr>
                    </a:p>
                  </a:txBody>
                  <a:tcPr/>
                </a:tc>
                <a:extLst>
                  <a:ext uri="{0D108BD9-81ED-4DB2-BD59-A6C34878D82A}">
                    <a16:rowId xmlns:a16="http://schemas.microsoft.com/office/drawing/2014/main" val="3620447210"/>
                  </a:ext>
                </a:extLst>
              </a:tr>
              <a:tr h="580127">
                <a:tc>
                  <a:txBody>
                    <a:bodyPr/>
                    <a:lstStyle/>
                    <a:p>
                      <a:r>
                        <a:rPr lang="de-DE" b="1" dirty="0"/>
                        <a:t>J4</a:t>
                      </a:r>
                    </a:p>
                  </a:txBody>
                  <a:tcPr/>
                </a:tc>
                <a:tc>
                  <a:txBody>
                    <a:bodyPr/>
                    <a:lstStyle/>
                    <a:p>
                      <a:r>
                        <a:rPr lang="de-DE" dirty="0"/>
                        <a:t>Derivation of CC2D-Models </a:t>
                      </a:r>
                      <a:r>
                        <a:rPr lang="de-DE" dirty="0" err="1"/>
                        <a:t>for</a:t>
                      </a:r>
                      <a:r>
                        <a:rPr lang="de-DE" dirty="0"/>
                        <a:t> </a:t>
                      </a:r>
                      <a:r>
                        <a:rPr lang="de-DE" dirty="0" err="1"/>
                        <a:t>steel</a:t>
                      </a:r>
                      <a:r>
                        <a:rPr lang="de-DE" dirty="0"/>
                        <a:t> CBFs</a:t>
                      </a:r>
                    </a:p>
                  </a:txBody>
                  <a:tcPr/>
                </a:tc>
                <a:extLst>
                  <a:ext uri="{0D108BD9-81ED-4DB2-BD59-A6C34878D82A}">
                    <a16:rowId xmlns:a16="http://schemas.microsoft.com/office/drawing/2014/main" val="3214909515"/>
                  </a:ext>
                </a:extLst>
              </a:tr>
              <a:tr h="714037">
                <a:tc>
                  <a:txBody>
                    <a:bodyPr/>
                    <a:lstStyle/>
                    <a:p>
                      <a:r>
                        <a:rPr lang="de-DE" b="1" dirty="0"/>
                        <a:t>J5</a:t>
                      </a:r>
                    </a:p>
                  </a:txBody>
                  <a:tcPr/>
                </a:tc>
                <a:tc>
                  <a:txBody>
                    <a:bodyPr/>
                    <a:lstStyle/>
                    <a:p>
                      <a:r>
                        <a:rPr lang="de-DE" dirty="0"/>
                        <a:t>The </a:t>
                      </a:r>
                      <a:r>
                        <a:rPr lang="de-DE" dirty="0" err="1"/>
                        <a:t>effect</a:t>
                      </a:r>
                      <a:r>
                        <a:rPr lang="de-DE" dirty="0"/>
                        <a:t> of </a:t>
                      </a:r>
                      <a:r>
                        <a:rPr lang="de-DE" dirty="0" err="1"/>
                        <a:t>modelling</a:t>
                      </a:r>
                      <a:r>
                        <a:rPr lang="de-DE" dirty="0"/>
                        <a:t> and material </a:t>
                      </a:r>
                      <a:r>
                        <a:rPr lang="de-DE" dirty="0" err="1"/>
                        <a:t>uncertainty</a:t>
                      </a:r>
                      <a:r>
                        <a:rPr lang="de-DE" dirty="0"/>
                        <a:t> on </a:t>
                      </a:r>
                      <a:r>
                        <a:rPr lang="de-DE" dirty="0" err="1"/>
                        <a:t>the</a:t>
                      </a:r>
                      <a:r>
                        <a:rPr lang="de-DE" dirty="0"/>
                        <a:t> </a:t>
                      </a:r>
                      <a:r>
                        <a:rPr lang="de-DE" dirty="0" err="1"/>
                        <a:t>fragility</a:t>
                      </a:r>
                      <a:r>
                        <a:rPr lang="de-DE" dirty="0"/>
                        <a:t> </a:t>
                      </a:r>
                      <a:r>
                        <a:rPr lang="de-DE" dirty="0" err="1"/>
                        <a:t>curves</a:t>
                      </a:r>
                      <a:r>
                        <a:rPr lang="de-DE" dirty="0"/>
                        <a:t> of </a:t>
                      </a:r>
                      <a:r>
                        <a:rPr lang="de-DE" dirty="0" err="1"/>
                        <a:t>steel</a:t>
                      </a:r>
                      <a:r>
                        <a:rPr lang="de-DE" dirty="0"/>
                        <a:t> CBFs</a:t>
                      </a:r>
                    </a:p>
                  </a:txBody>
                  <a:tcPr/>
                </a:tc>
                <a:extLst>
                  <a:ext uri="{0D108BD9-81ED-4DB2-BD59-A6C34878D82A}">
                    <a16:rowId xmlns:a16="http://schemas.microsoft.com/office/drawing/2014/main" val="3056981840"/>
                  </a:ext>
                </a:extLst>
              </a:tr>
            </a:tbl>
          </a:graphicData>
        </a:graphic>
      </p:graphicFrame>
      <p:sp>
        <p:nvSpPr>
          <p:cNvPr id="6" name="Textfeld 5">
            <a:extLst>
              <a:ext uri="{FF2B5EF4-FFF2-40B4-BE49-F238E27FC236}">
                <a16:creationId xmlns:a16="http://schemas.microsoft.com/office/drawing/2014/main" id="{71A2DC9B-70EC-8160-F06A-B8FF84B37E25}"/>
              </a:ext>
            </a:extLst>
          </p:cNvPr>
          <p:cNvSpPr txBox="1"/>
          <p:nvPr/>
        </p:nvSpPr>
        <p:spPr>
          <a:xfrm>
            <a:off x="9325247" y="3996333"/>
            <a:ext cx="1296144" cy="369332"/>
          </a:xfrm>
          <a:prstGeom prst="rect">
            <a:avLst/>
          </a:prstGeom>
          <a:noFill/>
        </p:spPr>
        <p:txBody>
          <a:bodyPr wrap="square" rtlCol="0">
            <a:spAutoFit/>
          </a:bodyPr>
          <a:lstStyle/>
          <a:p>
            <a:r>
              <a:rPr lang="de-DE" b="1" dirty="0">
                <a:solidFill>
                  <a:schemeClr val="tx2"/>
                </a:solidFill>
                <a:latin typeface="Futura LT Pro Light" panose="020B0402020204020303" pitchFamily="34" charset="0"/>
                <a:cs typeface="+mn-cs"/>
              </a:rPr>
              <a:t>With </a:t>
            </a:r>
            <a:r>
              <a:rPr lang="de-DE" b="1" dirty="0" err="1">
                <a:solidFill>
                  <a:schemeClr val="tx2"/>
                </a:solidFill>
                <a:latin typeface="Futura LT Pro Light" panose="020B0402020204020303" pitchFamily="34" charset="0"/>
                <a:cs typeface="+mn-cs"/>
              </a:rPr>
              <a:t>GfZ</a:t>
            </a:r>
            <a:r>
              <a:rPr lang="de-DE" b="1" dirty="0">
                <a:solidFill>
                  <a:schemeClr val="tx2"/>
                </a:solidFill>
                <a:latin typeface="Futura LT Pro Light" panose="020B0402020204020303" pitchFamily="34" charset="0"/>
                <a:cs typeface="+mn-cs"/>
              </a:rPr>
              <a:t>?</a:t>
            </a:r>
          </a:p>
        </p:txBody>
      </p:sp>
      <p:sp>
        <p:nvSpPr>
          <p:cNvPr id="7" name="Pfeil: nach rechts 6">
            <a:extLst>
              <a:ext uri="{FF2B5EF4-FFF2-40B4-BE49-F238E27FC236}">
                <a16:creationId xmlns:a16="http://schemas.microsoft.com/office/drawing/2014/main" id="{A2231C65-BDB1-6A04-1375-E4A525687C8F}"/>
              </a:ext>
            </a:extLst>
          </p:cNvPr>
          <p:cNvSpPr/>
          <p:nvPr/>
        </p:nvSpPr>
        <p:spPr>
          <a:xfrm rot="10800000">
            <a:off x="8749183" y="4072987"/>
            <a:ext cx="576064" cy="216024"/>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Tree>
    <p:extLst>
      <p:ext uri="{BB962C8B-B14F-4D97-AF65-F5344CB8AC3E}">
        <p14:creationId xmlns:p14="http://schemas.microsoft.com/office/powerpoint/2010/main" val="14407795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39549-CED7-8593-6388-1DB29EACCA9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55D4DA62-69DD-116D-89BE-E046976396B3}"/>
              </a:ext>
            </a:extLst>
          </p:cNvPr>
          <p:cNvSpPr>
            <a:spLocks noGrp="1"/>
          </p:cNvSpPr>
          <p:nvPr>
            <p:ph type="title"/>
          </p:nvPr>
        </p:nvSpPr>
        <p:spPr>
          <a:xfrm>
            <a:off x="428624" y="2916213"/>
            <a:ext cx="11312525" cy="576263"/>
          </a:xfrm>
        </p:spPr>
        <p:txBody>
          <a:bodyPr/>
          <a:lstStyle/>
          <a:p>
            <a:r>
              <a:rPr lang="en-AU" noProof="0" dirty="0" err="1"/>
              <a:t>Organisatorisches</a:t>
            </a:r>
            <a:r>
              <a:rPr lang="en-AU" noProof="0" dirty="0"/>
              <a:t> - </a:t>
            </a:r>
            <a:r>
              <a:rPr lang="en-AU" noProof="0" dirty="0" err="1"/>
              <a:t>Promotionsordnung</a:t>
            </a:r>
            <a:endParaRPr lang="en-AU" noProof="0" dirty="0"/>
          </a:p>
        </p:txBody>
      </p:sp>
    </p:spTree>
    <p:extLst>
      <p:ext uri="{BB962C8B-B14F-4D97-AF65-F5344CB8AC3E}">
        <p14:creationId xmlns:p14="http://schemas.microsoft.com/office/powerpoint/2010/main" val="1357428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AC61039-CFEE-C6A3-D1E9-F7F5EE7ADD61}"/>
              </a:ext>
            </a:extLst>
          </p:cNvPr>
          <p:cNvSpPr>
            <a:spLocks noGrp="1"/>
          </p:cNvSpPr>
          <p:nvPr>
            <p:ph type="body" sz="quarter" idx="18"/>
          </p:nvPr>
        </p:nvSpPr>
        <p:spPr/>
        <p:txBody>
          <a:bodyPr/>
          <a:lstStyle/>
          <a:p>
            <a:r>
              <a:rPr lang="de-DE" b="1" noProof="0" dirty="0"/>
              <a:t>§5 Dissertation</a:t>
            </a:r>
          </a:p>
          <a:p>
            <a:r>
              <a:rPr lang="de-DE" noProof="0" dirty="0"/>
              <a:t>(5) Die Dissertation </a:t>
            </a:r>
            <a:r>
              <a:rPr lang="de-DE" noProof="0" dirty="0" err="1"/>
              <a:t>is</a:t>
            </a:r>
            <a:r>
              <a:rPr lang="de-DE" noProof="0" dirty="0"/>
              <a:t> in deutscher oder </a:t>
            </a:r>
            <a:r>
              <a:rPr lang="de-DE" b="1" u="sng" noProof="0" dirty="0"/>
              <a:t>englischer</a:t>
            </a:r>
            <a:r>
              <a:rPr lang="de-DE" noProof="0" dirty="0"/>
              <a:t> Sprache abzufassen</a:t>
            </a:r>
          </a:p>
          <a:p>
            <a:r>
              <a:rPr lang="de-DE" dirty="0"/>
              <a:t>(8) In der Regel ist die Dissertation als Monographie zu erstellen, aber …</a:t>
            </a:r>
          </a:p>
          <a:p>
            <a:r>
              <a:rPr lang="de-DE" noProof="0" dirty="0"/>
              <a:t>(9) Eine Kumulative Dissertation </a:t>
            </a:r>
            <a:r>
              <a:rPr lang="de-DE" noProof="0" dirty="0" err="1"/>
              <a:t>is</a:t>
            </a:r>
            <a:r>
              <a:rPr lang="de-DE" noProof="0" dirty="0"/>
              <a:t> unter folgenden Rahmenbedingungen zulässig:</a:t>
            </a:r>
          </a:p>
          <a:p>
            <a:endParaRPr lang="de-DE" dirty="0"/>
          </a:p>
        </p:txBody>
      </p:sp>
      <p:sp>
        <p:nvSpPr>
          <p:cNvPr id="3" name="Titel 2">
            <a:extLst>
              <a:ext uri="{FF2B5EF4-FFF2-40B4-BE49-F238E27FC236}">
                <a16:creationId xmlns:a16="http://schemas.microsoft.com/office/drawing/2014/main" id="{80C74CC1-4CF7-7B1F-0764-FD8C7C39917B}"/>
              </a:ext>
            </a:extLst>
          </p:cNvPr>
          <p:cNvSpPr>
            <a:spLocks noGrp="1"/>
          </p:cNvSpPr>
          <p:nvPr>
            <p:ph type="title"/>
          </p:nvPr>
        </p:nvSpPr>
        <p:spPr/>
        <p:txBody>
          <a:bodyPr/>
          <a:lstStyle/>
          <a:p>
            <a:r>
              <a:rPr lang="de-DE" noProof="0" dirty="0"/>
              <a:t>Organisatorisches – Promotionsordnung</a:t>
            </a:r>
          </a:p>
        </p:txBody>
      </p:sp>
      <p:pic>
        <p:nvPicPr>
          <p:cNvPr id="5" name="Grafik 4" descr="Ein Bild, das Text, Screenshot, Schrift, Zahl enthält.&#10;&#10;KI-generierte Inhalte können fehlerhaft sein.">
            <a:extLst>
              <a:ext uri="{FF2B5EF4-FFF2-40B4-BE49-F238E27FC236}">
                <a16:creationId xmlns:a16="http://schemas.microsoft.com/office/drawing/2014/main" id="{5BBDAD31-2CC8-14BF-8334-C7EE737902F0}"/>
              </a:ext>
            </a:extLst>
          </p:cNvPr>
          <p:cNvPicPr>
            <a:picLocks noChangeAspect="1"/>
          </p:cNvPicPr>
          <p:nvPr/>
        </p:nvPicPr>
        <p:blipFill>
          <a:blip r:embed="rId2"/>
          <a:stretch>
            <a:fillRect/>
          </a:stretch>
        </p:blipFill>
        <p:spPr>
          <a:xfrm>
            <a:off x="2653453" y="2628181"/>
            <a:ext cx="6239746" cy="1771897"/>
          </a:xfrm>
          <a:prstGeom prst="rect">
            <a:avLst/>
          </a:prstGeom>
        </p:spPr>
      </p:pic>
      <p:pic>
        <p:nvPicPr>
          <p:cNvPr id="7" name="Grafik 6" descr="Ein Bild, das Text, Screenshot, Schrift, Zahl enthält.&#10;&#10;KI-generierte Inhalte können fehlerhaft sein.">
            <a:extLst>
              <a:ext uri="{FF2B5EF4-FFF2-40B4-BE49-F238E27FC236}">
                <a16:creationId xmlns:a16="http://schemas.microsoft.com/office/drawing/2014/main" id="{CD67B764-5631-0F8F-0ABC-7164A2783C7E}"/>
              </a:ext>
            </a:extLst>
          </p:cNvPr>
          <p:cNvPicPr>
            <a:picLocks noChangeAspect="1"/>
          </p:cNvPicPr>
          <p:nvPr/>
        </p:nvPicPr>
        <p:blipFill>
          <a:blip r:embed="rId3"/>
          <a:stretch>
            <a:fillRect/>
          </a:stretch>
        </p:blipFill>
        <p:spPr>
          <a:xfrm>
            <a:off x="2667864" y="4470672"/>
            <a:ext cx="6068169" cy="2022723"/>
          </a:xfrm>
          <a:prstGeom prst="rect">
            <a:avLst/>
          </a:prstGeom>
        </p:spPr>
      </p:pic>
    </p:spTree>
    <p:extLst>
      <p:ext uri="{BB962C8B-B14F-4D97-AF65-F5344CB8AC3E}">
        <p14:creationId xmlns:p14="http://schemas.microsoft.com/office/powerpoint/2010/main" val="39179376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9BB7F-C21F-ADF8-DC44-44A35FEC113F}"/>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C0EE6383-B96B-7B35-3013-56A98945D9B0}"/>
              </a:ext>
            </a:extLst>
          </p:cNvPr>
          <p:cNvSpPr>
            <a:spLocks noGrp="1"/>
          </p:cNvSpPr>
          <p:nvPr>
            <p:ph type="body" sz="quarter" idx="18"/>
          </p:nvPr>
        </p:nvSpPr>
        <p:spPr/>
        <p:txBody>
          <a:bodyPr/>
          <a:lstStyle/>
          <a:p>
            <a:r>
              <a:rPr lang="en-AU" b="1" noProof="0" dirty="0"/>
              <a:t>§7 </a:t>
            </a:r>
            <a:r>
              <a:rPr lang="en-AU" b="1" noProof="0" dirty="0" err="1"/>
              <a:t>Gutachter</a:t>
            </a:r>
            <a:r>
              <a:rPr lang="en-AU" b="1" noProof="0" dirty="0"/>
              <a:t> und </a:t>
            </a:r>
            <a:r>
              <a:rPr lang="en-AU" b="1" noProof="0" dirty="0" err="1"/>
              <a:t>Promotionskommission</a:t>
            </a:r>
            <a:endParaRPr lang="en-AU" b="1" noProof="0" dirty="0"/>
          </a:p>
          <a:p>
            <a:endParaRPr lang="en-AU" noProof="0" dirty="0"/>
          </a:p>
          <a:p>
            <a:endParaRPr lang="en-AU" dirty="0"/>
          </a:p>
          <a:p>
            <a:endParaRPr lang="en-AU" noProof="0" dirty="0"/>
          </a:p>
          <a:p>
            <a:endParaRPr lang="en-AU" dirty="0"/>
          </a:p>
          <a:p>
            <a:endParaRPr lang="en-AU" noProof="0" dirty="0"/>
          </a:p>
          <a:p>
            <a:endParaRPr lang="en-AU" dirty="0"/>
          </a:p>
          <a:p>
            <a:endParaRPr lang="en-AU" noProof="0" dirty="0"/>
          </a:p>
          <a:p>
            <a:r>
              <a:rPr lang="en-AU" b="1" dirty="0"/>
              <a:t>§8 </a:t>
            </a:r>
            <a:r>
              <a:rPr lang="en-AU" b="1" dirty="0" err="1"/>
              <a:t>Begutachtung</a:t>
            </a:r>
            <a:r>
              <a:rPr lang="en-AU" b="1" dirty="0"/>
              <a:t> und </a:t>
            </a:r>
            <a:r>
              <a:rPr lang="en-AU" b="1" dirty="0" err="1"/>
              <a:t>Annahme</a:t>
            </a:r>
            <a:r>
              <a:rPr lang="en-AU" b="1" dirty="0"/>
              <a:t> der Dissertation</a:t>
            </a:r>
          </a:p>
          <a:p>
            <a:endParaRPr lang="en-AU" noProof="0" dirty="0"/>
          </a:p>
        </p:txBody>
      </p:sp>
      <p:pic>
        <p:nvPicPr>
          <p:cNvPr id="5" name="Grafik 4" descr="Ein Bild, das Text, Schrift, Screenshot, Reihe enthält.&#10;&#10;KI-generierte Inhalte können fehlerhaft sein.">
            <a:extLst>
              <a:ext uri="{FF2B5EF4-FFF2-40B4-BE49-F238E27FC236}">
                <a16:creationId xmlns:a16="http://schemas.microsoft.com/office/drawing/2014/main" id="{DB3E2A6E-E1E5-3F98-1F40-85A21DEF3D64}"/>
              </a:ext>
            </a:extLst>
          </p:cNvPr>
          <p:cNvPicPr>
            <a:picLocks noChangeAspect="1"/>
          </p:cNvPicPr>
          <p:nvPr/>
        </p:nvPicPr>
        <p:blipFill>
          <a:blip r:embed="rId2"/>
          <a:stretch>
            <a:fillRect/>
          </a:stretch>
        </p:blipFill>
        <p:spPr>
          <a:xfrm>
            <a:off x="461939" y="1620069"/>
            <a:ext cx="6792273" cy="1448002"/>
          </a:xfrm>
          <a:prstGeom prst="rect">
            <a:avLst/>
          </a:prstGeom>
        </p:spPr>
      </p:pic>
      <p:pic>
        <p:nvPicPr>
          <p:cNvPr id="7" name="Grafik 6">
            <a:extLst>
              <a:ext uri="{FF2B5EF4-FFF2-40B4-BE49-F238E27FC236}">
                <a16:creationId xmlns:a16="http://schemas.microsoft.com/office/drawing/2014/main" id="{5EE4B887-93B9-3A1E-E3F9-C339831219E0}"/>
              </a:ext>
            </a:extLst>
          </p:cNvPr>
          <p:cNvPicPr>
            <a:picLocks noChangeAspect="1"/>
          </p:cNvPicPr>
          <p:nvPr/>
        </p:nvPicPr>
        <p:blipFill>
          <a:blip r:embed="rId3"/>
          <a:stretch>
            <a:fillRect/>
          </a:stretch>
        </p:blipFill>
        <p:spPr>
          <a:xfrm>
            <a:off x="461939" y="3210690"/>
            <a:ext cx="6735115" cy="419158"/>
          </a:xfrm>
          <a:prstGeom prst="rect">
            <a:avLst/>
          </a:prstGeom>
        </p:spPr>
      </p:pic>
      <p:pic>
        <p:nvPicPr>
          <p:cNvPr id="8" name="Grafik 7">
            <a:extLst>
              <a:ext uri="{FF2B5EF4-FFF2-40B4-BE49-F238E27FC236}">
                <a16:creationId xmlns:a16="http://schemas.microsoft.com/office/drawing/2014/main" id="{AD9F5C23-D56C-3836-C367-2CDE0604AFB5}"/>
              </a:ext>
            </a:extLst>
          </p:cNvPr>
          <p:cNvPicPr>
            <a:picLocks noChangeAspect="1"/>
          </p:cNvPicPr>
          <p:nvPr/>
        </p:nvPicPr>
        <p:blipFill>
          <a:blip r:embed="rId4"/>
          <a:stretch>
            <a:fillRect/>
          </a:stretch>
        </p:blipFill>
        <p:spPr>
          <a:xfrm>
            <a:off x="425698" y="4599015"/>
            <a:ext cx="6792273" cy="438211"/>
          </a:xfrm>
          <a:prstGeom prst="rect">
            <a:avLst/>
          </a:prstGeom>
        </p:spPr>
      </p:pic>
      <p:sp>
        <p:nvSpPr>
          <p:cNvPr id="10" name="Titel 9">
            <a:extLst>
              <a:ext uri="{FF2B5EF4-FFF2-40B4-BE49-F238E27FC236}">
                <a16:creationId xmlns:a16="http://schemas.microsoft.com/office/drawing/2014/main" id="{965E7F63-9E6A-A88C-5E08-A66EDAE98A19}"/>
              </a:ext>
            </a:extLst>
          </p:cNvPr>
          <p:cNvSpPr>
            <a:spLocks noGrp="1"/>
          </p:cNvSpPr>
          <p:nvPr>
            <p:ph type="title"/>
          </p:nvPr>
        </p:nvSpPr>
        <p:spPr/>
        <p:txBody>
          <a:bodyPr/>
          <a:lstStyle/>
          <a:p>
            <a:r>
              <a:rPr lang="de-DE" dirty="0"/>
              <a:t>Organisatorisches – Promotionsordnung</a:t>
            </a:r>
            <a:br>
              <a:rPr lang="de-DE" dirty="0"/>
            </a:br>
            <a:endParaRPr lang="de-DE" dirty="0"/>
          </a:p>
        </p:txBody>
      </p:sp>
    </p:spTree>
    <p:extLst>
      <p:ext uri="{BB962C8B-B14F-4D97-AF65-F5344CB8AC3E}">
        <p14:creationId xmlns:p14="http://schemas.microsoft.com/office/powerpoint/2010/main" val="13038583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DABEF-7C8C-6E15-699C-EB06E6AAC947}"/>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85B8321-1476-1D0D-50E9-35758F501B1B}"/>
              </a:ext>
            </a:extLst>
          </p:cNvPr>
          <p:cNvSpPr>
            <a:spLocks noGrp="1"/>
          </p:cNvSpPr>
          <p:nvPr>
            <p:ph type="title"/>
          </p:nvPr>
        </p:nvSpPr>
        <p:spPr>
          <a:xfrm>
            <a:off x="428624" y="2916213"/>
            <a:ext cx="11312525" cy="576263"/>
          </a:xfrm>
        </p:spPr>
        <p:txBody>
          <a:bodyPr/>
          <a:lstStyle/>
          <a:p>
            <a:r>
              <a:rPr lang="en-AU" noProof="0" dirty="0" err="1"/>
              <a:t>Organisatorisches</a:t>
            </a:r>
            <a:r>
              <a:rPr lang="en-AU" noProof="0" dirty="0"/>
              <a:t> – </a:t>
            </a:r>
            <a:r>
              <a:rPr lang="en-AU" noProof="0" dirty="0" err="1"/>
              <a:t>zukünftige</a:t>
            </a:r>
            <a:r>
              <a:rPr lang="en-AU" noProof="0" dirty="0"/>
              <a:t> </a:t>
            </a:r>
            <a:r>
              <a:rPr lang="en-AU" noProof="0" dirty="0" err="1"/>
              <a:t>Besprechungen</a:t>
            </a:r>
            <a:endParaRPr lang="en-AU" noProof="0" dirty="0"/>
          </a:p>
        </p:txBody>
      </p:sp>
    </p:spTree>
    <p:extLst>
      <p:ext uri="{BB962C8B-B14F-4D97-AF65-F5344CB8AC3E}">
        <p14:creationId xmlns:p14="http://schemas.microsoft.com/office/powerpoint/2010/main" val="36522034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5F67-DD64-2EDD-42F0-D91228821BD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ADF3A86-E263-5CDF-A8C1-814E46796BAB}"/>
              </a:ext>
            </a:extLst>
          </p:cNvPr>
          <p:cNvSpPr>
            <a:spLocks noGrp="1"/>
          </p:cNvSpPr>
          <p:nvPr>
            <p:ph type="title"/>
          </p:nvPr>
        </p:nvSpPr>
        <p:spPr>
          <a:xfrm>
            <a:off x="428624" y="2916213"/>
            <a:ext cx="11312525" cy="576263"/>
          </a:xfrm>
        </p:spPr>
        <p:txBody>
          <a:bodyPr/>
          <a:lstStyle/>
          <a:p>
            <a:r>
              <a:rPr lang="en-AU" noProof="0" dirty="0" err="1"/>
              <a:t>Sonstige</a:t>
            </a:r>
            <a:r>
              <a:rPr lang="en-AU" noProof="0" dirty="0"/>
              <a:t> Fragen </a:t>
            </a:r>
            <a:r>
              <a:rPr lang="en-AU" noProof="0" dirty="0" err="1"/>
              <a:t>oder</a:t>
            </a:r>
            <a:r>
              <a:rPr lang="en-AU" noProof="0" dirty="0"/>
              <a:t> </a:t>
            </a:r>
            <a:r>
              <a:rPr lang="en-AU" noProof="0" dirty="0" err="1"/>
              <a:t>Kommentare</a:t>
            </a:r>
            <a:r>
              <a:rPr lang="en-AU" noProof="0" dirty="0"/>
              <a:t>?</a:t>
            </a:r>
          </a:p>
        </p:txBody>
      </p:sp>
    </p:spTree>
    <p:extLst>
      <p:ext uri="{BB962C8B-B14F-4D97-AF65-F5344CB8AC3E}">
        <p14:creationId xmlns:p14="http://schemas.microsoft.com/office/powerpoint/2010/main" val="3603512801"/>
      </p:ext>
    </p:extLst>
  </p:cSld>
  <p:clrMapOvr>
    <a:masterClrMapping/>
  </p:clrMapOvr>
</p:sld>
</file>

<file path=ppt/theme/theme1.xml><?xml version="1.0" encoding="utf-8"?>
<a:theme xmlns:a="http://schemas.openxmlformats.org/drawingml/2006/main" name="Wölfel-Master16x9_de_rev01">
  <a:themeElements>
    <a:clrScheme name="HSU Farben">
      <a:dk1>
        <a:srgbClr val="000000"/>
      </a:dk1>
      <a:lt1>
        <a:srgbClr val="FFFFFF"/>
      </a:lt1>
      <a:dk2>
        <a:srgbClr val="C00000"/>
      </a:dk2>
      <a:lt2>
        <a:srgbClr val="8C8279"/>
      </a:lt2>
      <a:accent1>
        <a:srgbClr val="FFC845"/>
      </a:accent1>
      <a:accent2>
        <a:srgbClr val="00263E"/>
      </a:accent2>
      <a:accent3>
        <a:srgbClr val="00685E"/>
      </a:accent3>
      <a:accent4>
        <a:srgbClr val="9F912A"/>
      </a:accent4>
      <a:accent5>
        <a:srgbClr val="BE6A14"/>
      </a:accent5>
      <a:accent6>
        <a:srgbClr val="BE3A34"/>
      </a:accent6>
      <a:hlink>
        <a:srgbClr val="7F7F7F"/>
      </a:hlink>
      <a:folHlink>
        <a:srgbClr val="595959"/>
      </a:folHlink>
    </a:clrScheme>
    <a:fontScheme name="Wölfel">
      <a:majorFont>
        <a:latin typeface="Futura LT Pro Book"/>
        <a:ea typeface=""/>
        <a:cs typeface=""/>
      </a:majorFont>
      <a:minorFont>
        <a:latin typeface="Futura LT Pro Book"/>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solidFill>
              <a:srgbClr val="333333"/>
            </a:solidFill>
            <a:latin typeface="Futura LT Pro Light" panose="020B0402020204020303" pitchFamily="34" charset="0"/>
            <a:cs typeface="+mn-cs"/>
          </a:defRPr>
        </a:defPPr>
      </a:lstStyle>
    </a:txDef>
  </a:objectDefaults>
  <a:extraClrSchemeLst/>
  <a:extLst>
    <a:ext uri="{05A4C25C-085E-4340-85A3-A5531E510DB2}">
      <thm15:themeFamily xmlns:thm15="http://schemas.microsoft.com/office/thememl/2012/main" name="PräsentationVL (002).pptx  -  Schreibgeschützt" id="{45838681-CEEC-43E9-93E0-6AC7B7F2B798}" vid="{92A8DBD5-76BA-4CE2-8716-ECAE39623A2C}"/>
    </a:ext>
  </a:extLst>
</a:theme>
</file>

<file path=ppt/theme/theme2.xml><?xml version="1.0" encoding="utf-8"?>
<a:theme xmlns:a="http://schemas.openxmlformats.org/drawingml/2006/main" name="1_Wölfel-Master16x9_de_rev01">
  <a:themeElements>
    <a:clrScheme name="HSU Farben">
      <a:dk1>
        <a:srgbClr val="000000"/>
      </a:dk1>
      <a:lt1>
        <a:srgbClr val="FFFFFF"/>
      </a:lt1>
      <a:dk2>
        <a:srgbClr val="C00000"/>
      </a:dk2>
      <a:lt2>
        <a:srgbClr val="8C8279"/>
      </a:lt2>
      <a:accent1>
        <a:srgbClr val="FFC845"/>
      </a:accent1>
      <a:accent2>
        <a:srgbClr val="00263E"/>
      </a:accent2>
      <a:accent3>
        <a:srgbClr val="00685E"/>
      </a:accent3>
      <a:accent4>
        <a:srgbClr val="9F912A"/>
      </a:accent4>
      <a:accent5>
        <a:srgbClr val="BE6A14"/>
      </a:accent5>
      <a:accent6>
        <a:srgbClr val="BE3A34"/>
      </a:accent6>
      <a:hlink>
        <a:srgbClr val="7F7F7F"/>
      </a:hlink>
      <a:folHlink>
        <a:srgbClr val="595959"/>
      </a:folHlink>
    </a:clrScheme>
    <a:fontScheme name="Wölfel">
      <a:majorFont>
        <a:latin typeface="Futura LT Pro Book"/>
        <a:ea typeface=""/>
        <a:cs typeface=""/>
      </a:majorFont>
      <a:minorFont>
        <a:latin typeface="Futura LT Pro Book"/>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solidFill>
              <a:srgbClr val="333333"/>
            </a:solidFill>
            <a:latin typeface="Futura LT Pro Light" panose="020B0402020204020303" pitchFamily="34" charset="0"/>
            <a:cs typeface="+mn-cs"/>
          </a:defRPr>
        </a:defPPr>
      </a:lstStyle>
    </a:txDef>
  </a:objectDefaults>
  <a:extraClrSchemeLst/>
  <a:extLst>
    <a:ext uri="{05A4C25C-085E-4340-85A3-A5531E510DB2}">
      <thm15:themeFamily xmlns:thm15="http://schemas.microsoft.com/office/thememl/2012/main" name="PräsentationVL (002).pptx  -  Schreibgeschützt" id="{45838681-CEEC-43E9-93E0-6AC7B7F2B798}" vid="{92A8DBD5-76BA-4CE2-8716-ECAE39623A2C}"/>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3661</Words>
  <Application>Microsoft Office PowerPoint</Application>
  <PresentationFormat>Benutzerdefiniert</PresentationFormat>
  <Paragraphs>590</Paragraphs>
  <Slides>60</Slides>
  <Notes>5</Notes>
  <HiddenSlides>0</HiddenSlides>
  <MMClips>0</MMClips>
  <ScaleCrop>false</ScaleCrop>
  <HeadingPairs>
    <vt:vector size="6" baseType="variant">
      <vt:variant>
        <vt:lpstr>Verwendete Schriftarten</vt:lpstr>
      </vt:variant>
      <vt:variant>
        <vt:i4>11</vt:i4>
      </vt:variant>
      <vt:variant>
        <vt:lpstr>Design</vt:lpstr>
      </vt:variant>
      <vt:variant>
        <vt:i4>2</vt:i4>
      </vt:variant>
      <vt:variant>
        <vt:lpstr>Folientitel</vt:lpstr>
      </vt:variant>
      <vt:variant>
        <vt:i4>60</vt:i4>
      </vt:variant>
    </vt:vector>
  </HeadingPairs>
  <TitlesOfParts>
    <vt:vector size="73" baseType="lpstr">
      <vt:lpstr>MS Mincho</vt:lpstr>
      <vt:lpstr>Aptos Narrow</vt:lpstr>
      <vt:lpstr>Arial</vt:lpstr>
      <vt:lpstr>Calibri</vt:lpstr>
      <vt:lpstr>Cambria Math</vt:lpstr>
      <vt:lpstr>Century Gothic</vt:lpstr>
      <vt:lpstr>Futura Lt BT</vt:lpstr>
      <vt:lpstr>Futura LT Pro Book</vt:lpstr>
      <vt:lpstr>Futura LT Pro Light</vt:lpstr>
      <vt:lpstr>Times New Roman</vt:lpstr>
      <vt:lpstr>Wingdings</vt:lpstr>
      <vt:lpstr>Wölfel-Master16x9_de_rev01</vt:lpstr>
      <vt:lpstr>1_Wölfel-Master16x9_de_rev01</vt:lpstr>
      <vt:lpstr>Reliability-based Seismic Design</vt:lpstr>
      <vt:lpstr>The Current Approach: Hazard-based Design</vt:lpstr>
      <vt:lpstr>Reliability-based Verification: EC8 Annex F</vt:lpstr>
      <vt:lpstr>Reliability-based Verification: EC8 Annex F</vt:lpstr>
      <vt:lpstr>Reliability-based Design</vt:lpstr>
      <vt:lpstr>A Reliability-based Design Procedure</vt:lpstr>
      <vt:lpstr>CC2D-Models in a reliability-based Design Procedure</vt:lpstr>
      <vt:lpstr>Requirements for the CC2D-Model</vt:lpstr>
      <vt:lpstr>Factors Influencing CC2D-models</vt:lpstr>
      <vt:lpstr>Existing CC2D-Models / Procedures</vt:lpstr>
      <vt:lpstr>Existing CC2D-Models / Procedures</vt:lpstr>
      <vt:lpstr>Existing CC2D-Models / Procedures</vt:lpstr>
      <vt:lpstr>Summary of the Review</vt:lpstr>
      <vt:lpstr>Research Direction:</vt:lpstr>
      <vt:lpstr>Summary</vt:lpstr>
      <vt:lpstr>Work Packages</vt:lpstr>
      <vt:lpstr>Research Direction:</vt:lpstr>
      <vt:lpstr>Work-Packages</vt:lpstr>
      <vt:lpstr>WP00 – Evaluation of existing fragility curve models </vt:lpstr>
      <vt:lpstr>WP01 – Site-dependence of fragility curve parameters </vt:lpstr>
      <vt:lpstr>WP02 – CC2D-Models for steel CBF archetype structures </vt:lpstr>
      <vt:lpstr>WP03 – Modelling and Material Uncertainty </vt:lpstr>
      <vt:lpstr>WP04 – Verification of the Design Procedure</vt:lpstr>
      <vt:lpstr>Work-Packages</vt:lpstr>
      <vt:lpstr>WP00 – Evaluation of existing fragility curve models </vt:lpstr>
      <vt:lpstr>WP00 – Evaluation of existing fragility curve models </vt:lpstr>
      <vt:lpstr>WP00 – Evaluation of existing fragility curve models </vt:lpstr>
      <vt:lpstr>WP00 – Evaluation of existing fragility curve models </vt:lpstr>
      <vt:lpstr>WP00 – Evaluation of existing fragility curve models </vt:lpstr>
      <vt:lpstr>WP00 – Evaluation of existing fragility curve models </vt:lpstr>
      <vt:lpstr>WP00 – Evaluation of existing fragility curve models </vt:lpstr>
      <vt:lpstr>WP01 – Site-dependence of fragility curve parameters </vt:lpstr>
      <vt:lpstr>WP01 – Site-dependence of fragility curve parameters </vt:lpstr>
      <vt:lpstr>WP01 – Site-dependence of fragility curve parameters </vt:lpstr>
      <vt:lpstr>WP01 – Site-dependence of fragility curve parameters </vt:lpstr>
      <vt:lpstr>WP01 – Site-dependence of fragility curve parameters </vt:lpstr>
      <vt:lpstr>WP01 – Site-dependence of fragility curve parameters </vt:lpstr>
      <vt:lpstr>WP01 – Site-dependence of fragility curve parameters </vt:lpstr>
      <vt:lpstr>WP01 – Site-dependence of fragility curve parameters </vt:lpstr>
      <vt:lpstr>WP02 – CC2D-Models for steel CBF archetype structures </vt:lpstr>
      <vt:lpstr>WP02 – CC2D-Models for steel CBF archetype structures </vt:lpstr>
      <vt:lpstr>WP02 – CC2D-Models for steel CBF archetype structures </vt:lpstr>
      <vt:lpstr>WP02 – CC2D-Models for steel CBF archetype structures </vt:lpstr>
      <vt:lpstr>WP02 – CC2D-Models for steel CBF archetype structures </vt:lpstr>
      <vt:lpstr>WP02 – CC2D-Models for steel CBF archetype structures </vt:lpstr>
      <vt:lpstr>WP02 – CC2D-Models for steel CBF archetype structures </vt:lpstr>
      <vt:lpstr>WP02 – CC2D-Models for steel CBF archetype structures </vt:lpstr>
      <vt:lpstr>WP02 – CC2D-Models for steel CBF archetype structures </vt:lpstr>
      <vt:lpstr>WP02 – CC2D-Models for steel CBF archetype structures </vt:lpstr>
      <vt:lpstr>WP03 – Modelling and Material Uncertainty </vt:lpstr>
      <vt:lpstr>WP03 – Modelling and Material Uncertainty </vt:lpstr>
      <vt:lpstr>WP03 – Modelling and Material Uncertainty </vt:lpstr>
      <vt:lpstr>WP04 – Verification of the Design Procedure</vt:lpstr>
      <vt:lpstr>WP04 – Verification of the Design Procedure</vt:lpstr>
      <vt:lpstr>WP05/6 – Publications/Dissertation</vt:lpstr>
      <vt:lpstr>Organisatorisches - Promotionsordnung</vt:lpstr>
      <vt:lpstr>Organisatorisches – Promotionsordnung</vt:lpstr>
      <vt:lpstr>Organisatorisches – Promotionsordnung </vt:lpstr>
      <vt:lpstr>Organisatorisches – zukünftige Besprechungen</vt:lpstr>
      <vt:lpstr>Sonstige Fragen oder Kommentare?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Jiangnan Chen</dc:creator>
  <cp:lastModifiedBy>Nicholas Aaron Clemett</cp:lastModifiedBy>
  <cp:revision>34</cp:revision>
  <cp:lastPrinted>2017-04-05T11:06:27Z</cp:lastPrinted>
  <dcterms:created xsi:type="dcterms:W3CDTF">2024-12-05T10:31:18Z</dcterms:created>
  <dcterms:modified xsi:type="dcterms:W3CDTF">2025-12-12T06:29:03Z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fd2079b-6d85-4185-8122-5cca51dad164_Enabled">
    <vt:lpwstr>true</vt:lpwstr>
  </property>
  <property fmtid="{D5CDD505-2E9C-101B-9397-08002B2CF9AE}" pid="3" name="MSIP_Label_8fd2079b-6d85-4185-8122-5cca51dad164_SetDate">
    <vt:lpwstr>2024-07-30T15:30:36Z</vt:lpwstr>
  </property>
  <property fmtid="{D5CDD505-2E9C-101B-9397-08002B2CF9AE}" pid="4" name="MSIP_Label_8fd2079b-6d85-4185-8122-5cca51dad164_Method">
    <vt:lpwstr>Standard</vt:lpwstr>
  </property>
  <property fmtid="{D5CDD505-2E9C-101B-9397-08002B2CF9AE}" pid="5" name="MSIP_Label_8fd2079b-6d85-4185-8122-5cca51dad164_Name">
    <vt:lpwstr>Öffentlich</vt:lpwstr>
  </property>
  <property fmtid="{D5CDD505-2E9C-101B-9397-08002B2CF9AE}" pid="6" name="MSIP_Label_8fd2079b-6d85-4185-8122-5cca51dad164_SiteId">
    <vt:lpwstr>5832f73f-b0fa-45a0-80d9-7e32bd7fa822</vt:lpwstr>
  </property>
  <property fmtid="{D5CDD505-2E9C-101B-9397-08002B2CF9AE}" pid="7" name="MSIP_Label_8fd2079b-6d85-4185-8122-5cca51dad164_ActionId">
    <vt:lpwstr>2a9a2add-c76e-44bf-a6d3-b7db089b7e11</vt:lpwstr>
  </property>
  <property fmtid="{D5CDD505-2E9C-101B-9397-08002B2CF9AE}" pid="8" name="MSIP_Label_8fd2079b-6d85-4185-8122-5cca51dad164_ContentBits">
    <vt:lpwstr>0</vt:lpwstr>
  </property>
</Properties>
</file>