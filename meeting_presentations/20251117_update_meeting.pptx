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31" r:id="rId5"/>
  </p:sldMasterIdLst>
  <p:notesMasterIdLst>
    <p:notesMasterId r:id="rId23"/>
  </p:notesMasterIdLst>
  <p:handoutMasterIdLst>
    <p:handoutMasterId r:id="rId24"/>
  </p:handoutMasterIdLst>
  <p:sldIdLst>
    <p:sldId id="333" r:id="rId6"/>
    <p:sldId id="362" r:id="rId7"/>
    <p:sldId id="344" r:id="rId8"/>
    <p:sldId id="358" r:id="rId9"/>
    <p:sldId id="370" r:id="rId10"/>
    <p:sldId id="371" r:id="rId11"/>
    <p:sldId id="372" r:id="rId12"/>
    <p:sldId id="376" r:id="rId13"/>
    <p:sldId id="373" r:id="rId14"/>
    <p:sldId id="377" r:id="rId15"/>
    <p:sldId id="378" r:id="rId16"/>
    <p:sldId id="379" r:id="rId17"/>
    <p:sldId id="380" r:id="rId18"/>
    <p:sldId id="382" r:id="rId19"/>
    <p:sldId id="383" r:id="rId20"/>
    <p:sldId id="384" r:id="rId21"/>
    <p:sldId id="381" r:id="rId22"/>
  </p:sldIdLst>
  <p:sldSz cx="12169775" cy="6840538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3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A50034"/>
    <a:srgbClr val="969696"/>
    <a:srgbClr val="92D050"/>
    <a:srgbClr val="00B0F0"/>
    <a:srgbClr val="FFC000"/>
    <a:srgbClr val="7030A0"/>
    <a:srgbClr val="CC0000"/>
    <a:srgbClr val="E4E4E4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6247" autoAdjust="0"/>
  </p:normalViewPr>
  <p:slideViewPr>
    <p:cSldViewPr snapToObjects="1">
      <p:cViewPr varScale="1">
        <p:scale>
          <a:sx n="95" d="100"/>
          <a:sy n="95" d="100"/>
        </p:scale>
        <p:origin x="1038" y="306"/>
      </p:cViewPr>
      <p:guideLst>
        <p:guide orient="horz" pos="2155"/>
        <p:guide pos="38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Objects="1">
      <p:cViewPr varScale="1">
        <p:scale>
          <a:sx n="78" d="100"/>
          <a:sy n="78" d="100"/>
        </p:scale>
        <p:origin x="406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30A3966-C9DD-4B3B-880C-4FE8DCE50841}" type="datetimeFigureOut">
              <a:rPr lang="de-DE"/>
              <a:pPr>
                <a:defRPr/>
              </a:pPr>
              <a:t>14.11.2025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4AF7639-78D4-40B5-9FD0-31ADF45C8B0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43156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1AB5578-CC26-43A4-89CD-E9A8B892F524}" type="datetimeFigureOut">
              <a:rPr lang="de-DE"/>
              <a:pPr>
                <a:defRPr/>
              </a:pPr>
              <a:t>14.11.2025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B972F9A-03C1-4F6D-967E-9CCBC4F2825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7061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Wölfel-Grup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hl\Desktop\Powerpoint-Vorlagen\Power-Point-Bilder\Schwingung-kle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12172950" cy="683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hteck 6"/>
          <p:cNvSpPr>
            <a:spLocks/>
          </p:cNvSpPr>
          <p:nvPr/>
        </p:nvSpPr>
        <p:spPr>
          <a:xfrm>
            <a:off x="0" y="3959225"/>
            <a:ext cx="12169775" cy="144145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" y="4068501"/>
            <a:ext cx="9829302" cy="1223976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5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8606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 Individu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19491" y="35893"/>
            <a:ext cx="12169775" cy="684053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pic>
        <p:nvPicPr>
          <p:cNvPr id="7" name="Bildplatzhalter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3" b="7843"/>
          <a:stretch>
            <a:fillRect/>
          </a:stretch>
        </p:blipFill>
        <p:spPr bwMode="auto">
          <a:xfrm>
            <a:off x="2" y="0"/>
            <a:ext cx="12208755" cy="685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hteck 6"/>
          <p:cNvSpPr>
            <a:spLocks/>
          </p:cNvSpPr>
          <p:nvPr/>
        </p:nvSpPr>
        <p:spPr>
          <a:xfrm>
            <a:off x="-19491" y="3852317"/>
            <a:ext cx="12247741" cy="180020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-19491" y="3924546"/>
            <a:ext cx="9829302" cy="1045380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6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 dirty="0"/>
              <a:t>Titel der Arbeit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46E2C84-B091-DCF8-F36E-95EB21974D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814" y="4243097"/>
            <a:ext cx="1566939" cy="1125547"/>
          </a:xfrm>
          <a:prstGeom prst="rect">
            <a:avLst/>
          </a:prstGeom>
        </p:spPr>
      </p:pic>
      <p:sp>
        <p:nvSpPr>
          <p:cNvPr id="27" name="Textplatzhalter 32">
            <a:extLst>
              <a:ext uri="{FF2B5EF4-FFF2-40B4-BE49-F238E27FC236}">
                <a16:creationId xmlns:a16="http://schemas.microsoft.com/office/drawing/2014/main" id="{66AA9F20-053C-03EB-E0DB-D8611C3EE1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1884" y="5111991"/>
            <a:ext cx="9829304" cy="513305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    Autoren und weitere Info</a:t>
            </a:r>
          </a:p>
        </p:txBody>
      </p:sp>
    </p:spTree>
    <p:extLst>
      <p:ext uri="{BB962C8B-B14F-4D97-AF65-F5344CB8AC3E}">
        <p14:creationId xmlns:p14="http://schemas.microsoft.com/office/powerpoint/2010/main" val="999813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971722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pPr>
            <a:r>
              <a:rPr lang="de-DE"/>
              <a:t>Mastertextformat bearbeiten</a:t>
            </a:r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F260251-00DE-C81E-CCE9-36C086CCE3A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515080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7DAC636-4291-90D7-A2D4-CCD1B992923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211425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6320661" y="1044086"/>
            <a:ext cx="5400675" cy="507526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701CA59-EC79-449D-605E-CE88F43A804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08225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/>
          <p:cNvSpPr>
            <a:spLocks noGrp="1"/>
          </p:cNvSpPr>
          <p:nvPr>
            <p:ph idx="13"/>
          </p:nvPr>
        </p:nvSpPr>
        <p:spPr>
          <a:xfrm>
            <a:off x="6320661" y="104354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5164F5-704F-A74E-DCD1-8CCCED8DA14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331941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2"/>
          <p:cNvSpPr>
            <a:spLocks noGrp="1"/>
          </p:cNvSpPr>
          <p:nvPr>
            <p:ph type="pic" sz="quarter" idx="16"/>
          </p:nvPr>
        </p:nvSpPr>
        <p:spPr>
          <a:xfrm>
            <a:off x="831490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7"/>
          </p:nvPr>
        </p:nvSpPr>
        <p:spPr>
          <a:xfrm>
            <a:off x="437264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sz="quarter" idx="20"/>
          </p:nvPr>
        </p:nvSpPr>
        <p:spPr>
          <a:xfrm>
            <a:off x="425750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sz="quarter" idx="21"/>
          </p:nvPr>
        </p:nvSpPr>
        <p:spPr>
          <a:xfrm>
            <a:off x="4359797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2"/>
          <p:cNvSpPr>
            <a:spLocks noGrp="1"/>
          </p:cNvSpPr>
          <p:nvPr>
            <p:ph type="body" sz="quarter" idx="22"/>
          </p:nvPr>
        </p:nvSpPr>
        <p:spPr>
          <a:xfrm>
            <a:off x="8304476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6E1DB91-C0FA-B971-7C66-9263112FA82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727847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20"/>
          </p:nvPr>
        </p:nvSpPr>
        <p:spPr>
          <a:xfrm>
            <a:off x="9155682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22"/>
          </p:nvPr>
        </p:nvSpPr>
        <p:spPr>
          <a:xfrm>
            <a:off x="6245704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24"/>
          </p:nvPr>
        </p:nvSpPr>
        <p:spPr>
          <a:xfrm>
            <a:off x="3335727" y="1048349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25"/>
          </p:nvPr>
        </p:nvSpPr>
        <p:spPr>
          <a:xfrm>
            <a:off x="333572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26"/>
          </p:nvPr>
        </p:nvSpPr>
        <p:spPr>
          <a:xfrm>
            <a:off x="401141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2"/>
          <p:cNvSpPr>
            <a:spLocks noGrp="1"/>
          </p:cNvSpPr>
          <p:nvPr>
            <p:ph type="body" sz="quarter" idx="27"/>
          </p:nvPr>
        </p:nvSpPr>
        <p:spPr>
          <a:xfrm>
            <a:off x="6249048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sz="quarter" idx="28"/>
          </p:nvPr>
        </p:nvSpPr>
        <p:spPr>
          <a:xfrm>
            <a:off x="915173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E7100E3-45CC-826A-3EA8-D8EE82C8DD3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793557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quarter" idx="11"/>
          </p:nvPr>
        </p:nvSpPr>
        <p:spPr>
          <a:xfrm>
            <a:off x="-6541" y="899989"/>
            <a:ext cx="12169775" cy="54006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7AA63D2-0FE4-0C99-DB21-FA84B57A8E9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87674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de-DE" altLang="de-DE" noProof="0" dirty="0"/>
              <a:t>Kontakt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13676B4-B155-5F8F-6057-DF3B869FEA30}"/>
              </a:ext>
            </a:extLst>
          </p:cNvPr>
          <p:cNvSpPr txBox="1"/>
          <p:nvPr userDrawn="1"/>
        </p:nvSpPr>
        <p:spPr>
          <a:xfrm>
            <a:off x="6876975" y="313862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Bild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09195FD-226E-2A90-AAD0-AB25507E38E6}"/>
              </a:ext>
            </a:extLst>
          </p:cNvPr>
          <p:cNvSpPr txBox="1"/>
          <p:nvPr userDrawn="1"/>
        </p:nvSpPr>
        <p:spPr>
          <a:xfrm>
            <a:off x="3420591" y="1980109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Name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b="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Musterman</a:t>
            </a:r>
            <a:r>
              <a:rPr lang="de-DE" sz="1400" b="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Müller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4B15629-97F5-8BEC-9D1E-B728357B0DB2}"/>
              </a:ext>
            </a:extLst>
          </p:cNvPr>
          <p:cNvSpPr txBox="1"/>
          <p:nvPr userDrawn="1"/>
        </p:nvSpPr>
        <p:spPr>
          <a:xfrm>
            <a:off x="3420591" y="2850597"/>
            <a:ext cx="237626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Adresse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Holstenhofweg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85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22043 Hamburg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0CE536-3EEC-B47C-951C-BEC73BC30E57}"/>
              </a:ext>
            </a:extLst>
          </p:cNvPr>
          <p:cNvSpPr txBox="1"/>
          <p:nvPr userDrawn="1"/>
        </p:nvSpPr>
        <p:spPr>
          <a:xfrm>
            <a:off x="3387564" y="3721085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E-Mail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x.x@hsu-hh.de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BE5B3DF-488A-D766-82B1-FBFC746DE7C8}"/>
              </a:ext>
            </a:extLst>
          </p:cNvPr>
          <p:cNvSpPr txBox="1"/>
          <p:nvPr userDrawn="1"/>
        </p:nvSpPr>
        <p:spPr>
          <a:xfrm>
            <a:off x="3387564" y="4591573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Nummer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+4940</a:t>
            </a:r>
          </a:p>
        </p:txBody>
      </p:sp>
    </p:spTree>
    <p:extLst>
      <p:ext uri="{BB962C8B-B14F-4D97-AF65-F5344CB8AC3E}">
        <p14:creationId xmlns:p14="http://schemas.microsoft.com/office/powerpoint/2010/main" val="2984051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Wölfel-Grup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hl\Desktop\Powerpoint-Vorlagen\Power-Point-Bilder\Schwingung-kle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12172950" cy="683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hteck 6"/>
          <p:cNvSpPr>
            <a:spLocks/>
          </p:cNvSpPr>
          <p:nvPr/>
        </p:nvSpPr>
        <p:spPr>
          <a:xfrm>
            <a:off x="0" y="3959225"/>
            <a:ext cx="12169775" cy="144145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" y="4068501"/>
            <a:ext cx="9829302" cy="1223976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5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496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Individu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19491" y="35893"/>
            <a:ext cx="12169775" cy="684053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pic>
        <p:nvPicPr>
          <p:cNvPr id="7" name="Bildplatzhalter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3" b="7843"/>
          <a:stretch>
            <a:fillRect/>
          </a:stretch>
        </p:blipFill>
        <p:spPr bwMode="auto">
          <a:xfrm>
            <a:off x="2" y="0"/>
            <a:ext cx="12208755" cy="685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hteck 6"/>
          <p:cNvSpPr>
            <a:spLocks/>
          </p:cNvSpPr>
          <p:nvPr/>
        </p:nvSpPr>
        <p:spPr>
          <a:xfrm>
            <a:off x="-19491" y="3852317"/>
            <a:ext cx="12247741" cy="180020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-19491" y="3924546"/>
            <a:ext cx="9829302" cy="1045380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6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 dirty="0"/>
              <a:t>Titel der Arbeit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46E2C84-B091-DCF8-F36E-95EB21974D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814" y="4243097"/>
            <a:ext cx="1566939" cy="1125547"/>
          </a:xfrm>
          <a:prstGeom prst="rect">
            <a:avLst/>
          </a:prstGeom>
        </p:spPr>
      </p:pic>
      <p:sp>
        <p:nvSpPr>
          <p:cNvPr id="27" name="Textplatzhalter 32">
            <a:extLst>
              <a:ext uri="{FF2B5EF4-FFF2-40B4-BE49-F238E27FC236}">
                <a16:creationId xmlns:a16="http://schemas.microsoft.com/office/drawing/2014/main" id="{66AA9F20-053C-03EB-E0DB-D8611C3EE1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1884" y="5111991"/>
            <a:ext cx="9829304" cy="513305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    Autoren und weitere Info</a:t>
            </a:r>
          </a:p>
        </p:txBody>
      </p:sp>
    </p:spTree>
    <p:extLst>
      <p:ext uri="{BB962C8B-B14F-4D97-AF65-F5344CB8AC3E}">
        <p14:creationId xmlns:p14="http://schemas.microsoft.com/office/powerpoint/2010/main" val="1264746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311718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pPr>
            <a:r>
              <a:rPr lang="de-DE"/>
              <a:t>Mastertextformat bearbeiten</a:t>
            </a:r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5541E96-A906-4926-15A3-EE69C7A2A81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348776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734CAE5-A7CA-9279-E4CE-C90205BB051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956759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6320661" y="1044086"/>
            <a:ext cx="5400675" cy="507526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AF9CD7D-AA18-5F2D-B11F-17C0F451D29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231543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/>
          <p:cNvSpPr>
            <a:spLocks noGrp="1"/>
          </p:cNvSpPr>
          <p:nvPr>
            <p:ph idx="13"/>
          </p:nvPr>
        </p:nvSpPr>
        <p:spPr>
          <a:xfrm>
            <a:off x="6320661" y="104354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B247082-1AB1-98A9-23EC-10ED40B8E8D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129876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2"/>
          <p:cNvSpPr>
            <a:spLocks noGrp="1"/>
          </p:cNvSpPr>
          <p:nvPr>
            <p:ph type="pic" sz="quarter" idx="16"/>
          </p:nvPr>
        </p:nvSpPr>
        <p:spPr>
          <a:xfrm>
            <a:off x="831490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7"/>
          </p:nvPr>
        </p:nvSpPr>
        <p:spPr>
          <a:xfrm>
            <a:off x="437264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sz="quarter" idx="20"/>
          </p:nvPr>
        </p:nvSpPr>
        <p:spPr>
          <a:xfrm>
            <a:off x="425750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sz="quarter" idx="21"/>
          </p:nvPr>
        </p:nvSpPr>
        <p:spPr>
          <a:xfrm>
            <a:off x="4359797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2"/>
          <p:cNvSpPr>
            <a:spLocks noGrp="1"/>
          </p:cNvSpPr>
          <p:nvPr>
            <p:ph type="body" sz="quarter" idx="22"/>
          </p:nvPr>
        </p:nvSpPr>
        <p:spPr>
          <a:xfrm>
            <a:off x="8304476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AF9EAB8-C767-8577-9E5F-24AD159313A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0664769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20"/>
          </p:nvPr>
        </p:nvSpPr>
        <p:spPr>
          <a:xfrm>
            <a:off x="9155682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22"/>
          </p:nvPr>
        </p:nvSpPr>
        <p:spPr>
          <a:xfrm>
            <a:off x="6245704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24"/>
          </p:nvPr>
        </p:nvSpPr>
        <p:spPr>
          <a:xfrm>
            <a:off x="3335727" y="1048349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25"/>
          </p:nvPr>
        </p:nvSpPr>
        <p:spPr>
          <a:xfrm>
            <a:off x="333572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26"/>
          </p:nvPr>
        </p:nvSpPr>
        <p:spPr>
          <a:xfrm>
            <a:off x="401141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2"/>
          <p:cNvSpPr>
            <a:spLocks noGrp="1"/>
          </p:cNvSpPr>
          <p:nvPr>
            <p:ph type="body" sz="quarter" idx="27"/>
          </p:nvPr>
        </p:nvSpPr>
        <p:spPr>
          <a:xfrm>
            <a:off x="6249048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sz="quarter" idx="28"/>
          </p:nvPr>
        </p:nvSpPr>
        <p:spPr>
          <a:xfrm>
            <a:off x="915173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833868A-0AB3-338E-58E9-87EBE88F1CB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2675902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quarter" idx="11"/>
          </p:nvPr>
        </p:nvSpPr>
        <p:spPr>
          <a:xfrm>
            <a:off x="-6541" y="899989"/>
            <a:ext cx="12169775" cy="54006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C107058-1257-058E-D650-4D6D0163B6A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6586112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de-DE" altLang="de-DE" noProof="0" dirty="0"/>
              <a:t>Kontakt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13676B4-B155-5F8F-6057-DF3B869FEA30}"/>
              </a:ext>
            </a:extLst>
          </p:cNvPr>
          <p:cNvSpPr txBox="1"/>
          <p:nvPr userDrawn="1"/>
        </p:nvSpPr>
        <p:spPr>
          <a:xfrm>
            <a:off x="6876975" y="313862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Bild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09195FD-226E-2A90-AAD0-AB25507E38E6}"/>
              </a:ext>
            </a:extLst>
          </p:cNvPr>
          <p:cNvSpPr txBox="1"/>
          <p:nvPr userDrawn="1"/>
        </p:nvSpPr>
        <p:spPr>
          <a:xfrm>
            <a:off x="3420591" y="1980109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Name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b="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Musterman</a:t>
            </a:r>
            <a:r>
              <a:rPr lang="de-DE" sz="1400" b="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Müller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4B15629-97F5-8BEC-9D1E-B728357B0DB2}"/>
              </a:ext>
            </a:extLst>
          </p:cNvPr>
          <p:cNvSpPr txBox="1"/>
          <p:nvPr userDrawn="1"/>
        </p:nvSpPr>
        <p:spPr>
          <a:xfrm>
            <a:off x="3420591" y="2850597"/>
            <a:ext cx="237626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Adresse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Holstenhofweg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85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22043 Hamburg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0CE536-3EEC-B47C-951C-BEC73BC30E57}"/>
              </a:ext>
            </a:extLst>
          </p:cNvPr>
          <p:cNvSpPr txBox="1"/>
          <p:nvPr userDrawn="1"/>
        </p:nvSpPr>
        <p:spPr>
          <a:xfrm>
            <a:off x="3387564" y="3721085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E-Mail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x.x@hsu-hh.de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BE5B3DF-488A-D766-82B1-FBFC746DE7C8}"/>
              </a:ext>
            </a:extLst>
          </p:cNvPr>
          <p:cNvSpPr txBox="1"/>
          <p:nvPr userDrawn="1"/>
        </p:nvSpPr>
        <p:spPr>
          <a:xfrm>
            <a:off x="3387564" y="4591573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Nummer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+4940</a:t>
            </a:r>
          </a:p>
        </p:txBody>
      </p:sp>
    </p:spTree>
    <p:extLst>
      <p:ext uri="{BB962C8B-B14F-4D97-AF65-F5344CB8AC3E}">
        <p14:creationId xmlns:p14="http://schemas.microsoft.com/office/powerpoint/2010/main" val="2217526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 err="1"/>
              <a:t>Folientiel</a:t>
            </a:r>
            <a:r>
              <a:rPr lang="de-DE" altLang="de-DE" noProof="0" dirty="0"/>
              <a:t> (Hauptaussage der Folie)</a:t>
            </a:r>
          </a:p>
        </p:txBody>
      </p:sp>
      <p:sp>
        <p:nvSpPr>
          <p:cNvPr id="1028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31800" y="969133"/>
            <a:ext cx="11312525" cy="504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Textmasterformat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  <a:fld id="{B83DA5D8-7131-4301-8D10-8A8E68711562}" type="slidenum">
              <a:rPr lang="de-DE" sz="1400" smtClean="0">
                <a:latin typeface="Futura LT Pro Light" panose="020B0402020204020303"/>
              </a:rPr>
              <a:pPr/>
              <a:t>‹Nr.›</a:t>
            </a:fld>
            <a:endParaRPr lang="de-DE" altLang="de-DE" noProof="0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295" y="65086"/>
            <a:ext cx="936104" cy="672412"/>
          </a:xfrm>
          <a:prstGeom prst="rect">
            <a:avLst/>
          </a:prstGeom>
        </p:spPr>
      </p:pic>
      <p:cxnSp>
        <p:nvCxnSpPr>
          <p:cNvPr id="6" name="Gerade Verbindung 9">
            <a:extLst>
              <a:ext uri="{FF2B5EF4-FFF2-40B4-BE49-F238E27FC236}">
                <a16:creationId xmlns:a16="http://schemas.microsoft.com/office/drawing/2014/main" id="{86C9092A-B764-C02C-81AA-6DDBC66C874A}"/>
              </a:ext>
            </a:extLst>
          </p:cNvPr>
          <p:cNvCxnSpPr>
            <a:cxnSpLocks/>
          </p:cNvCxnSpPr>
          <p:nvPr userDrawn="1"/>
        </p:nvCxnSpPr>
        <p:spPr>
          <a:xfrm>
            <a:off x="431800" y="789570"/>
            <a:ext cx="113182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9">
            <a:extLst>
              <a:ext uri="{FF2B5EF4-FFF2-40B4-BE49-F238E27FC236}">
                <a16:creationId xmlns:a16="http://schemas.microsoft.com/office/drawing/2014/main" id="{4130A57A-8A70-B176-27B3-D3CDA3E91685}"/>
              </a:ext>
            </a:extLst>
          </p:cNvPr>
          <p:cNvCxnSpPr>
            <a:cxnSpLocks/>
          </p:cNvCxnSpPr>
          <p:nvPr userDrawn="1"/>
        </p:nvCxnSpPr>
        <p:spPr>
          <a:xfrm>
            <a:off x="428624" y="6300589"/>
            <a:ext cx="113125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76FED74E-6A41-22E9-9385-D7EF28545870}"/>
              </a:ext>
            </a:extLst>
          </p:cNvPr>
          <p:cNvSpPr txBox="1"/>
          <p:nvPr userDrawn="1"/>
        </p:nvSpPr>
        <p:spPr>
          <a:xfrm>
            <a:off x="4302687" y="6350241"/>
            <a:ext cx="3564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Promotion Update </a:t>
            </a:r>
          </a:p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Nicholas Clemett, 17.11.2025  </a:t>
            </a:r>
            <a:endParaRPr lang="de-DE" sz="1000" dirty="0">
              <a:solidFill>
                <a:srgbClr val="333333"/>
              </a:solidFill>
              <a:latin typeface="Futura LT Pro Light" panose="020B0402020204020303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FA543B6-D9F9-83B5-BE45-2680583BF74F}"/>
              </a:ext>
            </a:extLst>
          </p:cNvPr>
          <p:cNvSpPr txBox="1"/>
          <p:nvPr userDrawn="1"/>
        </p:nvSpPr>
        <p:spPr>
          <a:xfrm>
            <a:off x="11053439" y="6504130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Folie </a:t>
            </a:r>
            <a:fld id="{A0A23BBC-0FAD-4C23-98D3-6CFBA32CD3CA}" type="slidenum">
              <a:rPr lang="de-DE" sz="1000" smtClean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‹Nr.›</a:t>
            </a:fld>
            <a:endParaRPr lang="de-DE" sz="1000" dirty="0">
              <a:solidFill>
                <a:srgbClr val="333333"/>
              </a:solidFill>
              <a:latin typeface="Century Gothic" panose="020B0502020202020204" pitchFamily="34" charset="0"/>
              <a:cs typeface="+mn-cs"/>
            </a:endParaRPr>
          </a:p>
        </p:txBody>
      </p:sp>
      <p:pic>
        <p:nvPicPr>
          <p:cNvPr id="5" name="Grafik 4" descr="Ein Bild, das Grafiken, Design enthält.&#10;&#10;KI-generierte Inhalte können fehlerhaft sein.">
            <a:extLst>
              <a:ext uri="{FF2B5EF4-FFF2-40B4-BE49-F238E27FC236}">
                <a16:creationId xmlns:a16="http://schemas.microsoft.com/office/drawing/2014/main" id="{247CEBD7-6333-F783-5620-9469F122711C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246" y="39352"/>
            <a:ext cx="846192" cy="6849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25" r:id="rId2"/>
    <p:sldLayoutId id="2147483714" r:id="rId3"/>
    <p:sldLayoutId id="2147483729" r:id="rId4"/>
    <p:sldLayoutId id="2147483716" r:id="rId5"/>
    <p:sldLayoutId id="2147483717" r:id="rId6"/>
    <p:sldLayoutId id="2147483728" r:id="rId7"/>
    <p:sldLayoutId id="2147483726" r:id="rId8"/>
    <p:sldLayoutId id="2147483727" r:id="rId9"/>
    <p:sldLayoutId id="2147483719" r:id="rId10"/>
    <p:sldLayoutId id="214748374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rgbClr val="333333"/>
          </a:solidFill>
          <a:latin typeface="Century Gothic" panose="020B0502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9pPr>
    </p:titleStyle>
    <p:bodyStyle>
      <a:lvl1pPr marL="447675" indent="-447675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20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1pPr>
      <a:lvl2pPr marL="895350" indent="-43815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6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2pPr>
      <a:lvl3pPr marL="13716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3pPr>
      <a:lvl4pPr marL="18288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4pPr>
      <a:lvl5pPr marL="22860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 err="1"/>
              <a:t>Folientiel</a:t>
            </a:r>
            <a:r>
              <a:rPr lang="de-DE" altLang="de-DE" noProof="0" dirty="0"/>
              <a:t> (Hauptaussage der Folie)</a:t>
            </a:r>
          </a:p>
        </p:txBody>
      </p:sp>
      <p:sp>
        <p:nvSpPr>
          <p:cNvPr id="1028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31800" y="969133"/>
            <a:ext cx="11312525" cy="504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Textmasterformat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  <a:fld id="{B83DA5D8-7131-4301-8D10-8A8E68711562}" type="slidenum">
              <a:rPr lang="de-DE" sz="1400" smtClean="0">
                <a:latin typeface="Futura LT Pro Light" panose="020B0402020204020303"/>
              </a:rPr>
              <a:pPr/>
              <a:t>‹Nr.›</a:t>
            </a:fld>
            <a:endParaRPr lang="de-DE" altLang="de-DE" noProof="0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407" y="65086"/>
            <a:ext cx="936104" cy="672412"/>
          </a:xfrm>
          <a:prstGeom prst="rect">
            <a:avLst/>
          </a:prstGeom>
        </p:spPr>
      </p:pic>
      <p:cxnSp>
        <p:nvCxnSpPr>
          <p:cNvPr id="6" name="Gerade Verbindung 9">
            <a:extLst>
              <a:ext uri="{FF2B5EF4-FFF2-40B4-BE49-F238E27FC236}">
                <a16:creationId xmlns:a16="http://schemas.microsoft.com/office/drawing/2014/main" id="{86C9092A-B764-C02C-81AA-6DDBC66C874A}"/>
              </a:ext>
            </a:extLst>
          </p:cNvPr>
          <p:cNvCxnSpPr>
            <a:cxnSpLocks/>
          </p:cNvCxnSpPr>
          <p:nvPr userDrawn="1"/>
        </p:nvCxnSpPr>
        <p:spPr>
          <a:xfrm>
            <a:off x="431800" y="789570"/>
            <a:ext cx="113182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9">
            <a:extLst>
              <a:ext uri="{FF2B5EF4-FFF2-40B4-BE49-F238E27FC236}">
                <a16:creationId xmlns:a16="http://schemas.microsoft.com/office/drawing/2014/main" id="{4130A57A-8A70-B176-27B3-D3CDA3E91685}"/>
              </a:ext>
            </a:extLst>
          </p:cNvPr>
          <p:cNvCxnSpPr>
            <a:cxnSpLocks/>
          </p:cNvCxnSpPr>
          <p:nvPr userDrawn="1"/>
        </p:nvCxnSpPr>
        <p:spPr>
          <a:xfrm>
            <a:off x="428624" y="6300589"/>
            <a:ext cx="113125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76FED74E-6A41-22E9-9385-D7EF28545870}"/>
              </a:ext>
            </a:extLst>
          </p:cNvPr>
          <p:cNvSpPr txBox="1"/>
          <p:nvPr userDrawn="1"/>
        </p:nvSpPr>
        <p:spPr>
          <a:xfrm>
            <a:off x="4302687" y="6350241"/>
            <a:ext cx="3564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Titel der Arbeit</a:t>
            </a:r>
          </a:p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Namen, Datum  </a:t>
            </a:r>
            <a:endParaRPr lang="de-DE" sz="1000" dirty="0">
              <a:solidFill>
                <a:srgbClr val="333333"/>
              </a:solidFill>
              <a:latin typeface="Futura LT Pro Light" panose="020B0402020204020303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FA543B6-D9F9-83B5-BE45-2680583BF74F}"/>
              </a:ext>
            </a:extLst>
          </p:cNvPr>
          <p:cNvSpPr txBox="1"/>
          <p:nvPr userDrawn="1"/>
        </p:nvSpPr>
        <p:spPr>
          <a:xfrm>
            <a:off x="11053439" y="6504130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Folie </a:t>
            </a:r>
            <a:fld id="{A0A23BBC-0FAD-4C23-98D3-6CFBA32CD3CA}" type="slidenum">
              <a:rPr lang="de-DE" sz="1000" smtClean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‹Nr.›</a:t>
            </a:fld>
            <a:endParaRPr lang="de-DE" sz="1000" dirty="0">
              <a:solidFill>
                <a:srgbClr val="333333"/>
              </a:solidFill>
              <a:latin typeface="Century Gothic" panose="020B0502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639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5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rgbClr val="333333"/>
          </a:solidFill>
          <a:latin typeface="Century Gothic" panose="020B0502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9pPr>
    </p:titleStyle>
    <p:bodyStyle>
      <a:lvl1pPr marL="447675" indent="-447675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20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1pPr>
      <a:lvl2pPr marL="895350" indent="-43815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6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2pPr>
      <a:lvl3pPr marL="13716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3pPr>
      <a:lvl4pPr marL="18288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4pPr>
      <a:lvl5pPr marL="22860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D47B7A2B-5E0C-9953-3B10-4D7EC340E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031377C-2515-4502-0A4D-C58C8B9EE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491" y="4212357"/>
            <a:ext cx="9829302" cy="1045380"/>
          </a:xfrm>
        </p:spPr>
        <p:txBody>
          <a:bodyPr>
            <a:normAutofit/>
          </a:bodyPr>
          <a:lstStyle/>
          <a:p>
            <a:r>
              <a:rPr lang="de-DE" dirty="0"/>
              <a:t>Promotion Update - 17.11.2025</a:t>
            </a:r>
            <a:br>
              <a:rPr lang="de-DE" dirty="0"/>
            </a:br>
            <a:r>
              <a:rPr lang="de-DE" sz="2400" dirty="0"/>
              <a:t>Zeitverläufe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1888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AF5AE1-C6E4-9FD7-339C-45FA436D2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1" y="1080764"/>
            <a:ext cx="9469310" cy="5075809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Papers zu ESHM20 lesen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Mit Graeme Weatherill (GFZ) sprechen bzgl.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 err="1"/>
              <a:t>Kotha</a:t>
            </a:r>
            <a:r>
              <a:rPr lang="de-DE" dirty="0"/>
              <a:t> et al. (2020) und Korrelationsmodelle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 err="1"/>
              <a:t>tectonische</a:t>
            </a:r>
            <a:r>
              <a:rPr lang="de-DE" dirty="0"/>
              <a:t> Berieche in ESHM20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/>
              <a:t>Ein Weg mögliche </a:t>
            </a:r>
            <a:r>
              <a:rPr lang="de-DE" dirty="0" err="1"/>
              <a:t>Ständorte</a:t>
            </a:r>
            <a:r>
              <a:rPr lang="de-DE" dirty="0"/>
              <a:t> zu bestimmen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Literatur zur andere Regionale Risiko-Projekte (e.g. </a:t>
            </a:r>
            <a:r>
              <a:rPr lang="de-DE" dirty="0" err="1"/>
              <a:t>Caltrans</a:t>
            </a:r>
            <a:r>
              <a:rPr lang="de-DE" dirty="0"/>
              <a:t> Brücken?) lesen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Literature</a:t>
            </a:r>
            <a:r>
              <a:rPr lang="de-DE" dirty="0"/>
              <a:t> zur Multi-Site </a:t>
            </a:r>
            <a:r>
              <a:rPr lang="de-DE" dirty="0" err="1"/>
              <a:t>Record</a:t>
            </a:r>
            <a:r>
              <a:rPr lang="de-DE" dirty="0"/>
              <a:t> </a:t>
            </a:r>
            <a:r>
              <a:rPr lang="de-DE" dirty="0" err="1"/>
              <a:t>Selection</a:t>
            </a:r>
            <a:r>
              <a:rPr lang="de-DE" dirty="0"/>
              <a:t> lesen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Genauere Ziele / </a:t>
            </a:r>
            <a:r>
              <a:rPr lang="de-DE" dirty="0" err="1"/>
              <a:t>Skope</a:t>
            </a:r>
            <a:r>
              <a:rPr lang="de-DE" dirty="0"/>
              <a:t> meiner Studie definieren… </a:t>
            </a:r>
            <a:r>
              <a:rPr lang="de-DE" dirty="0">
                <a:sym typeface="Wingdings" panose="05000000000000000000" pitchFamily="2" charset="2"/>
              </a:rPr>
              <a:t> mit Zeitplan</a:t>
            </a:r>
            <a:endParaRPr lang="de-DE" dirty="0"/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/>
              <a:t>Worauf soll ich fokussieren…</a:t>
            </a:r>
          </a:p>
          <a:p>
            <a:pPr marL="1714500" lvl="2" indent="-342900">
              <a:buFont typeface="Arial" panose="020B0604020202020204" pitchFamily="34" charset="0"/>
              <a:buChar char="•"/>
            </a:pPr>
            <a:r>
              <a:rPr lang="de-DE" dirty="0"/>
              <a:t>Bodenklassen</a:t>
            </a:r>
          </a:p>
          <a:p>
            <a:pPr marL="1714500" lvl="2" indent="-342900">
              <a:buFont typeface="Arial" panose="020B0604020202020204" pitchFamily="34" charset="0"/>
              <a:buChar char="•"/>
            </a:pPr>
            <a:r>
              <a:rPr lang="de-DE" dirty="0" err="1"/>
              <a:t>tectonische</a:t>
            </a:r>
            <a:r>
              <a:rPr lang="de-DE" dirty="0"/>
              <a:t> </a:t>
            </a:r>
            <a:r>
              <a:rPr lang="de-DE" dirty="0" err="1"/>
              <a:t>bereiche</a:t>
            </a:r>
            <a:endParaRPr lang="de-DE" dirty="0"/>
          </a:p>
          <a:p>
            <a:pPr marL="1714500" lvl="2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Zeitplan für gesamt Promotion erstellen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EDCF027-1574-BB4C-AD73-D90629C68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Von letzten Mal:</a:t>
            </a:r>
          </a:p>
        </p:txBody>
      </p:sp>
    </p:spTree>
    <p:extLst>
      <p:ext uri="{BB962C8B-B14F-4D97-AF65-F5344CB8AC3E}">
        <p14:creationId xmlns:p14="http://schemas.microsoft.com/office/powerpoint/2010/main" val="2690076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4DE69-1D82-2A64-2F08-F4E0E573A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EF1C8B3-3942-5C1D-9C91-30447112E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Vorschlag zur Auswahl Zeitverläufe für </a:t>
            </a:r>
            <a:r>
              <a:rPr lang="de-DE" dirty="0" err="1"/>
              <a:t>Fragiltätsanalyse</a:t>
            </a:r>
            <a:r>
              <a:rPr lang="de-DE" dirty="0"/>
              <a:t> (IDA)</a:t>
            </a:r>
          </a:p>
        </p:txBody>
      </p:sp>
    </p:spTree>
    <p:extLst>
      <p:ext uri="{BB962C8B-B14F-4D97-AF65-F5344CB8AC3E}">
        <p14:creationId xmlns:p14="http://schemas.microsoft.com/office/powerpoint/2010/main" val="2100042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5C6DE68-D212-19A0-F6DB-865B0BA4D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Auswahl Zeitverläufe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C891679-3268-6FDA-8EF1-043C14A3699C}"/>
              </a:ext>
            </a:extLst>
          </p:cNvPr>
          <p:cNvSpPr txBox="1"/>
          <p:nvPr/>
        </p:nvSpPr>
        <p:spPr>
          <a:xfrm>
            <a:off x="459417" y="1116013"/>
            <a:ext cx="1088205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Gewünscht:</a:t>
            </a:r>
          </a:p>
          <a:p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Auswahl eine (oder </a:t>
            </a:r>
            <a:r>
              <a:rPr lang="de-DE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vllt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. mehrere) Gruppe(n) von Zeitverläufen, die die Besonderheiten von verschiedenen Regionen in Europa (z.B. ggf. tektonische Regionen, Bodenklasse, </a:t>
            </a:r>
            <a:r>
              <a:rPr lang="de-DE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Gefährdungsniveauen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) decken, um eine Sensitivitätsuntersuchung durchzuführen</a:t>
            </a:r>
          </a:p>
          <a:p>
            <a:pPr marL="342900" indent="-342900">
              <a:buFont typeface="+mj-lt"/>
              <a:buAutoNum type="arabicPeriod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Auswahl / Vorschlag eine (oder </a:t>
            </a:r>
            <a:r>
              <a:rPr lang="de-DE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vllt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. mehrere) Gruppe(n) von Zeitverläufen, die für die Ermittlung der Fragilitätskurven für Zuverlässigkeits-basierte Erdbebenbemessung geeignet sind.</a:t>
            </a:r>
          </a:p>
          <a:p>
            <a:pPr marL="342900" indent="-342900">
              <a:buFont typeface="+mj-lt"/>
              <a:buAutoNum type="arabicPeriod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Die Auswahl der Zeitverlaufe soll auf dem neusten paneuropäisch Erdbebengefährdungsmodell entsprechen (ESHM20)</a:t>
            </a:r>
          </a:p>
          <a:p>
            <a:pPr marL="342900" indent="-342900">
              <a:buFont typeface="+mj-lt"/>
              <a:buAutoNum type="arabicPeriod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u="sng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So weit wie möglich 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nur europäische Zeitverläufe sind zu verwenden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5528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21BB4DE-EACD-D126-44A1-194517FC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Arbeitspakete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4061C20-CBD8-4250-71BC-5DDD486718ED}"/>
              </a:ext>
            </a:extLst>
          </p:cNvPr>
          <p:cNvSpPr txBox="1"/>
          <p:nvPr/>
        </p:nvSpPr>
        <p:spPr>
          <a:xfrm>
            <a:off x="459417" y="1116013"/>
            <a:ext cx="10882053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Auswahl eine „EU“ Gruppe Erbebenzeitverläufe für die Ermittlung von Fragilitätskurven für zuverlässigkeitsbasierte Erdbebenbemessung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de-DE" sz="1600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Untersucht den Einfluss regionale Unterscheide in Gefährdung und tektonische Eigenschaften haben auf die Fragilitätskurven.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Bezogen auf Bodenklasse A, Vs30 &gt; 800 ms</a:t>
            </a:r>
            <a:r>
              <a:rPr lang="de-DE" sz="1600" baseline="30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-1</a:t>
            </a: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u="sng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Output:</a:t>
            </a: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</a:t>
            </a: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eine „EU“ Zeitverlaufsgruppe </a:t>
            </a: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und ggf. Modifikationsfaktoren für die Streuung der Fragilitätskurve abhängig von der tektonischen Region.</a:t>
            </a:r>
          </a:p>
          <a:p>
            <a:pPr marL="800100" lvl="1" indent="-342900">
              <a:buFont typeface="+mj-lt"/>
              <a:buAutoNum type="arabicPeriod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Einfluss der Bodenklasse auf der Ermittlung der Fragilitätskurven für zuverlässigkeitsbasierte 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</a:rPr>
              <a:t>Erdbebenbemessung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Charakterisiert den Unterschied der ermittelten Fragilitätskurve für verschiedene Bodenklassen innerhalb einer Region im Vergleich zu den „EU“ Fragilitätskurven.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u="sng" dirty="0">
                <a:solidFill>
                  <a:srgbClr val="333333"/>
                </a:solidFill>
                <a:latin typeface="Futura LT Pro Light" panose="020B0402020204020303" pitchFamily="34" charset="0"/>
              </a:rPr>
              <a:t>Output:</a:t>
            </a: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 Modifikationsfaktoren für das Median und die Streuung der Fragilitätskurve abhängig von der Bodenklasse am Standort des zu bemessenen Gebäudes.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7713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F1FB3FC-D555-84D5-C06C-5A5936C70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Arbeitspakete Z1: Auswahl Zeitverläufe</a:t>
            </a:r>
          </a:p>
        </p:txBody>
      </p:sp>
      <p:pic>
        <p:nvPicPr>
          <p:cNvPr id="7" name="Grafik 6" descr="Ein Bild, das Text, Karte, Atlas, Screenshot enthält.&#10;&#10;KI-generierte Inhalte können fehlerhaft sein.">
            <a:extLst>
              <a:ext uri="{FF2B5EF4-FFF2-40B4-BE49-F238E27FC236}">
                <a16:creationId xmlns:a16="http://schemas.microsoft.com/office/drawing/2014/main" id="{CE2BCD4F-714B-CB47-D4A7-E0477D38F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39" y="1548061"/>
            <a:ext cx="5066524" cy="3598713"/>
          </a:xfrm>
          <a:prstGeom prst="rect">
            <a:avLst/>
          </a:prstGeom>
        </p:spPr>
      </p:pic>
      <p:pic>
        <p:nvPicPr>
          <p:cNvPr id="9" name="Grafik 8" descr="Ein Bild, das Karte, Text, Atlas, Screenshot enthält.&#10;&#10;KI-generierte Inhalte können fehlerhaft sein.">
            <a:extLst>
              <a:ext uri="{FF2B5EF4-FFF2-40B4-BE49-F238E27FC236}">
                <a16:creationId xmlns:a16="http://schemas.microsoft.com/office/drawing/2014/main" id="{52F219A1-4CBA-F0DF-5825-CD0B0856A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839" y="1548061"/>
            <a:ext cx="5035632" cy="3598713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6BEFF35-5ECF-1112-E7F1-A6B155F641BA}"/>
              </a:ext>
            </a:extLst>
          </p:cNvPr>
          <p:cNvSpPr txBox="1"/>
          <p:nvPr/>
        </p:nvSpPr>
        <p:spPr>
          <a:xfrm>
            <a:off x="361464" y="6114709"/>
            <a:ext cx="113125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i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Weatherill et al. 2020 - </a:t>
            </a:r>
            <a:r>
              <a:rPr lang="en-US" sz="900" i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 regionally‑adaptable “scaled backbone” ground motion logic tree for shallow seismicity in Europe: application to the 2020 European seismic hazard model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EFADA7E-9F2D-85E2-4F83-05DFDE804DC1}"/>
              </a:ext>
            </a:extLst>
          </p:cNvPr>
          <p:cNvSpPr txBox="1"/>
          <p:nvPr/>
        </p:nvSpPr>
        <p:spPr>
          <a:xfrm>
            <a:off x="1980431" y="5229608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5 tektonische Regionen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ED97307-EF4B-B1AD-AE13-E4F3607BE02D}"/>
              </a:ext>
            </a:extLst>
          </p:cNvPr>
          <p:cNvSpPr txBox="1"/>
          <p:nvPr/>
        </p:nvSpPr>
        <p:spPr>
          <a:xfrm>
            <a:off x="7597055" y="5229608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7 Dämpfungsregionen</a:t>
            </a:r>
          </a:p>
        </p:txBody>
      </p:sp>
    </p:spTree>
    <p:extLst>
      <p:ext uri="{BB962C8B-B14F-4D97-AF65-F5344CB8AC3E}">
        <p14:creationId xmlns:p14="http://schemas.microsoft.com/office/powerpoint/2010/main" val="153669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9160C83-2E23-B521-EBBA-12EA15BC4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Arbeitspakete Z1: Auswahl Zeitverläufe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D1C2CAD-A2A7-38AC-3FBD-568E157DD746}"/>
              </a:ext>
            </a:extLst>
          </p:cNvPr>
          <p:cNvSpPr txBox="1"/>
          <p:nvPr/>
        </p:nvSpPr>
        <p:spPr>
          <a:xfrm>
            <a:off x="459418" y="971997"/>
            <a:ext cx="4689366" cy="444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Herangehensweise:</a:t>
            </a:r>
          </a:p>
          <a:p>
            <a:pPr marL="342900" indent="-342900">
              <a:buFont typeface="+mj-lt"/>
              <a:buAutoNum type="arabicPeriod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</a:rPr>
              <a:t>Auswahl ein Bedingende IM.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AvgSA aber welche Definition?</a:t>
            </a:r>
          </a:p>
          <a:p>
            <a:pPr marL="342900" indent="-342900">
              <a:buFont typeface="+mj-lt"/>
              <a:buAutoNum type="arabicPeriod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Identifizierung mehrere Standorte pro Regionen</a:t>
            </a:r>
          </a:p>
          <a:p>
            <a:pPr marL="342900" indent="-342900">
              <a:buFont typeface="+mj-lt"/>
              <a:buAutoNum type="arabicPeriod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</a:rPr>
              <a:t>Auswahl der Zeitverläufe nach GCIM-Verfahren </a:t>
            </a:r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</a:rPr>
              <a:t>(Fox and O‘Reilly (2022) / Bradley (2012))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Eine Gruppe pro Standort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Eine „regionale“ Gruppe pro Region basierte auf mehrere Standorte. </a:t>
            </a:r>
            <a:r>
              <a:rPr lang="de-DE" sz="900" dirty="0" err="1">
                <a:solidFill>
                  <a:srgbClr val="333333"/>
                </a:solidFill>
                <a:latin typeface="Futura LT Pro Light" panose="020B0402020204020303" pitchFamily="34" charset="0"/>
              </a:rPr>
              <a:t>Kohrangi</a:t>
            </a:r>
            <a:r>
              <a:rPr lang="de-DE" sz="900" dirty="0">
                <a:solidFill>
                  <a:srgbClr val="333333"/>
                </a:solidFill>
                <a:latin typeface="Futura LT Pro Light" panose="020B0402020204020303" pitchFamily="34" charset="0"/>
              </a:rPr>
              <a:t> et al. 2017, eigene Ideen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AvgSA ist die bedingende IM. Andere IMs inkl. SA und D</a:t>
            </a:r>
            <a:r>
              <a:rPr lang="de-DE" sz="1600" baseline="-25000" dirty="0">
                <a:solidFill>
                  <a:srgbClr val="333333"/>
                </a:solidFill>
                <a:latin typeface="Futura LT Pro Light" panose="020B0402020204020303" pitchFamily="34" charset="0"/>
              </a:rPr>
              <a:t>S,595</a:t>
            </a: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, </a:t>
            </a:r>
            <a:r>
              <a:rPr lang="de-DE" sz="1600" dirty="0" err="1">
                <a:solidFill>
                  <a:srgbClr val="333333"/>
                </a:solidFill>
                <a:latin typeface="Futura LT Pro Light" panose="020B0402020204020303" pitchFamily="34" charset="0"/>
              </a:rPr>
              <a:t>vllt</a:t>
            </a: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. Arias Intensität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6D22082E-52BD-1FD3-992C-C0F0E06109DE}"/>
              </a:ext>
            </a:extLst>
          </p:cNvPr>
          <p:cNvGrpSpPr/>
          <p:nvPr/>
        </p:nvGrpSpPr>
        <p:grpSpPr>
          <a:xfrm>
            <a:off x="5263605" y="1476053"/>
            <a:ext cx="6480720" cy="4032448"/>
            <a:chOff x="5263605" y="1980109"/>
            <a:chExt cx="6480720" cy="4032448"/>
          </a:xfrm>
        </p:grpSpPr>
        <p:pic>
          <p:nvPicPr>
            <p:cNvPr id="2" name="Grafik 1" descr="Ein Bild, das Karte, Text, Atlas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DFA09D59-02C7-CE38-2427-2B1AEA4D3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2857" t="33983" r="12857" b="10046"/>
            <a:stretch>
              <a:fillRect/>
            </a:stretch>
          </p:blipFill>
          <p:spPr>
            <a:xfrm>
              <a:off x="5263605" y="1980109"/>
              <a:ext cx="6480720" cy="4032448"/>
            </a:xfrm>
            <a:prstGeom prst="rect">
              <a:avLst/>
            </a:prstGeom>
          </p:spPr>
        </p:pic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A823D897-550E-2230-B685-B859679733BF}"/>
                </a:ext>
              </a:extLst>
            </p:cNvPr>
            <p:cNvSpPr/>
            <p:nvPr/>
          </p:nvSpPr>
          <p:spPr>
            <a:xfrm>
              <a:off x="9109223" y="4356373"/>
              <a:ext cx="72008" cy="7200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BDE97F61-863E-34B2-F8B2-57116D275D27}"/>
                </a:ext>
              </a:extLst>
            </p:cNvPr>
            <p:cNvSpPr/>
            <p:nvPr/>
          </p:nvSpPr>
          <p:spPr>
            <a:xfrm>
              <a:off x="7633059" y="3960329"/>
              <a:ext cx="72008" cy="7200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C7E78E1D-EBD3-1C50-3AF7-41B0E6A15442}"/>
                </a:ext>
              </a:extLst>
            </p:cNvPr>
            <p:cNvSpPr/>
            <p:nvPr/>
          </p:nvSpPr>
          <p:spPr>
            <a:xfrm>
              <a:off x="8173119" y="4398602"/>
              <a:ext cx="72008" cy="7200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2E4762EE-330D-762E-B2D7-8A22ADC689DC}"/>
                </a:ext>
              </a:extLst>
            </p:cNvPr>
            <p:cNvSpPr txBox="1"/>
            <p:nvPr/>
          </p:nvSpPr>
          <p:spPr>
            <a:xfrm>
              <a:off x="7668683" y="3865528"/>
              <a:ext cx="792088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100" b="1" dirty="0">
                  <a:solidFill>
                    <a:srgbClr val="000000"/>
                  </a:solidFill>
                  <a:latin typeface="Futura LT Pro Light" panose="020B0402020204020303" pitchFamily="34" charset="0"/>
                  <a:cs typeface="+mn-cs"/>
                </a:rPr>
                <a:t>Bologna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BE5114A3-50B7-D295-1FD8-501F136993C2}"/>
                </a:ext>
              </a:extLst>
            </p:cNvPr>
            <p:cNvSpPr txBox="1"/>
            <p:nvPr/>
          </p:nvSpPr>
          <p:spPr>
            <a:xfrm>
              <a:off x="8204935" y="4300739"/>
              <a:ext cx="792088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100" b="1" dirty="0">
                  <a:solidFill>
                    <a:srgbClr val="000000"/>
                  </a:solidFill>
                  <a:latin typeface="Futura LT Pro Light" panose="020B0402020204020303" pitchFamily="34" charset="0"/>
                  <a:cs typeface="+mn-cs"/>
                </a:rPr>
                <a:t>Pescara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57F45687-18C0-CA22-9B40-6849468344FA}"/>
                </a:ext>
              </a:extLst>
            </p:cNvPr>
            <p:cNvSpPr txBox="1"/>
            <p:nvPr/>
          </p:nvSpPr>
          <p:spPr>
            <a:xfrm>
              <a:off x="9149423" y="4261572"/>
              <a:ext cx="792088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100" b="1" dirty="0">
                  <a:solidFill>
                    <a:srgbClr val="000000"/>
                  </a:solidFill>
                  <a:latin typeface="Futura LT Pro Light" panose="020B0402020204020303" pitchFamily="34" charset="0"/>
                  <a:cs typeface="+mn-cs"/>
                </a:rPr>
                <a:t>Sofia</a:t>
              </a: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92FD30B-A8ED-3E51-F11C-0AC3E8D8B189}"/>
                </a:ext>
              </a:extLst>
            </p:cNvPr>
            <p:cNvSpPr/>
            <p:nvPr/>
          </p:nvSpPr>
          <p:spPr>
            <a:xfrm>
              <a:off x="7175055" y="2816319"/>
              <a:ext cx="72008" cy="7200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 err="1">
                <a:solidFill>
                  <a:schemeClr val="tx1"/>
                </a:solidFill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FD398139-D0D4-1CE9-0F11-10E602900303}"/>
                </a:ext>
              </a:extLst>
            </p:cNvPr>
            <p:cNvSpPr/>
            <p:nvPr/>
          </p:nvSpPr>
          <p:spPr>
            <a:xfrm>
              <a:off x="7175055" y="3701903"/>
              <a:ext cx="72008" cy="7200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 err="1">
                <a:solidFill>
                  <a:schemeClr val="tx1"/>
                </a:solidFill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150E6F58-D0EC-46C0-5CB8-7E1C7A48E6A6}"/>
                </a:ext>
              </a:extLst>
            </p:cNvPr>
            <p:cNvSpPr/>
            <p:nvPr/>
          </p:nvSpPr>
          <p:spPr>
            <a:xfrm>
              <a:off x="8156900" y="3445802"/>
              <a:ext cx="72008" cy="7200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 err="1">
                <a:solidFill>
                  <a:schemeClr val="tx1"/>
                </a:solidFill>
              </a:endParaRP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AB4FF327-7209-7008-6DEC-17BC0132D494}"/>
                </a:ext>
              </a:extLst>
            </p:cNvPr>
            <p:cNvSpPr txBox="1"/>
            <p:nvPr/>
          </p:nvSpPr>
          <p:spPr>
            <a:xfrm>
              <a:off x="8204935" y="3351001"/>
              <a:ext cx="1204351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100" b="1" dirty="0">
                  <a:solidFill>
                    <a:schemeClr val="bg1">
                      <a:lumMod val="50000"/>
                    </a:schemeClr>
                  </a:solidFill>
                  <a:latin typeface="Futura LT Pro Light" panose="020B0402020204020303" pitchFamily="34" charset="0"/>
                  <a:cs typeface="+mn-cs"/>
                </a:rPr>
                <a:t>Bad bei Wien</a:t>
              </a:r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6BE9454E-EEEF-747A-05C6-D529201A9B07}"/>
                </a:ext>
              </a:extLst>
            </p:cNvPr>
            <p:cNvSpPr txBox="1"/>
            <p:nvPr/>
          </p:nvSpPr>
          <p:spPr>
            <a:xfrm>
              <a:off x="7241833" y="2716563"/>
              <a:ext cx="1204351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100" b="1" dirty="0">
                  <a:solidFill>
                    <a:schemeClr val="bg1">
                      <a:lumMod val="50000"/>
                    </a:schemeClr>
                  </a:solidFill>
                  <a:latin typeface="Futura LT Pro Light" panose="020B0402020204020303" pitchFamily="34" charset="0"/>
                  <a:cs typeface="+mn-cs"/>
                </a:rPr>
                <a:t>Aachen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2F1E73AD-FC8F-D02C-0997-58EFF3B28D22}"/>
                </a:ext>
              </a:extLst>
            </p:cNvPr>
            <p:cNvSpPr txBox="1"/>
            <p:nvPr/>
          </p:nvSpPr>
          <p:spPr>
            <a:xfrm>
              <a:off x="6392704" y="3590707"/>
              <a:ext cx="1204351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100" b="1" dirty="0">
                  <a:solidFill>
                    <a:schemeClr val="bg1">
                      <a:lumMod val="50000"/>
                    </a:schemeClr>
                  </a:solidFill>
                  <a:latin typeface="Futura LT Pro Light" panose="020B0402020204020303" pitchFamily="34" charset="0"/>
                  <a:cs typeface="+mn-cs"/>
                </a:rPr>
                <a:t>Montreux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8776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94E11-15B7-9121-C865-48B9CA36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BEA9457-7185-030F-151E-038900529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Arbeitspakete Z1: Auswahl Zeitverläufe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7E1F727-BAB8-231F-7D3A-94B643BBB44A}"/>
              </a:ext>
            </a:extLst>
          </p:cNvPr>
          <p:cNvSpPr txBox="1"/>
          <p:nvPr/>
        </p:nvSpPr>
        <p:spPr>
          <a:xfrm>
            <a:off x="459418" y="971997"/>
            <a:ext cx="468936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Herangehensweise:</a:t>
            </a:r>
          </a:p>
          <a:p>
            <a:pPr marL="342900" indent="-342900">
              <a:buFont typeface="+mj-lt"/>
              <a:buAutoNum type="arabicPeriod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 startAt="4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</a:rPr>
              <a:t>Ermittlung Fragilitätskurven mittels IDA für mehrere SDOF-Modelle für die Zeitverlauf Gruppen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SDOF-Backbone/Hysteresis noch zu bestimmen…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</a:endParaRPr>
          </a:p>
          <a:p>
            <a:pPr marL="342900" indent="-342900">
              <a:buFont typeface="+mj-lt"/>
              <a:buAutoNum type="arabicPeriod" startAt="5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</a:rPr>
              <a:t>Vergleich der Fragilitätskurve innerhalb einer Region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Ist der „regionale“ Gruppe eine gute Darstellung der Standorte?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</a:endParaRPr>
          </a:p>
          <a:p>
            <a:pPr marL="342900" indent="-342900">
              <a:buFont typeface="+mj-lt"/>
              <a:buAutoNum type="arabicPeriod" startAt="5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</a:rPr>
              <a:t>Vergleich der „regionale“ Gruppe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Gibt es deutlich Unterschiede oder sind sie ähnlich?</a:t>
            </a:r>
          </a:p>
          <a:p>
            <a:pPr marL="342900" indent="-342900">
              <a:buFont typeface="+mj-lt"/>
              <a:buAutoNum type="arabicPeriod" startAt="4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</p:txBody>
      </p: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9D88E27B-D8A8-7F9F-CC0A-59B1B7E8E714}"/>
              </a:ext>
            </a:extLst>
          </p:cNvPr>
          <p:cNvGrpSpPr/>
          <p:nvPr/>
        </p:nvGrpSpPr>
        <p:grpSpPr>
          <a:xfrm>
            <a:off x="6716014" y="1948735"/>
            <a:ext cx="4625457" cy="3343742"/>
            <a:chOff x="6804967" y="992615"/>
            <a:chExt cx="4625457" cy="3343742"/>
          </a:xfrm>
        </p:grpSpPr>
        <p:pic>
          <p:nvPicPr>
            <p:cNvPr id="34" name="Grafik 33" descr="Ein Bild, das Text, Screenshot, Reihe, Diagramm enthält.&#10;&#10;KI-generierte Inhalte können fehlerhaft sein.">
              <a:extLst>
                <a:ext uri="{FF2B5EF4-FFF2-40B4-BE49-F238E27FC236}">
                  <a16:creationId xmlns:a16="http://schemas.microsoft.com/office/drawing/2014/main" id="{21BFAD94-DC9E-2530-EBA8-9ECEB5D35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04967" y="992615"/>
              <a:ext cx="3448531" cy="3343742"/>
            </a:xfrm>
            <a:prstGeom prst="rect">
              <a:avLst/>
            </a:prstGeom>
          </p:spPr>
        </p:pic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4FCCCD4A-3C79-CF2E-1B63-046CEDE6201D}"/>
                </a:ext>
              </a:extLst>
            </p:cNvPr>
            <p:cNvSpPr/>
            <p:nvPr/>
          </p:nvSpPr>
          <p:spPr>
            <a:xfrm>
              <a:off x="7264958" y="1356527"/>
              <a:ext cx="2753249" cy="2421653"/>
            </a:xfrm>
            <a:custGeom>
              <a:avLst/>
              <a:gdLst>
                <a:gd name="csX0" fmla="*/ 0 w 2753249"/>
                <a:gd name="csY0" fmla="*/ 2421653 h 2421653"/>
                <a:gd name="csX1" fmla="*/ 1386673 w 2753249"/>
                <a:gd name="csY1" fmla="*/ 1175658 h 2421653"/>
                <a:gd name="csX2" fmla="*/ 2753249 w 2753249"/>
                <a:gd name="csY2" fmla="*/ 0 h 2421653"/>
                <a:gd name="csX0" fmla="*/ 0 w 2753249"/>
                <a:gd name="csY0" fmla="*/ 2421653 h 2421653"/>
                <a:gd name="csX1" fmla="*/ 1386673 w 2753249"/>
                <a:gd name="csY1" fmla="*/ 1175658 h 2421653"/>
                <a:gd name="csX2" fmla="*/ 2753249 w 2753249"/>
                <a:gd name="csY2" fmla="*/ 0 h 2421653"/>
                <a:gd name="csX0" fmla="*/ 0 w 2753249"/>
                <a:gd name="csY0" fmla="*/ 2421653 h 2421653"/>
                <a:gd name="csX1" fmla="*/ 1386673 w 2753249"/>
                <a:gd name="csY1" fmla="*/ 1175658 h 2421653"/>
                <a:gd name="csX2" fmla="*/ 2753249 w 2753249"/>
                <a:gd name="csY2" fmla="*/ 0 h 2421653"/>
                <a:gd name="csX0" fmla="*/ 0 w 2753249"/>
                <a:gd name="csY0" fmla="*/ 2421653 h 2421653"/>
                <a:gd name="csX1" fmla="*/ 1386673 w 2753249"/>
                <a:gd name="csY1" fmla="*/ 1175658 h 2421653"/>
                <a:gd name="csX2" fmla="*/ 2753249 w 2753249"/>
                <a:gd name="csY2" fmla="*/ 0 h 2421653"/>
                <a:gd name="csX0" fmla="*/ 0 w 2753249"/>
                <a:gd name="csY0" fmla="*/ 2421653 h 2421653"/>
                <a:gd name="csX1" fmla="*/ 1386673 w 2753249"/>
                <a:gd name="csY1" fmla="*/ 1175658 h 2421653"/>
                <a:gd name="csX2" fmla="*/ 2753249 w 2753249"/>
                <a:gd name="csY2" fmla="*/ 0 h 2421653"/>
                <a:gd name="csX0" fmla="*/ 0 w 2753249"/>
                <a:gd name="csY0" fmla="*/ 2421653 h 2421653"/>
                <a:gd name="csX1" fmla="*/ 1386673 w 2753249"/>
                <a:gd name="csY1" fmla="*/ 1175658 h 2421653"/>
                <a:gd name="csX2" fmla="*/ 2753249 w 2753249"/>
                <a:gd name="csY2" fmla="*/ 0 h 2421653"/>
                <a:gd name="csX0" fmla="*/ 0 w 2753249"/>
                <a:gd name="csY0" fmla="*/ 2421653 h 2421653"/>
                <a:gd name="csX1" fmla="*/ 1376625 w 2753249"/>
                <a:gd name="csY1" fmla="*/ 1175658 h 2421653"/>
                <a:gd name="csX2" fmla="*/ 2753249 w 2753249"/>
                <a:gd name="csY2" fmla="*/ 0 h 24216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53249" h="2421653">
                  <a:moveTo>
                    <a:pt x="0" y="2421653"/>
                  </a:moveTo>
                  <a:cubicBezTo>
                    <a:pt x="874207" y="2408255"/>
                    <a:pt x="967992" y="1740040"/>
                    <a:pt x="1376625" y="1175658"/>
                  </a:cubicBezTo>
                  <a:cubicBezTo>
                    <a:pt x="1785258" y="611276"/>
                    <a:pt x="1827125" y="195105"/>
                    <a:pt x="2753249" y="0"/>
                  </a:cubicBezTo>
                </a:path>
              </a:pathLst>
            </a:custGeom>
            <a:ln w="381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B8D35AAE-3647-5229-EE24-89D4806CEC64}"/>
                </a:ext>
              </a:extLst>
            </p:cNvPr>
            <p:cNvGrpSpPr/>
            <p:nvPr/>
          </p:nvGrpSpPr>
          <p:grpSpPr>
            <a:xfrm>
              <a:off x="8173119" y="2207133"/>
              <a:ext cx="3257305" cy="1618762"/>
              <a:chOff x="8173119" y="2207133"/>
              <a:chExt cx="3257305" cy="1618762"/>
            </a:xfrm>
          </p:grpSpPr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B4C73E9C-9A96-0209-B478-76112FB9E046}"/>
                  </a:ext>
                </a:extLst>
              </p:cNvPr>
              <p:cNvSpPr txBox="1"/>
              <p:nvPr/>
            </p:nvSpPr>
            <p:spPr>
              <a:xfrm>
                <a:off x="8893199" y="3302675"/>
                <a:ext cx="1440160" cy="5232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Fragilität eines Standorts</a:t>
                </a:r>
              </a:p>
            </p:txBody>
          </p:sp>
          <p:cxnSp>
            <p:nvCxnSpPr>
              <p:cNvPr id="37" name="Gerade Verbindung mit Pfeil 36">
                <a:extLst>
                  <a:ext uri="{FF2B5EF4-FFF2-40B4-BE49-F238E27FC236}">
                    <a16:creationId xmlns:a16="http://schemas.microsoft.com/office/drawing/2014/main" id="{6A206F96-A1AF-6E7D-DBA7-61ED735DFE1B}"/>
                  </a:ext>
                </a:extLst>
              </p:cNvPr>
              <p:cNvCxnSpPr/>
              <p:nvPr/>
            </p:nvCxnSpPr>
            <p:spPr>
              <a:xfrm flipH="1">
                <a:off x="8173119" y="3564285"/>
                <a:ext cx="72008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2F72AF78-CC2B-EA03-0732-26D781E4453F}"/>
                  </a:ext>
                </a:extLst>
              </p:cNvPr>
              <p:cNvSpPr txBox="1"/>
              <p:nvPr/>
            </p:nvSpPr>
            <p:spPr>
              <a:xfrm>
                <a:off x="9578098" y="2207133"/>
                <a:ext cx="1852326" cy="5232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Fragilität der regionalen Gruppe</a:t>
                </a:r>
              </a:p>
            </p:txBody>
          </p:sp>
          <p:cxnSp>
            <p:nvCxnSpPr>
              <p:cNvPr id="40" name="Gerade Verbindung mit Pfeil 39">
                <a:extLst>
                  <a:ext uri="{FF2B5EF4-FFF2-40B4-BE49-F238E27FC236}">
                    <a16:creationId xmlns:a16="http://schemas.microsoft.com/office/drawing/2014/main" id="{128A2D9C-F792-10D7-9436-4D103485F3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77175" y="2468743"/>
                <a:ext cx="900923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77225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BCEC-1298-8546-C436-8FD3D3263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74C401D-658C-F894-1498-6A55E682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Arbeitspakete Z1: Auswahl Zeitverläufe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3677236-D4F9-C629-4EC2-DB4E6E04DB89}"/>
              </a:ext>
            </a:extLst>
          </p:cNvPr>
          <p:cNvSpPr txBox="1"/>
          <p:nvPr/>
        </p:nvSpPr>
        <p:spPr>
          <a:xfrm>
            <a:off x="459418" y="971997"/>
            <a:ext cx="504940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Herangehensweise:</a:t>
            </a:r>
          </a:p>
          <a:p>
            <a:pPr marL="342900" indent="-342900">
              <a:buFont typeface="+mj-lt"/>
              <a:buAutoNum type="arabicPeriod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 startAt="7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Verschmelzung der Regionen in „super“ Regionen basierte auf die Ergebnisse von 6.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Z.B. eine „EU“ Region oder zwei kleinere Regionen</a:t>
            </a:r>
          </a:p>
          <a:p>
            <a:pPr marL="342900" indent="-342900">
              <a:buFont typeface="+mj-lt"/>
              <a:buAutoNum type="arabicPeriod" startAt="7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 startAt="7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Vergleich der Fragilitätskurven von „EU“ Regionen mit den einzelnen Standorten?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Gibt es systematische Unterschiede?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Auswertung Modifikationsfaktoren für die Streuung (wenn erforderlich)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83085F6-EE22-4E29-966F-E9CBAA87C809}"/>
              </a:ext>
            </a:extLst>
          </p:cNvPr>
          <p:cNvGrpSpPr/>
          <p:nvPr/>
        </p:nvGrpSpPr>
        <p:grpSpPr>
          <a:xfrm>
            <a:off x="6716014" y="2236767"/>
            <a:ext cx="4625457" cy="3343742"/>
            <a:chOff x="6804967" y="992615"/>
            <a:chExt cx="4625457" cy="3343742"/>
          </a:xfrm>
        </p:grpSpPr>
        <p:pic>
          <p:nvPicPr>
            <p:cNvPr id="3" name="Grafik 2" descr="Ein Bild, das Text, Screenshot, Reihe, Diagramm enthält.&#10;&#10;KI-generierte Inhalte können fehlerhaft sein.">
              <a:extLst>
                <a:ext uri="{FF2B5EF4-FFF2-40B4-BE49-F238E27FC236}">
                  <a16:creationId xmlns:a16="http://schemas.microsoft.com/office/drawing/2014/main" id="{13F44940-5096-CA5F-B340-5EDA10993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04967" y="992615"/>
              <a:ext cx="3448531" cy="3343742"/>
            </a:xfrm>
            <a:prstGeom prst="rect">
              <a:avLst/>
            </a:prstGeom>
          </p:spPr>
        </p:pic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BEC96DB3-37ED-3FCC-4218-19472343D8D2}"/>
                </a:ext>
              </a:extLst>
            </p:cNvPr>
            <p:cNvSpPr/>
            <p:nvPr/>
          </p:nvSpPr>
          <p:spPr>
            <a:xfrm>
              <a:off x="7264958" y="1356527"/>
              <a:ext cx="2753249" cy="2421653"/>
            </a:xfrm>
            <a:custGeom>
              <a:avLst/>
              <a:gdLst>
                <a:gd name="csX0" fmla="*/ 0 w 2753249"/>
                <a:gd name="csY0" fmla="*/ 2421653 h 2421653"/>
                <a:gd name="csX1" fmla="*/ 1386673 w 2753249"/>
                <a:gd name="csY1" fmla="*/ 1175658 h 2421653"/>
                <a:gd name="csX2" fmla="*/ 2753249 w 2753249"/>
                <a:gd name="csY2" fmla="*/ 0 h 2421653"/>
                <a:gd name="csX0" fmla="*/ 0 w 2753249"/>
                <a:gd name="csY0" fmla="*/ 2421653 h 2421653"/>
                <a:gd name="csX1" fmla="*/ 1386673 w 2753249"/>
                <a:gd name="csY1" fmla="*/ 1175658 h 2421653"/>
                <a:gd name="csX2" fmla="*/ 2753249 w 2753249"/>
                <a:gd name="csY2" fmla="*/ 0 h 2421653"/>
                <a:gd name="csX0" fmla="*/ 0 w 2753249"/>
                <a:gd name="csY0" fmla="*/ 2421653 h 2421653"/>
                <a:gd name="csX1" fmla="*/ 1386673 w 2753249"/>
                <a:gd name="csY1" fmla="*/ 1175658 h 2421653"/>
                <a:gd name="csX2" fmla="*/ 2753249 w 2753249"/>
                <a:gd name="csY2" fmla="*/ 0 h 2421653"/>
                <a:gd name="csX0" fmla="*/ 0 w 2753249"/>
                <a:gd name="csY0" fmla="*/ 2421653 h 2421653"/>
                <a:gd name="csX1" fmla="*/ 1386673 w 2753249"/>
                <a:gd name="csY1" fmla="*/ 1175658 h 2421653"/>
                <a:gd name="csX2" fmla="*/ 2753249 w 2753249"/>
                <a:gd name="csY2" fmla="*/ 0 h 2421653"/>
                <a:gd name="csX0" fmla="*/ 0 w 2753249"/>
                <a:gd name="csY0" fmla="*/ 2421653 h 2421653"/>
                <a:gd name="csX1" fmla="*/ 1386673 w 2753249"/>
                <a:gd name="csY1" fmla="*/ 1175658 h 2421653"/>
                <a:gd name="csX2" fmla="*/ 2753249 w 2753249"/>
                <a:gd name="csY2" fmla="*/ 0 h 2421653"/>
                <a:gd name="csX0" fmla="*/ 0 w 2753249"/>
                <a:gd name="csY0" fmla="*/ 2421653 h 2421653"/>
                <a:gd name="csX1" fmla="*/ 1386673 w 2753249"/>
                <a:gd name="csY1" fmla="*/ 1175658 h 2421653"/>
                <a:gd name="csX2" fmla="*/ 2753249 w 2753249"/>
                <a:gd name="csY2" fmla="*/ 0 h 2421653"/>
                <a:gd name="csX0" fmla="*/ 0 w 2753249"/>
                <a:gd name="csY0" fmla="*/ 2421653 h 2421653"/>
                <a:gd name="csX1" fmla="*/ 1376625 w 2753249"/>
                <a:gd name="csY1" fmla="*/ 1175658 h 2421653"/>
                <a:gd name="csX2" fmla="*/ 2753249 w 2753249"/>
                <a:gd name="csY2" fmla="*/ 0 h 24216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53249" h="2421653">
                  <a:moveTo>
                    <a:pt x="0" y="2421653"/>
                  </a:moveTo>
                  <a:cubicBezTo>
                    <a:pt x="874207" y="2408255"/>
                    <a:pt x="967992" y="1740040"/>
                    <a:pt x="1376625" y="1175658"/>
                  </a:cubicBezTo>
                  <a:cubicBezTo>
                    <a:pt x="1785258" y="611276"/>
                    <a:pt x="1827125" y="195105"/>
                    <a:pt x="2753249" y="0"/>
                  </a:cubicBezTo>
                </a:path>
              </a:pathLst>
            </a:custGeom>
            <a:ln w="381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01ABB405-348F-6CE2-B4CE-12767005A598}"/>
                </a:ext>
              </a:extLst>
            </p:cNvPr>
            <p:cNvGrpSpPr/>
            <p:nvPr/>
          </p:nvGrpSpPr>
          <p:grpSpPr>
            <a:xfrm>
              <a:off x="8173119" y="2207133"/>
              <a:ext cx="3257305" cy="1618762"/>
              <a:chOff x="8173119" y="2207133"/>
              <a:chExt cx="3257305" cy="1618762"/>
            </a:xfrm>
          </p:grpSpPr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82074C1-6560-8239-ECB7-072404C8C8F6}"/>
                  </a:ext>
                </a:extLst>
              </p:cNvPr>
              <p:cNvSpPr txBox="1"/>
              <p:nvPr/>
            </p:nvSpPr>
            <p:spPr>
              <a:xfrm>
                <a:off x="8893199" y="3302675"/>
                <a:ext cx="1440160" cy="5232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Fragilität einer Region</a:t>
                </a:r>
              </a:p>
            </p:txBody>
          </p:sp>
          <p:cxnSp>
            <p:nvCxnSpPr>
              <p:cNvPr id="9" name="Gerade Verbindung mit Pfeil 8">
                <a:extLst>
                  <a:ext uri="{FF2B5EF4-FFF2-40B4-BE49-F238E27FC236}">
                    <a16:creationId xmlns:a16="http://schemas.microsoft.com/office/drawing/2014/main" id="{34FEA46B-AEFD-D74A-3289-877FE5A7FFF0}"/>
                  </a:ext>
                </a:extLst>
              </p:cNvPr>
              <p:cNvCxnSpPr/>
              <p:nvPr/>
            </p:nvCxnSpPr>
            <p:spPr>
              <a:xfrm flipH="1">
                <a:off x="8173119" y="3564285"/>
                <a:ext cx="72008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429A55EE-1D95-F0F8-9196-3F36AFB54AE0}"/>
                  </a:ext>
                </a:extLst>
              </p:cNvPr>
              <p:cNvSpPr txBox="1"/>
              <p:nvPr/>
            </p:nvSpPr>
            <p:spPr>
              <a:xfrm>
                <a:off x="9578098" y="2207133"/>
                <a:ext cx="1852326" cy="5232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Fragilität der „Europa“ Gruppe</a:t>
                </a:r>
              </a:p>
            </p:txBody>
          </p:sp>
          <p:cxnSp>
            <p:nvCxnSpPr>
              <p:cNvPr id="11" name="Gerade Verbindung mit Pfeil 10">
                <a:extLst>
                  <a:ext uri="{FF2B5EF4-FFF2-40B4-BE49-F238E27FC236}">
                    <a16:creationId xmlns:a16="http://schemas.microsoft.com/office/drawing/2014/main" id="{C9FDF1E3-F401-C905-71B8-3AF78E227C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77175" y="2468743"/>
                <a:ext cx="900923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9ABCDF6C-560E-7CB4-FA95-17FF0FD0B369}"/>
                  </a:ext>
                </a:extLst>
              </p:cNvPr>
              <p:cNvSpPr txBox="1"/>
              <p:nvPr/>
            </p:nvSpPr>
            <p:spPr>
              <a:xfrm>
                <a:off x="7366629" y="1271152"/>
                <a:ext cx="244318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i="1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Modifikation zur </a:t>
                </a:r>
                <a14:m>
                  <m:oMath xmlns:m="http://schemas.openxmlformats.org/officeDocument/2006/math">
                    <m:r>
                      <a:rPr lang="de-DE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+mn-cs"/>
                      </a:rPr>
                      <m:t>𝛽</m:t>
                    </m:r>
                  </m:oMath>
                </a14:m>
                <a:r>
                  <a:rPr lang="de-DE" i="1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+mn-cs"/>
                      </a:rPr>
                      <m:t>𝛽</m:t>
                    </m:r>
                    <m:r>
                      <a:rPr lang="de-DE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lang="de-DE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+mn-cs"/>
                      </a:rPr>
                      <m:t>𝑎</m:t>
                    </m:r>
                    <m:r>
                      <a:rPr lang="de-DE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+mn-cs"/>
                      </a:rPr>
                      <m:t>∙</m:t>
                    </m:r>
                    <m:sSub>
                      <m:sSubPr>
                        <m:ctrlP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𝐸𝑈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rgbClr val="FF0000"/>
                    </a:solidFill>
                    <a:latin typeface="Futura LT Pro Light" panose="020B0402020204020303" pitchFamily="34" charset="0"/>
                    <a:cs typeface="+mn-cs"/>
                  </a:rPr>
                  <a:t> </a:t>
                </a:r>
                <a:r>
                  <a:rPr lang="de-DE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oder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𝛽</m:t>
                      </m:r>
                      <m:r>
                        <a:rPr lang="de-DE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𝐸𝑈</m:t>
                          </m:r>
                        </m:sub>
                      </m:sSub>
                      <m:r>
                        <a:rPr lang="de-DE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lang="de-DE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𝑏</m:t>
                      </m:r>
                    </m:oMath>
                  </m:oMathPara>
                </a14:m>
                <a:endParaRPr lang="de-DE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9ABCDF6C-560E-7CB4-FA95-17FF0FD0B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629" y="1271152"/>
                <a:ext cx="2443185" cy="923330"/>
              </a:xfrm>
              <a:prstGeom prst="rect">
                <a:avLst/>
              </a:prstGeom>
              <a:blipFill>
                <a:blip r:embed="rId3"/>
                <a:stretch>
                  <a:fillRect l="-1995" t="-3974" b="-596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0328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1E210-3C52-D84D-0831-61EC37FBD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662A20E-7EC8-9EEC-082F-515F139A1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Arbeitspakete Z1: Auswahl Zeitverläufe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909CFB9-3088-2A0E-0568-03E990F9C1B8}"/>
              </a:ext>
            </a:extLst>
          </p:cNvPr>
          <p:cNvSpPr txBox="1"/>
          <p:nvPr/>
        </p:nvSpPr>
        <p:spPr>
          <a:xfrm>
            <a:off x="459418" y="971997"/>
            <a:ext cx="80737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Herangehensweise:</a:t>
            </a:r>
          </a:p>
          <a:p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 startAt="9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Fragilitätsanalyse für 6 CBF-Gebäude für ein paar Beispiel Standorte, mit den Standort-spezifischen Zeitverläufe und die „EU“ Zeitverläufe.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Passt die </a:t>
            </a:r>
            <a:r>
              <a:rPr lang="de-DE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Modifikationfaktoren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?</a:t>
            </a:r>
          </a:p>
          <a:p>
            <a:pPr marL="342900" indent="-342900">
              <a:buFont typeface="+mj-lt"/>
              <a:buAutoNum type="arabicPeriod" startAt="9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 startAt="9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Vergleich der Ergebnisse von 9 und Aussage zu einer geeigneten Zeitverlaufsgruppe.  </a:t>
            </a:r>
          </a:p>
        </p:txBody>
      </p:sp>
    </p:spTree>
    <p:extLst>
      <p:ext uri="{BB962C8B-B14F-4D97-AF65-F5344CB8AC3E}">
        <p14:creationId xmlns:p14="http://schemas.microsoft.com/office/powerpoint/2010/main" val="705922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1CD93-2271-7975-C093-B2BC8D647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F787E1F-7442-C57F-5840-4D0C6057C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Arbeitspakete Z1: Auswahl Zeitverläufe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FB9BE8C-2E24-009B-F30E-CECC8BE4B045}"/>
              </a:ext>
            </a:extLst>
          </p:cNvPr>
          <p:cNvSpPr txBox="1"/>
          <p:nvPr/>
        </p:nvSpPr>
        <p:spPr>
          <a:xfrm>
            <a:off x="459418" y="971997"/>
            <a:ext cx="8073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Zusammenfassung der Parameter:</a:t>
            </a:r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A5EEC65A-8B7B-292E-212F-82AD7B021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534461"/>
              </p:ext>
            </p:extLst>
          </p:nvPr>
        </p:nvGraphicFramePr>
        <p:xfrm>
          <a:off x="540271" y="1448338"/>
          <a:ext cx="11204055" cy="360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34685">
                  <a:extLst>
                    <a:ext uri="{9D8B030D-6E8A-4147-A177-3AD203B41FA5}">
                      <a16:colId xmlns:a16="http://schemas.microsoft.com/office/drawing/2014/main" val="923658050"/>
                    </a:ext>
                  </a:extLst>
                </a:gridCol>
                <a:gridCol w="729811">
                  <a:extLst>
                    <a:ext uri="{9D8B030D-6E8A-4147-A177-3AD203B41FA5}">
                      <a16:colId xmlns:a16="http://schemas.microsoft.com/office/drawing/2014/main" val="546384581"/>
                    </a:ext>
                  </a:extLst>
                </a:gridCol>
                <a:gridCol w="6739559">
                  <a:extLst>
                    <a:ext uri="{9D8B030D-6E8A-4147-A177-3AD203B41FA5}">
                      <a16:colId xmlns:a16="http://schemas.microsoft.com/office/drawing/2014/main" val="1598355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Dämpfungsregionen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ASC-Regionen von ESHM20. </a:t>
                      </a:r>
                      <a:r>
                        <a:rPr lang="de-DE" dirty="0" err="1"/>
                        <a:t>Craton</a:t>
                      </a:r>
                      <a:r>
                        <a:rPr lang="de-DE" dirty="0"/>
                        <a:t> wird vernachlässigt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143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„Super“-Regionen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Bis zu 3 – hoffentlich 1 (EU)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903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13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Bedingende 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u="sng" dirty="0"/>
                        <a:t>AvgSA</a:t>
                      </a:r>
                      <a:r>
                        <a:rPr lang="de-DE" u="sng" baseline="-25000" dirty="0"/>
                        <a:t>2</a:t>
                      </a:r>
                      <a:r>
                        <a:rPr lang="de-DE" dirty="0"/>
                        <a:t>, AvgSA</a:t>
                      </a:r>
                      <a:r>
                        <a:rPr lang="de-DE" baseline="-250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8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Seismizitätsstufen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Low/Moderate und Moderate/High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447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Gruppen pro Region pro </a:t>
                      </a:r>
                      <a:r>
                        <a:rPr lang="de-DE" dirty="0" err="1"/>
                        <a:t>Seismizitätsstufe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u="sng" dirty="0"/>
                        <a:t>5</a:t>
                      </a:r>
                      <a:r>
                        <a:rPr lang="de-DE" dirty="0"/>
                        <a:t> Standorte + 1 „regionale“ Gruppe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37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Zeitverläufe pro Gruppe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910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496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Anzahl SDOFs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439107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4C505040-DCCC-C486-B045-13CCA6C0E9FE}"/>
              </a:ext>
            </a:extLst>
          </p:cNvPr>
          <p:cNvSpPr txBox="1"/>
          <p:nvPr/>
        </p:nvSpPr>
        <p:spPr>
          <a:xfrm>
            <a:off x="475350" y="5207534"/>
            <a:ext cx="8073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Anzahl Zeitverläufe: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6480</a:t>
            </a:r>
          </a:p>
          <a:p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Anzahl Analyse: 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233.280  (Annahme 12 Stufen in IDA)</a:t>
            </a:r>
          </a:p>
          <a:p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Rechnungsdauer: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~3.0 Tage (60 Kerne, konservativ 1 min pro Analyse) </a:t>
            </a:r>
          </a:p>
        </p:txBody>
      </p:sp>
    </p:spTree>
    <p:extLst>
      <p:ext uri="{BB962C8B-B14F-4D97-AF65-F5344CB8AC3E}">
        <p14:creationId xmlns:p14="http://schemas.microsoft.com/office/powerpoint/2010/main" val="1957687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41D2D-A726-E208-017A-EB595FF0A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5403947-627F-17EA-6440-9A723DC11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Arbeitspakete Z1: Auswahl Zeitverläufe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394BACD-165C-AEFD-4ADC-696AA9178E44}"/>
              </a:ext>
            </a:extLst>
          </p:cNvPr>
          <p:cNvSpPr txBox="1"/>
          <p:nvPr/>
        </p:nvSpPr>
        <p:spPr>
          <a:xfrm>
            <a:off x="459417" y="971997"/>
            <a:ext cx="9441893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Erforderliche Daten Informationen / Daten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i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PSHA-Model für Europa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ESHM20 </a:t>
            </a: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 </a:t>
            </a:r>
            <a:r>
              <a:rPr lang="de-DE" sz="1600" b="1" dirty="0">
                <a:solidFill>
                  <a:srgbClr val="00B050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erledigt</a:t>
            </a:r>
            <a:endParaRPr lang="de-DE" sz="1600" b="1" dirty="0">
              <a:solidFill>
                <a:srgbClr val="00B050"/>
              </a:solidFill>
              <a:latin typeface="Futura LT Pro Light" panose="020B0402020204020303" pitchFamily="34" charset="0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i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GMMs für alle gewünschte IMs für jede tektonische Quelle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AvgSA + SA + PGA </a:t>
            </a: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 ESHM-GMMs, </a:t>
            </a:r>
            <a:r>
              <a:rPr lang="de-DE" sz="1600" b="1" dirty="0">
                <a:solidFill>
                  <a:srgbClr val="00B050"/>
                </a:solidFill>
                <a:latin typeface="Futura LT Pro Light" panose="020B0402020204020303" pitchFamily="34" charset="0"/>
                <a:sym typeface="Wingdings" panose="05000000000000000000" pitchFamily="2" charset="2"/>
              </a:rPr>
              <a:t>erledigt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D</a:t>
            </a:r>
            <a:r>
              <a:rPr lang="de-DE" sz="1600" baseline="-25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S,5-95</a:t>
            </a: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/ AI </a:t>
            </a: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 BahrampouriEtAl2021 (für ASC und </a:t>
            </a:r>
            <a:r>
              <a:rPr lang="de-DE" sz="16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Subduct</a:t>
            </a: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.),</a:t>
            </a:r>
            <a:r>
              <a:rPr lang="de-DE" sz="1600" dirty="0"/>
              <a:t> </a:t>
            </a:r>
            <a:r>
              <a:rPr lang="de-DE" sz="1600" b="1" dirty="0">
                <a:solidFill>
                  <a:schemeClr val="accent1">
                    <a:lumMod val="75000"/>
                  </a:schemeClr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offen</a:t>
            </a:r>
            <a:endParaRPr lang="de-DE" sz="1600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i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Korrelationsmodelle für die gewünschte IMs basiert auf ESM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AvgSA + SA + PGA </a:t>
            </a: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sym typeface="Wingdings" panose="05000000000000000000" pitchFamily="2" charset="2"/>
              </a:rPr>
              <a:t> ESHM-Korrelationsmodelle, </a:t>
            </a:r>
            <a:r>
              <a:rPr lang="de-DE" sz="1600" b="1" dirty="0">
                <a:solidFill>
                  <a:srgbClr val="00B050"/>
                </a:solidFill>
                <a:latin typeface="Futura LT Pro Light" panose="020B0402020204020303" pitchFamily="34" charset="0"/>
                <a:sym typeface="Wingdings" panose="05000000000000000000" pitchFamily="2" charset="2"/>
              </a:rPr>
              <a:t>erledigt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D</a:t>
            </a:r>
            <a:r>
              <a:rPr lang="de-DE" sz="1600" baseline="-25000" dirty="0">
                <a:solidFill>
                  <a:srgbClr val="333333"/>
                </a:solidFill>
                <a:latin typeface="Futura LT Pro Light" panose="020B0402020204020303" pitchFamily="34" charset="0"/>
              </a:rPr>
              <a:t>S,5-95</a:t>
            </a: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 / AI </a:t>
            </a: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sym typeface="Wingdings" panose="05000000000000000000" pitchFamily="2" charset="2"/>
              </a:rPr>
              <a:t> existiert nicht aber alle die erforderliche daten ist da, um die zu bestimmen </a:t>
            </a:r>
            <a:r>
              <a:rPr lang="de-DE" sz="1600" b="1" dirty="0">
                <a:solidFill>
                  <a:srgbClr val="FF0000"/>
                </a:solidFill>
                <a:latin typeface="Futura LT Pro Light" panose="020B0402020204020303" pitchFamily="34" charset="0"/>
                <a:sym typeface="Wingdings" panose="05000000000000000000" pitchFamily="2" charset="2"/>
              </a:rPr>
              <a:t>nicht erledigt </a:t>
            </a:r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sym typeface="Wingdings" panose="05000000000000000000" pitchFamily="2" charset="2"/>
              </a:rPr>
              <a:t>Bradley (2011)</a:t>
            </a:r>
            <a:endParaRPr lang="de-DE" sz="1600" b="1" dirty="0">
              <a:solidFill>
                <a:srgbClr val="FF0000"/>
              </a:solidFill>
              <a:latin typeface="Futura LT Pro Light" panose="020B0402020204020303" pitchFamily="34" charset="0"/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i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Datenbank Erdbebenzeitverläufe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, </a:t>
            </a:r>
            <a:r>
              <a:rPr lang="de-DE" b="1" dirty="0">
                <a:solidFill>
                  <a:schemeClr val="accent1">
                    <a:lumMod val="75000"/>
                  </a:schemeClr>
                </a:solidFill>
                <a:latin typeface="Futura LT Pro Light" panose="020B0402020204020303" pitchFamily="34" charset="0"/>
                <a:cs typeface="+mn-cs"/>
              </a:rPr>
              <a:t>offen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ESM – hat genug ASC-Zeitverläufe, </a:t>
            </a:r>
            <a:r>
              <a:rPr lang="de-DE" sz="1600" b="1" dirty="0">
                <a:solidFill>
                  <a:srgbClr val="00B050"/>
                </a:solidFill>
                <a:latin typeface="Futura LT Pro Light" panose="020B0402020204020303" pitchFamily="34" charset="0"/>
                <a:sym typeface="Wingdings" panose="05000000000000000000" pitchFamily="2" charset="2"/>
              </a:rPr>
              <a:t>erledigt</a:t>
            </a:r>
            <a:endParaRPr lang="de-DE" sz="1600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Hoher Magnitude Erdbeben für </a:t>
            </a:r>
            <a:r>
              <a:rPr lang="de-DE" sz="16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Subduction</a:t>
            </a: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und </a:t>
            </a:r>
            <a:r>
              <a:rPr lang="de-DE" sz="16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Vrancea</a:t>
            </a: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Quelle fehlen. </a:t>
            </a: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 Ergänzen mit Erdbeben M &gt; 6.5 + Tiefe &gt; 80 km von NGA-</a:t>
            </a:r>
            <a:r>
              <a:rPr lang="de-DE" sz="16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Subduction</a:t>
            </a: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/</a:t>
            </a:r>
            <a:r>
              <a:rPr lang="de-DE" sz="16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Kik</a:t>
            </a: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-Net, </a:t>
            </a:r>
            <a:r>
              <a:rPr lang="de-DE" sz="1600" b="1" dirty="0">
                <a:solidFill>
                  <a:srgbClr val="FF0000"/>
                </a:solidFill>
                <a:latin typeface="Futura LT Pro Light" panose="020B0402020204020303" pitchFamily="34" charset="0"/>
                <a:sym typeface="Wingdings" panose="05000000000000000000" pitchFamily="2" charset="2"/>
              </a:rPr>
              <a:t>nicht erledigt</a:t>
            </a:r>
            <a:endParaRPr lang="de-DE" sz="1600" b="1" dirty="0">
              <a:solidFill>
                <a:srgbClr val="FF0000"/>
              </a:solidFill>
              <a:latin typeface="Futura LT Pro Light" panose="020B04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192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5CD4417-0D47-9B92-A3E5-CD786F8DD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Arbeitspakete Z1: Auswahl Zeitverläufe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9844702-984B-1292-18F1-697EEBEC629F}"/>
              </a:ext>
            </a:extLst>
          </p:cNvPr>
          <p:cNvSpPr txBox="1"/>
          <p:nvPr/>
        </p:nvSpPr>
        <p:spPr>
          <a:xfrm>
            <a:off x="459417" y="971997"/>
            <a:ext cx="94418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Einschätzung der Zeitplan:</a:t>
            </a:r>
          </a:p>
          <a:p>
            <a:endParaRPr lang="de-DE" b="1" baseline="-25000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~90 Days + Puffer    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 s. Excel-Tabelle</a:t>
            </a: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6281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C3767-84D5-45EF-B85F-8F6E7229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C40856E-F2D8-AEB4-B948-D4F63A26E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Arbeitspakete Z2: Einfluss der Bodenklasse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BD5274E-8C27-E37A-E106-596AE49B146F}"/>
              </a:ext>
            </a:extLst>
          </p:cNvPr>
          <p:cNvSpPr txBox="1"/>
          <p:nvPr/>
        </p:nvSpPr>
        <p:spPr>
          <a:xfrm>
            <a:off x="459417" y="971997"/>
            <a:ext cx="980193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Herangehensweise:</a:t>
            </a:r>
          </a:p>
          <a:p>
            <a:pPr marL="342900" indent="-342900">
              <a:buFont typeface="+mj-lt"/>
              <a:buAutoNum type="arabicPeriod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Auswahl mehrere Standorte von AP-Z1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z.B. 3 Standorte mit einer Mischung von Regionen und Seismizität</a:t>
            </a:r>
          </a:p>
          <a:p>
            <a:pPr marL="342900" indent="-342900">
              <a:buFont typeface="+mj-lt"/>
              <a:buAutoNum type="arabicPeriod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</a:rPr>
              <a:t>PSHA für jede Standort für Verschiedene Vs30-Werte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</a:rPr>
              <a:t>z.B. Bodenklassen von EC8</a:t>
            </a:r>
          </a:p>
          <a:p>
            <a:pPr lvl="1"/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</a:rPr>
              <a:t>Auswahl der Zeitverläufe nach GCIM-Verfahren </a:t>
            </a:r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</a:rPr>
              <a:t>(Fox and O‘Reilly (2022) / Bradley (2012))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Eine Gruppe pro Standort pro Bodenklasse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IM-Verteilung von AP-Z1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de-DE" sz="1600" dirty="0">
              <a:solidFill>
                <a:srgbClr val="333333"/>
              </a:solidFill>
              <a:latin typeface="Futura LT Pro Light" panose="020B04020202040203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Fragilitätsanalyse CBF-Modelle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6 Modelle. 3,5,7 Stockwerke. 2 Bemessungsintensitäten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Eine Fragilitätskurve pro Standort pro Bodenklasse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Eine Fragilitätskurve für die „EU“ Zeitverläufe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33333"/>
                </a:solidFill>
                <a:latin typeface="Futura LT Pro Light" panose="020B0402020204020303" pitchFamily="34" charset="0"/>
              </a:rPr>
              <a:t>Insgesamt 78 Fragilitätskurven</a:t>
            </a:r>
          </a:p>
        </p:txBody>
      </p:sp>
    </p:spTree>
    <p:extLst>
      <p:ext uri="{BB962C8B-B14F-4D97-AF65-F5344CB8AC3E}">
        <p14:creationId xmlns:p14="http://schemas.microsoft.com/office/powerpoint/2010/main" val="2394171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B0BE8-4473-1C58-6C88-2E1C8AFEA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47D648F-F46C-781F-0B04-FB9E15BE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Arbeitspakete Z2: Einfluss der Bodenklasse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DE676BF-97B7-AA93-980E-812B15343104}"/>
              </a:ext>
            </a:extLst>
          </p:cNvPr>
          <p:cNvSpPr txBox="1"/>
          <p:nvPr/>
        </p:nvSpPr>
        <p:spPr>
          <a:xfrm>
            <a:off x="459417" y="971997"/>
            <a:ext cx="98019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Herangehensweise:</a:t>
            </a:r>
          </a:p>
          <a:p>
            <a:pPr marL="342900" indent="-342900">
              <a:buFont typeface="+mj-lt"/>
              <a:buAutoNum type="arabicPeriod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 startAt="5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Vergleich der Fragilitätskurven der Bodenklassen mit “EU“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Vorschlag für Modifikationsfaktoren für Bodenklasse (Median + Streuung)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 startAt="6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Nachweis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Zeitverlaufsauswahl + Fragilitätsanalyse für andere Standorte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Passen die Modifikationsfaktoren noch?</a:t>
            </a:r>
          </a:p>
        </p:txBody>
      </p:sp>
    </p:spTree>
    <p:extLst>
      <p:ext uri="{BB962C8B-B14F-4D97-AF65-F5344CB8AC3E}">
        <p14:creationId xmlns:p14="http://schemas.microsoft.com/office/powerpoint/2010/main" val="498601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1BC93-63FC-5C5D-5804-0943CF280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DFFC2CE-0188-FD9E-7371-F174B8A8E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Zeitplan - Promotion</a:t>
            </a:r>
          </a:p>
        </p:txBody>
      </p:sp>
    </p:spTree>
    <p:extLst>
      <p:ext uri="{BB962C8B-B14F-4D97-AF65-F5344CB8AC3E}">
        <p14:creationId xmlns:p14="http://schemas.microsoft.com/office/powerpoint/2010/main" val="2465698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87FD8-5F46-2024-9E62-A653A56F4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85ACCBD-6527-8C9D-34CD-EBFCCBF96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ECEE Paper(s)</a:t>
            </a:r>
          </a:p>
        </p:txBody>
      </p:sp>
    </p:spTree>
    <p:extLst>
      <p:ext uri="{BB962C8B-B14F-4D97-AF65-F5344CB8AC3E}">
        <p14:creationId xmlns:p14="http://schemas.microsoft.com/office/powerpoint/2010/main" val="3736705653"/>
      </p:ext>
    </p:extLst>
  </p:cSld>
  <p:clrMapOvr>
    <a:masterClrMapping/>
  </p:clrMapOvr>
</p:sld>
</file>

<file path=ppt/theme/theme1.xml><?xml version="1.0" encoding="utf-8"?>
<a:theme xmlns:a="http://schemas.openxmlformats.org/drawingml/2006/main" name="Wölfel-Master16x9_de_rev01">
  <a:themeElements>
    <a:clrScheme name="HSU Farben">
      <a:dk1>
        <a:srgbClr val="000000"/>
      </a:dk1>
      <a:lt1>
        <a:srgbClr val="FFFFFF"/>
      </a:lt1>
      <a:dk2>
        <a:srgbClr val="C00000"/>
      </a:dk2>
      <a:lt2>
        <a:srgbClr val="8C8279"/>
      </a:lt2>
      <a:accent1>
        <a:srgbClr val="FFC845"/>
      </a:accent1>
      <a:accent2>
        <a:srgbClr val="00263E"/>
      </a:accent2>
      <a:accent3>
        <a:srgbClr val="00685E"/>
      </a:accent3>
      <a:accent4>
        <a:srgbClr val="9F912A"/>
      </a:accent4>
      <a:accent5>
        <a:srgbClr val="BE6A14"/>
      </a:accent5>
      <a:accent6>
        <a:srgbClr val="BE3A34"/>
      </a:accent6>
      <a:hlink>
        <a:srgbClr val="7F7F7F"/>
      </a:hlink>
      <a:folHlink>
        <a:srgbClr val="595959"/>
      </a:folHlink>
    </a:clrScheme>
    <a:fontScheme name="Wölfel">
      <a:majorFont>
        <a:latin typeface="Futura LT Pro Book"/>
        <a:ea typeface=""/>
        <a:cs typeface=""/>
      </a:majorFont>
      <a:minorFont>
        <a:latin typeface="Futura LT Pro Book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rgbClr val="333333"/>
            </a:solidFill>
            <a:latin typeface="Futura LT Pro Light" panose="020B0402020204020303" pitchFamily="34" charset="0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VL (002).pptx  -  Schreibgeschützt" id="{45838681-CEEC-43E9-93E0-6AC7B7F2B798}" vid="{92A8DBD5-76BA-4CE2-8716-ECAE39623A2C}"/>
    </a:ext>
  </a:extLst>
</a:theme>
</file>

<file path=ppt/theme/theme2.xml><?xml version="1.0" encoding="utf-8"?>
<a:theme xmlns:a="http://schemas.openxmlformats.org/drawingml/2006/main" name="1_Wölfel-Master16x9_de_rev01">
  <a:themeElements>
    <a:clrScheme name="HSU Farben">
      <a:dk1>
        <a:srgbClr val="000000"/>
      </a:dk1>
      <a:lt1>
        <a:srgbClr val="FFFFFF"/>
      </a:lt1>
      <a:dk2>
        <a:srgbClr val="C00000"/>
      </a:dk2>
      <a:lt2>
        <a:srgbClr val="8C8279"/>
      </a:lt2>
      <a:accent1>
        <a:srgbClr val="FFC845"/>
      </a:accent1>
      <a:accent2>
        <a:srgbClr val="00263E"/>
      </a:accent2>
      <a:accent3>
        <a:srgbClr val="00685E"/>
      </a:accent3>
      <a:accent4>
        <a:srgbClr val="9F912A"/>
      </a:accent4>
      <a:accent5>
        <a:srgbClr val="BE6A14"/>
      </a:accent5>
      <a:accent6>
        <a:srgbClr val="BE3A34"/>
      </a:accent6>
      <a:hlink>
        <a:srgbClr val="7F7F7F"/>
      </a:hlink>
      <a:folHlink>
        <a:srgbClr val="595959"/>
      </a:folHlink>
    </a:clrScheme>
    <a:fontScheme name="Wölfel">
      <a:majorFont>
        <a:latin typeface="Futura LT Pro Book"/>
        <a:ea typeface=""/>
        <a:cs typeface=""/>
      </a:majorFont>
      <a:minorFont>
        <a:latin typeface="Futura LT Pro Book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rgbClr val="333333"/>
            </a:solidFill>
            <a:latin typeface="Futura LT Pro Light" panose="020B0402020204020303" pitchFamily="34" charset="0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VL (002).pptx  -  Schreibgeschützt" id="{45838681-CEEC-43E9-93E0-6AC7B7F2B798}" vid="{92A8DBD5-76BA-4CE2-8716-ECAE39623A2C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f27ad31-1248-408e-b004-32fcbe738ee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6142BBD614E004F9123C843775B9053" ma:contentTypeVersion="18" ma:contentTypeDescription="Ein neues Dokument erstellen." ma:contentTypeScope="" ma:versionID="9eba075c07c7b8e10710dbd5a9b10a17">
  <xsd:schema xmlns:xsd="http://www.w3.org/2001/XMLSchema" xmlns:xs="http://www.w3.org/2001/XMLSchema" xmlns:p="http://schemas.microsoft.com/office/2006/metadata/properties" xmlns:ns3="b8438a74-1baf-41ed-a764-db03f5cc8e77" xmlns:ns4="7f27ad31-1248-408e-b004-32fcbe738eec" targetNamespace="http://schemas.microsoft.com/office/2006/metadata/properties" ma:root="true" ma:fieldsID="834b5a3e6853755301f6034dd0745b55" ns3:_="" ns4:_="">
    <xsd:import namespace="b8438a74-1baf-41ed-a764-db03f5cc8e77"/>
    <xsd:import namespace="7f27ad31-1248-408e-b004-32fcbe738ee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ServiceOCR" minOccurs="0"/>
                <xsd:element ref="ns4:_activity" minOccurs="0"/>
                <xsd:element ref="ns4:MediaLengthInSeconds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438a74-1baf-41ed-a764-db03f5cc8e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Freigabehinweis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27ad31-1248-408e-b004-32fcbe738e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8B87DA4-4E89-46EC-8CB1-8FFB00DB3D5B}">
  <ds:schemaRefs>
    <ds:schemaRef ds:uri="http://schemas.microsoft.com/office/2006/documentManagement/types"/>
    <ds:schemaRef ds:uri="http://purl.org/dc/dcmitype/"/>
    <ds:schemaRef ds:uri="http://www.w3.org/XML/1998/namespace"/>
    <ds:schemaRef ds:uri="b8438a74-1baf-41ed-a764-db03f5cc8e77"/>
    <ds:schemaRef ds:uri="http://purl.org/dc/elements/1.1/"/>
    <ds:schemaRef ds:uri="7f27ad31-1248-408e-b004-32fcbe738eec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DBEDDF7-0120-4A39-8B12-FCBC9CB59C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438a74-1baf-41ed-a764-db03f5cc8e77"/>
    <ds:schemaRef ds:uri="7f27ad31-1248-408e-b004-32fcbe738e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72F2107-4D11-4E68-9AE7-DE82C7C5E3E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1033</Words>
  <Application>Microsoft Office PowerPoint</Application>
  <PresentationFormat>Benutzerdefiniert</PresentationFormat>
  <Paragraphs>173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17</vt:i4>
      </vt:variant>
    </vt:vector>
  </HeadingPairs>
  <TitlesOfParts>
    <vt:vector size="27" baseType="lpstr">
      <vt:lpstr>Arial</vt:lpstr>
      <vt:lpstr>Calibri</vt:lpstr>
      <vt:lpstr>Cambria Math</vt:lpstr>
      <vt:lpstr>Century Gothic</vt:lpstr>
      <vt:lpstr>Futura Lt BT</vt:lpstr>
      <vt:lpstr>Futura LT Pro Book</vt:lpstr>
      <vt:lpstr>Futura LT Pro Light</vt:lpstr>
      <vt:lpstr>Wingdings</vt:lpstr>
      <vt:lpstr>Wölfel-Master16x9_de_rev01</vt:lpstr>
      <vt:lpstr>1_Wölfel-Master16x9_de_rev01</vt:lpstr>
      <vt:lpstr>Promotion Update - 17.11.2025 Zeitverläufe</vt:lpstr>
      <vt:lpstr>Von letzten Mal:</vt:lpstr>
      <vt:lpstr>Vorschlag zur Auswahl Zeitverläufe für Fragiltätsanalyse (IDA)</vt:lpstr>
      <vt:lpstr>Auswahl Zeitverläufe</vt:lpstr>
      <vt:lpstr>Arbeitspakete</vt:lpstr>
      <vt:lpstr>Arbeitspakete Z1: Auswahl Zeitverläufe</vt:lpstr>
      <vt:lpstr>Arbeitspakete Z1: Auswahl Zeitverläufe</vt:lpstr>
      <vt:lpstr>Arbeitspakete Z1: Auswahl Zeitverläufe</vt:lpstr>
      <vt:lpstr>Arbeitspakete Z1: Auswahl Zeitverläufe</vt:lpstr>
      <vt:lpstr>Arbeitspakete Z1: Auswahl Zeitverläufe</vt:lpstr>
      <vt:lpstr>Arbeitspakete Z1: Auswahl Zeitverläufe</vt:lpstr>
      <vt:lpstr>Arbeitspakete Z1: Auswahl Zeitverläufe</vt:lpstr>
      <vt:lpstr>Arbeitspakete Z1: Auswahl Zeitverläufe</vt:lpstr>
      <vt:lpstr>Arbeitspakete Z2: Einfluss der Bodenklasse</vt:lpstr>
      <vt:lpstr>Arbeitspakete Z2: Einfluss der Bodenklasse</vt:lpstr>
      <vt:lpstr>Zeitplan - Promotion</vt:lpstr>
      <vt:lpstr>ECEE Paper(s)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Jiangnan Chen</dc:creator>
  <cp:lastModifiedBy>Nicholas Aaron Clemett</cp:lastModifiedBy>
  <cp:revision>22</cp:revision>
  <cp:lastPrinted>2017-04-05T11:06:27Z</cp:lastPrinted>
  <dcterms:created xsi:type="dcterms:W3CDTF">2024-12-05T10:31:18Z</dcterms:created>
  <dcterms:modified xsi:type="dcterms:W3CDTF">2025-11-14T14:07:18Z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fd2079b-6d85-4185-8122-5cca51dad164_Enabled">
    <vt:lpwstr>true</vt:lpwstr>
  </property>
  <property fmtid="{D5CDD505-2E9C-101B-9397-08002B2CF9AE}" pid="3" name="MSIP_Label_8fd2079b-6d85-4185-8122-5cca51dad164_SetDate">
    <vt:lpwstr>2024-07-30T15:30:36Z</vt:lpwstr>
  </property>
  <property fmtid="{D5CDD505-2E9C-101B-9397-08002B2CF9AE}" pid="4" name="MSIP_Label_8fd2079b-6d85-4185-8122-5cca51dad164_Method">
    <vt:lpwstr>Standard</vt:lpwstr>
  </property>
  <property fmtid="{D5CDD505-2E9C-101B-9397-08002B2CF9AE}" pid="5" name="MSIP_Label_8fd2079b-6d85-4185-8122-5cca51dad164_Name">
    <vt:lpwstr>Öffentlich</vt:lpwstr>
  </property>
  <property fmtid="{D5CDD505-2E9C-101B-9397-08002B2CF9AE}" pid="6" name="MSIP_Label_8fd2079b-6d85-4185-8122-5cca51dad164_SiteId">
    <vt:lpwstr>5832f73f-b0fa-45a0-80d9-7e32bd7fa822</vt:lpwstr>
  </property>
  <property fmtid="{D5CDD505-2E9C-101B-9397-08002B2CF9AE}" pid="7" name="MSIP_Label_8fd2079b-6d85-4185-8122-5cca51dad164_ActionId">
    <vt:lpwstr>2a9a2add-c76e-44bf-a6d3-b7db089b7e11</vt:lpwstr>
  </property>
  <property fmtid="{D5CDD505-2E9C-101B-9397-08002B2CF9AE}" pid="8" name="MSIP_Label_8fd2079b-6d85-4185-8122-5cca51dad164_ContentBits">
    <vt:lpwstr>0</vt:lpwstr>
  </property>
  <property fmtid="{D5CDD505-2E9C-101B-9397-08002B2CF9AE}" pid="9" name="ContentTypeId">
    <vt:lpwstr>0x01010026142BBD614E004F9123C843775B9053</vt:lpwstr>
  </property>
</Properties>
</file>